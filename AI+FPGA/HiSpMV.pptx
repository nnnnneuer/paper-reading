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7" r:id="rId2"/>
    <p:sldId id="431" r:id="rId3"/>
    <p:sldId id="407" r:id="rId4"/>
    <p:sldId id="432" r:id="rId5"/>
    <p:sldId id="422" r:id="rId6"/>
    <p:sldId id="420" r:id="rId7"/>
    <p:sldId id="436" r:id="rId8"/>
    <p:sldId id="441" r:id="rId9"/>
    <p:sldId id="437" r:id="rId10"/>
    <p:sldId id="451" r:id="rId11"/>
    <p:sldId id="438" r:id="rId12"/>
    <p:sldId id="435" r:id="rId13"/>
    <p:sldId id="433" r:id="rId14"/>
    <p:sldId id="421" r:id="rId15"/>
    <p:sldId id="439" r:id="rId16"/>
    <p:sldId id="419" r:id="rId17"/>
    <p:sldId id="440" r:id="rId18"/>
    <p:sldId id="418" r:id="rId19"/>
    <p:sldId id="416" r:id="rId20"/>
    <p:sldId id="443" r:id="rId21"/>
    <p:sldId id="442" r:id="rId22"/>
    <p:sldId id="444" r:id="rId23"/>
    <p:sldId id="445" r:id="rId24"/>
    <p:sldId id="446" r:id="rId25"/>
    <p:sldId id="447" r:id="rId26"/>
    <p:sldId id="434" r:id="rId27"/>
    <p:sldId id="448" r:id="rId28"/>
    <p:sldId id="449" r:id="rId29"/>
    <p:sldId id="450" r:id="rId30"/>
    <p:sldId id="417" r:id="rId31"/>
    <p:sldId id="315"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26" userDrawn="1">
          <p15:clr>
            <a:srgbClr val="A4A3A4"/>
          </p15:clr>
        </p15:guide>
        <p15:guide id="2" pos="5534" userDrawn="1">
          <p15:clr>
            <a:srgbClr val="A4A3A4"/>
          </p15:clr>
        </p15:guide>
        <p15:guide id="3" orient="horz" pos="40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ECFA"/>
    <a:srgbClr val="082E72"/>
    <a:srgbClr val="FFFFFF"/>
    <a:srgbClr val="298DC8"/>
    <a:srgbClr val="278BC7"/>
    <a:srgbClr val="C8000B"/>
    <a:srgbClr val="A3BCED"/>
    <a:srgbClr val="F1F0D1"/>
    <a:srgbClr val="FFFF00"/>
    <a:srgbClr val="D2E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73310" autoAdjust="0"/>
  </p:normalViewPr>
  <p:slideViewPr>
    <p:cSldViewPr snapToGrid="0">
      <p:cViewPr varScale="1">
        <p:scale>
          <a:sx n="81" d="100"/>
          <a:sy n="81" d="100"/>
        </p:scale>
        <p:origin x="2048" y="52"/>
      </p:cViewPr>
      <p:guideLst>
        <p:guide pos="226"/>
        <p:guide pos="5534"/>
        <p:guide orient="horz" pos="402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47987-D2E7-4398-81D5-121CC77D9CD8}" type="datetimeFigureOut">
              <a:rPr lang="zh-CN" altLang="en-US" smtClean="0"/>
              <a:t>2025/6/4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C18FD-0CD8-4FA2-8928-172EA938A55D}" type="slidenum">
              <a:rPr lang="zh-CN" altLang="en-US" smtClean="0"/>
              <a:t>‹#›</a:t>
            </a:fld>
            <a:endParaRPr lang="zh-CN" altLang="en-US"/>
          </a:p>
        </p:txBody>
      </p:sp>
    </p:spTree>
    <p:extLst>
      <p:ext uri="{BB962C8B-B14F-4D97-AF65-F5344CB8AC3E}">
        <p14:creationId xmlns:p14="http://schemas.microsoft.com/office/powerpoint/2010/main" val="4002794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9143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84275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dirty="0"/>
              <a:t>综上所述，该处理模式的核心在于：通过对稀疏矩阵及其输入、输出向量进行分块和流水化处理，并采用循环行分配与片上缓存等手段，最大化利用 </a:t>
            </a:r>
            <a:r>
              <a:rPr lang="en-US" altLang="zh-CN" dirty="0"/>
              <a:t>HBM </a:t>
            </a:r>
            <a:r>
              <a:rPr lang="zh-CN" altLang="en-US" dirty="0"/>
              <a:t>带宽、降低随机访问影响，从而在 </a:t>
            </a:r>
            <a:r>
              <a:rPr lang="en-US" altLang="zh-CN" dirty="0"/>
              <a:t>FPGA </a:t>
            </a:r>
            <a:r>
              <a:rPr lang="zh-CN" altLang="en-US" dirty="0"/>
              <a:t>上更高效地完成 </a:t>
            </a:r>
            <a:r>
              <a:rPr lang="en-US" altLang="zh-CN" dirty="0" err="1"/>
              <a:t>SpMV</a:t>
            </a:r>
            <a:r>
              <a:rPr lang="en-US" altLang="zh-CN" dirty="0"/>
              <a:t> </a:t>
            </a:r>
            <a:r>
              <a:rPr lang="zh-CN" altLang="en-US" dirty="0"/>
              <a:t>运算。</a:t>
            </a:r>
            <a:endParaRPr lang="en-US" altLang="zh-CN"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b="1" dirty="0"/>
              <a:t>在处理高度不平衡的稀疏矩阵时，传统加速方法存在明显不足，必须针对这种不平衡性提出新的优化策略，以满足实际应用的需求</a:t>
            </a:r>
            <a:endParaRPr lang="zh-CN" alt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zh-CN" altLang="en-US" dirty="0"/>
          </a:p>
          <a:p>
            <a:pPr>
              <a:buFont typeface="+mj-lt"/>
              <a:buNone/>
            </a:pPr>
            <a:endParaRPr lang="en-US" altLang="zh-CN" b="1" dirty="0"/>
          </a:p>
          <a:p>
            <a:pPr>
              <a:buFont typeface="+mj-lt"/>
              <a:buAutoNum type="arabicPeriod"/>
            </a:pPr>
            <a:r>
              <a:rPr lang="zh-CN" altLang="en-US" b="1" dirty="0"/>
              <a:t>分块（</a:t>
            </a:r>
            <a:r>
              <a:rPr lang="en-US" altLang="zh-CN" b="1" dirty="0"/>
              <a:t>Tiling</a:t>
            </a:r>
            <a:r>
              <a:rPr lang="zh-CN" altLang="en-US" b="1" dirty="0"/>
              <a:t>）思路</a:t>
            </a:r>
            <a:endParaRPr lang="zh-CN" altLang="en-US" dirty="0"/>
          </a:p>
          <a:p>
            <a:pPr marL="742950" lvl="1" indent="-285750">
              <a:buFont typeface="+mj-lt"/>
              <a:buAutoNum type="arabicPeriod"/>
            </a:pPr>
            <a:r>
              <a:rPr lang="zh-CN" altLang="en-US" dirty="0"/>
              <a:t>在大型稀疏矩阵的加速过程中，通常将矩阵 </a:t>
            </a:r>
            <a:r>
              <a:rPr lang="en-US" altLang="zh-CN" dirty="0"/>
              <a:t>A </a:t>
            </a:r>
            <a:r>
              <a:rPr lang="zh-CN" altLang="en-US" dirty="0"/>
              <a:t>进行行、列两个方向上的分块（即 </a:t>
            </a:r>
            <a:r>
              <a:rPr lang="en-US" altLang="zh-CN" dirty="0"/>
              <a:t>Rt × Ct </a:t>
            </a:r>
            <a:r>
              <a:rPr lang="zh-CN" altLang="en-US" dirty="0"/>
              <a:t>大小的子块），以便在硬件中分步处理。这样可以有效控制片上所需的缓冲区大小，同时利用多个 </a:t>
            </a:r>
            <a:r>
              <a:rPr lang="en-US" altLang="zh-CN" dirty="0"/>
              <a:t>HBM </a:t>
            </a:r>
            <a:r>
              <a:rPr lang="zh-CN" altLang="en-US" dirty="0"/>
              <a:t>通道进行并行加载。</a:t>
            </a:r>
          </a:p>
          <a:p>
            <a:pPr>
              <a:buFont typeface="+mj-lt"/>
              <a:buAutoNum type="arabicPeriod"/>
            </a:pPr>
            <a:r>
              <a:rPr lang="zh-CN" altLang="en-US" b="1" dirty="0"/>
              <a:t>循环行分配（</a:t>
            </a:r>
            <a:r>
              <a:rPr lang="en-US" altLang="zh-CN" b="1" dirty="0"/>
              <a:t>Cyclic Row-Wise Partition</a:t>
            </a:r>
            <a:r>
              <a:rPr lang="zh-CN" altLang="en-US" b="1" dirty="0"/>
              <a:t>）</a:t>
            </a:r>
            <a:endParaRPr lang="zh-CN" altLang="en-US" dirty="0"/>
          </a:p>
          <a:p>
            <a:pPr marL="742950" lvl="1" indent="-285750">
              <a:buFont typeface="+mj-lt"/>
              <a:buAutoNum type="arabicPeriod"/>
            </a:pPr>
            <a:r>
              <a:rPr lang="zh-CN" altLang="en-US" dirty="0"/>
              <a:t>通过将矩阵的行循环分配给不同的处理单元（</a:t>
            </a:r>
            <a:r>
              <a:rPr lang="en-US" altLang="zh-CN" dirty="0"/>
              <a:t>PE</a:t>
            </a:r>
            <a:r>
              <a:rPr lang="zh-CN" altLang="en-US" dirty="0"/>
              <a:t>），能够在一定程度上平衡负载。如果没有任何分配策略，可能会导致某些 </a:t>
            </a:r>
            <a:r>
              <a:rPr lang="en-US" altLang="zh-CN" dirty="0"/>
              <a:t>PE </a:t>
            </a:r>
            <a:r>
              <a:rPr lang="zh-CN" altLang="en-US" dirty="0"/>
              <a:t>处理的行中非零元素特别多，而其他 </a:t>
            </a:r>
            <a:r>
              <a:rPr lang="en-US" altLang="zh-CN" dirty="0"/>
              <a:t>PE </a:t>
            </a:r>
            <a:r>
              <a:rPr lang="zh-CN" altLang="en-US" dirty="0"/>
              <a:t>处理的行中非零元素极少，从而造成资源利用不均。</a:t>
            </a:r>
          </a:p>
          <a:p>
            <a:pPr>
              <a:buFont typeface="+mj-lt"/>
              <a:buAutoNum type="arabicPeriod"/>
            </a:pPr>
            <a:r>
              <a:rPr lang="zh-CN" altLang="en-US" b="1" dirty="0"/>
              <a:t>输入向量与临时输出向量的片上缓存</a:t>
            </a:r>
            <a:endParaRPr lang="zh-CN" altLang="en-US" dirty="0"/>
          </a:p>
          <a:p>
            <a:pPr marL="742950" lvl="1" indent="-285750">
              <a:buFont typeface="+mj-lt"/>
              <a:buAutoNum type="arabicPeriod"/>
            </a:pPr>
            <a:r>
              <a:rPr lang="zh-CN" altLang="en-US" dirty="0"/>
              <a:t>将输入向量 </a:t>
            </a:r>
            <a:r>
              <a:rPr lang="en-US" altLang="zh-CN" dirty="0"/>
              <a:t>x® </a:t>
            </a:r>
            <a:r>
              <a:rPr lang="zh-CN" altLang="en-US" dirty="0"/>
              <a:t>和临时输出向量 </a:t>
            </a:r>
            <a:r>
              <a:rPr lang="en-US" altLang="zh-CN" dirty="0" err="1"/>
              <a:t>y_Ax</a:t>
            </a:r>
            <a:r>
              <a:rPr lang="en-US" altLang="zh-CN" dirty="0"/>
              <a:t> </a:t>
            </a:r>
            <a:r>
              <a:rPr lang="zh-CN" altLang="en-US" dirty="0"/>
              <a:t>在片上缓存，有助于减少访存开销，特别是随机访问带来的性能损耗。由于稀疏矩阵在乘法过程中对 </a:t>
            </a:r>
            <a:r>
              <a:rPr lang="en-US" altLang="zh-CN" dirty="0"/>
              <a:t>x® </a:t>
            </a:r>
            <a:r>
              <a:rPr lang="zh-CN" altLang="en-US" dirty="0"/>
              <a:t>的访问具有不规则性，若能将相关部分的数据缓存在片上，就能避免反复访问外部存储器。</a:t>
            </a:r>
          </a:p>
          <a:p>
            <a:pPr marL="742950" lvl="1" indent="-285750">
              <a:buFont typeface="+mj-lt"/>
              <a:buAutoNum type="arabicPeriod"/>
            </a:pPr>
            <a:r>
              <a:rPr lang="zh-CN" altLang="en-US" dirty="0"/>
              <a:t>输入向量的缓存（</a:t>
            </a:r>
            <a:r>
              <a:rPr lang="en-US" altLang="zh-CN" dirty="0" err="1"/>
              <a:t>buf_x</a:t>
            </a:r>
            <a:r>
              <a:rPr lang="en-US" altLang="zh-CN" dirty="0"/>
              <a:t> [Ct]</a:t>
            </a:r>
            <a:r>
              <a:rPr lang="zh-CN" altLang="en-US" dirty="0"/>
              <a:t>）既可以为每个 </a:t>
            </a:r>
            <a:r>
              <a:rPr lang="en-US" altLang="zh-CN" dirty="0"/>
              <a:t>PE </a:t>
            </a:r>
            <a:r>
              <a:rPr lang="zh-CN" altLang="en-US" dirty="0"/>
              <a:t>独立复制，也可以让多个 </a:t>
            </a:r>
            <a:r>
              <a:rPr lang="en-US" altLang="zh-CN" dirty="0"/>
              <a:t>PE </a:t>
            </a:r>
            <a:r>
              <a:rPr lang="zh-CN" altLang="en-US" dirty="0"/>
              <a:t>共享，从而在片上资源和访问效率之间进行折中。</a:t>
            </a:r>
          </a:p>
          <a:p>
            <a:pPr>
              <a:buFont typeface="+mj-lt"/>
              <a:buAutoNum type="arabicPeriod"/>
            </a:pPr>
            <a:r>
              <a:rPr lang="zh-CN" altLang="en-US" b="1" dirty="0"/>
              <a:t>输出向量的分块与流式读写</a:t>
            </a:r>
            <a:endParaRPr lang="zh-CN" altLang="en-US" dirty="0"/>
          </a:p>
          <a:p>
            <a:pPr marL="742950" lvl="1" indent="-285750">
              <a:buFont typeface="+mj-lt"/>
              <a:buAutoNum type="arabicPeriod"/>
            </a:pPr>
            <a:r>
              <a:rPr lang="zh-CN" altLang="en-US" dirty="0"/>
              <a:t>对最终的输出向量 </a:t>
            </a:r>
            <a:r>
              <a:rPr lang="en-US" altLang="zh-CN" dirty="0"/>
              <a:t>y® </a:t>
            </a:r>
            <a:r>
              <a:rPr lang="zh-CN" altLang="en-US" dirty="0"/>
              <a:t>也进行与矩阵同样的行分块，每一块的大小为 </a:t>
            </a:r>
            <a:r>
              <a:rPr lang="en-US" altLang="zh-CN" dirty="0"/>
              <a:t>Rt</a:t>
            </a:r>
            <a:r>
              <a:rPr lang="zh-CN" altLang="en-US" dirty="0"/>
              <a:t>，并在处理该块时进行流式的读入和写出。这样能够保持数据的连续性，进一步减少访存时的随机访问开销。</a:t>
            </a:r>
            <a:endParaRPr lang="en-US" altLang="zh-CN" dirty="0"/>
          </a:p>
          <a:p>
            <a:pPr marL="742950" lvl="1" indent="-285750">
              <a:buFont typeface="+mj-lt"/>
              <a:buAutoNum type="arabicPeriod"/>
            </a:pPr>
            <a:endParaRPr lang="en-US" altLang="zh-CN" dirty="0"/>
          </a:p>
          <a:p>
            <a:r>
              <a:rPr lang="zh-CN" altLang="en-US" dirty="0"/>
              <a:t>因为在流式读写里，我们是按下标 </a:t>
            </a:r>
            <a:r>
              <a:rPr lang="en-US" altLang="zh-CN" dirty="0" err="1"/>
              <a:t>i</a:t>
            </a:r>
            <a:r>
              <a:rPr lang="en-US" altLang="zh-CN" dirty="0"/>
              <a:t> </a:t>
            </a:r>
            <a:r>
              <a:rPr lang="zh-CN" altLang="en-US" dirty="0"/>
              <a:t>从小到大 </a:t>
            </a:r>
            <a:r>
              <a:rPr lang="zh-CN" altLang="en-US" b="1" dirty="0"/>
              <a:t>连续</a:t>
            </a:r>
            <a:r>
              <a:rPr lang="zh-CN" altLang="en-US" dirty="0"/>
              <a:t> 地读 </a:t>
            </a:r>
            <a:r>
              <a:rPr lang="en-US" altLang="zh-CN" dirty="0"/>
              <a:t>y[</a:t>
            </a:r>
            <a:r>
              <a:rPr lang="en-US" altLang="zh-CN" dirty="0" err="1"/>
              <a:t>i</a:t>
            </a:r>
            <a:r>
              <a:rPr lang="en-US" altLang="zh-CN" dirty="0"/>
              <a:t>]</a:t>
            </a:r>
            <a:r>
              <a:rPr lang="zh-CN" altLang="en-US" dirty="0"/>
              <a:t>、算完就写 </a:t>
            </a:r>
            <a:r>
              <a:rPr lang="en-US" altLang="zh-CN" dirty="0"/>
              <a:t>y[</a:t>
            </a:r>
            <a:r>
              <a:rPr lang="en-US" altLang="zh-CN" dirty="0" err="1"/>
              <a:t>i</a:t>
            </a:r>
            <a:r>
              <a:rPr lang="en-US" altLang="zh-CN" dirty="0"/>
              <a:t>]</a:t>
            </a:r>
            <a:r>
              <a:rPr lang="zh-CN" altLang="en-US" dirty="0"/>
              <a:t>，所以整个过程只需要维护一个自增的地址指针，不会出现“跳来跳去”去读写同一个地址的情况。这就天然满足了存储器和总线对 </a:t>
            </a:r>
            <a:r>
              <a:rPr lang="zh-CN" altLang="en-US" b="1" dirty="0"/>
              <a:t>突发（</a:t>
            </a:r>
            <a:r>
              <a:rPr lang="en-US" altLang="zh-CN" b="1" dirty="0"/>
              <a:t>burst</a:t>
            </a:r>
            <a:r>
              <a:rPr lang="zh-CN" altLang="en-US" b="1" dirty="0"/>
              <a:t>）传输</a:t>
            </a:r>
            <a:r>
              <a:rPr lang="zh-CN" altLang="en-US" dirty="0"/>
              <a:t> 的要求，具体原因有：</a:t>
            </a:r>
          </a:p>
          <a:p>
            <a:pPr>
              <a:buFont typeface="+mj-lt"/>
              <a:buAutoNum type="arabicPeriod"/>
            </a:pPr>
            <a:r>
              <a:rPr lang="en-US" altLang="zh-CN" b="1" dirty="0"/>
              <a:t>DRAM/HBM </a:t>
            </a:r>
            <a:r>
              <a:rPr lang="zh-CN" altLang="en-US" b="1" dirty="0"/>
              <a:t>的行缓冲器（</a:t>
            </a:r>
            <a:r>
              <a:rPr lang="en-US" altLang="zh-CN" b="1" dirty="0"/>
              <a:t>row buffer</a:t>
            </a:r>
            <a:r>
              <a:rPr lang="zh-CN" altLang="en-US" b="1" dirty="0"/>
              <a:t>）特性</a:t>
            </a:r>
            <a:endParaRPr lang="zh-CN" altLang="en-US" dirty="0"/>
          </a:p>
          <a:p>
            <a:pPr marL="742950" lvl="1" indent="-285750">
              <a:buFont typeface="+mj-lt"/>
              <a:buAutoNum type="arabicPeriod"/>
            </a:pPr>
            <a:r>
              <a:rPr lang="zh-CN" altLang="en-US" dirty="0"/>
              <a:t>现代的 </a:t>
            </a:r>
            <a:r>
              <a:rPr lang="en-US" altLang="zh-CN" dirty="0"/>
              <a:t>DRAM</a:t>
            </a:r>
            <a:r>
              <a:rPr lang="zh-CN" altLang="en-US" dirty="0"/>
              <a:t>（包括 </a:t>
            </a:r>
            <a:r>
              <a:rPr lang="en-US" altLang="zh-CN" dirty="0"/>
              <a:t>HBM</a:t>
            </a:r>
            <a:r>
              <a:rPr lang="zh-CN" altLang="en-US" dirty="0"/>
              <a:t>）在读写时，先打开（</a:t>
            </a:r>
            <a:r>
              <a:rPr lang="en-US" altLang="zh-CN" dirty="0"/>
              <a:t>activate</a:t>
            </a:r>
            <a:r>
              <a:rPr lang="zh-CN" altLang="en-US" dirty="0"/>
              <a:t>）一个“行”（</a:t>
            </a:r>
            <a:r>
              <a:rPr lang="en-US" altLang="zh-CN" dirty="0"/>
              <a:t>row</a:t>
            </a:r>
            <a:r>
              <a:rPr lang="zh-CN" altLang="en-US" dirty="0"/>
              <a:t>），然后才能对该行内的各个“列”（</a:t>
            </a:r>
            <a:r>
              <a:rPr lang="en-US" altLang="zh-CN" dirty="0"/>
              <a:t>column</a:t>
            </a:r>
            <a:r>
              <a:rPr lang="zh-CN" altLang="en-US" dirty="0"/>
              <a:t>）进行访问。</a:t>
            </a:r>
          </a:p>
          <a:p>
            <a:pPr marL="742950" lvl="1" indent="-285750">
              <a:buFont typeface="+mj-lt"/>
              <a:buAutoNum type="arabicPeriod"/>
            </a:pPr>
            <a:r>
              <a:rPr lang="zh-CN" altLang="en-US" dirty="0"/>
              <a:t>如果你一次性连续访问同一行里的多个地址，就可以只做一次 </a:t>
            </a:r>
            <a:r>
              <a:rPr lang="en-US" altLang="zh-CN" dirty="0"/>
              <a:t>activate</a:t>
            </a:r>
            <a:r>
              <a:rPr lang="zh-CN" altLang="en-US" dirty="0"/>
              <a:t>，然后连续做多次 </a:t>
            </a:r>
            <a:r>
              <a:rPr lang="en-US" altLang="zh-CN" dirty="0"/>
              <a:t>column access</a:t>
            </a:r>
            <a:r>
              <a:rPr lang="zh-CN" altLang="en-US" dirty="0"/>
              <a:t>；而随机访问就可能频繁跨行，导致不断地 </a:t>
            </a:r>
            <a:r>
              <a:rPr lang="en-US" altLang="zh-CN" dirty="0" err="1"/>
              <a:t>precharge</a:t>
            </a:r>
            <a:r>
              <a:rPr lang="en-US" altLang="zh-CN" dirty="0"/>
              <a:t> + activate</a:t>
            </a:r>
            <a:r>
              <a:rPr lang="zh-CN" altLang="en-US" dirty="0"/>
              <a:t>，开销很大。</a:t>
            </a:r>
          </a:p>
          <a:p>
            <a:pPr>
              <a:buFont typeface="+mj-lt"/>
              <a:buAutoNum type="arabicPeriod"/>
            </a:pPr>
            <a:r>
              <a:rPr lang="en-US" altLang="zh-CN" b="1" dirty="0"/>
              <a:t>AXI</a:t>
            </a:r>
            <a:r>
              <a:rPr lang="zh-CN" altLang="en-US" b="1" dirty="0"/>
              <a:t>／</a:t>
            </a:r>
            <a:r>
              <a:rPr lang="en-US" altLang="zh-CN" b="1" dirty="0"/>
              <a:t>DMA </a:t>
            </a:r>
            <a:r>
              <a:rPr lang="zh-CN" altLang="en-US" b="1" dirty="0"/>
              <a:t>协议的突发传输支持</a:t>
            </a:r>
            <a:endParaRPr lang="zh-CN" altLang="en-US" dirty="0"/>
          </a:p>
          <a:p>
            <a:pPr marL="742950" lvl="1" indent="-285750">
              <a:buFont typeface="+mj-lt"/>
              <a:buAutoNum type="arabicPeriod"/>
            </a:pPr>
            <a:r>
              <a:rPr lang="en-US" altLang="zh-CN" dirty="0"/>
              <a:t>AXI4‑Lite </a:t>
            </a:r>
            <a:r>
              <a:rPr lang="zh-CN" altLang="en-US" dirty="0"/>
              <a:t>只支持单次读写，但 </a:t>
            </a:r>
            <a:r>
              <a:rPr lang="en-US" altLang="zh-CN" dirty="0"/>
              <a:t>AXI4</a:t>
            </a:r>
            <a:r>
              <a:rPr lang="zh-CN" altLang="en-US" dirty="0"/>
              <a:t>／</a:t>
            </a:r>
            <a:r>
              <a:rPr lang="en-US" altLang="zh-CN" dirty="0"/>
              <a:t>AXI‑Stream</a:t>
            </a:r>
            <a:r>
              <a:rPr lang="zh-CN" altLang="en-US" dirty="0"/>
              <a:t>＋</a:t>
            </a:r>
            <a:r>
              <a:rPr lang="en-US" altLang="zh-CN" dirty="0"/>
              <a:t>DMA </a:t>
            </a:r>
            <a:r>
              <a:rPr lang="zh-CN" altLang="en-US" dirty="0"/>
              <a:t>可以在一次握手（一次地址 </a:t>
            </a:r>
            <a:r>
              <a:rPr lang="en-US" altLang="zh-CN" dirty="0"/>
              <a:t>phase</a:t>
            </a:r>
            <a:r>
              <a:rPr lang="zh-CN" altLang="en-US" dirty="0"/>
              <a:t>）之后，自动连续传输多拍（</a:t>
            </a:r>
            <a:r>
              <a:rPr lang="en-US" altLang="zh-CN" dirty="0"/>
              <a:t>beats</a:t>
            </a:r>
            <a:r>
              <a:rPr lang="zh-CN" altLang="en-US" dirty="0"/>
              <a:t>）。</a:t>
            </a:r>
          </a:p>
          <a:p>
            <a:pPr marL="742950" lvl="1" indent="-285750">
              <a:buFont typeface="+mj-lt"/>
              <a:buAutoNum type="arabicPeriod"/>
            </a:pPr>
            <a:r>
              <a:rPr lang="zh-CN" altLang="en-US" dirty="0"/>
              <a:t>每多传输一拍，就省去一次地址握手和总线仲裁的开销，提高了总线带宽利用率。</a:t>
            </a:r>
          </a:p>
          <a:p>
            <a:pPr>
              <a:buFont typeface="+mj-lt"/>
              <a:buAutoNum type="arabicPeriod"/>
            </a:pPr>
            <a:r>
              <a:rPr lang="zh-CN" altLang="en-US" b="1" dirty="0"/>
              <a:t>减少控制逻辑复杂度</a:t>
            </a:r>
            <a:endParaRPr lang="zh-CN" altLang="en-US" dirty="0"/>
          </a:p>
          <a:p>
            <a:pPr marL="742950" lvl="1" indent="-285750">
              <a:buFont typeface="+mj-lt"/>
              <a:buAutoNum type="arabicPeriod"/>
            </a:pPr>
            <a:r>
              <a:rPr lang="zh-CN" altLang="en-US" dirty="0"/>
              <a:t>随机访问需要复杂的地址生成、缓存管理和乱序调度；而顺序访问只要一个加法器不停地加一，控制器极其简单，延迟更低，硬件资源占用也更少。</a:t>
            </a:r>
          </a:p>
          <a:p>
            <a:pPr>
              <a:buFont typeface="+mj-lt"/>
              <a:buAutoNum type="arabicPeriod"/>
            </a:pPr>
            <a:r>
              <a:rPr lang="zh-CN" altLang="en-US" b="1" dirty="0"/>
              <a:t>深度流水线的配合</a:t>
            </a:r>
            <a:endParaRPr lang="zh-CN" altLang="en-US" dirty="0"/>
          </a:p>
          <a:p>
            <a:pPr marL="742950" lvl="1" indent="-285750">
              <a:buFont typeface="+mj-lt"/>
              <a:buAutoNum type="arabicPeriod"/>
            </a:pPr>
            <a:r>
              <a:rPr lang="zh-CN" altLang="en-US" dirty="0"/>
              <a:t>读 → 算 → 写 三个阶段可以严格按照 “元素 </a:t>
            </a:r>
            <a:r>
              <a:rPr lang="en-US" altLang="zh-CN" dirty="0"/>
              <a:t>0</a:t>
            </a:r>
            <a:r>
              <a:rPr lang="zh-CN" altLang="en-US" dirty="0"/>
              <a:t>、元素 </a:t>
            </a:r>
            <a:r>
              <a:rPr lang="en-US" altLang="zh-CN" dirty="0"/>
              <a:t>1</a:t>
            </a:r>
            <a:r>
              <a:rPr lang="zh-CN" altLang="en-US" dirty="0"/>
              <a:t>、元素 </a:t>
            </a:r>
            <a:r>
              <a:rPr lang="en-US" altLang="zh-CN" dirty="0"/>
              <a:t>2…” </a:t>
            </a:r>
            <a:r>
              <a:rPr lang="zh-CN" altLang="en-US" dirty="0"/>
              <a:t>的顺序循环推进，既能保证流水线里每个阶段都在做有用的事，又能让内存传输和计算阶段高度重叠，不会因为等待随机访问而堵塞。</a:t>
            </a:r>
          </a:p>
          <a:p>
            <a:r>
              <a:rPr lang="zh-CN" altLang="en-US" b="1" dirty="0"/>
              <a:t>总结</a:t>
            </a:r>
            <a:r>
              <a:rPr lang="zh-CN" altLang="en-US" dirty="0"/>
              <a:t>：只要按序读、算、写，就能把一次次小的随机访问，合并成大块的、顺序的突发（</a:t>
            </a:r>
            <a:r>
              <a:rPr lang="en-US" altLang="zh-CN" dirty="0"/>
              <a:t>burst</a:t>
            </a:r>
            <a:r>
              <a:rPr lang="zh-CN" altLang="en-US" dirty="0"/>
              <a:t>）传输，从而最大化地利用 </a:t>
            </a:r>
            <a:r>
              <a:rPr lang="en-US" altLang="zh-CN" dirty="0"/>
              <a:t>DRAM/HBM </a:t>
            </a:r>
            <a:r>
              <a:rPr lang="zh-CN" altLang="en-US" dirty="0"/>
              <a:t>的行缓冲、减少握手开销、提升总线带宽和流水线吞吐。</a:t>
            </a:r>
          </a:p>
          <a:p>
            <a:r>
              <a:rPr lang="en-US" altLang="zh-CN" dirty="0"/>
              <a:t>o3-mini</a:t>
            </a:r>
          </a:p>
          <a:p>
            <a:pPr marL="457200" lvl="1" indent="0">
              <a:buFont typeface="+mj-lt"/>
              <a:buNone/>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380652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0E62-C4ED-928E-81B1-279F3A262A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FACADA-C9A9-281C-7266-01769DA005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8BD2E1-BE5A-A995-1156-930054EBA4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A8DAA1B8-34CE-C4D1-5610-F234FD73BD8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16293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dirty="0"/>
              <a:t>矩阵的非零元素呈现强烈的不均匀分布，尤其有“超密集”行。</a:t>
            </a:r>
          </a:p>
          <a:p>
            <a:pPr>
              <a:buFont typeface="+mj-lt"/>
              <a:buAutoNum type="arabicPeriod"/>
            </a:pPr>
            <a:r>
              <a:rPr lang="zh-CN" altLang="en-US" dirty="0"/>
              <a:t>在硬件加速（如 </a:t>
            </a:r>
            <a:r>
              <a:rPr lang="en-US" altLang="zh-CN" dirty="0"/>
              <a:t>FPGA</a:t>
            </a:r>
            <a:r>
              <a:rPr lang="zh-CN" altLang="en-US" dirty="0"/>
              <a:t>）上处理此类矩阵时，传统的循环行分配策略常常会造成某些处理单元（</a:t>
            </a:r>
            <a:r>
              <a:rPr lang="en-US" altLang="zh-CN" dirty="0"/>
              <a:t>PE</a:t>
            </a:r>
            <a:r>
              <a:rPr lang="zh-CN" altLang="en-US" dirty="0"/>
              <a:t>）负载过重，显著降低整体性能。</a:t>
            </a:r>
          </a:p>
          <a:p>
            <a:pPr>
              <a:buFont typeface="+mj-lt"/>
              <a:buAutoNum type="arabicPeriod"/>
            </a:pPr>
            <a:r>
              <a:rPr lang="zh-CN" altLang="en-US" dirty="0"/>
              <a:t>正因为这种高度不平衡的特征，该矩阵在研究如何优化 </a:t>
            </a:r>
            <a:r>
              <a:rPr lang="en-US" altLang="zh-CN" dirty="0" err="1"/>
              <a:t>SpMV</a:t>
            </a:r>
            <a:r>
              <a:rPr lang="en-US" altLang="zh-CN" dirty="0"/>
              <a:t> </a:t>
            </a:r>
            <a:r>
              <a:rPr lang="zh-CN" altLang="en-US" dirty="0"/>
              <a:t>加速时，能很好地用来测试和验证新算法或新硬件设计对不平衡负载的处理能力。</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606558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6796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F2556-BFC7-1D6C-E35C-C4F5DE5380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5176AB-C9C4-5BD3-8E33-0EE9DD8DC3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C52FCD-8FE8-3349-0996-567B676DAFCF}"/>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18341A74-5058-DA4E-4163-C1DCF9A1143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07520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8AE6-5C14-C37A-00CC-CB764C94BE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5E07B2-03D6-051C-0E83-BA422E980C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483760-1F5B-F73E-B3E4-327DEEF5FF02}"/>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E8D1D4BE-47C6-C151-C57D-2CAC0BC4FFC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80889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712B-F3BB-EA81-FBF2-DA2B4524BC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B3B6BA-46EF-3107-969B-653241F79B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7763EC-A893-27C0-1D08-EA6F0B5819E8}"/>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E27BB8C2-AF30-1A03-3557-C52FB35C843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59764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2A3C-F7F4-5385-05BD-BCD0332E7C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269F12-0C2E-747E-2C2E-A702F19E0F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A73ED4-FAEC-8200-6C5D-42F32A21F0DC}"/>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CF3A354F-A189-5BCA-794D-EFB93858D9C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20744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BB558-C8EC-5828-21DC-AA00D5AF9D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2D5A9C-BE06-4FAC-78BA-EF097CFC9C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D44A7F-F454-7BA5-2113-50BFAF97E0B8}"/>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224EEB8E-4C98-A5CF-09D9-2C31D834760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50239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D32F2-B0B8-302A-9E9D-71DC8747B0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8457E8-A8AE-D01C-2F75-177F0F564F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8B77A9-85CA-B5E4-6E1F-398BC546D5E4}"/>
              </a:ext>
            </a:extLst>
          </p:cNvPr>
          <p:cNvSpPr>
            <a:spLocks noGrp="1"/>
          </p:cNvSpPr>
          <p:nvPr>
            <p:ph type="body" idx="1"/>
          </p:nvPr>
        </p:nvSpPr>
        <p:spPr/>
        <p:txBody>
          <a:bodyPr/>
          <a:lstStyle/>
          <a:p>
            <a:pPr>
              <a:buFont typeface="+mj-lt"/>
              <a:buAutoNum type="arabicPeriod"/>
            </a:pPr>
            <a:r>
              <a:rPr lang="zh-CN" altLang="en-US" dirty="0"/>
              <a:t>稀疏矩阵</a:t>
            </a:r>
            <a:r>
              <a:rPr lang="en-US" altLang="zh-CN" dirty="0"/>
              <a:t>-</a:t>
            </a:r>
            <a:r>
              <a:rPr lang="zh-CN" altLang="en-US" dirty="0"/>
              <a:t>向量乘法（</a:t>
            </a:r>
            <a:r>
              <a:rPr lang="en-US" altLang="zh-CN" dirty="0" err="1"/>
              <a:t>SpMV</a:t>
            </a:r>
            <a:r>
              <a:rPr lang="zh-CN" altLang="en-US" dirty="0"/>
              <a:t>）在科学计算、机器学习和图分析等众多领域中都是核心操作。然而，传统加速方法主要针对均衡稀疏矩阵设计，当矩阵各行的非零元素分布不均时，会产生以下三个主要问题：</a:t>
            </a:r>
          </a:p>
          <a:p>
            <a:pPr marL="742950" lvl="1" indent="-285750">
              <a:buFont typeface="+mj-lt"/>
              <a:buAutoNum type="arabicPeriod"/>
            </a:pPr>
            <a:r>
              <a:rPr lang="zh-CN" altLang="en-US" b="1" dirty="0"/>
              <a:t>负载不均衡</a:t>
            </a:r>
            <a:r>
              <a:rPr lang="zh-CN" altLang="en-US" dirty="0"/>
              <a:t>：传统方法将矩阵行按循环方式分配给各个处理单元（</a:t>
            </a:r>
            <a:r>
              <a:rPr lang="en-US" altLang="zh-CN" dirty="0"/>
              <a:t>PE</a:t>
            </a:r>
            <a:r>
              <a:rPr lang="zh-CN" altLang="en-US" dirty="0"/>
              <a:t>），当某些行的非零数目远大于平均值时，某些</a:t>
            </a:r>
            <a:r>
              <a:rPr lang="en-US" altLang="zh-CN" dirty="0"/>
              <a:t>PE</a:t>
            </a:r>
            <a:r>
              <a:rPr lang="zh-CN" altLang="en-US" dirty="0"/>
              <a:t>会承担过多工作，导致整体性能下降。</a:t>
            </a:r>
          </a:p>
          <a:p>
            <a:pPr marL="742950" lvl="1" indent="-285750">
              <a:buFont typeface="+mj-lt"/>
              <a:buAutoNum type="arabicPeriod"/>
            </a:pPr>
            <a:r>
              <a:rPr lang="zh-CN" altLang="en-US" b="1" dirty="0"/>
              <a:t>长距离数据依赖</a:t>
            </a:r>
            <a:r>
              <a:rPr lang="zh-CN" altLang="en-US" dirty="0"/>
              <a:t>：在对输出向量进行浮点累加时，连续处理同一行的多个非零元素会产生长距离的读后写（</a:t>
            </a:r>
            <a:r>
              <a:rPr lang="en-US" altLang="zh-CN" dirty="0"/>
              <a:t>RAW</a:t>
            </a:r>
            <a:r>
              <a:rPr lang="zh-CN" altLang="en-US" dirty="0"/>
              <a:t>）依赖，因硬件中的浮点加法通常需要多个时钟周期完成，流水线中会产生空泡。</a:t>
            </a:r>
          </a:p>
          <a:p>
            <a:pPr marL="742950" lvl="1" indent="-285750">
              <a:buFont typeface="+mj-lt"/>
              <a:buAutoNum type="arabicPeriod"/>
            </a:pPr>
            <a:r>
              <a:rPr lang="zh-CN" altLang="en-US" b="1" dirty="0"/>
              <a:t>输入向量瓶颈</a:t>
            </a:r>
            <a:r>
              <a:rPr lang="zh-CN" altLang="en-US" dirty="0"/>
              <a:t>：加速 </a:t>
            </a:r>
            <a:r>
              <a:rPr lang="en-US" altLang="zh-CN" dirty="0" err="1"/>
              <a:t>SpMV</a:t>
            </a:r>
            <a:r>
              <a:rPr lang="en-US" altLang="zh-CN" dirty="0"/>
              <a:t> </a:t>
            </a:r>
            <a:r>
              <a:rPr lang="zh-CN" altLang="en-US" dirty="0"/>
              <a:t>后，原本容易被忽视的输入向量加载问题可能成为新的性能瓶颈，尤其在低密度矩阵中更为明显。</a:t>
            </a:r>
          </a:p>
          <a:p>
            <a:endParaRPr lang="en-US" altLang="zh-CN" dirty="0"/>
          </a:p>
        </p:txBody>
      </p:sp>
      <p:sp>
        <p:nvSpPr>
          <p:cNvPr id="4" name="灯片编号占位符 3">
            <a:extLst>
              <a:ext uri="{FF2B5EF4-FFF2-40B4-BE49-F238E27FC236}">
                <a16:creationId xmlns:a16="http://schemas.microsoft.com/office/drawing/2014/main" id="{7E875EA1-B5B6-4281-A6A2-7C0BC6D0949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84653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E484-9F2B-E773-E7B9-7CB06EE3FD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64D896-1718-8F71-FDE0-75685C3FEE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E369B3-3AB5-528A-ADD0-CF698A1B3C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55542777-4D86-0C6C-7D82-7450E63DCA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4655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本文提出的 </a:t>
            </a:r>
            <a:r>
              <a:rPr lang="en-US" altLang="zh-CN" dirty="0" err="1"/>
              <a:t>HiSpMV</a:t>
            </a:r>
            <a:r>
              <a:rPr lang="en-US" altLang="zh-CN" dirty="0"/>
              <a:t> </a:t>
            </a:r>
            <a:r>
              <a:rPr lang="zh-CN" altLang="en-US" dirty="0"/>
              <a:t>针对不平衡稀疏矩阵（即各行非零元素分布极不均衡）在 </a:t>
            </a:r>
            <a:r>
              <a:rPr lang="en-US" altLang="zh-CN" dirty="0"/>
              <a:t>FPGA </a:t>
            </a:r>
            <a:r>
              <a:rPr lang="zh-CN" altLang="en-US" dirty="0"/>
              <a:t>上加速 </a:t>
            </a:r>
            <a:r>
              <a:rPr lang="en-US" altLang="zh-CN" dirty="0" err="1"/>
              <a:t>SpMV</a:t>
            </a:r>
            <a:r>
              <a:rPr lang="en-US" altLang="zh-CN" dirty="0"/>
              <a:t> </a:t>
            </a:r>
            <a:r>
              <a:rPr lang="zh-CN" altLang="en-US" dirty="0"/>
              <a:t>时遇到的难题，主要从以下四个方面进行了创新和优化：</a:t>
            </a:r>
          </a:p>
          <a:p>
            <a:pPr>
              <a:buFont typeface="+mj-lt"/>
              <a:buAutoNum type="arabicPeriod"/>
            </a:pPr>
            <a:r>
              <a:rPr lang="zh-CN" altLang="en-US" b="1" dirty="0"/>
              <a:t>混合行分配网络</a:t>
            </a:r>
            <a:endParaRPr lang="zh-CN" altLang="en-US" dirty="0"/>
          </a:p>
          <a:p>
            <a:pPr marL="742950" lvl="1" indent="-285750">
              <a:buFont typeface="+mj-lt"/>
              <a:buAutoNum type="arabicPeriod"/>
            </a:pPr>
            <a:r>
              <a:rPr lang="zh-CN" altLang="en-US" dirty="0"/>
              <a:t>传统的行分配策略通常是将矩阵行均匀地分配给各个 </a:t>
            </a:r>
            <a:r>
              <a:rPr lang="en-US" altLang="zh-CN" dirty="0"/>
              <a:t>PE</a:t>
            </a:r>
            <a:r>
              <a:rPr lang="zh-CN" altLang="en-US" dirty="0"/>
              <a:t>，这在大多数均衡矩阵中能达到较好的效果。</a:t>
            </a:r>
          </a:p>
          <a:p>
            <a:pPr marL="742950" lvl="1" indent="-285750">
              <a:buFont typeface="+mj-lt"/>
              <a:buAutoNum type="arabicPeriod"/>
            </a:pPr>
            <a:r>
              <a:rPr lang="zh-CN" altLang="en-US" dirty="0"/>
              <a:t>但对于不平衡矩阵，一些行的非零元素远多于其他行，导致单个 </a:t>
            </a:r>
            <a:r>
              <a:rPr lang="en-US" altLang="zh-CN" dirty="0"/>
              <a:t>PE </a:t>
            </a:r>
            <a:r>
              <a:rPr lang="zh-CN" altLang="en-US" dirty="0"/>
              <a:t>负载过重。</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设计了混合行分配网络，使得同一组 </a:t>
            </a:r>
            <a:r>
              <a:rPr lang="en-US" altLang="zh-CN" dirty="0"/>
              <a:t>PE </a:t>
            </a:r>
            <a:r>
              <a:rPr lang="zh-CN" altLang="en-US" dirty="0"/>
              <a:t>能够根据实际情况选择：</a:t>
            </a:r>
          </a:p>
          <a:p>
            <a:pPr marL="1143000" lvl="2" indent="-228600">
              <a:buFont typeface="+mj-lt"/>
              <a:buAutoNum type="arabicPeriod"/>
            </a:pPr>
            <a:r>
              <a:rPr lang="zh-CN" altLang="en-US" b="1" dirty="0"/>
              <a:t>行间分配</a:t>
            </a:r>
            <a:r>
              <a:rPr lang="zh-CN" altLang="en-US" dirty="0"/>
              <a:t>：各 </a:t>
            </a:r>
            <a:r>
              <a:rPr lang="en-US" altLang="zh-CN" dirty="0"/>
              <a:t>PE </a:t>
            </a:r>
            <a:r>
              <a:rPr lang="zh-CN" altLang="en-US" dirty="0"/>
              <a:t>分别处理不同的行（适用于负载相对均衡的情况）。</a:t>
            </a:r>
          </a:p>
          <a:p>
            <a:pPr marL="1143000" lvl="2" indent="-228600">
              <a:buFont typeface="+mj-lt"/>
              <a:buAutoNum type="arabicPeriod"/>
            </a:pPr>
            <a:r>
              <a:rPr lang="zh-CN" altLang="en-US" b="1" dirty="0"/>
              <a:t>行内分配</a:t>
            </a:r>
            <a:r>
              <a:rPr lang="zh-CN" altLang="en-US" dirty="0"/>
              <a:t>：多个 </a:t>
            </a:r>
            <a:r>
              <a:rPr lang="en-US" altLang="zh-CN" dirty="0"/>
              <a:t>PE </a:t>
            </a:r>
            <a:r>
              <a:rPr lang="zh-CN" altLang="en-US" dirty="0"/>
              <a:t>协同处理同一行（适用于某一行特别密集的情况）。</a:t>
            </a:r>
          </a:p>
          <a:p>
            <a:pPr marL="742950" lvl="1" indent="-285750">
              <a:buFont typeface="+mj-lt"/>
              <a:buAutoNum type="arabicPeriod"/>
            </a:pPr>
            <a:r>
              <a:rPr lang="zh-CN" altLang="en-US" dirty="0"/>
              <a:t>这种设计有助于在面对不平衡矩阵时达到更均衡的工作负载分配，从而提高整体加速效率。</a:t>
            </a:r>
          </a:p>
          <a:p>
            <a:pPr>
              <a:buFont typeface="+mj-lt"/>
              <a:buAutoNum type="arabicPeriod"/>
            </a:pPr>
            <a:r>
              <a:rPr lang="zh-CN" altLang="en-US" b="1" dirty="0"/>
              <a:t>全流水线浮点累加</a:t>
            </a:r>
            <a:endParaRPr lang="zh-CN" altLang="en-US" dirty="0"/>
          </a:p>
          <a:p>
            <a:pPr marL="742950" lvl="1" indent="-285750">
              <a:buFont typeface="+mj-lt"/>
              <a:buAutoNum type="arabicPeriod"/>
            </a:pPr>
            <a:r>
              <a:rPr lang="zh-CN" altLang="en-US" dirty="0"/>
              <a:t>在 </a:t>
            </a:r>
            <a:r>
              <a:rPr lang="en-US" altLang="zh-CN" dirty="0" err="1"/>
              <a:t>SpMV</a:t>
            </a:r>
            <a:r>
              <a:rPr lang="en-US" altLang="zh-CN" dirty="0"/>
              <a:t> </a:t>
            </a:r>
            <a:r>
              <a:rPr lang="zh-CN" altLang="en-US" dirty="0"/>
              <a:t>运算中，对同一行的非零元素进行累加时，由于浮点加法延迟较长，会产生长距离的读后写依赖，从而导致流水线停顿。</a:t>
            </a:r>
          </a:p>
          <a:p>
            <a:pPr marL="742950" lvl="1" indent="-285750">
              <a:buFont typeface="+mj-lt"/>
              <a:buAutoNum type="arabicPeriod"/>
            </a:pPr>
            <a:r>
              <a:rPr lang="zh-CN" altLang="en-US" dirty="0"/>
              <a:t>为了解决这一问题，</a:t>
            </a:r>
            <a:r>
              <a:rPr lang="en-US" altLang="zh-CN" dirty="0" err="1"/>
              <a:t>HiSpMV</a:t>
            </a:r>
            <a:r>
              <a:rPr lang="en-US" altLang="zh-CN" dirty="0"/>
              <a:t> </a:t>
            </a:r>
            <a:r>
              <a:rPr lang="zh-CN" altLang="en-US" dirty="0"/>
              <a:t>采用了两种策略：</a:t>
            </a:r>
          </a:p>
          <a:p>
            <a:pPr marL="1143000" lvl="2" indent="-228600">
              <a:buFont typeface="+mj-lt"/>
              <a:buAutoNum type="arabicPeriod"/>
            </a:pPr>
            <a:r>
              <a:rPr lang="zh-CN" altLang="en-US" b="1" dirty="0"/>
              <a:t>基于寄存器的循环缓冲器</a:t>
            </a:r>
            <a:r>
              <a:rPr lang="zh-CN" altLang="en-US" dirty="0"/>
              <a:t>：在每个 </a:t>
            </a:r>
            <a:r>
              <a:rPr lang="en-US" altLang="zh-CN" dirty="0"/>
              <a:t>PE </a:t>
            </a:r>
            <a:r>
              <a:rPr lang="zh-CN" altLang="en-US" dirty="0"/>
              <a:t>内部设置一个小型循环缓冲器，用于存储中间累加结果，这样可以快速访问数据，将原本大约 </a:t>
            </a:r>
            <a:r>
              <a:rPr lang="en-US" altLang="zh-CN" dirty="0"/>
              <a:t>10 </a:t>
            </a:r>
            <a:r>
              <a:rPr lang="zh-CN" altLang="en-US" dirty="0"/>
              <a:t>个周期的依赖距离降低到 </a:t>
            </a:r>
            <a:r>
              <a:rPr lang="en-US" altLang="zh-CN" dirty="0"/>
              <a:t>5 </a:t>
            </a:r>
            <a:r>
              <a:rPr lang="zh-CN" altLang="en-US" dirty="0"/>
              <a:t>个周期，减少等待时间。</a:t>
            </a:r>
          </a:p>
          <a:p>
            <a:pPr marL="1143000" lvl="2" indent="-228600">
              <a:buFont typeface="+mj-lt"/>
              <a:buAutoNum type="arabicPeriod"/>
            </a:pPr>
            <a:r>
              <a:rPr lang="zh-CN" altLang="en-US" b="1" dirty="0"/>
              <a:t>加法链</a:t>
            </a:r>
            <a:r>
              <a:rPr lang="zh-CN" altLang="en-US" dirty="0"/>
              <a:t>：通过一个小型加法链，在等待前一个累加结果完成期间，提前将同一行的部分结果进行预加，从而在后续周期内直接将预加结果与缓冲器中的旧结果相加，避免了流水线因等待而产生的空泡。</a:t>
            </a:r>
          </a:p>
          <a:p>
            <a:pPr marL="742950" lvl="1" indent="-285750">
              <a:buFont typeface="+mj-lt"/>
              <a:buAutoNum type="arabicPeriod"/>
            </a:pPr>
            <a:r>
              <a:rPr lang="zh-CN" altLang="en-US" dirty="0"/>
              <a:t>这两项技术的结合，使得浮点累加能够实现全流水线化，极大地提高了累加部分的处理效率。</a:t>
            </a:r>
          </a:p>
          <a:p>
            <a:pPr>
              <a:buFont typeface="+mj-lt"/>
              <a:buAutoNum type="arabicPeriod"/>
            </a:pPr>
            <a:r>
              <a:rPr lang="zh-CN" altLang="en-US" b="1" dirty="0"/>
              <a:t>输入向量的混合缓冲</a:t>
            </a:r>
            <a:endParaRPr lang="zh-CN" altLang="en-US" dirty="0"/>
          </a:p>
          <a:p>
            <a:pPr marL="742950" lvl="1" indent="-285750">
              <a:buFont typeface="+mj-lt"/>
              <a:buAutoNum type="arabicPeriod"/>
            </a:pPr>
            <a:r>
              <a:rPr lang="en-US" altLang="zh-CN" dirty="0" err="1"/>
              <a:t>SpMV</a:t>
            </a:r>
            <a:r>
              <a:rPr lang="en-US" altLang="zh-CN" dirty="0"/>
              <a:t> </a:t>
            </a:r>
            <a:r>
              <a:rPr lang="zh-CN" altLang="en-US" dirty="0"/>
              <a:t>运算中除了处理稀疏矩阵外，还需要频繁加载输入向量数据。对于低密度矩阵，输入向量加载可能成为新的性能瓶颈。</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提出了一种混合缓冲技术，允许同一组片上缓冲器有两种使用模式：</a:t>
            </a:r>
          </a:p>
          <a:p>
            <a:pPr marL="1143000" lvl="2" indent="-228600">
              <a:buFont typeface="+mj-lt"/>
              <a:buAutoNum type="arabicPeriod"/>
            </a:pPr>
            <a:r>
              <a:rPr lang="zh-CN" altLang="en-US" b="1" dirty="0"/>
              <a:t>私有分区模式</a:t>
            </a:r>
            <a:r>
              <a:rPr lang="zh-CN" altLang="en-US" dirty="0"/>
              <a:t>：每个 </a:t>
            </a:r>
            <a:r>
              <a:rPr lang="en-US" altLang="zh-CN" dirty="0"/>
              <a:t>PE </a:t>
            </a:r>
            <a:r>
              <a:rPr lang="zh-CN" altLang="en-US" dirty="0"/>
              <a:t>拥有独立的缓冲副本，适用于计算成为主要瓶颈的情况。</a:t>
            </a:r>
          </a:p>
          <a:p>
            <a:pPr marL="1143000" lvl="2" indent="-228600">
              <a:buFont typeface="+mj-lt"/>
              <a:buAutoNum type="arabicPeriod"/>
            </a:pPr>
            <a:r>
              <a:rPr lang="zh-CN" altLang="en-US" b="1" dirty="0"/>
              <a:t>共享的 </a:t>
            </a:r>
            <a:r>
              <a:rPr lang="en-US" altLang="zh-CN" b="1" dirty="0"/>
              <a:t>ping-pong </a:t>
            </a:r>
            <a:r>
              <a:rPr lang="zh-CN" altLang="en-US" b="1" dirty="0"/>
              <a:t>模式</a:t>
            </a:r>
            <a:r>
              <a:rPr lang="zh-CN" altLang="en-US" dirty="0"/>
              <a:t>：两个 </a:t>
            </a:r>
            <a:r>
              <a:rPr lang="en-US" altLang="zh-CN" dirty="0"/>
              <a:t>PE </a:t>
            </a:r>
            <a:r>
              <a:rPr lang="zh-CN" altLang="en-US" dirty="0"/>
              <a:t>共享同一缓冲器，通过交替读写来隐藏输入向量加载的延迟，适用于低密度矩阵中输入向量加载成为瓶颈的情况。</a:t>
            </a:r>
          </a:p>
          <a:p>
            <a:pPr marL="742950" lvl="1" indent="-285750">
              <a:buFont typeface="+mj-lt"/>
              <a:buAutoNum type="arabicPeriod"/>
            </a:pPr>
            <a:r>
              <a:rPr lang="zh-CN" altLang="en-US" dirty="0"/>
              <a:t>这种灵活的缓冲方案能够根据矩阵密度动态切换，确保不同场景下都能高效工作。</a:t>
            </a:r>
          </a:p>
          <a:p>
            <a:r>
              <a:rPr lang="en-US" altLang="zh-CN" b="1" dirty="0"/>
              <a:t>4. </a:t>
            </a:r>
            <a:r>
              <a:rPr lang="zh-CN" altLang="en-US" b="1" dirty="0"/>
              <a:t>自动化工具</a:t>
            </a:r>
            <a:endParaRPr lang="zh-CN" altLang="en-US" dirty="0"/>
          </a:p>
          <a:p>
            <a:pPr>
              <a:buFont typeface="Arial" panose="020B0604020202020204" pitchFamily="34" charset="0"/>
              <a:buChar char="•"/>
            </a:pPr>
            <a:r>
              <a:rPr lang="zh-CN" altLang="en-US" dirty="0"/>
              <a:t>为了便于用户在不同 </a:t>
            </a:r>
            <a:r>
              <a:rPr lang="en-US" altLang="zh-CN" dirty="0"/>
              <a:t>FPGA </a:t>
            </a:r>
            <a:r>
              <a:rPr lang="zh-CN" altLang="en-US" dirty="0"/>
              <a:t>平台上进行设计空间探索和优化，</a:t>
            </a:r>
            <a:r>
              <a:rPr lang="en-US" altLang="zh-CN" dirty="0" err="1"/>
              <a:t>HiSpMV</a:t>
            </a:r>
            <a:r>
              <a:rPr lang="en-US" altLang="zh-CN" dirty="0"/>
              <a:t> </a:t>
            </a:r>
            <a:r>
              <a:rPr lang="zh-CN" altLang="en-US" dirty="0"/>
              <a:t>提供了一个自动化工具，该工具基于 </a:t>
            </a:r>
            <a:r>
              <a:rPr lang="en-US" altLang="zh-CN" dirty="0"/>
              <a:t>Vitis HLS </a:t>
            </a:r>
            <a:r>
              <a:rPr lang="zh-CN" altLang="en-US" dirty="0"/>
              <a:t>环境，用户可以通过配置选项选择是否启用各项优化，并设置设计参数（如 </a:t>
            </a:r>
            <a:r>
              <a:rPr lang="en-US" altLang="zh-CN" dirty="0"/>
              <a:t>HBM </a:t>
            </a:r>
            <a:r>
              <a:rPr lang="zh-CN" altLang="en-US" dirty="0"/>
              <a:t>通道数、</a:t>
            </a:r>
            <a:r>
              <a:rPr lang="en-US" altLang="zh-CN" dirty="0"/>
              <a:t>PE </a:t>
            </a:r>
            <a:r>
              <a:rPr lang="zh-CN" altLang="en-US" dirty="0"/>
              <a:t>数量等）。</a:t>
            </a:r>
          </a:p>
          <a:p>
            <a:pPr>
              <a:buFont typeface="Arial" panose="020B0604020202020204" pitchFamily="34" charset="0"/>
              <a:buChar char="•"/>
            </a:pPr>
            <a:r>
              <a:rPr lang="zh-CN" altLang="en-US" dirty="0"/>
              <a:t>此外，该工具与 </a:t>
            </a:r>
            <a:r>
              <a:rPr lang="en-US" altLang="zh-CN" dirty="0"/>
              <a:t>PASTA </a:t>
            </a:r>
            <a:r>
              <a:rPr lang="zh-CN" altLang="en-US" dirty="0"/>
              <a:t>任务并行 </a:t>
            </a:r>
            <a:r>
              <a:rPr lang="en-US" altLang="zh-CN" dirty="0"/>
              <a:t>HLS </a:t>
            </a:r>
            <a:r>
              <a:rPr lang="zh-CN" altLang="en-US" dirty="0"/>
              <a:t>编程框架集成，不仅有助于改善时序闭合问题，还利用了其缓冲通道特性来实现混合缓冲方案，从而大大简化了设计和验证过程。</a:t>
            </a:r>
          </a:p>
          <a:p>
            <a:endParaRPr lang="en-US" altLang="zh-CN" dirty="0"/>
          </a:p>
          <a:p>
            <a:pPr>
              <a:buFont typeface="+mj-lt"/>
              <a:buAutoNum type="arabicPeriod"/>
            </a:pPr>
            <a:r>
              <a:rPr lang="zh-CN" altLang="en-US" b="1" dirty="0"/>
              <a:t>整体架构设计</a:t>
            </a:r>
            <a:endParaRPr lang="zh-CN" altLang="en-US" dirty="0"/>
          </a:p>
          <a:p>
            <a:pPr marL="742950" lvl="1" indent="-285750">
              <a:buFont typeface="+mj-lt"/>
              <a:buAutoNum type="arabicPeriod"/>
            </a:pPr>
            <a:r>
              <a:rPr lang="zh-CN" altLang="en-US" b="1" dirty="0"/>
              <a:t>基于 </a:t>
            </a:r>
            <a:r>
              <a:rPr lang="en-US" altLang="zh-CN" b="1" dirty="0"/>
              <a:t>Serpens </a:t>
            </a:r>
            <a:r>
              <a:rPr lang="zh-CN" altLang="en-US" b="1" dirty="0"/>
              <a:t>构建</a:t>
            </a:r>
            <a:r>
              <a:rPr lang="zh-CN" altLang="en-US" dirty="0"/>
              <a:t>：</a:t>
            </a:r>
            <a:r>
              <a:rPr lang="en-US" altLang="zh-CN" dirty="0" err="1"/>
              <a:t>HiSpMV</a:t>
            </a:r>
            <a:r>
              <a:rPr lang="en-US" altLang="zh-CN" dirty="0"/>
              <a:t> </a:t>
            </a:r>
            <a:r>
              <a:rPr lang="zh-CN" altLang="en-US" dirty="0"/>
              <a:t>的设计是在已有高性能 </a:t>
            </a:r>
            <a:r>
              <a:rPr lang="en-US" altLang="zh-CN" dirty="0" err="1"/>
              <a:t>SpMV</a:t>
            </a:r>
            <a:r>
              <a:rPr lang="en-US" altLang="zh-CN" dirty="0"/>
              <a:t> </a:t>
            </a:r>
            <a:r>
              <a:rPr lang="zh-CN" altLang="en-US" dirty="0"/>
              <a:t>加速器 </a:t>
            </a:r>
            <a:r>
              <a:rPr lang="en-US" altLang="zh-CN" dirty="0"/>
              <a:t>Serpens </a:t>
            </a:r>
            <a:r>
              <a:rPr lang="zh-CN" altLang="en-US" dirty="0"/>
              <a:t>的基础上进行的，这样可以利用 </a:t>
            </a:r>
            <a:r>
              <a:rPr lang="en-US" altLang="zh-CN" dirty="0"/>
              <a:t>Serpens </a:t>
            </a:r>
            <a:r>
              <a:rPr lang="zh-CN" altLang="en-US" dirty="0"/>
              <a:t>的优势，再加入新的优化特性（如混合行分配、全流水线累加、混合缓冲技术等）以及自动化设计工具来进一步提升性能。</a:t>
            </a:r>
          </a:p>
          <a:p>
            <a:pPr>
              <a:buFont typeface="+mj-lt"/>
              <a:buAutoNum type="arabicPeriod"/>
            </a:pPr>
            <a:r>
              <a:rPr lang="zh-CN" altLang="en-US" b="1" dirty="0"/>
              <a:t>模块划分与数据流</a:t>
            </a:r>
            <a:endParaRPr lang="zh-CN" altLang="en-US" dirty="0"/>
          </a:p>
          <a:p>
            <a:pPr marL="742950" lvl="1" indent="-285750">
              <a:buFont typeface="+mj-lt"/>
              <a:buAutoNum type="arabicPeriod"/>
            </a:pPr>
            <a:r>
              <a:rPr lang="zh-CN" altLang="en-US" b="1" dirty="0"/>
              <a:t>输入向量加载模块</a:t>
            </a:r>
            <a:r>
              <a:rPr lang="zh-CN" altLang="en-US" dirty="0"/>
              <a:t>：首先，将输入向量 </a:t>
            </a:r>
            <a:r>
              <a:rPr lang="en-US" altLang="zh-CN" dirty="0"/>
              <a:t>x® </a:t>
            </a:r>
            <a:r>
              <a:rPr lang="zh-CN" altLang="en-US" dirty="0"/>
              <a:t>的加载单独划分为一个模块，与后续计算模块（处理引擎组，</a:t>
            </a:r>
            <a:r>
              <a:rPr lang="en-US" altLang="zh-CN" dirty="0"/>
              <a:t>PEG</a:t>
            </a:r>
            <a:r>
              <a:rPr lang="zh-CN" altLang="en-US" dirty="0"/>
              <a:t>）分离。这样做的好处是，可以专门优化数据加载部分，并且利用一个专用的缓冲通道实现模块间的通信，从而为混合缓冲技术提供支持。</a:t>
            </a:r>
          </a:p>
          <a:p>
            <a:pPr marL="742950" lvl="1" indent="-285750">
              <a:buFont typeface="+mj-lt"/>
              <a:buAutoNum type="arabicPeriod"/>
            </a:pPr>
            <a:r>
              <a:rPr lang="zh-CN" altLang="en-US" b="1" dirty="0"/>
              <a:t>缓冲通道</a:t>
            </a:r>
            <a:r>
              <a:rPr lang="zh-CN" altLang="en-US" dirty="0"/>
              <a:t>：用来在输入向量加载模块和 </a:t>
            </a:r>
            <a:r>
              <a:rPr lang="en-US" altLang="zh-CN" dirty="0"/>
              <a:t>PEG </a:t>
            </a:r>
            <a:r>
              <a:rPr lang="zh-CN" altLang="en-US" dirty="0"/>
              <a:t>之间传递数据。所有这些缓冲通道都采用 </a:t>
            </a:r>
            <a:r>
              <a:rPr lang="en-US" altLang="zh-CN" dirty="0"/>
              <a:t>512 </a:t>
            </a:r>
            <a:r>
              <a:rPr lang="zh-CN" altLang="en-US" dirty="0"/>
              <a:t>位宽，以确保数据传输的高带宽和效率。</a:t>
            </a:r>
          </a:p>
          <a:p>
            <a:pPr marL="742950" lvl="1" indent="-285750">
              <a:buFont typeface="+mj-lt"/>
              <a:buAutoNum type="arabicPeriod"/>
            </a:pPr>
            <a:r>
              <a:rPr lang="zh-CN" altLang="en-US" b="1" dirty="0"/>
              <a:t>累加与输出模块（</a:t>
            </a:r>
            <a:r>
              <a:rPr lang="en-US" altLang="zh-CN" b="1" dirty="0" err="1"/>
              <a:t>y_Ax</a:t>
            </a:r>
            <a:r>
              <a:rPr lang="en-US" altLang="zh-CN" b="1" dirty="0"/>
              <a:t> </a:t>
            </a:r>
            <a:r>
              <a:rPr lang="zh-CN" altLang="en-US" b="1" dirty="0"/>
              <a:t>处理器）</a:t>
            </a:r>
            <a:r>
              <a:rPr lang="zh-CN" altLang="en-US" dirty="0"/>
              <a:t>：原本在 </a:t>
            </a:r>
            <a:r>
              <a:rPr lang="en-US" altLang="zh-CN" dirty="0"/>
              <a:t>PEG </a:t>
            </a:r>
            <a:r>
              <a:rPr lang="zh-CN" altLang="en-US" dirty="0"/>
              <a:t>内部进行的累加和输出缓冲区被移到了专用的 </a:t>
            </a:r>
            <a:r>
              <a:rPr lang="en-US" altLang="zh-CN" dirty="0" err="1"/>
              <a:t>y_Ax</a:t>
            </a:r>
            <a:r>
              <a:rPr lang="en-US" altLang="zh-CN" dirty="0"/>
              <a:t> </a:t>
            </a:r>
            <a:r>
              <a:rPr lang="zh-CN" altLang="en-US" dirty="0"/>
              <a:t>处理器模块中。这样可以将数据累加和后续输出操作独立出来，便于专门优化这些步骤。</a:t>
            </a:r>
          </a:p>
          <a:p>
            <a:pPr>
              <a:buFont typeface="+mj-lt"/>
              <a:buAutoNum type="arabicPeriod"/>
            </a:pPr>
            <a:r>
              <a:rPr lang="zh-CN" altLang="en-US" b="1" dirty="0"/>
              <a:t>处理引擎组 </a:t>
            </a:r>
            <a:r>
              <a:rPr lang="en-US" altLang="zh-CN" b="1" dirty="0"/>
              <a:t>(PEG) </a:t>
            </a:r>
            <a:r>
              <a:rPr lang="zh-CN" altLang="en-US" b="1" dirty="0"/>
              <a:t>与 </a:t>
            </a:r>
            <a:r>
              <a:rPr lang="en-US" altLang="zh-CN" b="1" dirty="0"/>
              <a:t>PE</a:t>
            </a:r>
            <a:endParaRPr lang="zh-CN" altLang="en-US" dirty="0"/>
          </a:p>
          <a:p>
            <a:pPr marL="742950" lvl="1" indent="-285750">
              <a:buFont typeface="+mj-lt"/>
              <a:buAutoNum type="arabicPeriod"/>
            </a:pPr>
            <a:r>
              <a:rPr lang="en-US" altLang="zh-CN" b="1" dirty="0"/>
              <a:t>PEG </a:t>
            </a:r>
            <a:r>
              <a:rPr lang="zh-CN" altLang="en-US" b="1" dirty="0"/>
              <a:t>结构</a:t>
            </a:r>
            <a:r>
              <a:rPr lang="zh-CN" altLang="en-US" dirty="0"/>
              <a:t>：每个 </a:t>
            </a:r>
            <a:r>
              <a:rPr lang="en-US" altLang="zh-CN" dirty="0"/>
              <a:t>PEG </a:t>
            </a:r>
            <a:r>
              <a:rPr lang="zh-CN" altLang="en-US" dirty="0"/>
              <a:t>内包含 </a:t>
            </a:r>
            <a:r>
              <a:rPr lang="en-US" altLang="zh-CN" dirty="0"/>
              <a:t>2 </a:t>
            </a:r>
            <a:r>
              <a:rPr lang="zh-CN" altLang="en-US" dirty="0"/>
              <a:t>个处理单元（</a:t>
            </a:r>
            <a:r>
              <a:rPr lang="en-US" altLang="zh-CN" dirty="0"/>
              <a:t>PE</a:t>
            </a:r>
            <a:r>
              <a:rPr lang="zh-CN" altLang="en-US" dirty="0"/>
              <a:t>），而一个 </a:t>
            </a:r>
            <a:r>
              <a:rPr lang="en-US" altLang="zh-CN" dirty="0"/>
              <a:t>HBM </a:t>
            </a:r>
            <a:r>
              <a:rPr lang="zh-CN" altLang="en-US" dirty="0"/>
              <a:t>通道用于流式传输稀疏矩阵 </a:t>
            </a:r>
            <a:r>
              <a:rPr lang="en-US" altLang="zh-CN" dirty="0"/>
              <a:t>A</a:t>
            </a:r>
            <a:r>
              <a:rPr lang="zh-CN" altLang="en-US" dirty="0"/>
              <a:t>，每个通道服务于 </a:t>
            </a:r>
            <a:r>
              <a:rPr lang="en-US" altLang="zh-CN" dirty="0"/>
              <a:t>4 </a:t>
            </a:r>
            <a:r>
              <a:rPr lang="zh-CN" altLang="en-US" dirty="0"/>
              <a:t>个 </a:t>
            </a:r>
            <a:r>
              <a:rPr lang="en-US" altLang="zh-CN" dirty="0"/>
              <a:t>PEG</a:t>
            </a:r>
            <a:r>
              <a:rPr lang="zh-CN" altLang="en-US" dirty="0"/>
              <a:t>，这样可以充分利用多个 </a:t>
            </a:r>
            <a:r>
              <a:rPr lang="en-US" altLang="zh-CN" dirty="0"/>
              <a:t>HBM </a:t>
            </a:r>
            <a:r>
              <a:rPr lang="zh-CN" altLang="en-US" dirty="0"/>
              <a:t>通道实现并行数据传输。</a:t>
            </a:r>
          </a:p>
          <a:p>
            <a:pPr marL="742950" lvl="1" indent="-285750">
              <a:buFont typeface="+mj-lt"/>
              <a:buAutoNum type="arabicPeriod"/>
            </a:pPr>
            <a:r>
              <a:rPr lang="en-US" altLang="zh-CN" b="1" dirty="0"/>
              <a:t>PE </a:t>
            </a:r>
            <a:r>
              <a:rPr lang="zh-CN" altLang="en-US" b="1" dirty="0"/>
              <a:t>的工作</a:t>
            </a:r>
            <a:r>
              <a:rPr lang="zh-CN" altLang="en-US" dirty="0"/>
              <a:t>：每个 </a:t>
            </a:r>
            <a:r>
              <a:rPr lang="en-US" altLang="zh-CN" dirty="0"/>
              <a:t>PE </a:t>
            </a:r>
            <a:r>
              <a:rPr lang="zh-CN" altLang="en-US" dirty="0"/>
              <a:t>从片上缓冲的输入向量中获取对应的数据，与矩阵 </a:t>
            </a:r>
            <a:r>
              <a:rPr lang="en-US" altLang="zh-CN" dirty="0"/>
              <a:t>A </a:t>
            </a:r>
            <a:r>
              <a:rPr lang="zh-CN" altLang="en-US" dirty="0"/>
              <a:t>中的非零元素（</a:t>
            </a:r>
            <a:r>
              <a:rPr lang="en-US" altLang="zh-CN" dirty="0"/>
              <a:t>arc</a:t>
            </a:r>
            <a:r>
              <a:rPr lang="zh-CN" altLang="en-US" dirty="0"/>
              <a:t>）相乘。这个操作按照算法 </a:t>
            </a:r>
            <a:r>
              <a:rPr lang="en-US" altLang="zh-CN" dirty="0"/>
              <a:t>1 </a:t>
            </a:r>
            <a:r>
              <a:rPr lang="zh-CN" altLang="en-US" dirty="0"/>
              <a:t>的描述进行，并且需要对乘积结果进行路由判断。</a:t>
            </a:r>
          </a:p>
          <a:p>
            <a:pPr>
              <a:buFont typeface="+mj-lt"/>
              <a:buAutoNum type="arabicPeriod"/>
            </a:pPr>
            <a:r>
              <a:rPr lang="zh-CN" altLang="en-US" b="1" dirty="0"/>
              <a:t>路由与混合行分配网络</a:t>
            </a:r>
            <a:endParaRPr lang="zh-CN" altLang="en-US" dirty="0"/>
          </a:p>
          <a:p>
            <a:pPr marL="742950" lvl="1" indent="-285750">
              <a:buFont typeface="+mj-lt"/>
              <a:buAutoNum type="arabicPeriod"/>
            </a:pPr>
            <a:r>
              <a:rPr lang="zh-CN" altLang="en-US" b="1" dirty="0"/>
              <a:t>行分配信息解码</a:t>
            </a:r>
            <a:r>
              <a:rPr lang="zh-CN" altLang="en-US" dirty="0"/>
              <a:t>：每个 </a:t>
            </a:r>
            <a:r>
              <a:rPr lang="en-US" altLang="zh-CN" dirty="0"/>
              <a:t>PE </a:t>
            </a:r>
            <a:r>
              <a:rPr lang="zh-CN" altLang="en-US" dirty="0"/>
              <a:t>根据预处理阶段生成的编码信息，确定乘积结果应路由到哪个 </a:t>
            </a:r>
            <a:r>
              <a:rPr lang="en-US" altLang="zh-CN" dirty="0" err="1"/>
              <a:t>y_Ax</a:t>
            </a:r>
            <a:r>
              <a:rPr lang="en-US" altLang="zh-CN" dirty="0"/>
              <a:t> </a:t>
            </a:r>
            <a:r>
              <a:rPr lang="zh-CN" altLang="en-US" dirty="0"/>
              <a:t>处理器（对应 </a:t>
            </a:r>
            <a:r>
              <a:rPr lang="en-US" altLang="zh-CN" dirty="0"/>
              <a:t>bank ID</a:t>
            </a:r>
            <a:r>
              <a:rPr lang="zh-CN" altLang="en-US" dirty="0"/>
              <a:t>）。</a:t>
            </a:r>
          </a:p>
          <a:p>
            <a:pPr marL="742950" lvl="1" indent="-285750">
              <a:buFont typeface="+mj-lt"/>
              <a:buAutoNum type="arabicPeriod"/>
            </a:pPr>
            <a:r>
              <a:rPr lang="zh-CN" altLang="en-US" b="1" dirty="0"/>
              <a:t>混合行分配网络</a:t>
            </a:r>
            <a:r>
              <a:rPr lang="zh-CN" altLang="en-US" dirty="0"/>
              <a:t>：这个网络根据解码得到的 </a:t>
            </a:r>
            <a:r>
              <a:rPr lang="en-US" altLang="zh-CN" dirty="0"/>
              <a:t>bank ID</a:t>
            </a:r>
            <a:r>
              <a:rPr lang="zh-CN" altLang="en-US" dirty="0"/>
              <a:t>，将乘积结果从各个 </a:t>
            </a:r>
            <a:r>
              <a:rPr lang="en-US" altLang="zh-CN" dirty="0"/>
              <a:t>PE </a:t>
            </a:r>
            <a:r>
              <a:rPr lang="zh-CN" altLang="en-US" dirty="0"/>
              <a:t>传送到相应的 </a:t>
            </a:r>
            <a:r>
              <a:rPr lang="en-US" altLang="zh-CN" dirty="0" err="1"/>
              <a:t>y_Ax</a:t>
            </a:r>
            <a:r>
              <a:rPr lang="en-US" altLang="zh-CN" dirty="0"/>
              <a:t> </a:t>
            </a:r>
            <a:r>
              <a:rPr lang="zh-CN" altLang="en-US" dirty="0"/>
              <a:t>处理器进行累加。混合行分配网络支持两种分配模式（行间分配与行内分配），以应对矩阵行不均衡问题。</a:t>
            </a:r>
          </a:p>
          <a:p>
            <a:pPr>
              <a:buFont typeface="+mj-lt"/>
              <a:buAutoNum type="arabicPeriod"/>
            </a:pPr>
            <a:r>
              <a:rPr lang="zh-CN" altLang="en-US" b="1" dirty="0"/>
              <a:t>加法链与循环缓冲器</a:t>
            </a:r>
            <a:endParaRPr lang="zh-CN" altLang="en-US" dirty="0"/>
          </a:p>
          <a:p>
            <a:pPr marL="742950" lvl="1" indent="-285750">
              <a:buFont typeface="+mj-lt"/>
              <a:buAutoNum type="arabicPeriod"/>
            </a:pPr>
            <a:r>
              <a:rPr lang="zh-CN" altLang="en-US" b="1" dirty="0"/>
              <a:t>加法链</a:t>
            </a:r>
            <a:r>
              <a:rPr lang="zh-CN" altLang="en-US" dirty="0"/>
              <a:t>：加法链被放置在 </a:t>
            </a:r>
            <a:r>
              <a:rPr lang="en-US" altLang="zh-CN" dirty="0"/>
              <a:t>PEG </a:t>
            </a:r>
            <a:r>
              <a:rPr lang="zh-CN" altLang="en-US" dirty="0"/>
              <a:t>后面，目的是在将乘积结果传送给 </a:t>
            </a:r>
            <a:r>
              <a:rPr lang="en-US" altLang="zh-CN" dirty="0" err="1"/>
              <a:t>y_Ax</a:t>
            </a:r>
            <a:r>
              <a:rPr lang="en-US" altLang="zh-CN" dirty="0"/>
              <a:t> </a:t>
            </a:r>
            <a:r>
              <a:rPr lang="zh-CN" altLang="en-US" dirty="0"/>
              <a:t>处理器前，对这些结果进行预加，独立地将同一行的部分结果先进行加和，从而减少流水线因 </a:t>
            </a:r>
            <a:r>
              <a:rPr lang="en-US" altLang="zh-CN" dirty="0"/>
              <a:t>RAW </a:t>
            </a:r>
            <a:r>
              <a:rPr lang="zh-CN" altLang="en-US" dirty="0"/>
              <a:t>依赖而产生的停顿。</a:t>
            </a:r>
          </a:p>
          <a:p>
            <a:pPr marL="742950" lvl="1" indent="-285750">
              <a:buFont typeface="+mj-lt"/>
              <a:buAutoNum type="arabicPeriod"/>
            </a:pPr>
            <a:r>
              <a:rPr lang="zh-CN" altLang="en-US" b="1" dirty="0"/>
              <a:t>循环缓冲器</a:t>
            </a:r>
            <a:r>
              <a:rPr lang="zh-CN" altLang="en-US" dirty="0"/>
              <a:t>：每个 </a:t>
            </a:r>
            <a:r>
              <a:rPr lang="en-US" altLang="zh-CN" dirty="0" err="1"/>
              <a:t>y_Ax</a:t>
            </a:r>
            <a:r>
              <a:rPr lang="en-US" altLang="zh-CN" dirty="0"/>
              <a:t> </a:t>
            </a:r>
            <a:r>
              <a:rPr lang="zh-CN" altLang="en-US" dirty="0"/>
              <a:t>处理器内部使用基于寄存器的循环缓冲器来存储最近的中间累加结果，降低读写延迟，将依赖距离降低到 </a:t>
            </a:r>
            <a:r>
              <a:rPr lang="en-US" altLang="zh-CN" dirty="0"/>
              <a:t>5 </a:t>
            </a:r>
            <a:r>
              <a:rPr lang="zh-CN" altLang="en-US" dirty="0"/>
              <a:t>个周期，从而提高流水线效率。</a:t>
            </a:r>
          </a:p>
          <a:p>
            <a:pPr>
              <a:buFont typeface="+mj-lt"/>
              <a:buAutoNum type="arabicPeriod"/>
            </a:pPr>
            <a:r>
              <a:rPr lang="zh-CN" altLang="en-US" b="1" dirty="0"/>
              <a:t>最终数据流</a:t>
            </a:r>
            <a:endParaRPr lang="zh-CN" altLang="en-US" dirty="0"/>
          </a:p>
          <a:p>
            <a:pPr marL="742950" lvl="1" indent="-285750">
              <a:buFont typeface="+mj-lt"/>
              <a:buAutoNum type="arabicPeriod"/>
            </a:pPr>
            <a:r>
              <a:rPr lang="zh-CN" altLang="en-US" dirty="0"/>
              <a:t>当所有乘积累加完成后，得到 </a:t>
            </a:r>
            <a:r>
              <a:rPr lang="en-US" altLang="zh-CN" dirty="0" err="1"/>
              <a:t>y_Ax</a:t>
            </a:r>
            <a:r>
              <a:rPr lang="en-US" altLang="zh-CN" dirty="0"/>
              <a:t>[Rt] = A × x®</a:t>
            </a:r>
            <a:r>
              <a:rPr lang="zh-CN" altLang="en-US" dirty="0"/>
              <a:t>，然后系统会流式接入另一个向量 </a:t>
            </a:r>
            <a:r>
              <a:rPr lang="en-US" altLang="zh-CN" dirty="0" err="1"/>
              <a:t>y_in</a:t>
            </a:r>
            <a:r>
              <a:rPr lang="zh-CN" altLang="en-US" dirty="0"/>
              <a:t>，并按公式计算最终的输出向量 </a:t>
            </a:r>
            <a:r>
              <a:rPr lang="en-US" altLang="zh-CN" dirty="0" err="1"/>
              <a:t>y_out</a:t>
            </a:r>
            <a:r>
              <a:rPr lang="zh-CN" altLang="en-US" dirty="0"/>
              <a:t>（例如 </a:t>
            </a:r>
            <a:r>
              <a:rPr lang="en-US" altLang="zh-CN" dirty="0" err="1"/>
              <a:t>y_out</a:t>
            </a:r>
            <a:r>
              <a:rPr lang="en-US" altLang="zh-CN" dirty="0"/>
              <a:t> = α · </a:t>
            </a:r>
            <a:r>
              <a:rPr lang="en-US" altLang="zh-CN" dirty="0" err="1"/>
              <a:t>y_Ax</a:t>
            </a:r>
            <a:r>
              <a:rPr lang="en-US" altLang="zh-CN" dirty="0"/>
              <a:t> + β · </a:t>
            </a:r>
            <a:r>
              <a:rPr lang="en-US" altLang="zh-CN" dirty="0" err="1"/>
              <a:t>y_in</a:t>
            </a:r>
            <a:r>
              <a:rPr lang="zh-CN" altLang="en-US" dirty="0"/>
              <a:t>），最后将 </a:t>
            </a:r>
            <a:r>
              <a:rPr lang="en-US" altLang="zh-CN" dirty="0" err="1"/>
              <a:t>y_out</a:t>
            </a:r>
            <a:r>
              <a:rPr lang="en-US" altLang="zh-CN" dirty="0"/>
              <a:t> </a:t>
            </a:r>
            <a:r>
              <a:rPr lang="zh-CN" altLang="en-US" dirty="0"/>
              <a:t>流式输出。</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23660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B12E0-C841-C026-FF99-47C7FA30D7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02F9FB-C937-730A-1205-85DC4CB386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C47358-DA81-1498-65C1-4C02D1ADF2BA}"/>
              </a:ext>
            </a:extLst>
          </p:cNvPr>
          <p:cNvSpPr>
            <a:spLocks noGrp="1"/>
          </p:cNvSpPr>
          <p:nvPr>
            <p:ph type="body" idx="1"/>
          </p:nvPr>
        </p:nvSpPr>
        <p:spPr/>
        <p:txBody>
          <a:bodyPr/>
          <a:lstStyle/>
          <a:p>
            <a:r>
              <a:rPr lang="zh-CN" altLang="en-US" dirty="0"/>
              <a:t>本文提出的 </a:t>
            </a:r>
            <a:r>
              <a:rPr lang="en-US" altLang="zh-CN" dirty="0" err="1"/>
              <a:t>HiSpMV</a:t>
            </a:r>
            <a:r>
              <a:rPr lang="en-US" altLang="zh-CN" dirty="0"/>
              <a:t> </a:t>
            </a:r>
            <a:r>
              <a:rPr lang="zh-CN" altLang="en-US" dirty="0"/>
              <a:t>针对不平衡稀疏矩阵（即各行非零元素分布极不均衡）在 </a:t>
            </a:r>
            <a:r>
              <a:rPr lang="en-US" altLang="zh-CN" dirty="0"/>
              <a:t>FPGA </a:t>
            </a:r>
            <a:r>
              <a:rPr lang="zh-CN" altLang="en-US" dirty="0"/>
              <a:t>上加速 </a:t>
            </a:r>
            <a:r>
              <a:rPr lang="en-US" altLang="zh-CN" dirty="0" err="1"/>
              <a:t>SpMV</a:t>
            </a:r>
            <a:r>
              <a:rPr lang="en-US" altLang="zh-CN" dirty="0"/>
              <a:t> </a:t>
            </a:r>
            <a:r>
              <a:rPr lang="zh-CN" altLang="en-US" dirty="0"/>
              <a:t>时遇到的难题，主要从以下四个方面进行了创新和优化：</a:t>
            </a:r>
          </a:p>
          <a:p>
            <a:pPr>
              <a:buFont typeface="+mj-lt"/>
              <a:buAutoNum type="arabicPeriod"/>
            </a:pPr>
            <a:r>
              <a:rPr lang="zh-CN" altLang="en-US" b="1" dirty="0"/>
              <a:t>混合行分配网络</a:t>
            </a:r>
            <a:endParaRPr lang="zh-CN" altLang="en-US" dirty="0"/>
          </a:p>
          <a:p>
            <a:pPr marL="742950" lvl="1" indent="-285750">
              <a:buFont typeface="+mj-lt"/>
              <a:buAutoNum type="arabicPeriod"/>
            </a:pPr>
            <a:r>
              <a:rPr lang="zh-CN" altLang="en-US" dirty="0"/>
              <a:t>传统的行分配策略通常是将矩阵行均匀地分配给各个 </a:t>
            </a:r>
            <a:r>
              <a:rPr lang="en-US" altLang="zh-CN" dirty="0"/>
              <a:t>PE</a:t>
            </a:r>
            <a:r>
              <a:rPr lang="zh-CN" altLang="en-US" dirty="0"/>
              <a:t>，这在大多数均衡矩阵中能达到较好的效果。</a:t>
            </a:r>
          </a:p>
          <a:p>
            <a:pPr marL="742950" lvl="1" indent="-285750">
              <a:buFont typeface="+mj-lt"/>
              <a:buAutoNum type="arabicPeriod"/>
            </a:pPr>
            <a:r>
              <a:rPr lang="zh-CN" altLang="en-US" dirty="0"/>
              <a:t>但对于不平衡矩阵，一些行的非零元素远多于其他行，导致单个 </a:t>
            </a:r>
            <a:r>
              <a:rPr lang="en-US" altLang="zh-CN" dirty="0"/>
              <a:t>PE </a:t>
            </a:r>
            <a:r>
              <a:rPr lang="zh-CN" altLang="en-US" dirty="0"/>
              <a:t>负载过重。</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设计了混合行分配网络，使得同一组 </a:t>
            </a:r>
            <a:r>
              <a:rPr lang="en-US" altLang="zh-CN" dirty="0"/>
              <a:t>PE </a:t>
            </a:r>
            <a:r>
              <a:rPr lang="zh-CN" altLang="en-US" dirty="0"/>
              <a:t>能够根据实际情况选择：</a:t>
            </a:r>
          </a:p>
          <a:p>
            <a:pPr marL="1143000" lvl="2" indent="-228600">
              <a:buFont typeface="+mj-lt"/>
              <a:buAutoNum type="arabicPeriod"/>
            </a:pPr>
            <a:r>
              <a:rPr lang="zh-CN" altLang="en-US" b="1" dirty="0"/>
              <a:t>行间分配</a:t>
            </a:r>
            <a:r>
              <a:rPr lang="zh-CN" altLang="en-US" dirty="0"/>
              <a:t>：各 </a:t>
            </a:r>
            <a:r>
              <a:rPr lang="en-US" altLang="zh-CN" dirty="0"/>
              <a:t>PE </a:t>
            </a:r>
            <a:r>
              <a:rPr lang="zh-CN" altLang="en-US" dirty="0"/>
              <a:t>分别处理不同的行（适用于负载相对均衡的情况）。</a:t>
            </a:r>
          </a:p>
          <a:p>
            <a:pPr marL="1143000" lvl="2" indent="-228600">
              <a:buFont typeface="+mj-lt"/>
              <a:buAutoNum type="arabicPeriod"/>
            </a:pPr>
            <a:r>
              <a:rPr lang="zh-CN" altLang="en-US" b="1" dirty="0"/>
              <a:t>行内分配</a:t>
            </a:r>
            <a:r>
              <a:rPr lang="zh-CN" altLang="en-US" dirty="0"/>
              <a:t>：多个 </a:t>
            </a:r>
            <a:r>
              <a:rPr lang="en-US" altLang="zh-CN" dirty="0"/>
              <a:t>PE </a:t>
            </a:r>
            <a:r>
              <a:rPr lang="zh-CN" altLang="en-US" dirty="0"/>
              <a:t>协同处理同一行（适用于某一行特别密集的情况）。</a:t>
            </a:r>
          </a:p>
          <a:p>
            <a:pPr marL="742950" lvl="1" indent="-285750">
              <a:buFont typeface="+mj-lt"/>
              <a:buAutoNum type="arabicPeriod"/>
            </a:pPr>
            <a:r>
              <a:rPr lang="zh-CN" altLang="en-US" dirty="0"/>
              <a:t>这种设计有助于在面对不平衡矩阵时达到更均衡的工作负载分配，从而提高整体加速效率。</a:t>
            </a:r>
          </a:p>
          <a:p>
            <a:pPr>
              <a:buFont typeface="+mj-lt"/>
              <a:buAutoNum type="arabicPeriod"/>
            </a:pPr>
            <a:r>
              <a:rPr lang="zh-CN" altLang="en-US" b="1" dirty="0"/>
              <a:t>全流水线浮点累加</a:t>
            </a:r>
            <a:endParaRPr lang="zh-CN" altLang="en-US" dirty="0"/>
          </a:p>
          <a:p>
            <a:pPr marL="742950" lvl="1" indent="-285750">
              <a:buFont typeface="+mj-lt"/>
              <a:buAutoNum type="arabicPeriod"/>
            </a:pPr>
            <a:r>
              <a:rPr lang="zh-CN" altLang="en-US" dirty="0"/>
              <a:t>在 </a:t>
            </a:r>
            <a:r>
              <a:rPr lang="en-US" altLang="zh-CN" dirty="0" err="1"/>
              <a:t>SpMV</a:t>
            </a:r>
            <a:r>
              <a:rPr lang="en-US" altLang="zh-CN" dirty="0"/>
              <a:t> </a:t>
            </a:r>
            <a:r>
              <a:rPr lang="zh-CN" altLang="en-US" dirty="0"/>
              <a:t>运算中，对同一行的非零元素进行累加时，由于浮点加法延迟较长，会产生长距离的读后写依赖，从而导致流水线停顿。</a:t>
            </a:r>
          </a:p>
          <a:p>
            <a:pPr marL="742950" lvl="1" indent="-285750">
              <a:buFont typeface="+mj-lt"/>
              <a:buAutoNum type="arabicPeriod"/>
            </a:pPr>
            <a:r>
              <a:rPr lang="zh-CN" altLang="en-US" dirty="0"/>
              <a:t>为了解决这一问题，</a:t>
            </a:r>
            <a:r>
              <a:rPr lang="en-US" altLang="zh-CN" dirty="0" err="1"/>
              <a:t>HiSpMV</a:t>
            </a:r>
            <a:r>
              <a:rPr lang="en-US" altLang="zh-CN" dirty="0"/>
              <a:t> </a:t>
            </a:r>
            <a:r>
              <a:rPr lang="zh-CN" altLang="en-US" dirty="0"/>
              <a:t>采用了两种策略：</a:t>
            </a:r>
          </a:p>
          <a:p>
            <a:pPr marL="1143000" lvl="2" indent="-228600">
              <a:buFont typeface="+mj-lt"/>
              <a:buAutoNum type="arabicPeriod"/>
            </a:pPr>
            <a:r>
              <a:rPr lang="zh-CN" altLang="en-US" b="1" dirty="0"/>
              <a:t>基于寄存器的循环缓冲器</a:t>
            </a:r>
            <a:r>
              <a:rPr lang="zh-CN" altLang="en-US" dirty="0"/>
              <a:t>：在每个 </a:t>
            </a:r>
            <a:r>
              <a:rPr lang="en-US" altLang="zh-CN" dirty="0"/>
              <a:t>PE </a:t>
            </a:r>
            <a:r>
              <a:rPr lang="zh-CN" altLang="en-US" dirty="0"/>
              <a:t>内部设置一个小型循环缓冲器，用于存储中间累加结果，这样可以快速访问数据，将原本大约 </a:t>
            </a:r>
            <a:r>
              <a:rPr lang="en-US" altLang="zh-CN" dirty="0"/>
              <a:t>10 </a:t>
            </a:r>
            <a:r>
              <a:rPr lang="zh-CN" altLang="en-US" dirty="0"/>
              <a:t>个周期的依赖距离降低到 </a:t>
            </a:r>
            <a:r>
              <a:rPr lang="en-US" altLang="zh-CN" dirty="0"/>
              <a:t>5 </a:t>
            </a:r>
            <a:r>
              <a:rPr lang="zh-CN" altLang="en-US" dirty="0"/>
              <a:t>个周期，减少等待时间。</a:t>
            </a:r>
          </a:p>
          <a:p>
            <a:pPr marL="1143000" lvl="2" indent="-228600">
              <a:buFont typeface="+mj-lt"/>
              <a:buAutoNum type="arabicPeriod"/>
            </a:pPr>
            <a:r>
              <a:rPr lang="zh-CN" altLang="en-US" b="1" dirty="0"/>
              <a:t>加法链</a:t>
            </a:r>
            <a:r>
              <a:rPr lang="zh-CN" altLang="en-US" dirty="0"/>
              <a:t>：通过一个小型加法链，在等待前一个累加结果完成期间，提前将同一行的部分结果进行预加，从而在后续周期内直接将预加结果与缓冲器中的旧结果相加，避免了流水线因等待而产生的空泡。</a:t>
            </a:r>
          </a:p>
          <a:p>
            <a:pPr marL="742950" lvl="1" indent="-285750">
              <a:buFont typeface="+mj-lt"/>
              <a:buAutoNum type="arabicPeriod"/>
            </a:pPr>
            <a:r>
              <a:rPr lang="zh-CN" altLang="en-US" dirty="0"/>
              <a:t>这两项技术的结合，使得浮点累加能够实现全流水线化，极大地提高了累加部分的处理效率。</a:t>
            </a:r>
          </a:p>
          <a:p>
            <a:pPr>
              <a:buFont typeface="+mj-lt"/>
              <a:buAutoNum type="arabicPeriod"/>
            </a:pPr>
            <a:r>
              <a:rPr lang="zh-CN" altLang="en-US" b="1" dirty="0"/>
              <a:t>输入向量的混合缓冲</a:t>
            </a:r>
            <a:endParaRPr lang="zh-CN" altLang="en-US" dirty="0"/>
          </a:p>
          <a:p>
            <a:pPr marL="742950" lvl="1" indent="-285750">
              <a:buFont typeface="+mj-lt"/>
              <a:buAutoNum type="arabicPeriod"/>
            </a:pPr>
            <a:r>
              <a:rPr lang="en-US" altLang="zh-CN" dirty="0" err="1"/>
              <a:t>SpMV</a:t>
            </a:r>
            <a:r>
              <a:rPr lang="en-US" altLang="zh-CN" dirty="0"/>
              <a:t> </a:t>
            </a:r>
            <a:r>
              <a:rPr lang="zh-CN" altLang="en-US" dirty="0"/>
              <a:t>运算中除了处理稀疏矩阵外，还需要频繁加载输入向量数据。对于低密度矩阵，输入向量加载可能成为新的性能瓶颈。</a:t>
            </a:r>
          </a:p>
          <a:p>
            <a:pPr marL="742950" lvl="1" indent="-285750">
              <a:buFont typeface="+mj-lt"/>
              <a:buAutoNum type="arabicPeriod"/>
            </a:pPr>
            <a:r>
              <a:rPr lang="zh-CN" altLang="en-US" dirty="0"/>
              <a:t>为此，</a:t>
            </a:r>
            <a:r>
              <a:rPr lang="en-US" altLang="zh-CN" dirty="0" err="1"/>
              <a:t>HiSpMV</a:t>
            </a:r>
            <a:r>
              <a:rPr lang="en-US" altLang="zh-CN" dirty="0"/>
              <a:t> </a:t>
            </a:r>
            <a:r>
              <a:rPr lang="zh-CN" altLang="en-US" dirty="0"/>
              <a:t>提出了一种混合缓冲技术，允许同一组片上缓冲器有两种使用模式：</a:t>
            </a:r>
          </a:p>
          <a:p>
            <a:pPr marL="1143000" lvl="2" indent="-228600">
              <a:buFont typeface="+mj-lt"/>
              <a:buAutoNum type="arabicPeriod"/>
            </a:pPr>
            <a:r>
              <a:rPr lang="zh-CN" altLang="en-US" b="1" dirty="0"/>
              <a:t>私有分区模式</a:t>
            </a:r>
            <a:r>
              <a:rPr lang="zh-CN" altLang="en-US" dirty="0"/>
              <a:t>：每个 </a:t>
            </a:r>
            <a:r>
              <a:rPr lang="en-US" altLang="zh-CN" dirty="0"/>
              <a:t>PE </a:t>
            </a:r>
            <a:r>
              <a:rPr lang="zh-CN" altLang="en-US" dirty="0"/>
              <a:t>拥有独立的缓冲副本，适用于计算成为主要瓶颈的情况。</a:t>
            </a:r>
          </a:p>
          <a:p>
            <a:pPr marL="1143000" lvl="2" indent="-228600">
              <a:buFont typeface="+mj-lt"/>
              <a:buAutoNum type="arabicPeriod"/>
            </a:pPr>
            <a:r>
              <a:rPr lang="zh-CN" altLang="en-US" b="1" dirty="0"/>
              <a:t>共享的 </a:t>
            </a:r>
            <a:r>
              <a:rPr lang="en-US" altLang="zh-CN" b="1" dirty="0"/>
              <a:t>ping-pong </a:t>
            </a:r>
            <a:r>
              <a:rPr lang="zh-CN" altLang="en-US" b="1" dirty="0"/>
              <a:t>模式</a:t>
            </a:r>
            <a:r>
              <a:rPr lang="zh-CN" altLang="en-US" dirty="0"/>
              <a:t>：两个 </a:t>
            </a:r>
            <a:r>
              <a:rPr lang="en-US" altLang="zh-CN" dirty="0"/>
              <a:t>PE </a:t>
            </a:r>
            <a:r>
              <a:rPr lang="zh-CN" altLang="en-US" dirty="0"/>
              <a:t>共享同一缓冲器，通过交替读写来隐藏输入向量加载的延迟，适用于低密度矩阵中输入向量加载成为瓶颈的情况。</a:t>
            </a:r>
          </a:p>
          <a:p>
            <a:pPr marL="742950" lvl="1" indent="-285750">
              <a:buFont typeface="+mj-lt"/>
              <a:buAutoNum type="arabicPeriod"/>
            </a:pPr>
            <a:r>
              <a:rPr lang="zh-CN" altLang="en-US" dirty="0"/>
              <a:t>这种灵活的缓冲方案能够根据矩阵密度动态切换，确保不同场景下都能高效工作。</a:t>
            </a:r>
          </a:p>
          <a:p>
            <a:r>
              <a:rPr lang="en-US" altLang="zh-CN" b="1" dirty="0"/>
              <a:t>4. </a:t>
            </a:r>
            <a:r>
              <a:rPr lang="zh-CN" altLang="en-US" b="1" dirty="0"/>
              <a:t>自动化工具</a:t>
            </a:r>
            <a:endParaRPr lang="zh-CN" altLang="en-US" dirty="0"/>
          </a:p>
          <a:p>
            <a:pPr>
              <a:buFont typeface="Arial" panose="020B0604020202020204" pitchFamily="34" charset="0"/>
              <a:buChar char="•"/>
            </a:pPr>
            <a:r>
              <a:rPr lang="zh-CN" altLang="en-US" dirty="0"/>
              <a:t>为了便于用户在不同 </a:t>
            </a:r>
            <a:r>
              <a:rPr lang="en-US" altLang="zh-CN" dirty="0"/>
              <a:t>FPGA </a:t>
            </a:r>
            <a:r>
              <a:rPr lang="zh-CN" altLang="en-US" dirty="0"/>
              <a:t>平台上进行设计空间探索和优化，</a:t>
            </a:r>
            <a:r>
              <a:rPr lang="en-US" altLang="zh-CN" dirty="0" err="1"/>
              <a:t>HiSpMV</a:t>
            </a:r>
            <a:r>
              <a:rPr lang="en-US" altLang="zh-CN" dirty="0"/>
              <a:t> </a:t>
            </a:r>
            <a:r>
              <a:rPr lang="zh-CN" altLang="en-US" dirty="0"/>
              <a:t>提供了一个自动化工具，该工具基于 </a:t>
            </a:r>
            <a:r>
              <a:rPr lang="en-US" altLang="zh-CN" dirty="0"/>
              <a:t>Vitis HLS </a:t>
            </a:r>
            <a:r>
              <a:rPr lang="zh-CN" altLang="en-US" dirty="0"/>
              <a:t>环境，用户可以通过配置选项选择是否启用各项优化，并设置设计参数（如 </a:t>
            </a:r>
            <a:r>
              <a:rPr lang="en-US" altLang="zh-CN" dirty="0"/>
              <a:t>HBM </a:t>
            </a:r>
            <a:r>
              <a:rPr lang="zh-CN" altLang="en-US" dirty="0"/>
              <a:t>通道数、</a:t>
            </a:r>
            <a:r>
              <a:rPr lang="en-US" altLang="zh-CN" dirty="0"/>
              <a:t>PE </a:t>
            </a:r>
            <a:r>
              <a:rPr lang="zh-CN" altLang="en-US" dirty="0"/>
              <a:t>数量等）。</a:t>
            </a:r>
          </a:p>
          <a:p>
            <a:pPr>
              <a:buFont typeface="Arial" panose="020B0604020202020204" pitchFamily="34" charset="0"/>
              <a:buChar char="•"/>
            </a:pPr>
            <a:r>
              <a:rPr lang="zh-CN" altLang="en-US" dirty="0"/>
              <a:t>此外，该工具与 </a:t>
            </a:r>
            <a:r>
              <a:rPr lang="en-US" altLang="zh-CN" dirty="0"/>
              <a:t>PASTA </a:t>
            </a:r>
            <a:r>
              <a:rPr lang="zh-CN" altLang="en-US" dirty="0"/>
              <a:t>任务并行 </a:t>
            </a:r>
            <a:r>
              <a:rPr lang="en-US" altLang="zh-CN" dirty="0"/>
              <a:t>HLS </a:t>
            </a:r>
            <a:r>
              <a:rPr lang="zh-CN" altLang="en-US" dirty="0"/>
              <a:t>编程框架集成，不仅有助于改善时序闭合问题，还利用了其缓冲通道特性来实现混合缓冲方案，从而大大简化了设计和验证过程。</a:t>
            </a:r>
          </a:p>
          <a:p>
            <a:endParaRPr lang="en-US" altLang="zh-CN" dirty="0"/>
          </a:p>
          <a:p>
            <a:pPr>
              <a:buFont typeface="+mj-lt"/>
              <a:buAutoNum type="arabicPeriod"/>
            </a:pPr>
            <a:r>
              <a:rPr lang="zh-CN" altLang="en-US" b="1" dirty="0"/>
              <a:t>整体架构设计</a:t>
            </a:r>
            <a:endParaRPr lang="zh-CN" altLang="en-US" dirty="0"/>
          </a:p>
          <a:p>
            <a:pPr marL="742950" lvl="1" indent="-285750">
              <a:buFont typeface="+mj-lt"/>
              <a:buAutoNum type="arabicPeriod"/>
            </a:pPr>
            <a:r>
              <a:rPr lang="zh-CN" altLang="en-US" b="1" dirty="0"/>
              <a:t>基于 </a:t>
            </a:r>
            <a:r>
              <a:rPr lang="en-US" altLang="zh-CN" b="1" dirty="0"/>
              <a:t>Serpens </a:t>
            </a:r>
            <a:r>
              <a:rPr lang="zh-CN" altLang="en-US" b="1" dirty="0"/>
              <a:t>构建</a:t>
            </a:r>
            <a:r>
              <a:rPr lang="zh-CN" altLang="en-US" dirty="0"/>
              <a:t>：</a:t>
            </a:r>
            <a:r>
              <a:rPr lang="en-US" altLang="zh-CN" dirty="0" err="1"/>
              <a:t>HiSpMV</a:t>
            </a:r>
            <a:r>
              <a:rPr lang="en-US" altLang="zh-CN" dirty="0"/>
              <a:t> </a:t>
            </a:r>
            <a:r>
              <a:rPr lang="zh-CN" altLang="en-US" dirty="0"/>
              <a:t>的设计是在已有高性能 </a:t>
            </a:r>
            <a:r>
              <a:rPr lang="en-US" altLang="zh-CN" dirty="0" err="1"/>
              <a:t>SpMV</a:t>
            </a:r>
            <a:r>
              <a:rPr lang="en-US" altLang="zh-CN" dirty="0"/>
              <a:t> </a:t>
            </a:r>
            <a:r>
              <a:rPr lang="zh-CN" altLang="en-US" dirty="0"/>
              <a:t>加速器 </a:t>
            </a:r>
            <a:r>
              <a:rPr lang="en-US" altLang="zh-CN" dirty="0"/>
              <a:t>Serpens </a:t>
            </a:r>
            <a:r>
              <a:rPr lang="zh-CN" altLang="en-US" dirty="0"/>
              <a:t>的基础上进行的，这样可以利用 </a:t>
            </a:r>
            <a:r>
              <a:rPr lang="en-US" altLang="zh-CN" dirty="0"/>
              <a:t>Serpens </a:t>
            </a:r>
            <a:r>
              <a:rPr lang="zh-CN" altLang="en-US" dirty="0"/>
              <a:t>的优势，再加入新的优化特性（如混合行分配、全流水线累加、混合缓冲技术等）以及自动化设计工具来进一步提升性能。</a:t>
            </a:r>
          </a:p>
          <a:p>
            <a:pPr>
              <a:buFont typeface="+mj-lt"/>
              <a:buAutoNum type="arabicPeriod"/>
            </a:pPr>
            <a:r>
              <a:rPr lang="zh-CN" altLang="en-US" b="1" dirty="0"/>
              <a:t>模块划分与数据流</a:t>
            </a:r>
            <a:endParaRPr lang="zh-CN" altLang="en-US" dirty="0"/>
          </a:p>
          <a:p>
            <a:pPr marL="742950" lvl="1" indent="-285750">
              <a:buFont typeface="+mj-lt"/>
              <a:buAutoNum type="arabicPeriod"/>
            </a:pPr>
            <a:r>
              <a:rPr lang="zh-CN" altLang="en-US" b="1" dirty="0"/>
              <a:t>输入向量加载模块</a:t>
            </a:r>
            <a:r>
              <a:rPr lang="zh-CN" altLang="en-US" dirty="0"/>
              <a:t>：首先，将输入向量 </a:t>
            </a:r>
            <a:r>
              <a:rPr lang="en-US" altLang="zh-CN" dirty="0"/>
              <a:t>x® </a:t>
            </a:r>
            <a:r>
              <a:rPr lang="zh-CN" altLang="en-US" dirty="0"/>
              <a:t>的加载单独划分为一个模块，与后续计算模块（处理引擎组，</a:t>
            </a:r>
            <a:r>
              <a:rPr lang="en-US" altLang="zh-CN" dirty="0"/>
              <a:t>PEG</a:t>
            </a:r>
            <a:r>
              <a:rPr lang="zh-CN" altLang="en-US" dirty="0"/>
              <a:t>）分离。这样做的好处是，可以专门优化数据加载部分，并且利用一个专用的缓冲通道实现模块间的通信，从而为混合缓冲技术提供支持。</a:t>
            </a:r>
          </a:p>
          <a:p>
            <a:pPr marL="742950" lvl="1" indent="-285750">
              <a:buFont typeface="+mj-lt"/>
              <a:buAutoNum type="arabicPeriod"/>
            </a:pPr>
            <a:r>
              <a:rPr lang="zh-CN" altLang="en-US" b="1" dirty="0"/>
              <a:t>缓冲通道</a:t>
            </a:r>
            <a:r>
              <a:rPr lang="zh-CN" altLang="en-US" dirty="0"/>
              <a:t>：用来在输入向量加载模块和 </a:t>
            </a:r>
            <a:r>
              <a:rPr lang="en-US" altLang="zh-CN" dirty="0"/>
              <a:t>PEG </a:t>
            </a:r>
            <a:r>
              <a:rPr lang="zh-CN" altLang="en-US" dirty="0"/>
              <a:t>之间传递数据。所有这些缓冲通道都采用 </a:t>
            </a:r>
            <a:r>
              <a:rPr lang="en-US" altLang="zh-CN" dirty="0"/>
              <a:t>512 </a:t>
            </a:r>
            <a:r>
              <a:rPr lang="zh-CN" altLang="en-US" dirty="0"/>
              <a:t>位宽，以确保数据传输的高带宽和效率。</a:t>
            </a:r>
          </a:p>
          <a:p>
            <a:pPr marL="742950" lvl="1" indent="-285750">
              <a:buFont typeface="+mj-lt"/>
              <a:buAutoNum type="arabicPeriod"/>
            </a:pPr>
            <a:r>
              <a:rPr lang="zh-CN" altLang="en-US" b="1" dirty="0"/>
              <a:t>累加与输出模块（</a:t>
            </a:r>
            <a:r>
              <a:rPr lang="en-US" altLang="zh-CN" b="1" dirty="0" err="1"/>
              <a:t>y_Ax</a:t>
            </a:r>
            <a:r>
              <a:rPr lang="en-US" altLang="zh-CN" b="1" dirty="0"/>
              <a:t> </a:t>
            </a:r>
            <a:r>
              <a:rPr lang="zh-CN" altLang="en-US" b="1" dirty="0"/>
              <a:t>处理器）</a:t>
            </a:r>
            <a:r>
              <a:rPr lang="zh-CN" altLang="en-US" dirty="0"/>
              <a:t>：原本在 </a:t>
            </a:r>
            <a:r>
              <a:rPr lang="en-US" altLang="zh-CN" dirty="0"/>
              <a:t>PEG </a:t>
            </a:r>
            <a:r>
              <a:rPr lang="zh-CN" altLang="en-US" dirty="0"/>
              <a:t>内部进行的累加和输出缓冲区被移到了专用的 </a:t>
            </a:r>
            <a:r>
              <a:rPr lang="en-US" altLang="zh-CN" dirty="0" err="1"/>
              <a:t>y_Ax</a:t>
            </a:r>
            <a:r>
              <a:rPr lang="en-US" altLang="zh-CN" dirty="0"/>
              <a:t> </a:t>
            </a:r>
            <a:r>
              <a:rPr lang="zh-CN" altLang="en-US" dirty="0"/>
              <a:t>处理器模块中。这样可以将数据累加和后续输出操作独立出来，便于专门优化这些步骤。</a:t>
            </a:r>
          </a:p>
          <a:p>
            <a:pPr>
              <a:buFont typeface="+mj-lt"/>
              <a:buAutoNum type="arabicPeriod"/>
            </a:pPr>
            <a:r>
              <a:rPr lang="zh-CN" altLang="en-US" b="1" dirty="0"/>
              <a:t>处理引擎组 </a:t>
            </a:r>
            <a:r>
              <a:rPr lang="en-US" altLang="zh-CN" b="1" dirty="0"/>
              <a:t>(PEG) </a:t>
            </a:r>
            <a:r>
              <a:rPr lang="zh-CN" altLang="en-US" b="1" dirty="0"/>
              <a:t>与 </a:t>
            </a:r>
            <a:r>
              <a:rPr lang="en-US" altLang="zh-CN" b="1" dirty="0"/>
              <a:t>PE</a:t>
            </a:r>
            <a:endParaRPr lang="zh-CN" altLang="en-US" dirty="0"/>
          </a:p>
          <a:p>
            <a:pPr marL="742950" lvl="1" indent="-285750">
              <a:buFont typeface="+mj-lt"/>
              <a:buAutoNum type="arabicPeriod"/>
            </a:pPr>
            <a:r>
              <a:rPr lang="en-US" altLang="zh-CN" b="1" dirty="0"/>
              <a:t>PEG </a:t>
            </a:r>
            <a:r>
              <a:rPr lang="zh-CN" altLang="en-US" b="1" dirty="0"/>
              <a:t>结构</a:t>
            </a:r>
            <a:r>
              <a:rPr lang="zh-CN" altLang="en-US" dirty="0"/>
              <a:t>：每个 </a:t>
            </a:r>
            <a:r>
              <a:rPr lang="en-US" altLang="zh-CN" dirty="0"/>
              <a:t>PEG </a:t>
            </a:r>
            <a:r>
              <a:rPr lang="zh-CN" altLang="en-US" dirty="0"/>
              <a:t>内包含 </a:t>
            </a:r>
            <a:r>
              <a:rPr lang="en-US" altLang="zh-CN" dirty="0"/>
              <a:t>2 </a:t>
            </a:r>
            <a:r>
              <a:rPr lang="zh-CN" altLang="en-US" dirty="0"/>
              <a:t>个处理单元（</a:t>
            </a:r>
            <a:r>
              <a:rPr lang="en-US" altLang="zh-CN" dirty="0"/>
              <a:t>PE</a:t>
            </a:r>
            <a:r>
              <a:rPr lang="zh-CN" altLang="en-US" dirty="0"/>
              <a:t>），而一个 </a:t>
            </a:r>
            <a:r>
              <a:rPr lang="en-US" altLang="zh-CN" dirty="0"/>
              <a:t>HBM </a:t>
            </a:r>
            <a:r>
              <a:rPr lang="zh-CN" altLang="en-US" dirty="0"/>
              <a:t>通道用于流式传输稀疏矩阵 </a:t>
            </a:r>
            <a:r>
              <a:rPr lang="en-US" altLang="zh-CN" dirty="0"/>
              <a:t>A</a:t>
            </a:r>
            <a:r>
              <a:rPr lang="zh-CN" altLang="en-US" dirty="0"/>
              <a:t>，每个通道服务于 </a:t>
            </a:r>
            <a:r>
              <a:rPr lang="en-US" altLang="zh-CN" dirty="0"/>
              <a:t>4 </a:t>
            </a:r>
            <a:r>
              <a:rPr lang="zh-CN" altLang="en-US" dirty="0"/>
              <a:t>个 </a:t>
            </a:r>
            <a:r>
              <a:rPr lang="en-US" altLang="zh-CN" dirty="0"/>
              <a:t>PEG</a:t>
            </a:r>
            <a:r>
              <a:rPr lang="zh-CN" altLang="en-US" dirty="0"/>
              <a:t>，这样可以充分利用多个 </a:t>
            </a:r>
            <a:r>
              <a:rPr lang="en-US" altLang="zh-CN" dirty="0"/>
              <a:t>HBM </a:t>
            </a:r>
            <a:r>
              <a:rPr lang="zh-CN" altLang="en-US" dirty="0"/>
              <a:t>通道实现并行数据传输。</a:t>
            </a:r>
          </a:p>
          <a:p>
            <a:pPr marL="742950" lvl="1" indent="-285750">
              <a:buFont typeface="+mj-lt"/>
              <a:buAutoNum type="arabicPeriod"/>
            </a:pPr>
            <a:r>
              <a:rPr lang="en-US" altLang="zh-CN" b="1" dirty="0"/>
              <a:t>PE </a:t>
            </a:r>
            <a:r>
              <a:rPr lang="zh-CN" altLang="en-US" b="1" dirty="0"/>
              <a:t>的工作</a:t>
            </a:r>
            <a:r>
              <a:rPr lang="zh-CN" altLang="en-US" dirty="0"/>
              <a:t>：每个 </a:t>
            </a:r>
            <a:r>
              <a:rPr lang="en-US" altLang="zh-CN" dirty="0"/>
              <a:t>PE </a:t>
            </a:r>
            <a:r>
              <a:rPr lang="zh-CN" altLang="en-US" dirty="0"/>
              <a:t>从片上缓冲的输入向量中获取对应的数据，与矩阵 </a:t>
            </a:r>
            <a:r>
              <a:rPr lang="en-US" altLang="zh-CN" dirty="0"/>
              <a:t>A </a:t>
            </a:r>
            <a:r>
              <a:rPr lang="zh-CN" altLang="en-US" dirty="0"/>
              <a:t>中的非零元素（</a:t>
            </a:r>
            <a:r>
              <a:rPr lang="en-US" altLang="zh-CN" dirty="0"/>
              <a:t>arc</a:t>
            </a:r>
            <a:r>
              <a:rPr lang="zh-CN" altLang="en-US" dirty="0"/>
              <a:t>）相乘。这个操作按照算法 </a:t>
            </a:r>
            <a:r>
              <a:rPr lang="en-US" altLang="zh-CN" dirty="0"/>
              <a:t>1 </a:t>
            </a:r>
            <a:r>
              <a:rPr lang="zh-CN" altLang="en-US" dirty="0"/>
              <a:t>的描述进行，并且需要对乘积结果进行路由判断。</a:t>
            </a:r>
          </a:p>
          <a:p>
            <a:pPr>
              <a:buFont typeface="+mj-lt"/>
              <a:buAutoNum type="arabicPeriod"/>
            </a:pPr>
            <a:r>
              <a:rPr lang="zh-CN" altLang="en-US" b="1" dirty="0"/>
              <a:t>路由与混合行分配网络</a:t>
            </a:r>
            <a:endParaRPr lang="zh-CN" altLang="en-US" dirty="0"/>
          </a:p>
          <a:p>
            <a:pPr marL="742950" lvl="1" indent="-285750">
              <a:buFont typeface="+mj-lt"/>
              <a:buAutoNum type="arabicPeriod"/>
            </a:pPr>
            <a:r>
              <a:rPr lang="zh-CN" altLang="en-US" b="1" dirty="0"/>
              <a:t>行分配信息解码</a:t>
            </a:r>
            <a:r>
              <a:rPr lang="zh-CN" altLang="en-US" dirty="0"/>
              <a:t>：每个 </a:t>
            </a:r>
            <a:r>
              <a:rPr lang="en-US" altLang="zh-CN" dirty="0"/>
              <a:t>PE </a:t>
            </a:r>
            <a:r>
              <a:rPr lang="zh-CN" altLang="en-US" dirty="0"/>
              <a:t>根据预处理阶段生成的编码信息，确定乘积结果应路由到哪个 </a:t>
            </a:r>
            <a:r>
              <a:rPr lang="en-US" altLang="zh-CN" dirty="0" err="1"/>
              <a:t>y_Ax</a:t>
            </a:r>
            <a:r>
              <a:rPr lang="en-US" altLang="zh-CN" dirty="0"/>
              <a:t> </a:t>
            </a:r>
            <a:r>
              <a:rPr lang="zh-CN" altLang="en-US" dirty="0"/>
              <a:t>处理器（对应 </a:t>
            </a:r>
            <a:r>
              <a:rPr lang="en-US" altLang="zh-CN" dirty="0"/>
              <a:t>bank ID</a:t>
            </a:r>
            <a:r>
              <a:rPr lang="zh-CN" altLang="en-US" dirty="0"/>
              <a:t>）。</a:t>
            </a:r>
          </a:p>
          <a:p>
            <a:pPr marL="742950" lvl="1" indent="-285750">
              <a:buFont typeface="+mj-lt"/>
              <a:buAutoNum type="arabicPeriod"/>
            </a:pPr>
            <a:r>
              <a:rPr lang="zh-CN" altLang="en-US" b="1" dirty="0"/>
              <a:t>混合行分配网络</a:t>
            </a:r>
            <a:r>
              <a:rPr lang="zh-CN" altLang="en-US" dirty="0"/>
              <a:t>：这个网络根据解码得到的 </a:t>
            </a:r>
            <a:r>
              <a:rPr lang="en-US" altLang="zh-CN" dirty="0"/>
              <a:t>bank ID</a:t>
            </a:r>
            <a:r>
              <a:rPr lang="zh-CN" altLang="en-US" dirty="0"/>
              <a:t>，将乘积结果从各个 </a:t>
            </a:r>
            <a:r>
              <a:rPr lang="en-US" altLang="zh-CN" dirty="0"/>
              <a:t>PE </a:t>
            </a:r>
            <a:r>
              <a:rPr lang="zh-CN" altLang="en-US" dirty="0"/>
              <a:t>传送到相应的 </a:t>
            </a:r>
            <a:r>
              <a:rPr lang="en-US" altLang="zh-CN" dirty="0" err="1"/>
              <a:t>y_Ax</a:t>
            </a:r>
            <a:r>
              <a:rPr lang="en-US" altLang="zh-CN" dirty="0"/>
              <a:t> </a:t>
            </a:r>
            <a:r>
              <a:rPr lang="zh-CN" altLang="en-US" dirty="0"/>
              <a:t>处理器进行累加。混合行分配网络支持两种分配模式（行间分配与行内分配），以应对矩阵行不均衡问题。</a:t>
            </a:r>
          </a:p>
          <a:p>
            <a:pPr>
              <a:buFont typeface="+mj-lt"/>
              <a:buAutoNum type="arabicPeriod"/>
            </a:pPr>
            <a:r>
              <a:rPr lang="zh-CN" altLang="en-US" b="1" dirty="0"/>
              <a:t>加法链与循环缓冲器</a:t>
            </a:r>
            <a:endParaRPr lang="zh-CN" altLang="en-US" dirty="0"/>
          </a:p>
          <a:p>
            <a:pPr marL="742950" lvl="1" indent="-285750">
              <a:buFont typeface="+mj-lt"/>
              <a:buAutoNum type="arabicPeriod"/>
            </a:pPr>
            <a:r>
              <a:rPr lang="zh-CN" altLang="en-US" b="1" dirty="0"/>
              <a:t>加法链</a:t>
            </a:r>
            <a:r>
              <a:rPr lang="zh-CN" altLang="en-US" dirty="0"/>
              <a:t>：加法链被放置在 </a:t>
            </a:r>
            <a:r>
              <a:rPr lang="en-US" altLang="zh-CN" dirty="0"/>
              <a:t>PEG </a:t>
            </a:r>
            <a:r>
              <a:rPr lang="zh-CN" altLang="en-US" dirty="0"/>
              <a:t>后面，目的是在将乘积结果传送给 </a:t>
            </a:r>
            <a:r>
              <a:rPr lang="en-US" altLang="zh-CN" dirty="0" err="1"/>
              <a:t>y_Ax</a:t>
            </a:r>
            <a:r>
              <a:rPr lang="en-US" altLang="zh-CN" dirty="0"/>
              <a:t> </a:t>
            </a:r>
            <a:r>
              <a:rPr lang="zh-CN" altLang="en-US" dirty="0"/>
              <a:t>处理器前，对这些结果进行预加，独立地将同一行的部分结果先进行加和，从而减少流水线因 </a:t>
            </a:r>
            <a:r>
              <a:rPr lang="en-US" altLang="zh-CN" dirty="0"/>
              <a:t>RAW </a:t>
            </a:r>
            <a:r>
              <a:rPr lang="zh-CN" altLang="en-US" dirty="0"/>
              <a:t>依赖而产生的停顿。</a:t>
            </a:r>
          </a:p>
          <a:p>
            <a:pPr marL="742950" lvl="1" indent="-285750">
              <a:buFont typeface="+mj-lt"/>
              <a:buAutoNum type="arabicPeriod"/>
            </a:pPr>
            <a:r>
              <a:rPr lang="zh-CN" altLang="en-US" b="1" dirty="0"/>
              <a:t>循环缓冲器</a:t>
            </a:r>
            <a:r>
              <a:rPr lang="zh-CN" altLang="en-US" dirty="0"/>
              <a:t>：每个 </a:t>
            </a:r>
            <a:r>
              <a:rPr lang="en-US" altLang="zh-CN" dirty="0" err="1"/>
              <a:t>y_Ax</a:t>
            </a:r>
            <a:r>
              <a:rPr lang="en-US" altLang="zh-CN" dirty="0"/>
              <a:t> </a:t>
            </a:r>
            <a:r>
              <a:rPr lang="zh-CN" altLang="en-US" dirty="0"/>
              <a:t>处理器内部使用基于寄存器的循环缓冲器来存储最近的中间累加结果，降低读写延迟，将依赖距离降低到 </a:t>
            </a:r>
            <a:r>
              <a:rPr lang="en-US" altLang="zh-CN" dirty="0"/>
              <a:t>5 </a:t>
            </a:r>
            <a:r>
              <a:rPr lang="zh-CN" altLang="en-US" dirty="0"/>
              <a:t>个周期，从而提高流水线效率。</a:t>
            </a:r>
          </a:p>
          <a:p>
            <a:pPr>
              <a:buFont typeface="+mj-lt"/>
              <a:buAutoNum type="arabicPeriod"/>
            </a:pPr>
            <a:r>
              <a:rPr lang="zh-CN" altLang="en-US" b="1" dirty="0"/>
              <a:t>最终数据流</a:t>
            </a:r>
            <a:endParaRPr lang="zh-CN" altLang="en-US" dirty="0"/>
          </a:p>
          <a:p>
            <a:pPr marL="742950" lvl="1" indent="-285750">
              <a:buFont typeface="+mj-lt"/>
              <a:buAutoNum type="arabicPeriod"/>
            </a:pPr>
            <a:r>
              <a:rPr lang="zh-CN" altLang="en-US" dirty="0"/>
              <a:t>当所有乘积累加完成后，得到 </a:t>
            </a:r>
            <a:r>
              <a:rPr lang="en-US" altLang="zh-CN" dirty="0" err="1"/>
              <a:t>y_Ax</a:t>
            </a:r>
            <a:r>
              <a:rPr lang="en-US" altLang="zh-CN" dirty="0"/>
              <a:t>[Rt] = A × x®</a:t>
            </a:r>
            <a:r>
              <a:rPr lang="zh-CN" altLang="en-US" dirty="0"/>
              <a:t>，然后系统会流式接入另一个向量 </a:t>
            </a:r>
            <a:r>
              <a:rPr lang="en-US" altLang="zh-CN" dirty="0" err="1"/>
              <a:t>y_in</a:t>
            </a:r>
            <a:r>
              <a:rPr lang="zh-CN" altLang="en-US" dirty="0"/>
              <a:t>，并按公式计算最终的输出向量 </a:t>
            </a:r>
            <a:r>
              <a:rPr lang="en-US" altLang="zh-CN" dirty="0" err="1"/>
              <a:t>y_out</a:t>
            </a:r>
            <a:r>
              <a:rPr lang="zh-CN" altLang="en-US" dirty="0"/>
              <a:t>（例如 </a:t>
            </a:r>
            <a:r>
              <a:rPr lang="en-US" altLang="zh-CN" dirty="0" err="1"/>
              <a:t>y_out</a:t>
            </a:r>
            <a:r>
              <a:rPr lang="en-US" altLang="zh-CN" dirty="0"/>
              <a:t> = α · </a:t>
            </a:r>
            <a:r>
              <a:rPr lang="en-US" altLang="zh-CN" dirty="0" err="1"/>
              <a:t>y_Ax</a:t>
            </a:r>
            <a:r>
              <a:rPr lang="en-US" altLang="zh-CN" dirty="0"/>
              <a:t> + β · </a:t>
            </a:r>
            <a:r>
              <a:rPr lang="en-US" altLang="zh-CN" dirty="0" err="1"/>
              <a:t>y_in</a:t>
            </a:r>
            <a:r>
              <a:rPr lang="zh-CN" altLang="en-US" dirty="0"/>
              <a:t>），最后将 </a:t>
            </a:r>
            <a:r>
              <a:rPr lang="en-US" altLang="zh-CN" dirty="0" err="1"/>
              <a:t>y_out</a:t>
            </a:r>
            <a:r>
              <a:rPr lang="en-US" altLang="zh-CN" dirty="0"/>
              <a:t> </a:t>
            </a:r>
            <a:r>
              <a:rPr lang="zh-CN" altLang="en-US" dirty="0"/>
              <a:t>流式输出。</a:t>
            </a:r>
          </a:p>
          <a:p>
            <a:endParaRPr lang="zh-CN" altLang="en-US" dirty="0"/>
          </a:p>
        </p:txBody>
      </p:sp>
      <p:sp>
        <p:nvSpPr>
          <p:cNvPr id="4" name="灯片编号占位符 3">
            <a:extLst>
              <a:ext uri="{FF2B5EF4-FFF2-40B4-BE49-F238E27FC236}">
                <a16:creationId xmlns:a16="http://schemas.microsoft.com/office/drawing/2014/main" id="{2E5880BE-8DCC-67E2-97C1-057EAF19623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7405097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通过这段伪代码可以看出，</a:t>
            </a:r>
            <a:r>
              <a:rPr lang="en-US" altLang="zh-CN" b="1" dirty="0"/>
              <a:t>ping-pong </a:t>
            </a:r>
            <a:r>
              <a:rPr lang="zh-CN" altLang="en-US" b="1" dirty="0"/>
              <a:t>模式</a:t>
            </a:r>
            <a:r>
              <a:rPr lang="zh-CN" altLang="en-US" dirty="0"/>
              <a:t>和</a:t>
            </a:r>
            <a:r>
              <a:rPr lang="zh-CN" altLang="en-US" b="1" dirty="0"/>
              <a:t>私有分区模式</a:t>
            </a:r>
            <a:r>
              <a:rPr lang="zh-CN" altLang="en-US" dirty="0"/>
              <a:t>共享同一个代码框架，都是通过 </a:t>
            </a:r>
            <a:r>
              <a:rPr lang="en-US" altLang="zh-CN" dirty="0"/>
              <a:t>acquire </a:t>
            </a:r>
            <a:r>
              <a:rPr lang="zh-CN" altLang="en-US" dirty="0"/>
              <a:t>和 </a:t>
            </a:r>
            <a:r>
              <a:rPr lang="en-US" altLang="zh-CN" dirty="0"/>
              <a:t>release </a:t>
            </a:r>
            <a:r>
              <a:rPr lang="zh-CN" altLang="en-US" dirty="0"/>
              <a:t>来控制对缓冲通道的访问，不同点在于：</a:t>
            </a:r>
          </a:p>
          <a:p>
            <a:pPr>
              <a:buFont typeface="Arial" panose="020B0604020202020204" pitchFamily="34" charset="0"/>
              <a:buChar char="•"/>
            </a:pPr>
            <a:r>
              <a:rPr lang="en-US" altLang="zh-CN" b="1" dirty="0"/>
              <a:t>ping-pong </a:t>
            </a:r>
            <a:r>
              <a:rPr lang="zh-CN" altLang="en-US" b="1" dirty="0"/>
              <a:t>模式</a:t>
            </a:r>
            <a:r>
              <a:rPr lang="zh-CN" altLang="en-US" dirty="0"/>
              <a:t>：加载和计算并行，两个任务分别占用不同的通道，并在后续循环中交替使用；</a:t>
            </a:r>
            <a:r>
              <a:rPr lang="en-US" altLang="zh-CN" dirty="0"/>
              <a:t>PE </a:t>
            </a:r>
            <a:r>
              <a:rPr lang="zh-CN" altLang="en-US" dirty="0"/>
              <a:t>需要共享缓冲通道。</a:t>
            </a:r>
          </a:p>
          <a:p>
            <a:pPr>
              <a:buFont typeface="Arial" panose="020B0604020202020204" pitchFamily="34" charset="0"/>
              <a:buChar char="•"/>
            </a:pPr>
            <a:r>
              <a:rPr lang="zh-CN" altLang="en-US" b="1" dirty="0"/>
              <a:t>私有分区模式</a:t>
            </a:r>
            <a:r>
              <a:rPr lang="zh-CN" altLang="en-US" dirty="0"/>
              <a:t>：加载和计算顺序执行，一次性加载到两个通道后再交给两个 </a:t>
            </a:r>
            <a:r>
              <a:rPr lang="en-US" altLang="zh-CN" dirty="0"/>
              <a:t>PE </a:t>
            </a:r>
            <a:r>
              <a:rPr lang="zh-CN" altLang="en-US" dirty="0"/>
              <a:t>读取，各自拥有独立的缓冲副本。</a:t>
            </a:r>
          </a:p>
          <a:p>
            <a:r>
              <a:rPr lang="zh-CN" altLang="en-US" dirty="0"/>
              <a:t>这种灵活的混合缓冲策略允许 </a:t>
            </a:r>
            <a:r>
              <a:rPr lang="en-US" altLang="zh-CN" dirty="0" err="1"/>
              <a:t>HiSpMV</a:t>
            </a:r>
            <a:r>
              <a:rPr lang="en-US" altLang="zh-CN" dirty="0"/>
              <a:t> </a:t>
            </a:r>
            <a:r>
              <a:rPr lang="zh-CN" altLang="en-US" dirty="0"/>
              <a:t>加速器根据不同矩阵的特性（例如密度、计算负载等）来动态选择合适的模式：</a:t>
            </a:r>
          </a:p>
          <a:p>
            <a:pPr>
              <a:buFont typeface="Arial" panose="020B0604020202020204" pitchFamily="34" charset="0"/>
              <a:buChar char="•"/>
            </a:pPr>
            <a:r>
              <a:rPr lang="zh-CN" altLang="en-US" b="1" dirty="0"/>
              <a:t>当输入加载是主要瓶颈时</a:t>
            </a:r>
            <a:r>
              <a:rPr lang="zh-CN" altLang="en-US" dirty="0"/>
              <a:t>，可使用 </a:t>
            </a:r>
            <a:r>
              <a:rPr lang="en-US" altLang="zh-CN" dirty="0"/>
              <a:t>ping-pong </a:t>
            </a:r>
            <a:r>
              <a:rPr lang="zh-CN" altLang="en-US" dirty="0"/>
              <a:t>模式并行加载与计算；</a:t>
            </a:r>
          </a:p>
          <a:p>
            <a:pPr>
              <a:buFont typeface="Arial" panose="020B0604020202020204" pitchFamily="34" charset="0"/>
              <a:buChar char="•"/>
            </a:pPr>
            <a:r>
              <a:rPr lang="zh-CN" altLang="en-US" b="1" dirty="0"/>
              <a:t>当计算是主要瓶颈时</a:t>
            </a:r>
            <a:r>
              <a:rPr lang="zh-CN" altLang="en-US" dirty="0"/>
              <a:t>，可使用私有分区模式让每个 </a:t>
            </a:r>
            <a:r>
              <a:rPr lang="en-US" altLang="zh-CN" dirty="0"/>
              <a:t>PE </a:t>
            </a:r>
            <a:r>
              <a:rPr lang="zh-CN" altLang="en-US" dirty="0"/>
              <a:t>独享缓冲数据，从而提升计算效率。</a:t>
            </a:r>
          </a:p>
          <a:p>
            <a:r>
              <a:rPr lang="zh-CN" altLang="en-US" dirty="0"/>
              <a:t>计算时间为 </a:t>
            </a:r>
            <a:r>
              <a:rPr lang="en-US" altLang="zh-CN" dirty="0" err="1"/>
              <a:t>tc</a:t>
            </a:r>
            <a:r>
              <a:rPr lang="zh-CN" altLang="en-US" dirty="0"/>
              <a:t>，加载缓冲时间 </a:t>
            </a:r>
            <a:r>
              <a:rPr lang="en-US" altLang="zh-CN" dirty="0"/>
              <a:t>tb</a:t>
            </a:r>
            <a:r>
              <a:rPr lang="zh-CN" altLang="en-US" dirty="0"/>
              <a:t>。简言之，当加载时间较长（</a:t>
            </a:r>
            <a:r>
              <a:rPr lang="en-US" altLang="zh-CN" dirty="0" err="1"/>
              <a:t>tc</a:t>
            </a:r>
            <a:r>
              <a:rPr lang="en-US" altLang="zh-CN" dirty="0"/>
              <a:t> ≤ tb</a:t>
            </a:r>
            <a:r>
              <a:rPr lang="zh-CN" altLang="en-US" dirty="0"/>
              <a:t>）时，可以利用 </a:t>
            </a:r>
            <a:r>
              <a:rPr lang="en-US" altLang="zh-CN" dirty="0"/>
              <a:t>ping-pong </a:t>
            </a:r>
            <a:r>
              <a:rPr lang="zh-CN" altLang="en-US" dirty="0"/>
              <a:t>模式来隐藏加载延迟；而当计算任务较重（</a:t>
            </a:r>
            <a:r>
              <a:rPr lang="en-US" altLang="zh-CN" dirty="0" err="1"/>
              <a:t>tc</a:t>
            </a:r>
            <a:r>
              <a:rPr lang="en-US" altLang="zh-CN" dirty="0"/>
              <a:t> &gt; tb</a:t>
            </a:r>
            <a:r>
              <a:rPr lang="zh-CN" altLang="en-US" dirty="0"/>
              <a:t>）时，采用私有缓冲模式更稳妥，因为共享缓冲可能会引入额外的停顿。</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64708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687E-A189-50AF-D8F2-895A9007C4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2D82CD-B7C6-7D40-AD69-6D31C3FF18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0F1E21-667C-DE78-05CB-8F4542C7B376}"/>
              </a:ext>
            </a:extLst>
          </p:cNvPr>
          <p:cNvSpPr>
            <a:spLocks noGrp="1"/>
          </p:cNvSpPr>
          <p:nvPr>
            <p:ph type="body" idx="1"/>
          </p:nvPr>
        </p:nvSpPr>
        <p:spPr/>
        <p:txBody>
          <a:bodyPr/>
          <a:lstStyle/>
          <a:p>
            <a:r>
              <a:rPr lang="zh-CN" altLang="en-US" dirty="0"/>
              <a:t>通过这段伪代码可以看出，</a:t>
            </a:r>
            <a:r>
              <a:rPr lang="en-US" altLang="zh-CN" b="1" dirty="0"/>
              <a:t>ping-pong </a:t>
            </a:r>
            <a:r>
              <a:rPr lang="zh-CN" altLang="en-US" b="1" dirty="0"/>
              <a:t>模式</a:t>
            </a:r>
            <a:r>
              <a:rPr lang="zh-CN" altLang="en-US" dirty="0"/>
              <a:t>和</a:t>
            </a:r>
            <a:r>
              <a:rPr lang="zh-CN" altLang="en-US" b="1" dirty="0"/>
              <a:t>私有分区模式</a:t>
            </a:r>
            <a:r>
              <a:rPr lang="zh-CN" altLang="en-US" dirty="0"/>
              <a:t>共享同一个代码框架，都是通过 </a:t>
            </a:r>
            <a:r>
              <a:rPr lang="en-US" altLang="zh-CN" dirty="0"/>
              <a:t>acquire </a:t>
            </a:r>
            <a:r>
              <a:rPr lang="zh-CN" altLang="en-US" dirty="0"/>
              <a:t>和 </a:t>
            </a:r>
            <a:r>
              <a:rPr lang="en-US" altLang="zh-CN" dirty="0"/>
              <a:t>release </a:t>
            </a:r>
            <a:r>
              <a:rPr lang="zh-CN" altLang="en-US" dirty="0"/>
              <a:t>来控制对缓冲通道的访问，不同点在于：</a:t>
            </a:r>
          </a:p>
          <a:p>
            <a:pPr>
              <a:buFont typeface="Arial" panose="020B0604020202020204" pitchFamily="34" charset="0"/>
              <a:buChar char="•"/>
            </a:pPr>
            <a:r>
              <a:rPr lang="en-US" altLang="zh-CN" b="1" dirty="0"/>
              <a:t>ping-pong </a:t>
            </a:r>
            <a:r>
              <a:rPr lang="zh-CN" altLang="en-US" b="1" dirty="0"/>
              <a:t>模式</a:t>
            </a:r>
            <a:r>
              <a:rPr lang="zh-CN" altLang="en-US" dirty="0"/>
              <a:t>：加载和计算并行，两个任务分别占用不同的通道，并在后续循环中交替使用；</a:t>
            </a:r>
            <a:r>
              <a:rPr lang="en-US" altLang="zh-CN" dirty="0"/>
              <a:t>PE </a:t>
            </a:r>
            <a:r>
              <a:rPr lang="zh-CN" altLang="en-US" dirty="0"/>
              <a:t>需要共享缓冲通道。</a:t>
            </a:r>
          </a:p>
          <a:p>
            <a:pPr>
              <a:buFont typeface="Arial" panose="020B0604020202020204" pitchFamily="34" charset="0"/>
              <a:buChar char="•"/>
            </a:pPr>
            <a:r>
              <a:rPr lang="zh-CN" altLang="en-US" b="1" dirty="0"/>
              <a:t>私有分区模式</a:t>
            </a:r>
            <a:r>
              <a:rPr lang="zh-CN" altLang="en-US" dirty="0"/>
              <a:t>：加载和计算顺序执行，一次性加载到两个通道后再交给两个 </a:t>
            </a:r>
            <a:r>
              <a:rPr lang="en-US" altLang="zh-CN" dirty="0"/>
              <a:t>PE </a:t>
            </a:r>
            <a:r>
              <a:rPr lang="zh-CN" altLang="en-US" dirty="0"/>
              <a:t>读取，各自拥有独立的缓冲副本。</a:t>
            </a:r>
          </a:p>
          <a:p>
            <a:r>
              <a:rPr lang="zh-CN" altLang="en-US" dirty="0"/>
              <a:t>这种灵活的混合缓冲策略允许 </a:t>
            </a:r>
            <a:r>
              <a:rPr lang="en-US" altLang="zh-CN" dirty="0" err="1"/>
              <a:t>HiSpMV</a:t>
            </a:r>
            <a:r>
              <a:rPr lang="en-US" altLang="zh-CN" dirty="0"/>
              <a:t> </a:t>
            </a:r>
            <a:r>
              <a:rPr lang="zh-CN" altLang="en-US" dirty="0"/>
              <a:t>加速器根据不同矩阵的特性（例如密度、计算负载等）来动态选择合适的模式：</a:t>
            </a:r>
          </a:p>
          <a:p>
            <a:pPr>
              <a:buFont typeface="Arial" panose="020B0604020202020204" pitchFamily="34" charset="0"/>
              <a:buChar char="•"/>
            </a:pPr>
            <a:r>
              <a:rPr lang="zh-CN" altLang="en-US" b="1" dirty="0"/>
              <a:t>当输入加载是主要瓶颈时</a:t>
            </a:r>
            <a:r>
              <a:rPr lang="zh-CN" altLang="en-US" dirty="0"/>
              <a:t>，可使用 </a:t>
            </a:r>
            <a:r>
              <a:rPr lang="en-US" altLang="zh-CN" dirty="0"/>
              <a:t>ping-pong </a:t>
            </a:r>
            <a:r>
              <a:rPr lang="zh-CN" altLang="en-US" dirty="0"/>
              <a:t>模式并行加载与计算；</a:t>
            </a:r>
          </a:p>
          <a:p>
            <a:pPr>
              <a:buFont typeface="Arial" panose="020B0604020202020204" pitchFamily="34" charset="0"/>
              <a:buChar char="•"/>
            </a:pPr>
            <a:r>
              <a:rPr lang="zh-CN" altLang="en-US" b="1" dirty="0"/>
              <a:t>当计算是主要瓶颈时</a:t>
            </a:r>
            <a:r>
              <a:rPr lang="zh-CN" altLang="en-US" dirty="0"/>
              <a:t>，可使用私有分区模式让每个 </a:t>
            </a:r>
            <a:r>
              <a:rPr lang="en-US" altLang="zh-CN" dirty="0"/>
              <a:t>PE </a:t>
            </a:r>
            <a:r>
              <a:rPr lang="zh-CN" altLang="en-US" dirty="0"/>
              <a:t>独享缓冲数据，从而提升计算效率。</a:t>
            </a:r>
          </a:p>
          <a:p>
            <a:r>
              <a:rPr lang="zh-CN" altLang="en-US" dirty="0"/>
              <a:t>计算时间为 </a:t>
            </a:r>
            <a:r>
              <a:rPr lang="en-US" altLang="zh-CN" dirty="0" err="1"/>
              <a:t>tc</a:t>
            </a:r>
            <a:r>
              <a:rPr lang="zh-CN" altLang="en-US" dirty="0"/>
              <a:t>，加载缓冲时间 </a:t>
            </a:r>
            <a:r>
              <a:rPr lang="en-US" altLang="zh-CN" dirty="0"/>
              <a:t>tb</a:t>
            </a:r>
            <a:r>
              <a:rPr lang="zh-CN" altLang="en-US" dirty="0"/>
              <a:t>。简言之，当加载时间较长（</a:t>
            </a:r>
            <a:r>
              <a:rPr lang="en-US" altLang="zh-CN" dirty="0" err="1"/>
              <a:t>tc</a:t>
            </a:r>
            <a:r>
              <a:rPr lang="en-US" altLang="zh-CN" dirty="0"/>
              <a:t> ≤ tb</a:t>
            </a:r>
            <a:r>
              <a:rPr lang="zh-CN" altLang="en-US" dirty="0"/>
              <a:t>）时，可以利用 </a:t>
            </a:r>
            <a:r>
              <a:rPr lang="en-US" altLang="zh-CN" dirty="0"/>
              <a:t>ping-pong </a:t>
            </a:r>
            <a:r>
              <a:rPr lang="zh-CN" altLang="en-US" dirty="0"/>
              <a:t>模式来隐藏加载延迟；而当计算任务较重（</a:t>
            </a:r>
            <a:r>
              <a:rPr lang="en-US" altLang="zh-CN" dirty="0" err="1"/>
              <a:t>tc</a:t>
            </a:r>
            <a:r>
              <a:rPr lang="en-US" altLang="zh-CN" dirty="0"/>
              <a:t> &gt; tb</a:t>
            </a:r>
            <a:r>
              <a:rPr lang="zh-CN" altLang="en-US" dirty="0"/>
              <a:t>）时，采用私有缓冲模式更稳妥，因为共享缓冲可能会引入额外的停顿。</a:t>
            </a:r>
          </a:p>
          <a:p>
            <a:endParaRPr lang="zh-CN" altLang="en-US" dirty="0"/>
          </a:p>
        </p:txBody>
      </p:sp>
      <p:sp>
        <p:nvSpPr>
          <p:cNvPr id="4" name="灯片编号占位符 3">
            <a:extLst>
              <a:ext uri="{FF2B5EF4-FFF2-40B4-BE49-F238E27FC236}">
                <a16:creationId xmlns:a16="http://schemas.microsoft.com/office/drawing/2014/main" id="{A5039BC2-F44C-B370-F489-7D023BB9C5A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990239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50664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在行间分配模式下，每个 </a:t>
            </a:r>
            <a:r>
              <a:rPr lang="en-US" altLang="zh-CN" dirty="0"/>
              <a:t>PE </a:t>
            </a:r>
            <a:r>
              <a:rPr lang="zh-CN" altLang="en-US" dirty="0"/>
              <a:t>负责处理不同的行，也就是说，一个 </a:t>
            </a:r>
            <a:r>
              <a:rPr lang="en-US" altLang="zh-CN" dirty="0"/>
              <a:t>PE </a:t>
            </a:r>
            <a:r>
              <a:rPr lang="zh-CN" altLang="en-US" dirty="0"/>
              <a:t>内部产生的乘积结果都来自不同的行，每个乘积结果都直接归属于一个完整的行的计算。因此，这些乘积结果不需要额外的加法操作来进行归约，只需要简单地将数据转发到对应的累加器即可。在这种情况下，加法器块就只起到“直通”的作用，或在没有实际运算需求的情况下输出一个虚拟数据包（</a:t>
            </a:r>
            <a:r>
              <a:rPr lang="en-US" altLang="zh-CN" dirty="0"/>
              <a:t>dummy packet</a:t>
            </a:r>
            <a:r>
              <a:rPr lang="zh-CN" altLang="en-US" dirty="0"/>
              <a:t>）。</a:t>
            </a:r>
          </a:p>
          <a:p>
            <a:r>
              <a:rPr lang="zh-CN" altLang="en-US" dirty="0"/>
              <a:t>而在行内分配模式下，多个 </a:t>
            </a:r>
            <a:r>
              <a:rPr lang="en-US" altLang="zh-CN" dirty="0"/>
              <a:t>PE </a:t>
            </a:r>
            <a:r>
              <a:rPr lang="zh-CN" altLang="en-US" dirty="0"/>
              <a:t>协同处理同一行的非零元素，这意味着来自不同 </a:t>
            </a:r>
            <a:r>
              <a:rPr lang="en-US" altLang="zh-CN" dirty="0"/>
              <a:t>PE </a:t>
            </a:r>
            <a:r>
              <a:rPr lang="zh-CN" altLang="en-US" dirty="0"/>
              <a:t>的乘积结果都属于同一行。为了得到这一行的完整累加结果，必须将这些分散的乘积结果进行加法归约，也就是把多个部分结果相加。这时，加法器块就必须真正参与到归约运算中，把多个输入的部分结果累加起来，生成一个完整的输出。</a:t>
            </a:r>
          </a:p>
          <a:p>
            <a:r>
              <a:rPr lang="zh-CN" altLang="en-US" dirty="0"/>
              <a:t>简单来说：</a:t>
            </a:r>
          </a:p>
          <a:p>
            <a:pPr>
              <a:buFont typeface="Arial" panose="020B0604020202020204" pitchFamily="34" charset="0"/>
              <a:buChar char="•"/>
            </a:pPr>
            <a:r>
              <a:rPr lang="zh-CN" altLang="en-US" b="1" dirty="0"/>
              <a:t>行间分配模式</a:t>
            </a:r>
            <a:r>
              <a:rPr lang="zh-CN" altLang="en-US" dirty="0"/>
              <a:t>：每个 </a:t>
            </a:r>
            <a:r>
              <a:rPr lang="en-US" altLang="zh-CN" dirty="0"/>
              <a:t>PE </a:t>
            </a:r>
            <a:r>
              <a:rPr lang="zh-CN" altLang="en-US" dirty="0"/>
              <a:t>处理不同的行，乘积结果不需要跨 </a:t>
            </a:r>
            <a:r>
              <a:rPr lang="en-US" altLang="zh-CN" dirty="0"/>
              <a:t>PE </a:t>
            </a:r>
            <a:r>
              <a:rPr lang="zh-CN" altLang="en-US" dirty="0"/>
              <a:t>相加，故加法器只做简单转发。</a:t>
            </a:r>
          </a:p>
          <a:p>
            <a:pPr>
              <a:buFont typeface="Arial" panose="020B0604020202020204" pitchFamily="34" charset="0"/>
              <a:buChar char="•"/>
            </a:pPr>
            <a:r>
              <a:rPr lang="zh-CN" altLang="en-US" b="1" dirty="0"/>
              <a:t>行内分配模式</a:t>
            </a:r>
            <a:r>
              <a:rPr lang="zh-CN" altLang="en-US" dirty="0"/>
              <a:t>：多个 </a:t>
            </a:r>
            <a:r>
              <a:rPr lang="en-US" altLang="zh-CN" dirty="0"/>
              <a:t>PE </a:t>
            </a:r>
            <a:r>
              <a:rPr lang="zh-CN" altLang="en-US" dirty="0"/>
              <a:t>处理同一行，同一行的乘积结果需要合并（归约），因此必须进行加法运算。</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204215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BC59-8CB3-6F19-21D2-8B74ACC3A1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A52878-9A53-4987-002C-C52C04179B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F5BE74-5762-006D-AB34-86C6CA0BCCBF}"/>
              </a:ext>
            </a:extLst>
          </p:cNvPr>
          <p:cNvSpPr>
            <a:spLocks noGrp="1"/>
          </p:cNvSpPr>
          <p:nvPr>
            <p:ph type="body" idx="1"/>
          </p:nvPr>
        </p:nvSpPr>
        <p:spPr/>
        <p:txBody>
          <a:bodyPr/>
          <a:lstStyle/>
          <a:p>
            <a:r>
              <a:rPr lang="zh-CN" altLang="en-US" dirty="0"/>
              <a:t>在行间分配模式下，每个 </a:t>
            </a:r>
            <a:r>
              <a:rPr lang="en-US" altLang="zh-CN" dirty="0"/>
              <a:t>PE </a:t>
            </a:r>
            <a:r>
              <a:rPr lang="zh-CN" altLang="en-US" dirty="0"/>
              <a:t>负责处理不同的行，也就是说，一个 </a:t>
            </a:r>
            <a:r>
              <a:rPr lang="en-US" altLang="zh-CN" dirty="0"/>
              <a:t>PE </a:t>
            </a:r>
            <a:r>
              <a:rPr lang="zh-CN" altLang="en-US" dirty="0"/>
              <a:t>内部产生的乘积结果都来自不同的行，每个乘积结果都直接归属于一个完整的行的计算。因此，这些乘积结果不需要额外的加法操作来进行归约，只需要简单地将数据转发到对应的累加器即可。在这种情况下，加法器块就只起到“直通”的作用，或在没有实际运算需求的情况下输出一个虚拟数据包（</a:t>
            </a:r>
            <a:r>
              <a:rPr lang="en-US" altLang="zh-CN" dirty="0"/>
              <a:t>dummy packet</a:t>
            </a:r>
            <a:r>
              <a:rPr lang="zh-CN" altLang="en-US" dirty="0"/>
              <a:t>）。</a:t>
            </a:r>
          </a:p>
          <a:p>
            <a:r>
              <a:rPr lang="zh-CN" altLang="en-US" dirty="0"/>
              <a:t>而在行内分配模式下，多个 </a:t>
            </a:r>
            <a:r>
              <a:rPr lang="en-US" altLang="zh-CN" dirty="0"/>
              <a:t>PE </a:t>
            </a:r>
            <a:r>
              <a:rPr lang="zh-CN" altLang="en-US" dirty="0"/>
              <a:t>协同处理同一行的非零元素，这意味着来自不同 </a:t>
            </a:r>
            <a:r>
              <a:rPr lang="en-US" altLang="zh-CN" dirty="0"/>
              <a:t>PE </a:t>
            </a:r>
            <a:r>
              <a:rPr lang="zh-CN" altLang="en-US" dirty="0"/>
              <a:t>的乘积结果都属于同一行。为了得到这一行的完整累加结果，必须将这些分散的乘积结果进行加法归约，也就是把多个部分结果相加。这时，加法器块就必须真正参与到归约运算中，把多个输入的部分结果累加起来，生成一个完整的输出。</a:t>
            </a:r>
          </a:p>
          <a:p>
            <a:r>
              <a:rPr lang="zh-CN" altLang="en-US" dirty="0"/>
              <a:t>简单来说：</a:t>
            </a:r>
          </a:p>
          <a:p>
            <a:pPr>
              <a:buFont typeface="Arial" panose="020B0604020202020204" pitchFamily="34" charset="0"/>
              <a:buChar char="•"/>
            </a:pPr>
            <a:r>
              <a:rPr lang="zh-CN" altLang="en-US" b="1" dirty="0"/>
              <a:t>行间分配模式</a:t>
            </a:r>
            <a:r>
              <a:rPr lang="zh-CN" altLang="en-US" dirty="0"/>
              <a:t>：每个 </a:t>
            </a:r>
            <a:r>
              <a:rPr lang="en-US" altLang="zh-CN" dirty="0"/>
              <a:t>PE </a:t>
            </a:r>
            <a:r>
              <a:rPr lang="zh-CN" altLang="en-US" dirty="0"/>
              <a:t>处理不同的行，乘积结果不需要跨 </a:t>
            </a:r>
            <a:r>
              <a:rPr lang="en-US" altLang="zh-CN" dirty="0"/>
              <a:t>PE </a:t>
            </a:r>
            <a:r>
              <a:rPr lang="zh-CN" altLang="en-US" dirty="0"/>
              <a:t>相加，故加法器只做简单转发。</a:t>
            </a:r>
          </a:p>
          <a:p>
            <a:pPr>
              <a:buFont typeface="Arial" panose="020B0604020202020204" pitchFamily="34" charset="0"/>
              <a:buChar char="•"/>
            </a:pPr>
            <a:r>
              <a:rPr lang="zh-CN" altLang="en-US" b="1" dirty="0"/>
              <a:t>行内分配模式</a:t>
            </a:r>
            <a:r>
              <a:rPr lang="zh-CN" altLang="en-US" dirty="0"/>
              <a:t>：多个 </a:t>
            </a:r>
            <a:r>
              <a:rPr lang="en-US" altLang="zh-CN" dirty="0"/>
              <a:t>PE </a:t>
            </a:r>
            <a:r>
              <a:rPr lang="zh-CN" altLang="en-US" dirty="0"/>
              <a:t>处理同一行，同一行的乘积结果需要合并（归约），因此必须进行加法运算。</a:t>
            </a:r>
          </a:p>
          <a:p>
            <a:endParaRPr lang="zh-CN" altLang="en-US" dirty="0"/>
          </a:p>
        </p:txBody>
      </p:sp>
      <p:sp>
        <p:nvSpPr>
          <p:cNvPr id="4" name="灯片编号占位符 3">
            <a:extLst>
              <a:ext uri="{FF2B5EF4-FFF2-40B4-BE49-F238E27FC236}">
                <a16:creationId xmlns:a16="http://schemas.microsoft.com/office/drawing/2014/main" id="{B36CE74B-36D9-2E56-50B6-568A51EEA22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889605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046C4-9BC2-8B97-B106-FBC7AB57D8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CFB013-F040-F8FA-0FFA-0C9139BD0F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9065CC-E84F-77FE-FF68-968200AF6936}"/>
              </a:ext>
            </a:extLst>
          </p:cNvPr>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a:extLst>
              <a:ext uri="{FF2B5EF4-FFF2-40B4-BE49-F238E27FC236}">
                <a16:creationId xmlns:a16="http://schemas.microsoft.com/office/drawing/2014/main" id="{BD43ED6E-F39A-E93E-AF06-F19CF36FBAC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952790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84F4A-F634-1FFF-6DFA-B701B125BB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CAF750-1F95-6CC9-F602-A8ACE2078C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5B334E-5839-AF79-925F-421FE21BD869}"/>
              </a:ext>
            </a:extLst>
          </p:cNvPr>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a:extLst>
              <a:ext uri="{FF2B5EF4-FFF2-40B4-BE49-F238E27FC236}">
                <a16:creationId xmlns:a16="http://schemas.microsoft.com/office/drawing/2014/main" id="{70A7AED4-B4BA-093C-CC6B-27616F1805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771863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BEEB-3F37-D813-3902-A2E73900EA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21E7FF-7D0A-43E1-C621-CCCFFC03DC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F18644-C794-4610-0AE6-DF727650E71A}"/>
              </a:ext>
            </a:extLst>
          </p:cNvPr>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a:extLst>
              <a:ext uri="{FF2B5EF4-FFF2-40B4-BE49-F238E27FC236}">
                <a16:creationId xmlns:a16="http://schemas.microsoft.com/office/drawing/2014/main" id="{B42B2906-B744-BC05-DB7E-0D44ADCF19D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6722549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EAB6-19C0-C61E-15A3-02AB69782C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1CF78E-91A9-EC7B-75D1-2AF4431F93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D3E0C4-3554-5E47-3ED7-783CE134E049}"/>
              </a:ext>
            </a:extLst>
          </p:cNvPr>
          <p:cNvSpPr>
            <a:spLocks noGrp="1"/>
          </p:cNvSpPr>
          <p:nvPr>
            <p:ph type="body" idx="1"/>
          </p:nvPr>
        </p:nvSpPr>
        <p:spPr/>
        <p:txBody>
          <a:bodyPr/>
          <a:lstStyle/>
          <a:p>
            <a:pPr>
              <a:buFont typeface="+mj-lt"/>
              <a:buAutoNum type="arabicPeriod"/>
            </a:pPr>
            <a:r>
              <a:rPr lang="zh-CN" altLang="en-US" b="1" dirty="0"/>
              <a:t>整体架构与数据传输</a:t>
            </a:r>
            <a:endParaRPr lang="zh-CN" altLang="en-US" dirty="0"/>
          </a:p>
          <a:p>
            <a:pPr marL="742950" lvl="1" indent="-285750">
              <a:buFont typeface="+mj-lt"/>
              <a:buAutoNum type="arabicPeriod"/>
            </a:pPr>
            <a:r>
              <a:rPr lang="zh-CN" altLang="en-US" dirty="0"/>
              <a:t>每个读取 </a:t>
            </a:r>
            <a:r>
              <a:rPr lang="en-US" altLang="zh-CN" dirty="0"/>
              <a:t>A </a:t>
            </a:r>
            <a:r>
              <a:rPr lang="zh-CN" altLang="en-US" dirty="0"/>
              <a:t>矩阵数据的通道宽度为 </a:t>
            </a:r>
            <a:r>
              <a:rPr lang="en-US" altLang="zh-CN" dirty="0"/>
              <a:t>512 </a:t>
            </a:r>
            <a:r>
              <a:rPr lang="zh-CN" altLang="en-US" dirty="0"/>
              <a:t>位，这意味着每个周期可以从该通道传输 </a:t>
            </a:r>
            <a:r>
              <a:rPr lang="en-US" altLang="zh-CN" dirty="0"/>
              <a:t>512 </a:t>
            </a:r>
            <a:r>
              <a:rPr lang="zh-CN" altLang="en-US" dirty="0"/>
              <a:t>位数据。</a:t>
            </a:r>
          </a:p>
          <a:p>
            <a:pPr marL="742950" lvl="1" indent="-285750">
              <a:buFont typeface="+mj-lt"/>
              <a:buAutoNum type="arabicPeriod"/>
            </a:pPr>
            <a:r>
              <a:rPr lang="zh-CN" altLang="en-US" dirty="0"/>
              <a:t>为了充分利用这个带宽，一个 </a:t>
            </a:r>
            <a:r>
              <a:rPr lang="en-US" altLang="zh-CN" dirty="0"/>
              <a:t>512 </a:t>
            </a:r>
            <a:r>
              <a:rPr lang="zh-CN" altLang="en-US" dirty="0"/>
              <a:t>位通道被分成多个子部分用于不同的处理组（</a:t>
            </a:r>
            <a:r>
              <a:rPr lang="en-US" altLang="zh-CN" dirty="0"/>
              <a:t>PEG</a:t>
            </a:r>
            <a:r>
              <a:rPr lang="zh-CN" altLang="en-US" dirty="0"/>
              <a:t>）。每个通道服务 </a:t>
            </a:r>
            <a:r>
              <a:rPr lang="en-US" altLang="zh-CN" dirty="0"/>
              <a:t>4 </a:t>
            </a:r>
            <a:r>
              <a:rPr lang="zh-CN" altLang="en-US" dirty="0"/>
              <a:t>个 </a:t>
            </a:r>
            <a:r>
              <a:rPr lang="en-US" altLang="zh-CN" dirty="0"/>
              <a:t>PEG</a:t>
            </a:r>
            <a:r>
              <a:rPr lang="zh-CN" altLang="en-US" dirty="0"/>
              <a:t>，因此每个 </a:t>
            </a:r>
            <a:r>
              <a:rPr lang="en-US" altLang="zh-CN" dirty="0"/>
              <a:t>PEG </a:t>
            </a:r>
            <a:r>
              <a:rPr lang="zh-CN" altLang="en-US" dirty="0"/>
              <a:t>每周期获得 </a:t>
            </a:r>
            <a:r>
              <a:rPr lang="en-US" altLang="zh-CN" dirty="0"/>
              <a:t>128 </a:t>
            </a:r>
            <a:r>
              <a:rPr lang="zh-CN" altLang="en-US" dirty="0"/>
              <a:t>位数据。</a:t>
            </a:r>
          </a:p>
          <a:p>
            <a:pPr marL="742950" lvl="1" indent="-285750">
              <a:buFont typeface="+mj-lt"/>
              <a:buAutoNum type="arabicPeriod"/>
            </a:pPr>
            <a:r>
              <a:rPr lang="zh-CN" altLang="en-US" dirty="0"/>
              <a:t>每个 </a:t>
            </a:r>
            <a:r>
              <a:rPr lang="en-US" altLang="zh-CN" dirty="0"/>
              <a:t>PEG </a:t>
            </a:r>
            <a:r>
              <a:rPr lang="zh-CN" altLang="en-US" dirty="0"/>
              <a:t>内又有 </a:t>
            </a:r>
            <a:r>
              <a:rPr lang="en-US" altLang="zh-CN" dirty="0"/>
              <a:t>2 </a:t>
            </a:r>
            <a:r>
              <a:rPr lang="zh-CN" altLang="en-US" dirty="0"/>
              <a:t>个处理单元（</a:t>
            </a:r>
            <a:r>
              <a:rPr lang="en-US" altLang="zh-CN" dirty="0"/>
              <a:t>PE</a:t>
            </a:r>
            <a:r>
              <a:rPr lang="zh-CN" altLang="en-US" dirty="0"/>
              <a:t>），因此每个 </a:t>
            </a:r>
            <a:r>
              <a:rPr lang="en-US" altLang="zh-CN" dirty="0"/>
              <a:t>PE </a:t>
            </a:r>
            <a:r>
              <a:rPr lang="zh-CN" altLang="en-US" dirty="0"/>
              <a:t>分得 </a:t>
            </a:r>
            <a:r>
              <a:rPr lang="en-US" altLang="zh-CN" dirty="0"/>
              <a:t>64 </a:t>
            </a:r>
            <a:r>
              <a:rPr lang="zh-CN" altLang="en-US" dirty="0"/>
              <a:t>位数据。</a:t>
            </a:r>
          </a:p>
          <a:p>
            <a:pPr marL="742950" lvl="1" indent="-285750">
              <a:buFont typeface="+mj-lt"/>
              <a:buAutoNum type="arabicPeriod"/>
            </a:pPr>
            <a:r>
              <a:rPr lang="zh-CN" altLang="en-US" dirty="0"/>
              <a:t>这 </a:t>
            </a:r>
            <a:r>
              <a:rPr lang="en-US" altLang="zh-CN" dirty="0"/>
              <a:t>64 </a:t>
            </a:r>
            <a:r>
              <a:rPr lang="zh-CN" altLang="en-US" dirty="0"/>
              <a:t>位数据由多个字段组成：行号（</a:t>
            </a:r>
            <a:r>
              <a:rPr lang="en-US" altLang="zh-CN" dirty="0"/>
              <a:t>16 </a:t>
            </a:r>
            <a:r>
              <a:rPr lang="zh-CN" altLang="en-US" dirty="0"/>
              <a:t>位）、列号（</a:t>
            </a:r>
            <a:r>
              <a:rPr lang="en-US" altLang="zh-CN" dirty="0"/>
              <a:t>13 </a:t>
            </a:r>
            <a:r>
              <a:rPr lang="zh-CN" altLang="en-US" dirty="0"/>
              <a:t>位）、非零值（</a:t>
            </a:r>
            <a:r>
              <a:rPr lang="en-US" altLang="zh-CN" dirty="0"/>
              <a:t>32 </a:t>
            </a:r>
            <a:r>
              <a:rPr lang="zh-CN" altLang="en-US" dirty="0"/>
              <a:t>位）和三个标志位（标识当前数据块的结束、行结束、是否需要拆分行等信息）。</a:t>
            </a:r>
          </a:p>
          <a:p>
            <a:pPr>
              <a:buFont typeface="+mj-lt"/>
              <a:buAutoNum type="arabicPeriod"/>
            </a:pPr>
            <a:r>
              <a:rPr lang="en-US" altLang="zh-CN" b="1" dirty="0"/>
              <a:t>PE </a:t>
            </a:r>
            <a:r>
              <a:rPr lang="zh-CN" altLang="en-US" b="1" dirty="0"/>
              <a:t>的操作过程</a:t>
            </a:r>
            <a:endParaRPr lang="zh-CN" altLang="en-US" dirty="0"/>
          </a:p>
          <a:p>
            <a:pPr marL="742950" lvl="1" indent="-285750">
              <a:buFont typeface="+mj-lt"/>
              <a:buAutoNum type="arabicPeriod"/>
            </a:pPr>
            <a:r>
              <a:rPr lang="zh-CN" altLang="en-US" dirty="0"/>
              <a:t>每个 </a:t>
            </a:r>
            <a:r>
              <a:rPr lang="en-US" altLang="zh-CN" dirty="0"/>
              <a:t>PE </a:t>
            </a:r>
            <a:r>
              <a:rPr lang="zh-CN" altLang="en-US" dirty="0"/>
              <a:t>利用所获得的 </a:t>
            </a:r>
            <a:r>
              <a:rPr lang="en-US" altLang="zh-CN" dirty="0"/>
              <a:t>64 </a:t>
            </a:r>
            <a:r>
              <a:rPr lang="zh-CN" altLang="en-US" dirty="0"/>
              <a:t>位数据中的列号 </a:t>
            </a:r>
            <a:r>
              <a:rPr lang="en-US" altLang="zh-CN" dirty="0"/>
              <a:t>c</a:t>
            </a:r>
            <a:r>
              <a:rPr lang="zh-CN" altLang="en-US" dirty="0"/>
              <a:t>，从输入向量 </a:t>
            </a:r>
            <a:r>
              <a:rPr lang="en-US" altLang="zh-CN" dirty="0"/>
              <a:t>x® </a:t>
            </a:r>
            <a:r>
              <a:rPr lang="zh-CN" altLang="en-US" dirty="0"/>
              <a:t>的片上缓冲区（</a:t>
            </a:r>
            <a:r>
              <a:rPr lang="en-US" altLang="zh-CN" dirty="0" err="1"/>
              <a:t>buf_x</a:t>
            </a:r>
            <a:r>
              <a:rPr lang="en-US" altLang="zh-CN" dirty="0"/>
              <a:t>[Ct]</a:t>
            </a:r>
            <a:r>
              <a:rPr lang="zh-CN" altLang="en-US" dirty="0"/>
              <a:t>）中取出对应的 </a:t>
            </a:r>
            <a:r>
              <a:rPr lang="en-US" altLang="zh-CN" dirty="0"/>
              <a:t>32 </a:t>
            </a:r>
            <a:r>
              <a:rPr lang="zh-CN" altLang="en-US" dirty="0"/>
              <a:t>位数值 </a:t>
            </a:r>
            <a:r>
              <a:rPr lang="en-US" altLang="zh-CN" dirty="0"/>
              <a:t>xc</a:t>
            </a:r>
            <a:r>
              <a:rPr lang="zh-CN" altLang="en-US" dirty="0"/>
              <a:t>。</a:t>
            </a:r>
          </a:p>
          <a:p>
            <a:pPr marL="742950" lvl="1" indent="-285750">
              <a:buFont typeface="+mj-lt"/>
              <a:buAutoNum type="arabicPeriod"/>
            </a:pPr>
            <a:r>
              <a:rPr lang="zh-CN" altLang="en-US" dirty="0"/>
              <a:t>然后，</a:t>
            </a:r>
            <a:r>
              <a:rPr lang="en-US" altLang="zh-CN" dirty="0"/>
              <a:t>PE </a:t>
            </a:r>
            <a:r>
              <a:rPr lang="zh-CN" altLang="en-US" dirty="0"/>
              <a:t>计算 </a:t>
            </a:r>
            <a:r>
              <a:rPr lang="en-US" altLang="zh-CN" dirty="0"/>
              <a:t>arc × xc </a:t>
            </a:r>
            <a:r>
              <a:rPr lang="zh-CN" altLang="en-US" dirty="0"/>
              <a:t>的乘积，并将该乘积连同相应的行索引和标志位发送给后续的处理模块（银行索引解码器）。</a:t>
            </a:r>
          </a:p>
          <a:p>
            <a:pPr>
              <a:buFont typeface="+mj-lt"/>
              <a:buAutoNum type="arabicPeriod"/>
            </a:pPr>
            <a:r>
              <a:rPr lang="en-US" altLang="zh-CN" b="1" dirty="0"/>
              <a:t>x® </a:t>
            </a:r>
            <a:r>
              <a:rPr lang="zh-CN" altLang="en-US" b="1" dirty="0"/>
              <a:t>缓冲区设置为 </a:t>
            </a:r>
            <a:r>
              <a:rPr lang="en-US" altLang="zh-CN" b="1" dirty="0"/>
              <a:t>512 </a:t>
            </a:r>
            <a:r>
              <a:rPr lang="zh-CN" altLang="en-US" b="1" dirty="0"/>
              <a:t>位宽的原因</a:t>
            </a:r>
            <a:endParaRPr lang="zh-CN" altLang="en-US" dirty="0"/>
          </a:p>
          <a:p>
            <a:pPr marL="742950" lvl="1" indent="-285750">
              <a:buFont typeface="+mj-lt"/>
              <a:buAutoNum type="arabicPeriod"/>
            </a:pPr>
            <a:r>
              <a:rPr lang="zh-CN" altLang="en-US" dirty="0"/>
              <a:t>一方面，</a:t>
            </a:r>
            <a:r>
              <a:rPr lang="en-US" altLang="zh-CN" dirty="0"/>
              <a:t>512 </a:t>
            </a:r>
            <a:r>
              <a:rPr lang="zh-CN" altLang="en-US" dirty="0"/>
              <a:t>位宽的缓冲区可以最大限度地发挥 </a:t>
            </a:r>
            <a:r>
              <a:rPr lang="en-US" altLang="zh-CN" dirty="0"/>
              <a:t>HBM </a:t>
            </a:r>
            <a:r>
              <a:rPr lang="zh-CN" altLang="en-US" dirty="0"/>
              <a:t>通道的带宽优势，提高数据加载效率。</a:t>
            </a:r>
          </a:p>
          <a:p>
            <a:pPr marL="742950" lvl="1" indent="-285750">
              <a:buFont typeface="+mj-lt"/>
              <a:buAutoNum type="arabicPeriod"/>
            </a:pPr>
            <a:r>
              <a:rPr lang="zh-CN" altLang="en-US" dirty="0"/>
              <a:t>另一方面，在 </a:t>
            </a:r>
            <a:r>
              <a:rPr lang="en-US" altLang="zh-CN" dirty="0"/>
              <a:t>ping-pong </a:t>
            </a:r>
            <a:r>
              <a:rPr lang="zh-CN" altLang="en-US" dirty="0"/>
              <a:t>缓冲模式下，当两个 </a:t>
            </a:r>
            <a:r>
              <a:rPr lang="en-US" altLang="zh-CN" dirty="0"/>
              <a:t>PE </a:t>
            </a:r>
            <a:r>
              <a:rPr lang="zh-CN" altLang="en-US" dirty="0"/>
              <a:t>共享数据时，一个 </a:t>
            </a:r>
            <a:r>
              <a:rPr lang="en-US" altLang="zh-CN" dirty="0"/>
              <a:t>512 </a:t>
            </a:r>
            <a:r>
              <a:rPr lang="zh-CN" altLang="en-US" dirty="0"/>
              <a:t>位的数据包内可以包含多个浮点数（通常 </a:t>
            </a:r>
            <a:r>
              <a:rPr lang="en-US" altLang="zh-CN" dirty="0"/>
              <a:t>16 </a:t>
            </a:r>
            <a:r>
              <a:rPr lang="zh-CN" altLang="en-US" dirty="0"/>
              <a:t>个 </a:t>
            </a:r>
            <a:r>
              <a:rPr lang="en-US" altLang="zh-CN" dirty="0"/>
              <a:t>32 </a:t>
            </a:r>
            <a:r>
              <a:rPr lang="zh-CN" altLang="en-US" dirty="0"/>
              <a:t>位浮点数），这样可以降低访问冲突的可能性，减少流水线停顿，从而提升整体并行性能。</a:t>
            </a:r>
          </a:p>
          <a:p>
            <a:pPr>
              <a:buFont typeface="+mj-lt"/>
              <a:buAutoNum type="arabicPeriod"/>
            </a:pPr>
            <a:r>
              <a:rPr lang="zh-CN" altLang="en-US" b="1" dirty="0"/>
              <a:t>银行索引解码器的功能</a:t>
            </a:r>
            <a:endParaRPr lang="zh-CN" altLang="en-US" dirty="0"/>
          </a:p>
          <a:p>
            <a:pPr marL="742950" lvl="1" indent="-285750">
              <a:buFont typeface="+mj-lt"/>
              <a:buAutoNum type="arabicPeriod"/>
            </a:pPr>
            <a:r>
              <a:rPr lang="zh-CN" altLang="en-US" dirty="0"/>
              <a:t>银行索引解码器负责决定每个乘积结果应该累加到哪个 </a:t>
            </a:r>
            <a:r>
              <a:rPr lang="en-US" altLang="zh-CN" dirty="0" err="1"/>
              <a:t>y_Ax</a:t>
            </a:r>
            <a:r>
              <a:rPr lang="en-US" altLang="zh-CN" dirty="0"/>
              <a:t> </a:t>
            </a:r>
            <a:r>
              <a:rPr lang="zh-CN" altLang="en-US" dirty="0"/>
              <a:t>处理器（累加单元）中。</a:t>
            </a:r>
          </a:p>
          <a:p>
            <a:pPr marL="742950" lvl="1" indent="-285750">
              <a:buFont typeface="+mj-lt"/>
              <a:buAutoNum type="arabicPeriod"/>
            </a:pPr>
            <a:r>
              <a:rPr lang="zh-CN" altLang="en-US" dirty="0"/>
              <a:t>在预处理阶段，根据矩阵的行间和行内分配策略，会将行号或其他信息进行编码，以便在计算时解码出目标银行索引。</a:t>
            </a:r>
          </a:p>
          <a:p>
            <a:pPr marL="742950" lvl="1" indent="-285750">
              <a:buFont typeface="+mj-lt"/>
              <a:buAutoNum type="arabicPeriod"/>
            </a:pPr>
            <a:r>
              <a:rPr lang="zh-CN" altLang="en-US" b="1" dirty="0"/>
              <a:t>行间分配</a:t>
            </a:r>
            <a:r>
              <a:rPr lang="zh-CN" altLang="en-US" dirty="0"/>
              <a:t>：当各个 </a:t>
            </a:r>
            <a:r>
              <a:rPr lang="en-US" altLang="zh-CN" dirty="0"/>
              <a:t>PE </a:t>
            </a:r>
            <a:r>
              <a:rPr lang="zh-CN" altLang="en-US" dirty="0"/>
              <a:t>独立处理不同的行时，乘积结果直接按照 </a:t>
            </a:r>
            <a:r>
              <a:rPr lang="en-US" altLang="zh-CN" dirty="0"/>
              <a:t>PE </a:t>
            </a:r>
            <a:r>
              <a:rPr lang="zh-CN" altLang="en-US" dirty="0"/>
              <a:t>编号路由到对应的 </a:t>
            </a:r>
            <a:r>
              <a:rPr lang="en-US" altLang="zh-CN" dirty="0" err="1"/>
              <a:t>y_Ax</a:t>
            </a:r>
            <a:r>
              <a:rPr lang="en-US" altLang="zh-CN" dirty="0"/>
              <a:t> </a:t>
            </a:r>
            <a:r>
              <a:rPr lang="zh-CN" altLang="en-US" dirty="0"/>
              <a:t>处理器，不需要额外编码。</a:t>
            </a:r>
          </a:p>
          <a:p>
            <a:pPr marL="742950" lvl="1" indent="-285750">
              <a:buFont typeface="+mj-lt"/>
              <a:buAutoNum type="arabicPeriod"/>
            </a:pPr>
            <a:r>
              <a:rPr lang="zh-CN" altLang="en-US" b="1" dirty="0"/>
              <a:t>行内分配</a:t>
            </a:r>
            <a:r>
              <a:rPr lang="zh-CN" altLang="en-US" dirty="0"/>
              <a:t>：当多个 </a:t>
            </a:r>
            <a:r>
              <a:rPr lang="en-US" altLang="zh-CN" dirty="0"/>
              <a:t>PE </a:t>
            </a:r>
            <a:r>
              <a:rPr lang="zh-CN" altLang="en-US" dirty="0"/>
              <a:t>协同处理同一行时，需要对相邻非零元素的银行索引和行号进行特殊编码。具体来说，对于一对相邻的非零元素，利用前一个元素的行号编码出目标银行索引，而后一个元素则使用另一个行号。这种方式可以将同一行的数据通过多个 </a:t>
            </a:r>
            <a:r>
              <a:rPr lang="en-US" altLang="zh-CN" dirty="0"/>
              <a:t>PE </a:t>
            </a:r>
            <a:r>
              <a:rPr lang="zh-CN" altLang="en-US" dirty="0"/>
              <a:t>分担，从而缓解单个 </a:t>
            </a:r>
            <a:r>
              <a:rPr lang="en-US" altLang="zh-CN" dirty="0"/>
              <a:t>PE </a:t>
            </a:r>
            <a:r>
              <a:rPr lang="zh-CN" altLang="en-US" dirty="0"/>
              <a:t>的负载压力。</a:t>
            </a:r>
            <a:br>
              <a:rPr lang="zh-CN" altLang="en-US" dirty="0"/>
            </a:br>
            <a:r>
              <a:rPr lang="en-US" altLang="zh-CN" dirty="0" err="1"/>
              <a:t>Row_idx</a:t>
            </a:r>
            <a:r>
              <a:rPr lang="en-US" altLang="zh-CN" dirty="0"/>
              <a:t> </a:t>
            </a:r>
            <a:r>
              <a:rPr lang="zh-CN" altLang="en-US" dirty="0"/>
              <a:t>告诉系统数据“来自哪一行”，而 </a:t>
            </a:r>
            <a:r>
              <a:rPr lang="en-US" altLang="zh-CN" dirty="0" err="1"/>
              <a:t>Bank_idx</a:t>
            </a:r>
            <a:r>
              <a:rPr lang="en-US" altLang="zh-CN" dirty="0"/>
              <a:t> </a:t>
            </a:r>
            <a:r>
              <a:rPr lang="zh-CN" altLang="en-US" dirty="0"/>
              <a:t>则决定数据应该“被哪个 </a:t>
            </a:r>
            <a:r>
              <a:rPr lang="en-US" altLang="zh-CN" dirty="0"/>
              <a:t>PE</a:t>
            </a:r>
            <a:r>
              <a:rPr lang="zh-CN" altLang="en-US" dirty="0"/>
              <a:t>（或累加单元）处理”，尤其在同一行数据需要分布到多个 </a:t>
            </a:r>
            <a:r>
              <a:rPr lang="en-US" altLang="zh-CN" dirty="0"/>
              <a:t>PE </a:t>
            </a:r>
            <a:r>
              <a:rPr lang="zh-CN" altLang="en-US" dirty="0"/>
              <a:t>上时，</a:t>
            </a:r>
            <a:r>
              <a:rPr lang="en-US" altLang="zh-CN" dirty="0" err="1"/>
              <a:t>Bank_idx</a:t>
            </a:r>
            <a:r>
              <a:rPr lang="en-US" altLang="zh-CN" dirty="0"/>
              <a:t> </a:t>
            </a:r>
            <a:r>
              <a:rPr lang="zh-CN" altLang="en-US" dirty="0"/>
              <a:t>起到关键作用。</a:t>
            </a:r>
          </a:p>
          <a:p>
            <a:pPr>
              <a:buFont typeface="+mj-lt"/>
              <a:buAutoNum type="arabicPeriod"/>
            </a:pPr>
            <a:r>
              <a:rPr lang="zh-CN" altLang="en-US" b="1" dirty="0"/>
              <a:t>标志位说明</a:t>
            </a:r>
            <a:endParaRPr lang="zh-CN" altLang="en-US" dirty="0"/>
          </a:p>
          <a:p>
            <a:pPr marL="742950" lvl="1" indent="-285750">
              <a:buFont typeface="+mj-lt"/>
              <a:buAutoNum type="arabicPeriod"/>
            </a:pPr>
            <a:r>
              <a:rPr lang="zh-CN" altLang="en-US" dirty="0"/>
              <a:t>除了银行索引，解码器还传递一些标志信息，如“</a:t>
            </a:r>
            <a:r>
              <a:rPr lang="en-US" altLang="zh-CN" dirty="0"/>
              <a:t>Tile End”</a:t>
            </a:r>
            <a:r>
              <a:rPr lang="zh-CN" altLang="en-US" dirty="0"/>
              <a:t>、“</a:t>
            </a:r>
            <a:r>
              <a:rPr lang="en-US" altLang="zh-CN" dirty="0"/>
              <a:t>Row End”</a:t>
            </a:r>
            <a:r>
              <a:rPr lang="zh-CN" altLang="en-US" dirty="0"/>
              <a:t>、“</a:t>
            </a:r>
            <a:r>
              <a:rPr lang="en-US" altLang="zh-CN" dirty="0"/>
              <a:t>Split Row”</a:t>
            </a:r>
            <a:r>
              <a:rPr lang="zh-CN" altLang="en-US" dirty="0"/>
              <a:t>以及“</a:t>
            </a:r>
            <a:r>
              <a:rPr lang="en-US" altLang="zh-CN" dirty="0"/>
              <a:t>Last”</a:t>
            </a:r>
            <a:r>
              <a:rPr lang="zh-CN" altLang="en-US" dirty="0"/>
              <a:t>。这些标志用于控制数据流和任务调度，例如指示当前数据块的结束、当前行结束、是否需要拆分行处理，以及整个任务的终止信号。</a:t>
            </a:r>
          </a:p>
          <a:p>
            <a:pPr marL="742950" lvl="1" indent="-285750">
              <a:buFont typeface="+mj-lt"/>
              <a:buAutoNum type="arabicPeriod"/>
            </a:pPr>
            <a:r>
              <a:rPr lang="zh-CN" altLang="en-US" dirty="0"/>
              <a:t>这些标志在具体实现中起到协调和控制流水线操作的作用，但它们并不是本文主要创新的核心，因此详细细节在此处略过。</a:t>
            </a:r>
          </a:p>
          <a:p>
            <a:endParaRPr lang="en-US" altLang="zh-CN" dirty="0"/>
          </a:p>
          <a:p>
            <a:endParaRPr lang="en-US" altLang="zh-CN" dirty="0"/>
          </a:p>
          <a:p>
            <a:r>
              <a:rPr lang="zh-CN" altLang="en-US" dirty="0"/>
              <a:t>本节主要讨论如何实现流水线化的浮点累加，从而消除因数据依赖（</a:t>
            </a:r>
            <a:r>
              <a:rPr lang="en-US" altLang="zh-CN" dirty="0"/>
              <a:t>RAW </a:t>
            </a:r>
            <a:r>
              <a:rPr lang="zh-CN" altLang="en-US" dirty="0"/>
              <a:t>依赖）而引起的流水线空泡。为此，设计上采用了两项关键技术：</a:t>
            </a:r>
          </a:p>
          <a:p>
            <a:pPr>
              <a:buFont typeface="+mj-lt"/>
              <a:buAutoNum type="arabicPeriod"/>
            </a:pPr>
            <a:r>
              <a:rPr lang="zh-CN" altLang="en-US" b="1" dirty="0"/>
              <a:t>循环缓冲器</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当多个非零乘积结果需要依次累加时，直接在大容量缓冲器（如 </a:t>
            </a:r>
            <a:r>
              <a:rPr lang="en-US" altLang="zh-CN" dirty="0"/>
              <a:t>BRAM </a:t>
            </a:r>
            <a:r>
              <a:rPr lang="zh-CN" altLang="en-US" dirty="0"/>
              <a:t>或 </a:t>
            </a:r>
            <a:r>
              <a:rPr lang="en-US" altLang="zh-CN" dirty="0"/>
              <a:t>URAM</a:t>
            </a:r>
            <a:r>
              <a:rPr lang="zh-CN" altLang="en-US" dirty="0"/>
              <a:t>）上进行累加会有较高的读写延迟，导致流水线中断。为了减少延迟，我们使用了基于寄存器的循环缓冲器。</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设依赖距离为 </a:t>
            </a:r>
            <a:r>
              <a:rPr lang="en-US" altLang="zh-CN" dirty="0"/>
              <a:t>dd</a:t>
            </a:r>
            <a:r>
              <a:rPr lang="zh-CN" altLang="en-US" dirty="0"/>
              <a:t>（在本文中 </a:t>
            </a:r>
            <a:r>
              <a:rPr lang="en-US" altLang="zh-CN" dirty="0"/>
              <a:t>dd = 5</a:t>
            </a:r>
            <a:r>
              <a:rPr lang="zh-CN" altLang="en-US" dirty="0"/>
              <a:t>，即每个浮点加法器操作需要 </a:t>
            </a:r>
            <a:r>
              <a:rPr lang="en-US" altLang="zh-CN" dirty="0"/>
              <a:t>5 </a:t>
            </a:r>
            <a:r>
              <a:rPr lang="zh-CN" altLang="en-US" dirty="0"/>
              <a:t>个周期完成，包括 </a:t>
            </a:r>
            <a:r>
              <a:rPr lang="en-US" altLang="zh-CN" dirty="0"/>
              <a:t>4 </a:t>
            </a:r>
            <a:r>
              <a:rPr lang="zh-CN" altLang="en-US" dirty="0"/>
              <a:t>个加法延迟和 </a:t>
            </a:r>
            <a:r>
              <a:rPr lang="en-US" altLang="zh-CN" dirty="0"/>
              <a:t>1 </a:t>
            </a:r>
            <a:r>
              <a:rPr lang="zh-CN" altLang="en-US" dirty="0"/>
              <a:t>个写延迟）。</a:t>
            </a:r>
          </a:p>
          <a:p>
            <a:pPr marL="1143000" lvl="2" indent="-228600">
              <a:buFont typeface="+mj-lt"/>
              <a:buAutoNum type="arabicPeriod"/>
            </a:pPr>
            <a:r>
              <a:rPr lang="zh-CN" altLang="en-US" dirty="0"/>
              <a:t>循环缓冲器大小设置为 </a:t>
            </a:r>
            <a:r>
              <a:rPr lang="en-US" altLang="zh-CN" dirty="0"/>
              <a:t>dd</a:t>
            </a:r>
            <a:r>
              <a:rPr lang="zh-CN" altLang="en-US" dirty="0"/>
              <a:t>，这样可以存储来自其他行的 </a:t>
            </a:r>
            <a:r>
              <a:rPr lang="en-US" altLang="zh-CN" dirty="0"/>
              <a:t>dd − 1 </a:t>
            </a:r>
            <a:r>
              <a:rPr lang="zh-CN" altLang="en-US" dirty="0"/>
              <a:t>个中间累加结果，以及当前行中启动于 </a:t>
            </a:r>
            <a:r>
              <a:rPr lang="en-US" altLang="zh-CN" dirty="0"/>
              <a:t>dd </a:t>
            </a:r>
            <a:r>
              <a:rPr lang="zh-CN" altLang="en-US" dirty="0"/>
              <a:t>个周期前的累加结果。</a:t>
            </a:r>
          </a:p>
          <a:p>
            <a:pPr marL="1143000" lvl="2" indent="-228600">
              <a:buFont typeface="+mj-lt"/>
              <a:buAutoNum type="arabicPeriod"/>
            </a:pPr>
            <a:r>
              <a:rPr lang="zh-CN" altLang="en-US" dirty="0"/>
              <a:t>当新的乘积到达时，系统只需检查循环缓冲器中一个位置（通过比较行索引）来判断该乘积是否属于同一行。如果是，则直接读取累加结果，与新乘积相加；否则，则认为是新行开始，初始化累加。</a:t>
            </a:r>
          </a:p>
          <a:p>
            <a:pPr marL="1143000" lvl="2" indent="-228600">
              <a:buFont typeface="+mj-lt"/>
              <a:buAutoNum type="arabicPeriod"/>
            </a:pPr>
            <a:r>
              <a:rPr lang="zh-CN" altLang="en-US" dirty="0"/>
              <a:t>这种设计的优点在于：寄存器读写速度非常快，能够大幅减少延迟，从而将依赖距离从 </a:t>
            </a:r>
            <a:r>
              <a:rPr lang="en-US" altLang="zh-CN" dirty="0"/>
              <a:t>10 </a:t>
            </a:r>
            <a:r>
              <a:rPr lang="zh-CN" altLang="en-US" dirty="0"/>
              <a:t>个周期降到 </a:t>
            </a:r>
            <a:r>
              <a:rPr lang="en-US" altLang="zh-CN" dirty="0"/>
              <a:t>5 </a:t>
            </a:r>
            <a:r>
              <a:rPr lang="zh-CN" altLang="en-US" dirty="0"/>
              <a:t>个周期。</a:t>
            </a:r>
          </a:p>
          <a:p>
            <a:pPr>
              <a:buFont typeface="+mj-lt"/>
              <a:buAutoNum type="arabicPeriod"/>
            </a:pPr>
            <a:r>
              <a:rPr lang="zh-CN" altLang="en-US" b="1" dirty="0"/>
              <a:t>加法链</a:t>
            </a:r>
            <a:endParaRPr lang="zh-CN" altLang="en-US" dirty="0"/>
          </a:p>
          <a:p>
            <a:pPr marL="742950" lvl="1" indent="-285750">
              <a:buFont typeface="+mj-lt"/>
              <a:buAutoNum type="arabicPeriod"/>
            </a:pPr>
            <a:r>
              <a:rPr lang="zh-CN" altLang="en-US" b="1" dirty="0"/>
              <a:t>目的</a:t>
            </a:r>
            <a:r>
              <a:rPr lang="zh-CN" altLang="en-US" dirty="0"/>
              <a:t>：</a:t>
            </a:r>
            <a:br>
              <a:rPr lang="zh-CN" altLang="en-US" dirty="0"/>
            </a:br>
            <a:r>
              <a:rPr lang="zh-CN" altLang="en-US" dirty="0"/>
              <a:t>当同一行的多个乘积需要累加时，如果按顺序操作，会因为等待前一次操作完成而产生空泡。加法链的引入，旨在在等待期间提前将多个乘积进行部分加和，以填补流水线的空隙，从而实现连续操作。</a:t>
            </a:r>
          </a:p>
          <a:p>
            <a:pPr marL="742950" lvl="1" indent="-285750">
              <a:buFont typeface="+mj-lt"/>
              <a:buAutoNum type="arabicPeriod"/>
            </a:pPr>
            <a:r>
              <a:rPr lang="zh-CN" altLang="en-US" b="1" dirty="0"/>
              <a:t>工作原理</a:t>
            </a:r>
            <a:r>
              <a:rPr lang="zh-CN" altLang="en-US" dirty="0"/>
              <a:t>：</a:t>
            </a:r>
          </a:p>
          <a:p>
            <a:pPr marL="1143000" lvl="2" indent="-228600">
              <a:buFont typeface="+mj-lt"/>
              <a:buAutoNum type="arabicPeriod"/>
            </a:pPr>
            <a:r>
              <a:rPr lang="zh-CN" altLang="en-US" dirty="0"/>
              <a:t>假设同一行中，按顺序有多个乘积结果需要累加，记为 </a:t>
            </a:r>
            <a:r>
              <a:rPr lang="en-US" altLang="zh-CN" dirty="0"/>
              <a:t>Prodi</a:t>
            </a:r>
            <a:r>
              <a:rPr lang="zh-CN" altLang="en-US" dirty="0"/>
              <a:t>，其中 </a:t>
            </a:r>
            <a:r>
              <a:rPr lang="en-US" altLang="zh-CN" dirty="0" err="1"/>
              <a:t>i</a:t>
            </a:r>
            <a:r>
              <a:rPr lang="en-US" altLang="zh-CN" dirty="0"/>
              <a:t> </a:t>
            </a:r>
            <a:r>
              <a:rPr lang="zh-CN" altLang="en-US" dirty="0"/>
              <a:t>表示当前的迭代次数。</a:t>
            </a:r>
          </a:p>
          <a:p>
            <a:pPr marL="1143000" lvl="2" indent="-228600">
              <a:buFont typeface="+mj-lt"/>
              <a:buAutoNum type="arabicPeriod"/>
            </a:pPr>
            <a:r>
              <a:rPr lang="zh-CN" altLang="en-US" dirty="0"/>
              <a:t>在等待位于 </a:t>
            </a:r>
            <a:r>
              <a:rPr lang="en-US" altLang="zh-CN" dirty="0"/>
              <a:t>dd </a:t>
            </a:r>
            <a:r>
              <a:rPr lang="zh-CN" altLang="en-US" dirty="0"/>
              <a:t>个周期前的累加结果（</a:t>
            </a:r>
            <a:r>
              <a:rPr lang="en-US" altLang="zh-CN" dirty="0" err="1"/>
              <a:t>yi</a:t>
            </a:r>
            <a:r>
              <a:rPr lang="en-US" altLang="zh-CN" dirty="0"/>
              <a:t>−dd</a:t>
            </a:r>
            <a:r>
              <a:rPr lang="zh-CN" altLang="en-US" dirty="0"/>
              <a:t>）完成的期间，利用加法链对过去 </a:t>
            </a:r>
            <a:r>
              <a:rPr lang="en-US" altLang="zh-CN" dirty="0"/>
              <a:t>dd − 1 </a:t>
            </a:r>
            <a:r>
              <a:rPr lang="zh-CN" altLang="en-US" dirty="0"/>
              <a:t>次（包括当前迭代）得到的乘积 </a:t>
            </a:r>
            <a:r>
              <a:rPr lang="en-US" altLang="zh-CN" dirty="0"/>
              <a:t>Prodi </a:t>
            </a:r>
            <a:r>
              <a:rPr lang="zh-CN" altLang="en-US" dirty="0"/>
              <a:t>进行预加和，得到一个预加结果 </a:t>
            </a:r>
            <a:r>
              <a:rPr lang="en-US" altLang="zh-CN" dirty="0"/>
              <a:t>Q</a:t>
            </a:r>
            <a:r>
              <a:rPr lang="zh-CN" altLang="en-US" dirty="0"/>
              <a:t>。</a:t>
            </a:r>
          </a:p>
          <a:p>
            <a:pPr marL="1143000" lvl="2" indent="-228600">
              <a:buFont typeface="+mj-lt"/>
              <a:buAutoNum type="arabicPeriod"/>
            </a:pPr>
            <a:r>
              <a:rPr lang="zh-CN" altLang="en-US" dirty="0"/>
              <a:t>在下一周期，从循环缓冲器中获取先前累加的 </a:t>
            </a:r>
            <a:r>
              <a:rPr lang="en-US" altLang="zh-CN" dirty="0" err="1"/>
              <a:t>yi</a:t>
            </a:r>
            <a:r>
              <a:rPr lang="en-US" altLang="zh-CN" dirty="0"/>
              <a:t>−dd</a:t>
            </a:r>
            <a:r>
              <a:rPr lang="zh-CN" altLang="en-US" dirty="0"/>
              <a:t>，与预加结果 </a:t>
            </a:r>
            <a:r>
              <a:rPr lang="en-US" altLang="zh-CN" dirty="0"/>
              <a:t>Q </a:t>
            </a:r>
            <a:r>
              <a:rPr lang="zh-CN" altLang="en-US" dirty="0"/>
              <a:t>相加，得到当前的累加结果 </a:t>
            </a:r>
            <a:r>
              <a:rPr lang="en-US" altLang="zh-CN" dirty="0" err="1"/>
              <a:t>yi</a:t>
            </a:r>
            <a:r>
              <a:rPr lang="zh-CN" altLang="en-US" dirty="0"/>
              <a:t>。</a:t>
            </a:r>
          </a:p>
          <a:p>
            <a:pPr marL="1143000" lvl="2" indent="-228600">
              <a:buFont typeface="+mj-lt"/>
              <a:buAutoNum type="arabicPeriod"/>
            </a:pPr>
            <a:r>
              <a:rPr lang="zh-CN" altLang="en-US" dirty="0"/>
              <a:t>为实现这一过程，硬件中设计了加法链模块，利用移位寄存器暂存过去 </a:t>
            </a:r>
            <a:r>
              <a:rPr lang="en-US" altLang="zh-CN" dirty="0"/>
              <a:t>dd − 1 </a:t>
            </a:r>
            <a:r>
              <a:rPr lang="zh-CN" altLang="en-US" dirty="0"/>
              <a:t>个乘积，并用加法器对这些乘积进行求和。</a:t>
            </a:r>
          </a:p>
          <a:p>
            <a:pPr marL="742950" lvl="1" indent="-285750">
              <a:buFont typeface="+mj-lt"/>
              <a:buAutoNum type="arabicPeriod"/>
            </a:pPr>
            <a:r>
              <a:rPr lang="zh-CN" altLang="en-US" b="1" dirty="0"/>
              <a:t>硬件实现</a:t>
            </a:r>
            <a:r>
              <a:rPr lang="zh-CN" altLang="en-US" dirty="0"/>
              <a:t>：</a:t>
            </a:r>
          </a:p>
          <a:p>
            <a:pPr marL="1143000" lvl="2" indent="-228600">
              <a:buFont typeface="+mj-lt"/>
              <a:buAutoNum type="arabicPeriod"/>
            </a:pPr>
            <a:r>
              <a:rPr lang="zh-CN" altLang="en-US" dirty="0"/>
              <a:t>使用 </a:t>
            </a:r>
            <a:r>
              <a:rPr lang="en-US" altLang="zh-CN" dirty="0"/>
              <a:t>dd − 1 </a:t>
            </a:r>
            <a:r>
              <a:rPr lang="zh-CN" altLang="en-US" dirty="0"/>
              <a:t>个（本文中为 </a:t>
            </a:r>
            <a:r>
              <a:rPr lang="en-US" altLang="zh-CN" dirty="0"/>
              <a:t>4 </a:t>
            </a:r>
            <a:r>
              <a:rPr lang="zh-CN" altLang="en-US" dirty="0"/>
              <a:t>个）移位寄存器存储先前的乘积数据。</a:t>
            </a:r>
          </a:p>
          <a:p>
            <a:pPr marL="1143000" lvl="2" indent="-228600">
              <a:buFont typeface="+mj-lt"/>
              <a:buAutoNum type="arabicPeriod"/>
            </a:pPr>
            <a:r>
              <a:rPr lang="zh-CN" altLang="en-US" dirty="0"/>
              <a:t>使用同样数量的加法器构成加法链，将这些寄存器中的数据加起来，形成预加结果 </a:t>
            </a:r>
            <a:r>
              <a:rPr lang="en-US" altLang="zh-CN" dirty="0"/>
              <a:t>Q</a:t>
            </a:r>
            <a:r>
              <a:rPr lang="zh-CN" altLang="en-US" dirty="0"/>
              <a:t>。</a:t>
            </a:r>
          </a:p>
          <a:p>
            <a:pPr marL="1143000" lvl="2" indent="-228600">
              <a:buFont typeface="+mj-lt"/>
              <a:buAutoNum type="arabicPeriod"/>
            </a:pPr>
            <a:r>
              <a:rPr lang="zh-CN" altLang="en-US" dirty="0"/>
              <a:t>同时，为确保只有同一行的数据被累加，加法链中还保存了每个乘积的行索引，只有匹配当前行的乘积才会被加到一起。</a:t>
            </a:r>
          </a:p>
          <a:p>
            <a:r>
              <a:rPr lang="zh-CN" altLang="en-US" b="1" dirty="0"/>
              <a:t>为什么这样设计能实现全流水线化？</a:t>
            </a:r>
            <a:endParaRPr lang="zh-CN" altLang="en-US" dirty="0"/>
          </a:p>
          <a:p>
            <a:pPr>
              <a:buFont typeface="Arial" panose="020B0604020202020204" pitchFamily="34" charset="0"/>
              <a:buChar char="•"/>
            </a:pPr>
            <a:r>
              <a:rPr lang="zh-CN" altLang="en-US" dirty="0"/>
              <a:t>通过循环缓冲器和加法链的结合，整个浮点累加过程不再因等待前一个操作完成而产生空泡。</a:t>
            </a:r>
          </a:p>
          <a:p>
            <a:pPr>
              <a:buFont typeface="Arial" panose="020B0604020202020204" pitchFamily="34" charset="0"/>
              <a:buChar char="•"/>
            </a:pPr>
            <a:r>
              <a:rPr lang="zh-CN" altLang="en-US" dirty="0"/>
              <a:t>循环缓冲器快速存取最近的中间结果，加法链则在等待期间预先计算部分加和，从而确保在下一周期时，累加结果可以立即得到更新。</a:t>
            </a:r>
          </a:p>
          <a:p>
            <a:pPr>
              <a:buFont typeface="Arial" panose="020B0604020202020204" pitchFamily="34" charset="0"/>
              <a:buChar char="•"/>
            </a:pPr>
            <a:r>
              <a:rPr lang="zh-CN" altLang="en-US" dirty="0"/>
              <a:t>这样整个累加过程可以以每个周期启动一个新的操作（即 </a:t>
            </a:r>
            <a:r>
              <a:rPr lang="en-US" altLang="zh-CN" dirty="0"/>
              <a:t>II=1</a:t>
            </a:r>
            <a:r>
              <a:rPr lang="zh-CN" altLang="en-US" dirty="0"/>
              <a:t>），实现了全流水线化，从而大大提高了计算吞吐率。</a:t>
            </a:r>
          </a:p>
        </p:txBody>
      </p:sp>
      <p:sp>
        <p:nvSpPr>
          <p:cNvPr id="4" name="灯片编号占位符 3">
            <a:extLst>
              <a:ext uri="{FF2B5EF4-FFF2-40B4-BE49-F238E27FC236}">
                <a16:creationId xmlns:a16="http://schemas.microsoft.com/office/drawing/2014/main" id="{E66CF99B-EA93-8D2E-9F70-EBBA7A4E0C3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528893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4E0B-CAC4-7988-500D-6CD5516DD9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37A8D6-7127-520D-C94C-DEA6EC81D1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C5EE17-6ED5-7C79-A490-5BAB842D88C2}"/>
              </a:ext>
            </a:extLst>
          </p:cNvPr>
          <p:cNvSpPr>
            <a:spLocks noGrp="1"/>
          </p:cNvSpPr>
          <p:nvPr>
            <p:ph type="body" idx="1"/>
          </p:nvPr>
        </p:nvSpPr>
        <p:spPr/>
        <p:txBody>
          <a:bodyPr/>
          <a:lstStyle/>
          <a:p>
            <a:pPr>
              <a:buFont typeface="+mj-lt"/>
              <a:buAutoNum type="arabicPeriod"/>
            </a:pPr>
            <a:r>
              <a:rPr lang="zh-CN" altLang="en-US" b="1" dirty="0"/>
              <a:t>给定</a:t>
            </a:r>
            <a:r>
              <a:rPr lang="en-US" altLang="zh-CN" b="1" dirty="0"/>
              <a:t>FPGA</a:t>
            </a:r>
            <a:r>
              <a:rPr lang="zh-CN" altLang="en-US" b="1" dirty="0"/>
              <a:t>平台信息，包括可用资源，</a:t>
            </a:r>
            <a:r>
              <a:rPr lang="en-US" altLang="zh-CN" b="1" dirty="0"/>
              <a:t>HBM</a:t>
            </a:r>
            <a:r>
              <a:rPr lang="zh-CN" altLang="en-US" b="1" dirty="0"/>
              <a:t>通道的数量以及用户配置，我们的代码生成器可以为任何数量的稀疏矩阵（</a:t>
            </a:r>
            <a:r>
              <a:rPr lang="en-US" altLang="zh-CN" b="1" dirty="0"/>
              <a:t>a</a:t>
            </a:r>
            <a:r>
              <a:rPr lang="zh-CN" altLang="en-US" b="1" dirty="0"/>
              <a:t>）和输出向量（ </a:t>
            </a:r>
            <a:r>
              <a:rPr lang="en-US" altLang="zh-CN" b="1" dirty="0"/>
              <a:t>- →Y__IN</a:t>
            </a:r>
            <a:r>
              <a:rPr lang="zh-CN" altLang="en-US" b="1" dirty="0"/>
              <a:t>和−</a:t>
            </a:r>
            <a:r>
              <a:rPr lang="en-US" altLang="zh-CN" b="1" dirty="0"/>
              <a:t>---  -   - →Y_____</a:t>
            </a:r>
            <a:r>
              <a:rPr lang="zh-CN" altLang="en-US" b="1" dirty="0"/>
              <a:t>）生成</a:t>
            </a:r>
            <a:r>
              <a:rPr lang="en-US" altLang="zh-CN" b="1" dirty="0"/>
              <a:t>HISPMV</a:t>
            </a:r>
            <a:r>
              <a:rPr lang="zh-CN" altLang="en-US" b="1" dirty="0"/>
              <a:t>设计（分别表示为</a:t>
            </a:r>
            <a:r>
              <a:rPr lang="en-US" altLang="zh-CN" b="1" dirty="0"/>
              <a:t>M</a:t>
            </a:r>
            <a:r>
              <a:rPr lang="zh-CN" altLang="en-US" b="1" dirty="0"/>
              <a:t>和</a:t>
            </a:r>
            <a:r>
              <a:rPr lang="en-US" altLang="zh-CN" b="1" dirty="0"/>
              <a:t>N</a:t>
            </a:r>
            <a:r>
              <a:rPr lang="zh-CN" altLang="en-US" b="1" dirty="0"/>
              <a:t>）。此外，用户可以灵活地选择具有或没有我们每个提出的优化的设计设计，以执行设计空间探索并获得体系结构洞察力。这些参数将由我们的代码生成器根据可用资源决定（如果不是用户指定）决定。利用面食</a:t>
            </a:r>
            <a:r>
              <a:rPr lang="en-US" altLang="zh-CN" b="1" dirty="0"/>
              <a:t>[22]</a:t>
            </a:r>
            <a:r>
              <a:rPr lang="zh-CN" altLang="en-US" b="1" dirty="0"/>
              <a:t>任务平行的</a:t>
            </a:r>
            <a:r>
              <a:rPr lang="en-US" altLang="zh-CN" b="1" dirty="0"/>
              <a:t>HLS</a:t>
            </a:r>
            <a:r>
              <a:rPr lang="zh-CN" altLang="en-US" b="1" dirty="0"/>
              <a:t>编程模型，包括用于定义任务和缓冲区和</a:t>
            </a:r>
            <a:r>
              <a:rPr lang="en-US" altLang="zh-CN" b="1" dirty="0"/>
              <a:t>FIFO</a:t>
            </a:r>
            <a:r>
              <a:rPr lang="zh-CN" altLang="en-US" b="1" dirty="0"/>
              <a:t>频道的</a:t>
            </a:r>
            <a:r>
              <a:rPr lang="en-US" altLang="zh-CN" b="1" dirty="0"/>
              <a:t>API</a:t>
            </a:r>
            <a:r>
              <a:rPr lang="zh-CN" altLang="en-US" b="1" dirty="0"/>
              <a:t>，我们将每种类型的</a:t>
            </a:r>
            <a:r>
              <a:rPr lang="en-US" altLang="zh-CN" b="1" dirty="0"/>
              <a:t>HISPMV</a:t>
            </a:r>
            <a:r>
              <a:rPr lang="zh-CN" altLang="en-US" b="1" dirty="0"/>
              <a:t>组件构建为模板。在缩放或向下扩展时，仅这些组件的数量及其连接会发生变化。使用每个组件的配置资源利用率指标，我们的代码生成器可以对完整设计进行高度可靠的估计。用户还可以根据估计自定义配置。最后，优化的</a:t>
            </a:r>
            <a:r>
              <a:rPr lang="en-US" altLang="zh-CN" b="1" dirty="0"/>
              <a:t>HISPMV</a:t>
            </a:r>
            <a:r>
              <a:rPr lang="zh-CN" altLang="en-US" b="1" dirty="0"/>
              <a:t>加速器是由面食框架构建的，面食框架在调用</a:t>
            </a:r>
            <a:r>
              <a:rPr lang="en-US" altLang="zh-CN" b="1" dirty="0"/>
              <a:t>Vitis</a:t>
            </a:r>
            <a:r>
              <a:rPr lang="zh-CN" altLang="en-US" b="1" dirty="0"/>
              <a:t>生成</a:t>
            </a:r>
            <a:r>
              <a:rPr lang="en-US" altLang="zh-CN" b="1" dirty="0" err="1"/>
              <a:t>bitststream</a:t>
            </a:r>
            <a:r>
              <a:rPr lang="zh-CN" altLang="en-US" b="1" dirty="0"/>
              <a:t>之前进行了粗粒地板和管道优化的优化。在面食编程框架之上构建，可以更轻松地</a:t>
            </a:r>
            <a:r>
              <a:rPr lang="en-US" altLang="zh-CN" b="1" dirty="0"/>
              <a:t>1</a:t>
            </a:r>
            <a:r>
              <a:rPr lang="zh-CN" altLang="en-US" b="1" dirty="0"/>
              <a:t>）使用其缓冲频道功能实现混合缓冲，</a:t>
            </a:r>
            <a:r>
              <a:rPr lang="en-US" altLang="zh-CN" b="1" dirty="0"/>
              <a:t>2</a:t>
            </a:r>
            <a:r>
              <a:rPr lang="zh-CN" altLang="en-US" b="1" dirty="0"/>
              <a:t>）根据任务并行编程模型缩放设计，以及</a:t>
            </a:r>
            <a:r>
              <a:rPr lang="en-US" altLang="zh-CN" b="1" dirty="0"/>
              <a:t>3</a:t>
            </a:r>
            <a:r>
              <a:rPr lang="zh-CN" altLang="en-US" b="1" dirty="0"/>
              <a:t>）改善现代多型</a:t>
            </a:r>
            <a:r>
              <a:rPr lang="en-US" altLang="zh-CN" b="1" dirty="0" err="1"/>
              <a:t>fpgas</a:t>
            </a:r>
            <a:r>
              <a:rPr lang="zh-CN" altLang="en-US" b="1" dirty="0"/>
              <a:t>上的时机关闭。</a:t>
            </a:r>
            <a:endParaRPr lang="zh-CN" altLang="en-US" dirty="0"/>
          </a:p>
        </p:txBody>
      </p:sp>
      <p:sp>
        <p:nvSpPr>
          <p:cNvPr id="4" name="灯片编号占位符 3">
            <a:extLst>
              <a:ext uri="{FF2B5EF4-FFF2-40B4-BE49-F238E27FC236}">
                <a16:creationId xmlns:a16="http://schemas.microsoft.com/office/drawing/2014/main" id="{2F7AD435-005C-3CDE-38D0-826694C6E7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604406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729F5-50B2-4507-29D1-0CB63D3D8D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B05171-7EEF-7BF1-4405-1E483563F3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8143C7-9459-3AB8-6186-85DAB2B30C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EF3ABD23-1270-D633-6C82-09508C9FEB4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79112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95989-3ECD-DE85-5153-3CB4BA7129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2EC625-42D2-4F54-F9EF-F62D2B2D97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F92D14-2529-49C3-19E9-74F4C6A287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D9760F5-B19C-CF20-4D4D-E7AC345FA40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43524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9F09-5AC6-3894-4821-4AE9166771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B85152-762A-AD8F-C25D-868F4F1487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BCE052-A7A0-C2EE-6938-26FB6BDA646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17478DE-C209-E9E8-E84A-555BB86D621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484142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0658-06E6-1379-12AB-54397C64F6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7B2C8F-07ED-4FB4-A9A8-143349C429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491038-D5E1-AB03-EE7C-75478C246AF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5F51944-DD3B-8334-4BB3-A6E490AF322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60666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443098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366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774453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ACFA243-0633-4A1E-85D7-97CB3123F94D}"/>
              </a:ext>
            </a:extLst>
          </p:cNvPr>
          <p:cNvSpPr/>
          <p:nvPr userDrawn="1"/>
        </p:nvSpPr>
        <p:spPr>
          <a:xfrm flipV="1">
            <a:off x="0" y="850900"/>
            <a:ext cx="9150350" cy="133350"/>
          </a:xfrm>
          <a:prstGeom prst="rect">
            <a:avLst/>
          </a:prstGeom>
          <a:gradFill>
            <a:gsLst>
              <a:gs pos="0">
                <a:schemeClr val="tx1">
                  <a:lumMod val="50000"/>
                  <a:lumOff val="50000"/>
                  <a:alpha val="0"/>
                </a:schemeClr>
              </a:gs>
              <a:gs pos="100000">
                <a:schemeClr val="tx1">
                  <a:lumMod val="50000"/>
                  <a:lumOff val="50000"/>
                  <a:alpha val="5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7">
            <a:extLst>
              <a:ext uri="{FF2B5EF4-FFF2-40B4-BE49-F238E27FC236}">
                <a16:creationId xmlns:a16="http://schemas.microsoft.com/office/drawing/2014/main" id="{F7A603F9-61D9-45A9-BAA2-2BAC82BDB265}"/>
              </a:ext>
            </a:extLst>
          </p:cNvPr>
          <p:cNvSpPr/>
          <p:nvPr userDrawn="1"/>
        </p:nvSpPr>
        <p:spPr>
          <a:xfrm flipV="1">
            <a:off x="0" y="0"/>
            <a:ext cx="9150350" cy="857250"/>
          </a:xfrm>
          <a:prstGeom prst="rect">
            <a:avLst/>
          </a:pr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9" name="直接连接符 8">
            <a:extLst>
              <a:ext uri="{FF2B5EF4-FFF2-40B4-BE49-F238E27FC236}">
                <a16:creationId xmlns:a16="http://schemas.microsoft.com/office/drawing/2014/main" id="{FD86ADF9-F3CD-44B0-B28F-92E59F3B9D86}"/>
              </a:ext>
            </a:extLst>
          </p:cNvPr>
          <p:cNvCxnSpPr>
            <a:cxnSpLocks/>
          </p:cNvCxnSpPr>
          <p:nvPr userDrawn="1"/>
        </p:nvCxnSpPr>
        <p:spPr>
          <a:xfrm>
            <a:off x="0" y="857250"/>
            <a:ext cx="915035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0DA3D75-FABF-4E49-B388-F2B0D7AC0C15}"/>
              </a:ext>
            </a:extLst>
          </p:cNvPr>
          <p:cNvCxnSpPr>
            <a:cxnSpLocks/>
          </p:cNvCxnSpPr>
          <p:nvPr userDrawn="1"/>
        </p:nvCxnSpPr>
        <p:spPr>
          <a:xfrm>
            <a:off x="514350" y="857250"/>
            <a:ext cx="8636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37F7AE1-9FCD-4962-B186-87506537988B}"/>
              </a:ext>
            </a:extLst>
          </p:cNvPr>
          <p:cNvCxnSpPr>
            <a:cxnSpLocks/>
          </p:cNvCxnSpPr>
          <p:nvPr userDrawn="1"/>
        </p:nvCxnSpPr>
        <p:spPr>
          <a:xfrm>
            <a:off x="0" y="857250"/>
            <a:ext cx="457200"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3B82F22-7D2D-47CF-A4CD-0CBA15C5BFE2}"/>
              </a:ext>
            </a:extLst>
          </p:cNvPr>
          <p:cNvSpPr txBox="1"/>
          <p:nvPr userDrawn="1"/>
        </p:nvSpPr>
        <p:spPr>
          <a:xfrm>
            <a:off x="8641080" y="6515854"/>
            <a:ext cx="463550" cy="276999"/>
          </a:xfrm>
          <a:prstGeom prst="rect">
            <a:avLst/>
          </a:prstGeom>
          <a:noFill/>
        </p:spPr>
        <p:txBody>
          <a:bodyPr wrap="square">
            <a:spAutoFit/>
          </a:bodyPr>
          <a:lstStyle/>
          <a:p>
            <a:pPr algn="r"/>
            <a:fld id="{D6D57904-7FC0-41E2-8B65-E7FBA2E33408}" type="slidenum">
              <a:rPr lang="zh-CN" altLang="en-US" sz="1200" smtClean="0">
                <a:solidFill>
                  <a:schemeClr val="accent2"/>
                </a:solidFill>
              </a:rPr>
              <a:pPr algn="r"/>
              <a:t>‹#›</a:t>
            </a:fld>
            <a:endParaRPr lang="zh-CN" altLang="en-US" sz="1200" dirty="0">
              <a:solidFill>
                <a:schemeClr val="accent2"/>
              </a:solidFill>
            </a:endParaRPr>
          </a:p>
        </p:txBody>
      </p:sp>
    </p:spTree>
    <p:extLst>
      <p:ext uri="{BB962C8B-B14F-4D97-AF65-F5344CB8AC3E}">
        <p14:creationId xmlns:p14="http://schemas.microsoft.com/office/powerpoint/2010/main" val="267110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34" name="文本框 33">
            <a:extLst>
              <a:ext uri="{FF2B5EF4-FFF2-40B4-BE49-F238E27FC236}">
                <a16:creationId xmlns:a16="http://schemas.microsoft.com/office/drawing/2014/main" id="{6E329051-3FAC-421B-BBE1-5DA684C56124}"/>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4637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9796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4" name="图片 3" descr="模糊的照片&#10;&#10;描述已自动生成">
            <a:extLst>
              <a:ext uri="{FF2B5EF4-FFF2-40B4-BE49-F238E27FC236}">
                <a16:creationId xmlns:a16="http://schemas.microsoft.com/office/drawing/2014/main" id="{A5C398AC-7251-4DA5-9D25-17ECF7F18E86}"/>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1" name="矩形 10">
            <a:extLst>
              <a:ext uri="{FF2B5EF4-FFF2-40B4-BE49-F238E27FC236}">
                <a16:creationId xmlns:a16="http://schemas.microsoft.com/office/drawing/2014/main" id="{13A84F40-B29D-4F22-90DE-8D5E45F08205}"/>
              </a:ext>
            </a:extLst>
          </p:cNvPr>
          <p:cNvSpPr/>
          <p:nvPr userDrawn="1"/>
        </p:nvSpPr>
        <p:spPr>
          <a:xfrm>
            <a:off x="254001" y="246068"/>
            <a:ext cx="8890000"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FD988BA6-9744-4147-AEEC-067DF23F777F}"/>
              </a:ext>
            </a:extLst>
          </p:cNvPr>
          <p:cNvSpPr/>
          <p:nvPr userDrawn="1"/>
        </p:nvSpPr>
        <p:spPr>
          <a:xfrm>
            <a:off x="5080" y="254001"/>
            <a:ext cx="541362" cy="482600"/>
          </a:xfrm>
          <a:custGeom>
            <a:avLst/>
            <a:gdLst>
              <a:gd name="connsiteX0" fmla="*/ 0 w 541362"/>
              <a:gd name="connsiteY0" fmla="*/ 0 h 482600"/>
              <a:gd name="connsiteX1" fmla="*/ 241170 w 541362"/>
              <a:gd name="connsiteY1" fmla="*/ 0 h 482600"/>
              <a:gd name="connsiteX2" fmla="*/ 541362 w 541362"/>
              <a:gd name="connsiteY2" fmla="*/ 0 h 482600"/>
              <a:gd name="connsiteX3" fmla="*/ 305299 w 541362"/>
              <a:gd name="connsiteY3" fmla="*/ 482600 h 482600"/>
              <a:gd name="connsiteX4" fmla="*/ 5107 w 541362"/>
              <a:gd name="connsiteY4" fmla="*/ 482600 h 482600"/>
              <a:gd name="connsiteX5" fmla="*/ 0 w 541362"/>
              <a:gd name="connsiteY5" fmla="*/ 482600 h 48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362" h="482600">
                <a:moveTo>
                  <a:pt x="0" y="0"/>
                </a:moveTo>
                <a:lnTo>
                  <a:pt x="241170" y="0"/>
                </a:lnTo>
                <a:lnTo>
                  <a:pt x="541362" y="0"/>
                </a:lnTo>
                <a:lnTo>
                  <a:pt x="305299" y="482600"/>
                </a:lnTo>
                <a:lnTo>
                  <a:pt x="5107" y="482600"/>
                </a:lnTo>
                <a:lnTo>
                  <a:pt x="0" y="482600"/>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5" name="任意多边形: 形状 14">
            <a:extLst>
              <a:ext uri="{FF2B5EF4-FFF2-40B4-BE49-F238E27FC236}">
                <a16:creationId xmlns:a16="http://schemas.microsoft.com/office/drawing/2014/main" id="{E1DF5B17-5660-4E62-9533-3C609E788D8D}"/>
              </a:ext>
            </a:extLst>
          </p:cNvPr>
          <p:cNvSpPr/>
          <p:nvPr userDrawn="1"/>
        </p:nvSpPr>
        <p:spPr>
          <a:xfrm>
            <a:off x="168310" y="254000"/>
            <a:ext cx="344013" cy="482600"/>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2" name="直接连接符 11">
            <a:extLst>
              <a:ext uri="{FF2B5EF4-FFF2-40B4-BE49-F238E27FC236}">
                <a16:creationId xmlns:a16="http://schemas.microsoft.com/office/drawing/2014/main" id="{F1674EC2-129A-444C-9579-649924F65046}"/>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2EB59381-7429-4F9A-A89E-273F3CFF5EDB}"/>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8CAC7C9E-DF88-475C-A9E6-4198CF361754}"/>
              </a:ext>
            </a:extLst>
          </p:cNvPr>
          <p:cNvSpPr>
            <a:spLocks noGrp="1"/>
          </p:cNvSpPr>
          <p:nvPr>
            <p:ph type="title"/>
          </p:nvPr>
        </p:nvSpPr>
        <p:spPr>
          <a:xfrm>
            <a:off x="628650" y="254000"/>
            <a:ext cx="851027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10" name="文本框 9">
            <a:extLst>
              <a:ext uri="{FF2B5EF4-FFF2-40B4-BE49-F238E27FC236}">
                <a16:creationId xmlns:a16="http://schemas.microsoft.com/office/drawing/2014/main" id="{79E19C64-431E-47EB-956E-46F43B1182BD}"/>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Tree>
    <p:extLst>
      <p:ext uri="{BB962C8B-B14F-4D97-AF65-F5344CB8AC3E}">
        <p14:creationId xmlns:p14="http://schemas.microsoft.com/office/powerpoint/2010/main" val="54877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80412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470703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图片包含 游戏机, 电子, 电路&#10;&#10;描述已自动生成">
            <a:extLst>
              <a:ext uri="{FF2B5EF4-FFF2-40B4-BE49-F238E27FC236}">
                <a16:creationId xmlns:a16="http://schemas.microsoft.com/office/drawing/2014/main" id="{D913223E-13B8-4D47-90B9-B99A0860C059}"/>
              </a:ext>
            </a:extLst>
          </p:cNvPr>
          <p:cNvPicPr>
            <a:picLocks noChangeAspect="1"/>
          </p:cNvPicPr>
          <p:nvPr userDrawn="1"/>
        </p:nvPicPr>
        <p:blipFill rotWithShape="1">
          <a:blip r:embed="rId2">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06861"/>
            <a:ext cx="9144000" cy="4053764"/>
          </a:xfrm>
          <a:prstGeom prst="rect">
            <a:avLst/>
          </a:prstGeom>
        </p:spPr>
      </p:pic>
      <p:sp>
        <p:nvSpPr>
          <p:cNvPr id="6" name="矩形 5">
            <a:extLst>
              <a:ext uri="{FF2B5EF4-FFF2-40B4-BE49-F238E27FC236}">
                <a16:creationId xmlns:a16="http://schemas.microsoft.com/office/drawing/2014/main" id="{22823304-15E4-45FE-A62E-1EC27EC1473E}"/>
              </a:ext>
            </a:extLst>
          </p:cNvPr>
          <p:cNvSpPr/>
          <p:nvPr userDrawn="1"/>
        </p:nvSpPr>
        <p:spPr>
          <a:xfrm>
            <a:off x="0" y="2806860"/>
            <a:ext cx="9144000" cy="2889089"/>
          </a:xfrm>
          <a:prstGeom prst="rect">
            <a:avLst/>
          </a:prstGeom>
          <a:gradFill>
            <a:gsLst>
              <a:gs pos="3100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08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60851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540679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98560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2025/6/4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237236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87137-136D-4AF1-A586-BCEC52457A6B}" type="datetimeFigureOut">
              <a:rPr lang="zh-CN" altLang="en-US" smtClean="0"/>
              <a:t>2025/6/4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448628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73" r:id="rId4"/>
    <p:sldLayoutId id="2147483672"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20.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4" name="图片 3" descr="图片包含 游戏机, 电子, 电路&#10;&#10;描述已自动生成">
            <a:extLst>
              <a:ext uri="{FF2B5EF4-FFF2-40B4-BE49-F238E27FC236}">
                <a16:creationId xmlns:a16="http://schemas.microsoft.com/office/drawing/2014/main" id="{7267D691-9E5F-4B76-AC48-75808F7659EC}"/>
              </a:ext>
            </a:extLst>
          </p:cNvPr>
          <p:cNvPicPr>
            <a:picLocks noChangeAspect="1"/>
          </p:cNvPicPr>
          <p:nvPr/>
        </p:nvPicPr>
        <p:blipFill rotWithShape="1">
          <a:blip r:embed="rId3">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23486"/>
            <a:ext cx="9144000" cy="4053764"/>
          </a:xfrm>
          <a:prstGeom prst="rect">
            <a:avLst/>
          </a:prstGeom>
        </p:spPr>
      </p:pic>
      <p:grpSp>
        <p:nvGrpSpPr>
          <p:cNvPr id="43" name="组合 42">
            <a:extLst>
              <a:ext uri="{FF2B5EF4-FFF2-40B4-BE49-F238E27FC236}">
                <a16:creationId xmlns:a16="http://schemas.microsoft.com/office/drawing/2014/main" id="{5059C803-46ED-4E2F-A5E4-357C7C1F5003}"/>
              </a:ext>
            </a:extLst>
          </p:cNvPr>
          <p:cNvGrpSpPr/>
          <p:nvPr/>
        </p:nvGrpSpPr>
        <p:grpSpPr>
          <a:xfrm>
            <a:off x="0" y="1686560"/>
            <a:ext cx="9144000" cy="3110396"/>
            <a:chOff x="0" y="1854055"/>
            <a:chExt cx="9144000" cy="3149891"/>
          </a:xfrm>
        </p:grpSpPr>
        <p:sp>
          <p:nvSpPr>
            <p:cNvPr id="36" name="任意多边形: 形状 35">
              <a:extLst>
                <a:ext uri="{FF2B5EF4-FFF2-40B4-BE49-F238E27FC236}">
                  <a16:creationId xmlns:a16="http://schemas.microsoft.com/office/drawing/2014/main" id="{1CC174CC-5E51-4D15-B389-913DF819886D}"/>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7" name="任意多边形: 形状 26">
              <a:extLst>
                <a:ext uri="{FF2B5EF4-FFF2-40B4-BE49-F238E27FC236}">
                  <a16:creationId xmlns:a16="http://schemas.microsoft.com/office/drawing/2014/main" id="{323E7CEE-01D1-4B48-8885-E33536F4DFEF}"/>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17" name="文本框 16">
            <a:extLst>
              <a:ext uri="{FF2B5EF4-FFF2-40B4-BE49-F238E27FC236}">
                <a16:creationId xmlns:a16="http://schemas.microsoft.com/office/drawing/2014/main" id="{557A072C-5D8D-47C3-87A2-1311AAAFF450}"/>
              </a:ext>
            </a:extLst>
          </p:cNvPr>
          <p:cNvSpPr txBox="1"/>
          <p:nvPr/>
        </p:nvSpPr>
        <p:spPr>
          <a:xfrm>
            <a:off x="460894" y="2456927"/>
            <a:ext cx="8458661" cy="1569660"/>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altLang="zh-CN" sz="3200" b="1" dirty="0" err="1">
                <a:solidFill>
                  <a:srgbClr val="FFFFFF"/>
                </a:solidFill>
                <a:latin typeface="Arial"/>
                <a:ea typeface="微软雅黑"/>
              </a:rPr>
              <a:t>HiSpMV</a:t>
            </a:r>
            <a:r>
              <a:rPr lang="en-US" altLang="zh-CN" sz="3200" b="1" dirty="0">
                <a:solidFill>
                  <a:srgbClr val="FFFFFF"/>
                </a:solidFill>
                <a:latin typeface="Arial"/>
                <a:ea typeface="微软雅黑"/>
              </a:rPr>
              <a:t>: Hybrid Row Distribution and Vector Buffering for Imbalanced </a:t>
            </a:r>
            <a:r>
              <a:rPr lang="en-US" altLang="zh-CN" sz="3200" b="1" dirty="0" err="1">
                <a:solidFill>
                  <a:srgbClr val="FFFFFF"/>
                </a:solidFill>
                <a:latin typeface="Arial"/>
                <a:ea typeface="微软雅黑"/>
              </a:rPr>
              <a:t>SpMV</a:t>
            </a:r>
            <a:r>
              <a:rPr lang="en-US" altLang="zh-CN" sz="3200" b="1" dirty="0">
                <a:solidFill>
                  <a:srgbClr val="FFFFFF"/>
                </a:solidFill>
                <a:latin typeface="Arial"/>
                <a:ea typeface="微软雅黑"/>
              </a:rPr>
              <a:t> Acceleration on FPGAs</a:t>
            </a:r>
            <a:endParaRPr lang="zh-CN" altLang="en-US" sz="3200" b="1" dirty="0">
              <a:solidFill>
                <a:srgbClr val="FFFFFF"/>
              </a:solidFill>
              <a:latin typeface="Arial"/>
              <a:ea typeface="微软雅黑"/>
            </a:endParaRPr>
          </a:p>
        </p:txBody>
      </p:sp>
      <p:pic>
        <p:nvPicPr>
          <p:cNvPr id="19" name="图片 18">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264796" y="6065330"/>
            <a:ext cx="2138081" cy="573714"/>
          </a:xfrm>
          <a:prstGeom prst="rect">
            <a:avLst/>
          </a:prstGeom>
        </p:spPr>
      </p:pic>
      <p:sp>
        <p:nvSpPr>
          <p:cNvPr id="3" name="文本框 2"/>
          <p:cNvSpPr txBox="1"/>
          <p:nvPr/>
        </p:nvSpPr>
        <p:spPr>
          <a:xfrm>
            <a:off x="1686737" y="6167521"/>
            <a:ext cx="2138081" cy="369332"/>
          </a:xfrm>
          <a:prstGeom prst="rect">
            <a:avLst/>
          </a:prstGeom>
          <a:noFill/>
        </p:spPr>
        <p:txBody>
          <a:bodyPr wrap="square" rtlCol="0">
            <a:spAutoFit/>
          </a:bodyPr>
          <a:lstStyle/>
          <a:p>
            <a:r>
              <a:rPr lang="en-US" altLang="zh-CN" b="1" dirty="0"/>
              <a:t>2024 ACM/SIGDA</a:t>
            </a:r>
          </a:p>
        </p:txBody>
      </p:sp>
    </p:spTree>
    <p:extLst>
      <p:ext uri="{BB962C8B-B14F-4D97-AF65-F5344CB8AC3E}">
        <p14:creationId xmlns:p14="http://schemas.microsoft.com/office/powerpoint/2010/main" val="453473077"/>
      </p:ext>
    </p:extLst>
  </p:cSld>
  <p:clrMapOvr>
    <a:masterClrMapping/>
  </p:clrMapOvr>
  <mc:AlternateContent xmlns:mc="http://schemas.openxmlformats.org/markup-compatibility/2006" xmlns:p14="http://schemas.microsoft.com/office/powerpoint/2010/main">
    <mc:Choice Requires="p14">
      <p:transition spd="slow" p14:dur="2000" advTm="11017"/>
    </mc:Choice>
    <mc:Fallback xmlns="">
      <p:transition spd="slow" advTm="1101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476502" y="4896177"/>
            <a:ext cx="4487372" cy="494767"/>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Evaluation</a:t>
              </a: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476505" y="3538507"/>
            <a:ext cx="4487372" cy="494767"/>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476502" y="2849942"/>
            <a:ext cx="4487372" cy="494767"/>
            <a:chOff x="2254250" y="2386893"/>
            <a:chExt cx="4635500"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2898023" y="2410730"/>
              <a:ext cx="3991726" cy="664937"/>
            </a:xfrm>
            <a:prstGeom prst="rect">
              <a:avLst/>
            </a:prstGeom>
            <a:noFill/>
          </p:spPr>
          <p:txBody>
            <a:bodyPr wrap="square">
              <a:spAutoFit/>
            </a:bodyPr>
            <a:lstStyle/>
            <a:p>
              <a:pPr lvl="0">
                <a:defRPr/>
              </a:pPr>
              <a:r>
                <a:rPr lang="en-US" altLang="zh-CN" sz="2400" b="1" dirty="0">
                  <a:solidFill>
                    <a:srgbClr val="FFFFFF"/>
                  </a:solidFill>
                </a:rPr>
                <a:t>Background</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1</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DE1F79F8-8A5C-B9E9-B2B4-C002E211124D}"/>
              </a:ext>
            </a:extLst>
          </p:cNvPr>
          <p:cNvSpPr txBox="1"/>
          <p:nvPr/>
        </p:nvSpPr>
        <p:spPr>
          <a:xfrm>
            <a:off x="3076870" y="3552053"/>
            <a:ext cx="4134814" cy="461665"/>
          </a:xfrm>
          <a:prstGeom prst="rect">
            <a:avLst/>
          </a:prstGeom>
          <a:noFill/>
        </p:spPr>
        <p:txBody>
          <a:bodyPr wrap="square">
            <a:spAutoFit/>
          </a:bodyPr>
          <a:lstStyle/>
          <a:p>
            <a:pPr lvl="0">
              <a:defRPr/>
            </a:pPr>
            <a:r>
              <a:rPr lang="en-US" altLang="zh-CN" sz="2400" b="1" dirty="0">
                <a:solidFill>
                  <a:schemeClr val="accent2"/>
                </a:solidFill>
              </a:rPr>
              <a:t>Challenge</a:t>
            </a:r>
          </a:p>
        </p:txBody>
      </p:sp>
      <p:grpSp>
        <p:nvGrpSpPr>
          <p:cNvPr id="11" name="组合 10">
            <a:extLst>
              <a:ext uri="{FF2B5EF4-FFF2-40B4-BE49-F238E27FC236}">
                <a16:creationId xmlns:a16="http://schemas.microsoft.com/office/drawing/2014/main" id="{40AE37FC-664D-98F8-C0A7-0A6FF148E558}"/>
              </a:ext>
            </a:extLst>
          </p:cNvPr>
          <p:cNvGrpSpPr/>
          <p:nvPr/>
        </p:nvGrpSpPr>
        <p:grpSpPr>
          <a:xfrm>
            <a:off x="2482906" y="4210345"/>
            <a:ext cx="4487372" cy="494767"/>
            <a:chOff x="2254250" y="3340100"/>
            <a:chExt cx="4811810" cy="712614"/>
          </a:xfrm>
        </p:grpSpPr>
        <p:sp>
          <p:nvSpPr>
            <p:cNvPr id="12" name="矩形: 圆角 11">
              <a:extLst>
                <a:ext uri="{FF2B5EF4-FFF2-40B4-BE49-F238E27FC236}">
                  <a16:creationId xmlns:a16="http://schemas.microsoft.com/office/drawing/2014/main" id="{76D997D2-7A29-B398-A3C5-5947265FF03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39E69941-F7B3-8E3B-55DE-2838BAB4308D}"/>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HiSpMV</a:t>
              </a:r>
              <a:r>
                <a:rPr lang="en-US" altLang="zh-CN" sz="2400" b="1" dirty="0">
                  <a:solidFill>
                    <a:schemeClr val="accent2"/>
                  </a:solidFill>
                  <a:latin typeface="Arial"/>
                  <a:ea typeface="微软雅黑"/>
                </a:rPr>
                <a:t> Architecture</a:t>
              </a:r>
            </a:p>
          </p:txBody>
        </p:sp>
        <p:sp>
          <p:nvSpPr>
            <p:cNvPr id="14" name="矩形: 圆角 13">
              <a:extLst>
                <a:ext uri="{FF2B5EF4-FFF2-40B4-BE49-F238E27FC236}">
                  <a16:creationId xmlns:a16="http://schemas.microsoft.com/office/drawing/2014/main" id="{5BAD0A7F-C731-6777-D77D-990726F7BE0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2438113763"/>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Previous Solution</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sp>
        <p:nvSpPr>
          <p:cNvPr id="5" name="文本框 4">
            <a:extLst>
              <a:ext uri="{FF2B5EF4-FFF2-40B4-BE49-F238E27FC236}">
                <a16:creationId xmlns:a16="http://schemas.microsoft.com/office/drawing/2014/main" id="{4A03B3B6-3D92-0C85-347A-14CB776203D4}"/>
              </a:ext>
            </a:extLst>
          </p:cNvPr>
          <p:cNvSpPr txBox="1"/>
          <p:nvPr/>
        </p:nvSpPr>
        <p:spPr>
          <a:xfrm>
            <a:off x="705802" y="771850"/>
            <a:ext cx="7732395"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Utilize FP</a:t>
            </a:r>
            <a:r>
              <a:rPr lang="en-US" altLang="zh-CN" dirty="0">
                <a:latin typeface="Times New Roman" panose="02020603050405020304" pitchFamily="18" charset="0"/>
                <a:cs typeface="Times New Roman" panose="02020603050405020304" pitchFamily="18" charset="0"/>
              </a:rPr>
              <a:t>GA</a:t>
            </a:r>
            <a:r>
              <a:rPr lang="zh-CN" altLang="en-US" dirty="0">
                <a:latin typeface="Times New Roman" panose="02020603050405020304" pitchFamily="18" charset="0"/>
                <a:cs typeface="Times New Roman" panose="02020603050405020304" pitchFamily="18" charset="0"/>
              </a:rPr>
              <a:t> equipped with HBM to solve memory bottlenecks in SpMV</a:t>
            </a:r>
          </a:p>
        </p:txBody>
      </p:sp>
      <p:pic>
        <p:nvPicPr>
          <p:cNvPr id="6" name="图片 5">
            <a:extLst>
              <a:ext uri="{FF2B5EF4-FFF2-40B4-BE49-F238E27FC236}">
                <a16:creationId xmlns:a16="http://schemas.microsoft.com/office/drawing/2014/main" id="{067F5503-C4DE-393A-AA6D-184181030664}"/>
              </a:ext>
            </a:extLst>
          </p:cNvPr>
          <p:cNvPicPr>
            <a:picLocks noChangeAspect="1"/>
          </p:cNvPicPr>
          <p:nvPr/>
        </p:nvPicPr>
        <p:blipFill>
          <a:blip r:embed="rId3"/>
          <a:stretch>
            <a:fillRect/>
          </a:stretch>
        </p:blipFill>
        <p:spPr>
          <a:xfrm>
            <a:off x="3686174" y="1412880"/>
            <a:ext cx="1771650" cy="352425"/>
          </a:xfrm>
          <a:prstGeom prst="rect">
            <a:avLst/>
          </a:prstGeom>
        </p:spPr>
      </p:pic>
      <p:pic>
        <p:nvPicPr>
          <p:cNvPr id="7" name="图片 6">
            <a:extLst>
              <a:ext uri="{FF2B5EF4-FFF2-40B4-BE49-F238E27FC236}">
                <a16:creationId xmlns:a16="http://schemas.microsoft.com/office/drawing/2014/main" id="{A65C09ED-654B-4CFA-54C4-255221A5971C}"/>
              </a:ext>
            </a:extLst>
          </p:cNvPr>
          <p:cNvPicPr>
            <a:picLocks noChangeAspect="1"/>
          </p:cNvPicPr>
          <p:nvPr/>
        </p:nvPicPr>
        <p:blipFill>
          <a:blip r:embed="rId4"/>
          <a:stretch>
            <a:fillRect/>
          </a:stretch>
        </p:blipFill>
        <p:spPr>
          <a:xfrm>
            <a:off x="1419224" y="1765305"/>
            <a:ext cx="6305550" cy="2590800"/>
          </a:xfrm>
          <a:prstGeom prst="rect">
            <a:avLst/>
          </a:prstGeom>
        </p:spPr>
      </p:pic>
      <p:sp>
        <p:nvSpPr>
          <p:cNvPr id="8" name="矩形: 圆角 7">
            <a:extLst>
              <a:ext uri="{FF2B5EF4-FFF2-40B4-BE49-F238E27FC236}">
                <a16:creationId xmlns:a16="http://schemas.microsoft.com/office/drawing/2014/main" id="{48FABC1D-5D69-0361-EED5-18EB01B8A5E5}"/>
              </a:ext>
            </a:extLst>
          </p:cNvPr>
          <p:cNvSpPr/>
          <p:nvPr/>
        </p:nvSpPr>
        <p:spPr>
          <a:xfrm>
            <a:off x="1458123" y="1372047"/>
            <a:ext cx="6266651" cy="2984058"/>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a:extLst>
              <a:ext uri="{FF2B5EF4-FFF2-40B4-BE49-F238E27FC236}">
                <a16:creationId xmlns:a16="http://schemas.microsoft.com/office/drawing/2014/main" id="{9AD2E7C8-1716-F9E9-0157-B2867D82DD89}"/>
              </a:ext>
            </a:extLst>
          </p:cNvPr>
          <p:cNvSpPr>
            <a:spLocks noChangeArrowheads="1"/>
          </p:cNvSpPr>
          <p:nvPr/>
        </p:nvSpPr>
        <p:spPr bwMode="auto">
          <a:xfrm>
            <a:off x="2273397" y="4749363"/>
            <a:ext cx="45972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600" dirty="0">
                <a:latin typeface="Times New Roman" panose="02020603050405020304" pitchFamily="18" charset="0"/>
                <a:cs typeface="Times New Roman" panose="02020603050405020304" pitchFamily="18" charset="0"/>
              </a:rPr>
              <a:t>P</a:t>
            </a:r>
            <a:r>
              <a:rPr kumimoji="0" lang="zh-CN"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artitioni the sparse matrix and its input/output vectors into tiles</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600" dirty="0">
                <a:latin typeface="Times New Roman" panose="02020603050405020304" pitchFamily="18" charset="0"/>
                <a:cs typeface="Times New Roman" panose="02020603050405020304" pitchFamily="18" charset="0"/>
              </a:rPr>
              <a:t>Only fetch non-zero entries from on-chip cache</a:t>
            </a:r>
            <a:endParaRPr kumimoji="0" lang="en-US" altLang="zh-C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9724ACDB-50D5-2981-2748-FCD3A4CA7C47}"/>
              </a:ext>
            </a:extLst>
          </p:cNvPr>
          <p:cNvSpPr txBox="1"/>
          <p:nvPr/>
        </p:nvSpPr>
        <p:spPr>
          <a:xfrm>
            <a:off x="980122" y="5979689"/>
            <a:ext cx="7013258" cy="646331"/>
          </a:xfrm>
          <a:prstGeom prst="rect">
            <a:avLst/>
          </a:prstGeom>
          <a:noFill/>
        </p:spPr>
        <p:txBody>
          <a:bodyPr wrap="square">
            <a:spAutoFit/>
          </a:bodyPr>
          <a:lstStyle/>
          <a:p>
            <a:r>
              <a:rPr lang="zh-CN" altLang="en-US" b="1" dirty="0">
                <a:solidFill>
                  <a:srgbClr val="FF0000"/>
                </a:solidFill>
                <a:latin typeface="Times New Roman" panose="02020603050405020304" pitchFamily="18" charset="0"/>
                <a:cs typeface="Times New Roman" panose="02020603050405020304" pitchFamily="18" charset="0"/>
              </a:rPr>
              <a:t>When dealing with highly unbalanced sparse matrices, the traditional acceleration methods </a:t>
            </a:r>
            <a:r>
              <a:rPr lang="zh-CN" altLang="en-US" b="1" u="sng" dirty="0">
                <a:solidFill>
                  <a:srgbClr val="FF0000"/>
                </a:solidFill>
                <a:latin typeface="Times New Roman" panose="02020603050405020304" pitchFamily="18" charset="0"/>
                <a:cs typeface="Times New Roman" panose="02020603050405020304" pitchFamily="18" charset="0"/>
              </a:rPr>
              <a:t>have </a:t>
            </a:r>
            <a:r>
              <a:rPr lang="en-US" altLang="zh-CN" b="1" u="sng" dirty="0">
                <a:solidFill>
                  <a:srgbClr val="FF0000"/>
                </a:solidFill>
                <a:latin typeface="Times New Roman" panose="02020603050405020304" pitchFamily="18" charset="0"/>
                <a:cs typeface="Times New Roman" panose="02020603050405020304" pitchFamily="18" charset="0"/>
              </a:rPr>
              <a:t>following</a:t>
            </a:r>
            <a:r>
              <a:rPr lang="zh-CN" altLang="en-US" b="1" u="sng" dirty="0">
                <a:solidFill>
                  <a:srgbClr val="FF0000"/>
                </a:solidFill>
                <a:latin typeface="Times New Roman" panose="02020603050405020304" pitchFamily="18" charset="0"/>
                <a:cs typeface="Times New Roman" panose="02020603050405020304" pitchFamily="18" charset="0"/>
              </a:rPr>
              <a:t> shortcomings</a:t>
            </a:r>
          </a:p>
        </p:txBody>
      </p:sp>
    </p:spTree>
    <p:extLst>
      <p:ext uri="{BB962C8B-B14F-4D97-AF65-F5344CB8AC3E}">
        <p14:creationId xmlns:p14="http://schemas.microsoft.com/office/powerpoint/2010/main" val="2739805305"/>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FD5E-F40C-B6D8-8157-B6397519742F}"/>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339E6C63-C892-1AD9-70BA-770798C3B3E0}"/>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90F8E002-A5B0-D3B7-BC4D-1482E58BD178}"/>
              </a:ext>
            </a:extLst>
          </p:cNvPr>
          <p:cNvGrpSpPr/>
          <p:nvPr/>
        </p:nvGrpSpPr>
        <p:grpSpPr>
          <a:xfrm>
            <a:off x="2476502" y="4896177"/>
            <a:ext cx="4487372" cy="494767"/>
            <a:chOff x="2254250" y="3340100"/>
            <a:chExt cx="4811810" cy="712614"/>
          </a:xfrm>
        </p:grpSpPr>
        <p:sp>
          <p:nvSpPr>
            <p:cNvPr id="27" name="矩形: 圆角 26">
              <a:extLst>
                <a:ext uri="{FF2B5EF4-FFF2-40B4-BE49-F238E27FC236}">
                  <a16:creationId xmlns:a16="http://schemas.microsoft.com/office/drawing/2014/main" id="{01BB6E9C-4FCC-24D7-0E14-6837E8513DB0}"/>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3B44E5FE-C101-D63B-17D2-4084FFFE5A3A}"/>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Evaluation</a:t>
              </a:r>
            </a:p>
          </p:txBody>
        </p:sp>
        <p:sp>
          <p:nvSpPr>
            <p:cNvPr id="28" name="矩形: 圆角 27">
              <a:extLst>
                <a:ext uri="{FF2B5EF4-FFF2-40B4-BE49-F238E27FC236}">
                  <a16:creationId xmlns:a16="http://schemas.microsoft.com/office/drawing/2014/main" id="{99F96564-A8C6-E328-3464-12F9C0CC94CA}"/>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288FFB27-E45D-AC5F-202F-C810A1B42F8C}"/>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D6032B91-9847-2834-1B0A-04C2FBC90C8B}"/>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20194CFA-B347-DC7A-F508-EEB8B6588347}"/>
              </a:ext>
            </a:extLst>
          </p:cNvPr>
          <p:cNvGrpSpPr/>
          <p:nvPr/>
        </p:nvGrpSpPr>
        <p:grpSpPr>
          <a:xfrm>
            <a:off x="2482906" y="2838679"/>
            <a:ext cx="4487372" cy="494767"/>
            <a:chOff x="2254250" y="3340100"/>
            <a:chExt cx="4811810" cy="712614"/>
          </a:xfrm>
        </p:grpSpPr>
        <p:sp>
          <p:nvSpPr>
            <p:cNvPr id="33" name="矩形: 圆角 26">
              <a:extLst>
                <a:ext uri="{FF2B5EF4-FFF2-40B4-BE49-F238E27FC236}">
                  <a16:creationId xmlns:a16="http://schemas.microsoft.com/office/drawing/2014/main" id="{17D622E9-0234-7712-2153-0FF69A78EC33}"/>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859137C5-D33F-F225-7706-46DB0C756A9B}"/>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8ABAEC90-66CD-09E6-106D-F86B4EE2F7A5}"/>
              </a:ext>
            </a:extLst>
          </p:cNvPr>
          <p:cNvGrpSpPr/>
          <p:nvPr/>
        </p:nvGrpSpPr>
        <p:grpSpPr>
          <a:xfrm>
            <a:off x="2482906" y="3524513"/>
            <a:ext cx="4493776" cy="494767"/>
            <a:chOff x="2254250" y="2386893"/>
            <a:chExt cx="4642115" cy="712614"/>
          </a:xfrm>
        </p:grpSpPr>
        <p:sp>
          <p:nvSpPr>
            <p:cNvPr id="38" name="矩形: 圆角 40">
              <a:extLst>
                <a:ext uri="{FF2B5EF4-FFF2-40B4-BE49-F238E27FC236}">
                  <a16:creationId xmlns:a16="http://schemas.microsoft.com/office/drawing/2014/main" id="{A30AA25E-9C49-4D4D-3646-91FBA2715DB8}"/>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991D588C-7709-8096-A2B8-2E5ED1A574B9}"/>
                </a:ext>
              </a:extLst>
            </p:cNvPr>
            <p:cNvSpPr txBox="1"/>
            <p:nvPr/>
          </p:nvSpPr>
          <p:spPr>
            <a:xfrm>
              <a:off x="2904639" y="2410730"/>
              <a:ext cx="3991726" cy="664937"/>
            </a:xfrm>
            <a:prstGeom prst="rect">
              <a:avLst/>
            </a:prstGeom>
            <a:noFill/>
          </p:spPr>
          <p:txBody>
            <a:bodyPr wrap="square">
              <a:spAutoFit/>
            </a:bodyPr>
            <a:lstStyle/>
            <a:p>
              <a:pPr lvl="0">
                <a:defRPr/>
              </a:pPr>
              <a:r>
                <a:rPr lang="en-US" altLang="zh-CN" sz="2400" b="1" dirty="0">
                  <a:solidFill>
                    <a:srgbClr val="FFFFFF"/>
                  </a:solidFill>
                </a:rPr>
                <a:t>Challenge</a:t>
              </a:r>
            </a:p>
          </p:txBody>
        </p:sp>
        <p:sp>
          <p:nvSpPr>
            <p:cNvPr id="40" name="矩形: 圆角 42">
              <a:extLst>
                <a:ext uri="{FF2B5EF4-FFF2-40B4-BE49-F238E27FC236}">
                  <a16:creationId xmlns:a16="http://schemas.microsoft.com/office/drawing/2014/main" id="{DE8E043B-DB89-0731-D763-3EAB0889E4DD}"/>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accent2"/>
                  </a:solidFill>
                  <a:effectLst/>
                  <a:uLnTx/>
                  <a:uFillTx/>
                  <a:latin typeface="Arial"/>
                  <a:ea typeface="微软雅黑"/>
                  <a:cs typeface="+mn-cs"/>
                </a:rPr>
                <a:t>2</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2F40E2D8-FF5E-1F54-13A5-ACF71BAB5480}"/>
              </a:ext>
            </a:extLst>
          </p:cNvPr>
          <p:cNvSpPr txBox="1"/>
          <p:nvPr/>
        </p:nvSpPr>
        <p:spPr>
          <a:xfrm>
            <a:off x="3076869" y="2855229"/>
            <a:ext cx="4134814" cy="461665"/>
          </a:xfrm>
          <a:prstGeom prst="rect">
            <a:avLst/>
          </a:prstGeom>
          <a:noFill/>
        </p:spPr>
        <p:txBody>
          <a:bodyPr wrap="square">
            <a:spAutoFit/>
          </a:bodyPr>
          <a:lstStyle/>
          <a:p>
            <a:pPr lvl="0">
              <a:defRPr/>
            </a:pPr>
            <a:r>
              <a:rPr lang="en-US" altLang="zh-CN" sz="2400" b="1" dirty="0">
                <a:solidFill>
                  <a:schemeClr val="accent2"/>
                </a:solidFill>
              </a:rPr>
              <a:t>Background</a:t>
            </a:r>
          </a:p>
        </p:txBody>
      </p:sp>
      <p:grpSp>
        <p:nvGrpSpPr>
          <p:cNvPr id="11" name="组合 10">
            <a:extLst>
              <a:ext uri="{FF2B5EF4-FFF2-40B4-BE49-F238E27FC236}">
                <a16:creationId xmlns:a16="http://schemas.microsoft.com/office/drawing/2014/main" id="{FBEBDF41-0D06-39E9-6019-EF495F88344A}"/>
              </a:ext>
            </a:extLst>
          </p:cNvPr>
          <p:cNvGrpSpPr/>
          <p:nvPr/>
        </p:nvGrpSpPr>
        <p:grpSpPr>
          <a:xfrm>
            <a:off x="2482906" y="4210345"/>
            <a:ext cx="4487372" cy="494767"/>
            <a:chOff x="2254250" y="3340100"/>
            <a:chExt cx="4811810" cy="712614"/>
          </a:xfrm>
        </p:grpSpPr>
        <p:sp>
          <p:nvSpPr>
            <p:cNvPr id="12" name="矩形: 圆角 11">
              <a:extLst>
                <a:ext uri="{FF2B5EF4-FFF2-40B4-BE49-F238E27FC236}">
                  <a16:creationId xmlns:a16="http://schemas.microsoft.com/office/drawing/2014/main" id="{684B501D-4F8E-6468-3DCF-9D6D9F0E0B40}"/>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77B2ABEE-C918-DEA8-DB4C-9E487FF37AFE}"/>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HiSpMV</a:t>
              </a:r>
              <a:r>
                <a:rPr lang="en-US" altLang="zh-CN" sz="2400" b="1" dirty="0">
                  <a:solidFill>
                    <a:schemeClr val="accent2"/>
                  </a:solidFill>
                  <a:latin typeface="Arial"/>
                  <a:ea typeface="微软雅黑"/>
                </a:rPr>
                <a:t> Architecture</a:t>
              </a:r>
            </a:p>
          </p:txBody>
        </p:sp>
        <p:sp>
          <p:nvSpPr>
            <p:cNvPr id="14" name="矩形: 圆角 13">
              <a:extLst>
                <a:ext uri="{FF2B5EF4-FFF2-40B4-BE49-F238E27FC236}">
                  <a16:creationId xmlns:a16="http://schemas.microsoft.com/office/drawing/2014/main" id="{EAEA2AA0-3AF5-82A8-056C-0B680BF43248}"/>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1446421623"/>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Imbalanced Sparsity</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pic>
        <p:nvPicPr>
          <p:cNvPr id="5122" name="Picture 2">
            <a:extLst>
              <a:ext uri="{FF2B5EF4-FFF2-40B4-BE49-F238E27FC236}">
                <a16:creationId xmlns:a16="http://schemas.microsoft.com/office/drawing/2014/main" id="{18E4B7BF-7E4D-839C-DE52-97C70C7F6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198" y="1565434"/>
            <a:ext cx="5739603" cy="372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66426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137CE22-E6E8-1E6E-6EEC-5CF1F2ADAD19}"/>
              </a:ext>
            </a:extLst>
          </p:cNvPr>
          <p:cNvPicPr>
            <a:picLocks noChangeAspect="1"/>
          </p:cNvPicPr>
          <p:nvPr/>
        </p:nvPicPr>
        <p:blipFill>
          <a:blip r:embed="rId3"/>
          <a:srcRect b="67502"/>
          <a:stretch/>
        </p:blipFill>
        <p:spPr>
          <a:xfrm>
            <a:off x="4418881" y="2977896"/>
            <a:ext cx="4419600" cy="1108300"/>
          </a:xfrm>
          <a:prstGeom prst="rect">
            <a:avLst/>
          </a:prstGeom>
        </p:spPr>
      </p:pic>
      <p:sp>
        <p:nvSpPr>
          <p:cNvPr id="2" name="标题 1">
            <a:extLst>
              <a:ext uri="{FF2B5EF4-FFF2-40B4-BE49-F238E27FC236}">
                <a16:creationId xmlns:a16="http://schemas.microsoft.com/office/drawing/2014/main" id="{D5460A8E-D062-4D53-887D-EC08846CA067}"/>
              </a:ext>
            </a:extLst>
          </p:cNvPr>
          <p:cNvSpPr>
            <a:spLocks noGrp="1"/>
          </p:cNvSpPr>
          <p:nvPr>
            <p:ph type="title"/>
          </p:nvPr>
        </p:nvSpPr>
        <p:spPr/>
        <p:txBody>
          <a:bodyPr>
            <a:normAutofit/>
          </a:bodyPr>
          <a:lstStyle/>
          <a:p>
            <a:r>
              <a:rPr lang="en-US" altLang="zh-CN" dirty="0" err="1"/>
              <a:t>SpMV</a:t>
            </a:r>
            <a:r>
              <a:rPr lang="en-US" altLang="zh-CN" dirty="0"/>
              <a:t> – Challenges</a:t>
            </a:r>
            <a:endParaRPr lang="zh-CN" altLang="en-US" dirty="0"/>
          </a:p>
        </p:txBody>
      </p:sp>
      <p:sp>
        <p:nvSpPr>
          <p:cNvPr id="5" name="文本框 4">
            <a:extLst>
              <a:ext uri="{FF2B5EF4-FFF2-40B4-BE49-F238E27FC236}">
                <a16:creationId xmlns:a16="http://schemas.microsoft.com/office/drawing/2014/main" id="{A1FAA5B5-C300-8E84-F1FD-6307B7254D98}"/>
              </a:ext>
            </a:extLst>
          </p:cNvPr>
          <p:cNvSpPr txBox="1"/>
          <p:nvPr/>
        </p:nvSpPr>
        <p:spPr>
          <a:xfrm>
            <a:off x="793569" y="1604010"/>
            <a:ext cx="3989410" cy="3693319"/>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Imbalanced Workload among PEs</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Long-Distance RAW Dependency</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New bottleneck: the memory access of dense input vector</a:t>
            </a:r>
          </a:p>
        </p:txBody>
      </p:sp>
      <p:pic>
        <p:nvPicPr>
          <p:cNvPr id="7" name="图片 6" descr="图示&#10;&#10;AI 生成的内容可能不正确。">
            <a:extLst>
              <a:ext uri="{FF2B5EF4-FFF2-40B4-BE49-F238E27FC236}">
                <a16:creationId xmlns:a16="http://schemas.microsoft.com/office/drawing/2014/main" id="{A6930219-2466-9FD3-F686-2BAFDC6AA2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8730" y="968093"/>
            <a:ext cx="2720340" cy="1813560"/>
          </a:xfrm>
          <a:prstGeom prst="rect">
            <a:avLst/>
          </a:prstGeom>
        </p:spPr>
      </p:pic>
      <p:pic>
        <p:nvPicPr>
          <p:cNvPr id="6146" name="Picture 2">
            <a:extLst>
              <a:ext uri="{FF2B5EF4-FFF2-40B4-BE49-F238E27FC236}">
                <a16:creationId xmlns:a16="http://schemas.microsoft.com/office/drawing/2014/main" id="{B08D105F-3FBE-70E5-D63F-4FE9A52A3A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3337"/>
          <a:stretch/>
        </p:blipFill>
        <p:spPr bwMode="auto">
          <a:xfrm>
            <a:off x="4782979" y="4133927"/>
            <a:ext cx="3311842" cy="2470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997062"/>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5A4E4-B29C-60B8-6841-4203A70049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702EE5-433E-9C1C-BE37-B927B8433532}"/>
              </a:ext>
            </a:extLst>
          </p:cNvPr>
          <p:cNvSpPr>
            <a:spLocks noGrp="1"/>
          </p:cNvSpPr>
          <p:nvPr>
            <p:ph type="title"/>
          </p:nvPr>
        </p:nvSpPr>
        <p:spPr/>
        <p:txBody>
          <a:bodyPr>
            <a:normAutofit/>
          </a:bodyPr>
          <a:lstStyle/>
          <a:p>
            <a:r>
              <a:rPr lang="en-US" altLang="zh-CN" dirty="0" err="1"/>
              <a:t>SpMV</a:t>
            </a:r>
            <a:r>
              <a:rPr lang="en-US" altLang="zh-CN" dirty="0"/>
              <a:t> – </a:t>
            </a:r>
            <a:r>
              <a:rPr lang="en-US" altLang="zh-CN" dirty="0">
                <a:latin typeface="Times New Roman" panose="02020603050405020304" pitchFamily="18" charset="0"/>
                <a:cs typeface="Times New Roman" panose="02020603050405020304" pitchFamily="18" charset="0"/>
              </a:rPr>
              <a:t>Imbalanced Workload among PEs</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8D5E91F-DB52-E84B-F52A-B0ED24BB45B1}"/>
                  </a:ext>
                </a:extLst>
              </p:cNvPr>
              <p:cNvSpPr txBox="1"/>
              <p:nvPr/>
            </p:nvSpPr>
            <p:spPr>
              <a:xfrm>
                <a:off x="401282" y="873072"/>
                <a:ext cx="8341435" cy="5730928"/>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Analysis of the Problem</a:t>
                </a:r>
              </a:p>
              <a:p>
                <a:pPr lvl="1"/>
                <a:r>
                  <a:rPr lang="en-US" altLang="zh-CN" dirty="0">
                    <a:latin typeface="Times New Roman" panose="02020603050405020304" pitchFamily="18" charset="0"/>
                    <a:cs typeface="Times New Roman" panose="02020603050405020304" pitchFamily="18" charset="0"/>
                  </a:rPr>
                  <a:t>Assume the input matrix has R rows and C columns, NNZ is the number of non-zeroes, and the </a:t>
                </a:r>
                <a:r>
                  <a:rPr lang="en-US" altLang="zh-CN" b="1" dirty="0">
                    <a:latin typeface="Times New Roman" panose="02020603050405020304" pitchFamily="18" charset="0"/>
                    <a:cs typeface="Times New Roman" panose="02020603050405020304" pitchFamily="18" charset="0"/>
                  </a:rPr>
                  <a:t>density of the matrix </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𝝆</m:t>
                    </m:r>
                  </m:oMath>
                </a14:m>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we have:</a:t>
                </a:r>
              </a:p>
              <a:p>
                <a:pPr lvl="1"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Times New Roman" panose="02020603050405020304" pitchFamily="18" charset="0"/>
                        </a:rPr>
                        <m:t>𝜌</m:t>
                      </m:r>
                      <m:r>
                        <a:rPr lang="en-US" altLang="zh-CN" i="1" dirty="0" smtClean="0">
                          <a:latin typeface="Cambria Math" panose="02040503050406030204" pitchFamily="18" charset="0"/>
                          <a:cs typeface="Times New Roman" panose="02020603050405020304" pitchFamily="18" charset="0"/>
                        </a:rPr>
                        <m:t> = </m:t>
                      </m:r>
                      <m:r>
                        <a:rPr lang="en-US" altLang="zh-CN" i="1" dirty="0" smtClean="0">
                          <a:latin typeface="Cambria Math" panose="02040503050406030204" pitchFamily="18" charset="0"/>
                          <a:cs typeface="Times New Roman" panose="02020603050405020304" pitchFamily="18" charset="0"/>
                        </a:rPr>
                        <m:t>𝑁𝑁𝑍</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𝑅</m:t>
                      </m:r>
                      <m:r>
                        <a:rPr lang="en-US" altLang="zh-CN"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𝐶</m:t>
                      </m:r>
                      <m:r>
                        <a:rPr lang="en-US" altLang="zh-CN" i="1" dirty="0" smtClean="0">
                          <a:latin typeface="Cambria Math" panose="02040503050406030204" pitchFamily="18" charset="0"/>
                          <a:cs typeface="Times New Roman" panose="02020603050405020304" pitchFamily="18" charset="0"/>
                        </a:rPr>
                        <m:t>) </m:t>
                      </m:r>
                    </m:oMath>
                  </m:oMathPara>
                </a14:m>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To illustrate the inefficiency in prior </a:t>
                </a:r>
                <a:r>
                  <a:rPr lang="en-US" altLang="zh-CN" dirty="0" err="1">
                    <a:latin typeface="Times New Roman" panose="02020603050405020304" pitchFamily="18" charset="0"/>
                    <a:cs typeface="Times New Roman" panose="02020603050405020304" pitchFamily="18" charset="0"/>
                  </a:rPr>
                  <a:t>SpMV</a:t>
                </a:r>
                <a:r>
                  <a:rPr lang="en-US" altLang="zh-CN" dirty="0">
                    <a:latin typeface="Times New Roman" panose="02020603050405020304" pitchFamily="18" charset="0"/>
                    <a:cs typeface="Times New Roman" panose="02020603050405020304" pitchFamily="18" charset="0"/>
                  </a:rPr>
                  <a:t> accelerators, we define the </a:t>
                </a:r>
                <a:r>
                  <a:rPr lang="en-US" altLang="zh-CN" b="1" dirty="0">
                    <a:latin typeface="Times New Roman" panose="02020603050405020304" pitchFamily="18" charset="0"/>
                    <a:cs typeface="Times New Roman" panose="02020603050405020304" pitchFamily="18" charset="0"/>
                  </a:rPr>
                  <a:t>matrix imbalance ratio </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𝜹</m:t>
                    </m:r>
                  </m:oMath>
                </a14:m>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as:</a:t>
                </a:r>
              </a:p>
              <a:p>
                <a:pPr lvl="1"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𝛿</m:t>
                      </m:r>
                      <m:r>
                        <a:rPr lang="en-US" altLang="zh-CN" b="0" i="1" smtClean="0">
                          <a:latin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cs typeface="Times New Roman" panose="02020603050405020304" pitchFamily="18" charset="0"/>
                            </a:rPr>
                            <m:t>𝑎𝑐𝑡𝑢𝑎𝑙</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𝑃𝐸</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𝑙𝑜𝑎𝑑</m:t>
                          </m:r>
                        </m:num>
                        <m:den>
                          <m:r>
                            <a:rPr lang="en-US" altLang="zh-CN" b="0" i="1" smtClean="0">
                              <a:latin typeface="Cambria Math" panose="02040503050406030204" pitchFamily="18" charset="0"/>
                              <a:cs typeface="Times New Roman" panose="02020603050405020304" pitchFamily="18" charset="0"/>
                            </a:rPr>
                            <m:t>𝑖𝑑𝑒𝑎𝑙</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𝑃𝐸</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𝑙𝑜𝑎𝑑</m:t>
                          </m:r>
                        </m:den>
                      </m:f>
                      <m:r>
                        <a:rPr lang="en-US" altLang="zh-CN" b="0" i="1" smtClean="0">
                          <a:latin typeface="Cambria Math" panose="02040503050406030204" pitchFamily="18" charset="0"/>
                          <a:cs typeface="Times New Roman" panose="02020603050405020304" pitchFamily="18" charset="0"/>
                        </a:rPr>
                        <m:t> </m:t>
                      </m:r>
                    </m:oMath>
                  </m:oMathPara>
                </a14:m>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The ideal PE workload is evenly divided among all the PEs:</a:t>
                </a:r>
              </a:p>
              <a:p>
                <a:pPr lvl="1" algn="ct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Times New Roman" panose="02020603050405020304" pitchFamily="18" charset="0"/>
                        </a:rPr>
                        <m:t>𝑖𝑑𝑒𝑎𝑙</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𝑃𝐸</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𝑙𝑜𝑎𝑑</m:t>
                      </m:r>
                      <m:r>
                        <a:rPr lang="en-US" altLang="zh-CN" b="0" i="1" smtClean="0">
                          <a:latin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cs typeface="Times New Roman" panose="02020603050405020304" pitchFamily="18" charset="0"/>
                            </a:rPr>
                            <m:t>𝑁𝑁𝑍</m:t>
                          </m:r>
                        </m:num>
                        <m:den>
                          <m:r>
                            <a:rPr lang="en-US" altLang="zh-CN" b="0" i="1" smtClean="0">
                              <a:latin typeface="Cambria Math" panose="02040503050406030204" pitchFamily="18" charset="0"/>
                              <a:cs typeface="Times New Roman" panose="02020603050405020304" pitchFamily="18" charset="0"/>
                            </a:rPr>
                            <m:t>𝑃</m:t>
                          </m:r>
                        </m:den>
                      </m:f>
                      <m:r>
                        <a:rPr lang="en-US" altLang="zh-CN" b="0" i="1" smtClean="0">
                          <a:latin typeface="Cambria Math" panose="02040503050406030204" pitchFamily="18" charset="0"/>
                          <a:cs typeface="Times New Roman" panose="02020603050405020304" pitchFamily="18" charset="0"/>
                        </a:rPr>
                        <m:t>=</m:t>
                      </m:r>
                      <m:f>
                        <m:fPr>
                          <m:ctrlPr>
                            <a:rPr lang="en-US" altLang="zh-CN" i="1">
                              <a:latin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cs typeface="Times New Roman" panose="02020603050405020304" pitchFamily="18" charset="0"/>
                            </a:rPr>
                            <m:t>𝑅</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𝐶</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𝜌</m:t>
                          </m:r>
                        </m:num>
                        <m:den>
                          <m:r>
                            <a:rPr lang="en-US" altLang="zh-CN" i="1">
                              <a:latin typeface="Cambria Math" panose="02040503050406030204" pitchFamily="18" charset="0"/>
                              <a:cs typeface="Times New Roman" panose="02020603050405020304" pitchFamily="18" charset="0"/>
                            </a:rPr>
                            <m:t>𝑃</m:t>
                          </m:r>
                        </m:den>
                      </m:f>
                    </m:oMath>
                  </m:oMathPara>
                </a14:m>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In the worst case, all the non-zeros could be allocated to one PE. But since a PE only gets R/P rows, it can only have a maximum of R ∗ C/P non-zeroes. Hence, the upper limit for actual PE load is:</a:t>
                </a:r>
              </a:p>
              <a:p>
                <a:pPr lvl="1"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𝑎𝑐𝑡𝑢𝑎𝑙</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𝑃𝐸</m:t>
                      </m:r>
                      <m:r>
                        <m:rPr>
                          <m:lit/>
                        </m:rPr>
                        <a:rPr lang="en-US" altLang="zh-CN" i="1">
                          <a:latin typeface="Cambria Math" panose="02040503050406030204" pitchFamily="18" charset="0"/>
                          <a:cs typeface="Times New Roman" panose="02020603050405020304" pitchFamily="18" charset="0"/>
                        </a:rPr>
                        <m:t>_</m:t>
                      </m:r>
                      <m:r>
                        <a:rPr lang="en-US" altLang="zh-CN" i="1">
                          <a:latin typeface="Cambria Math" panose="02040503050406030204" pitchFamily="18" charset="0"/>
                          <a:cs typeface="Times New Roman" panose="02020603050405020304" pitchFamily="18" charset="0"/>
                        </a:rPr>
                        <m:t>𝑙𝑜𝑎𝑑</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𝑀𝑖𝑛</m:t>
                      </m:r>
                      <m:d>
                        <m:dPr>
                          <m:ctrlPr>
                            <a:rPr lang="en-US" altLang="zh-CN" b="0" i="1" smtClean="0">
                              <a:latin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cs typeface="Times New Roman" panose="02020603050405020304" pitchFamily="18" charset="0"/>
                            </a:rPr>
                            <m:t>𝑁𝑁𝑍</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𝑅</m:t>
                          </m:r>
                          <m:r>
                            <a:rPr lang="en-US" altLang="zh-CN" b="0" i="1" smtClean="0">
                              <a:latin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cs typeface="Times New Roman" panose="02020603050405020304" pitchFamily="18" charset="0"/>
                                </a:rPr>
                                <m:t>𝐶</m:t>
                              </m:r>
                            </m:num>
                            <m:den>
                              <m:r>
                                <a:rPr lang="en-US" altLang="zh-CN" b="0" i="1" smtClean="0">
                                  <a:latin typeface="Cambria Math" panose="02040503050406030204" pitchFamily="18" charset="0"/>
                                  <a:cs typeface="Times New Roman" panose="02020603050405020304" pitchFamily="18" charset="0"/>
                                </a:rPr>
                                <m:t>𝑃</m:t>
                              </m:r>
                            </m:den>
                          </m:f>
                        </m:e>
                      </m:d>
                    </m:oMath>
                  </m:oMathPara>
                </a14:m>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Observation</a:t>
                </a:r>
              </a:p>
              <a:p>
                <a:pPr lvl="1"/>
                <a:r>
                  <a:rPr lang="en-US" altLang="zh-CN" dirty="0">
                    <a:latin typeface="Times New Roman" panose="02020603050405020304" pitchFamily="18" charset="0"/>
                    <a:cs typeface="Times New Roman" panose="02020603050405020304" pitchFamily="18" charset="0"/>
                  </a:rPr>
                  <a:t>The </a:t>
                </a:r>
                <a:r>
                  <a:rPr lang="en-US" altLang="zh-CN" b="1" dirty="0">
                    <a:latin typeface="Times New Roman" panose="02020603050405020304" pitchFamily="18" charset="0"/>
                    <a:cs typeface="Times New Roman" panose="02020603050405020304" pitchFamily="18" charset="0"/>
                  </a:rPr>
                  <a:t>matrix imbalance ratio </a:t>
                </a:r>
                <a14:m>
                  <m:oMath xmlns:m="http://schemas.openxmlformats.org/officeDocument/2006/math">
                    <m:r>
                      <a:rPr lang="en-US" altLang="zh-CN" b="1" i="1" dirty="0" smtClean="0">
                        <a:latin typeface="Cambria Math" panose="02040503050406030204" pitchFamily="18" charset="0"/>
                        <a:cs typeface="Times New Roman" panose="02020603050405020304" pitchFamily="18" charset="0"/>
                      </a:rPr>
                      <m:t>𝜹</m:t>
                    </m:r>
                  </m:oMath>
                </a14:m>
                <a:r>
                  <a:rPr lang="en-US" altLang="zh-CN" dirty="0">
                    <a:latin typeface="Times New Roman" panose="02020603050405020304" pitchFamily="18" charset="0"/>
                    <a:cs typeface="Times New Roman" panose="02020603050405020304" pitchFamily="18" charset="0"/>
                  </a:rPr>
                  <a:t> has an upper bound:</a:t>
                </a:r>
              </a:p>
              <a:p>
                <a:pPr lvl="1"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cs typeface="Times New Roman" panose="02020603050405020304" pitchFamily="18" charset="0"/>
                        </a:rPr>
                        <m:t>𝛿</m:t>
                      </m:r>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𝑀𝑖𝑛</m:t>
                      </m:r>
                      <m:d>
                        <m:dPr>
                          <m:ctrlPr>
                            <a:rPr lang="en-US" altLang="zh-CN" b="0" i="1" smtClean="0">
                              <a:latin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cs typeface="Times New Roman" panose="02020603050405020304" pitchFamily="18" charset="0"/>
                            </a:rPr>
                            <m:t>𝑃</m:t>
                          </m:r>
                          <m:r>
                            <a:rPr lang="en-US" altLang="zh-CN" b="0" i="1" smtClean="0">
                              <a:latin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cs typeface="Times New Roman" panose="02020603050405020304" pitchFamily="18" charset="0"/>
                                </a:rPr>
                                <m:t>1</m:t>
                              </m:r>
                            </m:num>
                            <m:den>
                              <m:r>
                                <a:rPr lang="en-US" altLang="zh-CN" b="0" i="1" smtClean="0">
                                  <a:latin typeface="Cambria Math" panose="02040503050406030204" pitchFamily="18" charset="0"/>
                                  <a:cs typeface="Times New Roman" panose="02020603050405020304" pitchFamily="18" charset="0"/>
                                </a:rPr>
                                <m:t>𝜌</m:t>
                              </m:r>
                            </m:den>
                          </m:f>
                        </m:e>
                      </m:d>
                    </m:oMath>
                  </m:oMathPara>
                </a14:m>
                <a:endParaRPr lang="en-US" altLang="zh-CN"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F8D5E91F-DB52-E84B-F52A-B0ED24BB45B1}"/>
                  </a:ext>
                </a:extLst>
              </p:cNvPr>
              <p:cNvSpPr txBox="1">
                <a:spLocks noRot="1" noChangeAspect="1" noMove="1" noResize="1" noEditPoints="1" noAdjustHandles="1" noChangeArrowheads="1" noChangeShapeType="1" noTextEdit="1"/>
              </p:cNvSpPr>
              <p:nvPr/>
            </p:nvSpPr>
            <p:spPr>
              <a:xfrm>
                <a:off x="401282" y="873072"/>
                <a:ext cx="8341435" cy="5730928"/>
              </a:xfrm>
              <a:prstGeom prst="rect">
                <a:avLst/>
              </a:prstGeom>
              <a:blipFill>
                <a:blip r:embed="rId3"/>
                <a:stretch>
                  <a:fillRect l="-512" t="-532" r="-1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7781873"/>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6824-944F-3E90-50E1-A7BAF2625F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51D3A9-EE4C-A0B0-5184-9BADFE4C64E2}"/>
              </a:ext>
            </a:extLst>
          </p:cNvPr>
          <p:cNvSpPr>
            <a:spLocks noGrp="1"/>
          </p:cNvSpPr>
          <p:nvPr>
            <p:ph type="title"/>
          </p:nvPr>
        </p:nvSpPr>
        <p:spPr/>
        <p:txBody>
          <a:bodyPr>
            <a:normAutofit/>
          </a:bodyPr>
          <a:lstStyle/>
          <a:p>
            <a:r>
              <a:rPr lang="en-US" altLang="zh-CN" dirty="0" err="1"/>
              <a:t>SpMV</a:t>
            </a:r>
            <a:r>
              <a:rPr lang="en-US" altLang="zh-CN" dirty="0"/>
              <a:t> – </a:t>
            </a:r>
            <a:r>
              <a:rPr lang="en-US" altLang="zh-CN" dirty="0">
                <a:latin typeface="Times New Roman" panose="02020603050405020304" pitchFamily="18" charset="0"/>
                <a:cs typeface="Times New Roman" panose="02020603050405020304" pitchFamily="18" charset="0"/>
              </a:rPr>
              <a:t>Imbalanced Workload among PEs</a:t>
            </a:r>
            <a:endParaRPr lang="zh-CN" altLang="en-US" dirty="0"/>
          </a:p>
        </p:txBody>
      </p:sp>
      <p:sp>
        <p:nvSpPr>
          <p:cNvPr id="3" name="文本框 2">
            <a:extLst>
              <a:ext uri="{FF2B5EF4-FFF2-40B4-BE49-F238E27FC236}">
                <a16:creationId xmlns:a16="http://schemas.microsoft.com/office/drawing/2014/main" id="{13B40BF4-4F45-92D2-6236-5A37B180A76C}"/>
              </a:ext>
            </a:extLst>
          </p:cNvPr>
          <p:cNvSpPr txBox="1"/>
          <p:nvPr/>
        </p:nvSpPr>
        <p:spPr>
          <a:xfrm>
            <a:off x="401282" y="873072"/>
            <a:ext cx="8225133" cy="1754326"/>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Proposed Solution</a:t>
            </a:r>
          </a:p>
          <a:p>
            <a:pPr lvl="1"/>
            <a:r>
              <a:rPr lang="en-US" altLang="zh-CN" b="1" dirty="0">
                <a:latin typeface="Times New Roman" panose="02020603050405020304" pitchFamily="18" charset="0"/>
                <a:cs typeface="Times New Roman" panose="02020603050405020304" pitchFamily="18" charset="0"/>
              </a:rPr>
              <a:t>Hybrid row distribution network </a:t>
            </a:r>
            <a:r>
              <a:rPr lang="en-US" altLang="zh-CN" dirty="0">
                <a:latin typeface="Times New Roman" panose="02020603050405020304" pitchFamily="18" charset="0"/>
                <a:cs typeface="Times New Roman" panose="02020603050405020304" pitchFamily="18" charset="0"/>
              </a:rPr>
              <a:t>to allow the same set of PEs to work in two different modes: </a:t>
            </a:r>
          </a:p>
          <a:p>
            <a:pPr marL="800100" lvl="1" indent="-342900">
              <a:buAutoNum type="arabicParenR"/>
            </a:pPr>
            <a:r>
              <a:rPr lang="en-US" altLang="zh-CN" b="1" dirty="0">
                <a:latin typeface="Times New Roman" panose="02020603050405020304" pitchFamily="18" charset="0"/>
                <a:cs typeface="Times New Roman" panose="02020603050405020304" pitchFamily="18" charset="0"/>
              </a:rPr>
              <a:t>interrow distribution </a:t>
            </a:r>
            <a:r>
              <a:rPr lang="en-US" altLang="zh-CN" dirty="0">
                <a:latin typeface="Times New Roman" panose="02020603050405020304" pitchFamily="18" charset="0"/>
                <a:cs typeface="Times New Roman" panose="02020603050405020304" pitchFamily="18" charset="0"/>
              </a:rPr>
              <a:t>where the PEs work on different rows assigned cyclically, </a:t>
            </a:r>
          </a:p>
          <a:p>
            <a:pPr marL="800100" lvl="1" indent="-342900">
              <a:buAutoNum type="arabicParenR"/>
            </a:pPr>
            <a:r>
              <a:rPr lang="en-US" altLang="zh-CN" b="1" dirty="0">
                <a:latin typeface="Times New Roman" panose="02020603050405020304" pitchFamily="18" charset="0"/>
                <a:cs typeface="Times New Roman" panose="02020603050405020304" pitchFamily="18" charset="0"/>
              </a:rPr>
              <a:t>intra-row distribution </a:t>
            </a:r>
            <a:r>
              <a:rPr lang="en-US" altLang="zh-CN" dirty="0">
                <a:latin typeface="Times New Roman" panose="02020603050405020304" pitchFamily="18" charset="0"/>
                <a:cs typeface="Times New Roman" panose="02020603050405020304" pitchFamily="18" charset="0"/>
              </a:rPr>
              <a:t>where all the PEs collectively work on the same row.</a:t>
            </a:r>
          </a:p>
        </p:txBody>
      </p:sp>
      <p:pic>
        <p:nvPicPr>
          <p:cNvPr id="4" name="Picture 2">
            <a:extLst>
              <a:ext uri="{FF2B5EF4-FFF2-40B4-BE49-F238E27FC236}">
                <a16:creationId xmlns:a16="http://schemas.microsoft.com/office/drawing/2014/main" id="{96381833-ACE1-C039-038E-BF5248533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198" y="2721374"/>
            <a:ext cx="5739603" cy="372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19790"/>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40C9-FA29-43BA-5BFE-A6410D6BA6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86084F-9851-3756-7A6D-D51764EB630D}"/>
              </a:ext>
            </a:extLst>
          </p:cNvPr>
          <p:cNvSpPr>
            <a:spLocks noGrp="1"/>
          </p:cNvSpPr>
          <p:nvPr>
            <p:ph type="title"/>
          </p:nvPr>
        </p:nvSpPr>
        <p:spPr/>
        <p:txBody>
          <a:bodyPr>
            <a:normAutofit/>
          </a:bodyPr>
          <a:lstStyle/>
          <a:p>
            <a:r>
              <a:rPr lang="en-US" altLang="zh-CN" dirty="0" err="1"/>
              <a:t>SpMV</a:t>
            </a:r>
            <a:r>
              <a:rPr lang="en-US" altLang="zh-CN" dirty="0"/>
              <a:t> – </a:t>
            </a:r>
            <a:r>
              <a:rPr lang="en-US" altLang="zh-CN" dirty="0">
                <a:latin typeface="Times New Roman" panose="02020603050405020304" pitchFamily="18" charset="0"/>
                <a:cs typeface="Times New Roman" panose="02020603050405020304" pitchFamily="18" charset="0"/>
              </a:rPr>
              <a:t>Long-Distance RAW Dependency</a:t>
            </a:r>
            <a:endParaRPr lang="zh-CN" altLang="en-US" dirty="0"/>
          </a:p>
        </p:txBody>
      </p:sp>
      <p:sp>
        <p:nvSpPr>
          <p:cNvPr id="3" name="文本框 2">
            <a:extLst>
              <a:ext uri="{FF2B5EF4-FFF2-40B4-BE49-F238E27FC236}">
                <a16:creationId xmlns:a16="http://schemas.microsoft.com/office/drawing/2014/main" id="{BEC4F90D-0186-135F-AD16-A501822D4799}"/>
              </a:ext>
            </a:extLst>
          </p:cNvPr>
          <p:cNvSpPr txBox="1"/>
          <p:nvPr/>
        </p:nvSpPr>
        <p:spPr>
          <a:xfrm>
            <a:off x="401282" y="873072"/>
            <a:ext cx="8341435" cy="5632311"/>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Analysis of the Problem</a:t>
            </a: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For Vitis HLS, dd = 4(Acc) + 1(</a:t>
            </a:r>
            <a:r>
              <a:rPr lang="en-US" altLang="zh-CN" dirty="0" err="1">
                <a:latin typeface="Times New Roman" panose="02020603050405020304" pitchFamily="18" charset="0"/>
                <a:cs typeface="Times New Roman" panose="02020603050405020304" pitchFamily="18" charset="0"/>
              </a:rPr>
              <a:t>Wr</a:t>
            </a:r>
            <a:r>
              <a:rPr lang="en-US" altLang="zh-C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Serpens and </a:t>
            </a:r>
            <a:r>
              <a:rPr lang="en-US" altLang="zh-CN" dirty="0" err="1">
                <a:latin typeface="Times New Roman" panose="02020603050405020304" pitchFamily="18" charset="0"/>
                <a:cs typeface="Times New Roman" panose="02020603050405020304" pitchFamily="18" charset="0"/>
              </a:rPr>
              <a:t>HiSparse</a:t>
            </a:r>
            <a:r>
              <a:rPr lang="en-US" altLang="zh-CN" dirty="0">
                <a:latin typeface="Times New Roman" panose="02020603050405020304" pitchFamily="18" charset="0"/>
                <a:cs typeface="Times New Roman" panose="02020603050405020304" pitchFamily="18" charset="0"/>
              </a:rPr>
              <a:t>-RI: </a:t>
            </a:r>
          </a:p>
          <a:p>
            <a:pPr lvl="2"/>
            <a:r>
              <a:rPr lang="en-US" altLang="zh-CN" dirty="0">
                <a:latin typeface="Times New Roman" panose="02020603050405020304" pitchFamily="18" charset="0"/>
                <a:cs typeface="Times New Roman" panose="02020603050405020304" pitchFamily="18" charset="0"/>
              </a:rPr>
              <a:t>When dealing with an imbalanced Matrix, </a:t>
            </a:r>
            <a:r>
              <a:rPr lang="en-US" altLang="zh-CN" u="sng" dirty="0">
                <a:latin typeface="Times New Roman" panose="02020603050405020304" pitchFamily="18" charset="0"/>
                <a:cs typeface="Times New Roman" panose="02020603050405020304" pitchFamily="18" charset="0"/>
              </a:rPr>
              <a:t>there are not enough non-zeros available from other rows to fill this pipeline gap </a:t>
            </a:r>
            <a:r>
              <a:rPr lang="en-US" altLang="zh-CN" dirty="0">
                <a:latin typeface="Times New Roman" panose="02020603050405020304" pitchFamily="18" charset="0"/>
                <a:cs typeface="Times New Roman" panose="02020603050405020304" pitchFamily="18" charset="0"/>
              </a:rPr>
              <a:t>of this denser row.</a:t>
            </a:r>
          </a:p>
        </p:txBody>
      </p:sp>
      <p:pic>
        <p:nvPicPr>
          <p:cNvPr id="8" name="图片 7">
            <a:extLst>
              <a:ext uri="{FF2B5EF4-FFF2-40B4-BE49-F238E27FC236}">
                <a16:creationId xmlns:a16="http://schemas.microsoft.com/office/drawing/2014/main" id="{07959ECE-158C-C839-012A-9164C83B525D}"/>
              </a:ext>
            </a:extLst>
          </p:cNvPr>
          <p:cNvPicPr>
            <a:picLocks noChangeAspect="1"/>
          </p:cNvPicPr>
          <p:nvPr/>
        </p:nvPicPr>
        <p:blipFill>
          <a:blip r:embed="rId3"/>
          <a:stretch>
            <a:fillRect/>
          </a:stretch>
        </p:blipFill>
        <p:spPr>
          <a:xfrm>
            <a:off x="1899743" y="1305570"/>
            <a:ext cx="5344512" cy="3909130"/>
          </a:xfrm>
          <a:prstGeom prst="rect">
            <a:avLst/>
          </a:prstGeom>
        </p:spPr>
      </p:pic>
    </p:spTree>
    <p:extLst>
      <p:ext uri="{BB962C8B-B14F-4D97-AF65-F5344CB8AC3E}">
        <p14:creationId xmlns:p14="http://schemas.microsoft.com/office/powerpoint/2010/main" val="2552171986"/>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41686-8B31-4750-63B8-54B0C51358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EA4256-F0BC-F7D7-C484-731B27C117DD}"/>
              </a:ext>
            </a:extLst>
          </p:cNvPr>
          <p:cNvSpPr>
            <a:spLocks noGrp="1"/>
          </p:cNvSpPr>
          <p:nvPr>
            <p:ph type="title"/>
          </p:nvPr>
        </p:nvSpPr>
        <p:spPr/>
        <p:txBody>
          <a:bodyPr>
            <a:normAutofit/>
          </a:bodyPr>
          <a:lstStyle/>
          <a:p>
            <a:r>
              <a:rPr lang="en-US" altLang="zh-CN" dirty="0" err="1"/>
              <a:t>SpMV</a:t>
            </a:r>
            <a:r>
              <a:rPr lang="en-US" altLang="zh-CN" dirty="0"/>
              <a:t> – </a:t>
            </a:r>
            <a:r>
              <a:rPr lang="en-US" altLang="zh-CN" dirty="0">
                <a:latin typeface="Times New Roman" panose="02020603050405020304" pitchFamily="18" charset="0"/>
                <a:cs typeface="Times New Roman" panose="02020603050405020304" pitchFamily="18" charset="0"/>
              </a:rPr>
              <a:t>Long-Distance RAW Dependency</a:t>
            </a:r>
            <a:endParaRPr lang="zh-CN" altLang="en-US" dirty="0"/>
          </a:p>
        </p:txBody>
      </p:sp>
      <p:sp>
        <p:nvSpPr>
          <p:cNvPr id="3" name="文本框 2">
            <a:extLst>
              <a:ext uri="{FF2B5EF4-FFF2-40B4-BE49-F238E27FC236}">
                <a16:creationId xmlns:a16="http://schemas.microsoft.com/office/drawing/2014/main" id="{D8FD6BD8-1AFA-9582-DB5C-9559268471E6}"/>
              </a:ext>
            </a:extLst>
          </p:cNvPr>
          <p:cNvSpPr txBox="1"/>
          <p:nvPr/>
        </p:nvSpPr>
        <p:spPr>
          <a:xfrm>
            <a:off x="401282" y="873072"/>
            <a:ext cx="8341435" cy="5632311"/>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Analysis of the Problem</a:t>
            </a: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For Vitis HLS, dd = 4(Acc) + 1(</a:t>
            </a:r>
            <a:r>
              <a:rPr lang="en-US" altLang="zh-CN" dirty="0" err="1">
                <a:latin typeface="Times New Roman" panose="02020603050405020304" pitchFamily="18" charset="0"/>
                <a:cs typeface="Times New Roman" panose="02020603050405020304" pitchFamily="18" charset="0"/>
              </a:rPr>
              <a:t>Wr</a:t>
            </a:r>
            <a:r>
              <a:rPr lang="en-US" altLang="zh-C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Serpens and </a:t>
            </a:r>
            <a:r>
              <a:rPr lang="en-US" altLang="zh-CN" dirty="0" err="1">
                <a:latin typeface="Times New Roman" panose="02020603050405020304" pitchFamily="18" charset="0"/>
                <a:cs typeface="Times New Roman" panose="02020603050405020304" pitchFamily="18" charset="0"/>
              </a:rPr>
              <a:t>HiSparse</a:t>
            </a:r>
            <a:r>
              <a:rPr lang="en-US" altLang="zh-CN" dirty="0">
                <a:latin typeface="Times New Roman" panose="02020603050405020304" pitchFamily="18" charset="0"/>
                <a:cs typeface="Times New Roman" panose="02020603050405020304" pitchFamily="18" charset="0"/>
              </a:rPr>
              <a:t>-RI: </a:t>
            </a:r>
          </a:p>
          <a:p>
            <a:pPr lvl="2"/>
            <a:r>
              <a:rPr lang="en-US" altLang="zh-CN" dirty="0">
                <a:latin typeface="Times New Roman" panose="02020603050405020304" pitchFamily="18" charset="0"/>
                <a:cs typeface="Times New Roman" panose="02020603050405020304" pitchFamily="18" charset="0"/>
              </a:rPr>
              <a:t>When dealing with an imbalanced Matrix, </a:t>
            </a:r>
            <a:r>
              <a:rPr lang="en-US" altLang="zh-CN" u="sng" dirty="0">
                <a:latin typeface="Times New Roman" panose="02020603050405020304" pitchFamily="18" charset="0"/>
                <a:cs typeface="Times New Roman" panose="02020603050405020304" pitchFamily="18" charset="0"/>
              </a:rPr>
              <a:t>there are not enough non-zeros available from other rows to fill this pipeline gap </a:t>
            </a:r>
            <a:r>
              <a:rPr lang="en-US" altLang="zh-CN" dirty="0">
                <a:latin typeface="Times New Roman" panose="02020603050405020304" pitchFamily="18" charset="0"/>
                <a:cs typeface="Times New Roman" panose="02020603050405020304" pitchFamily="18" charset="0"/>
              </a:rPr>
              <a:t>of this denser row.</a:t>
            </a:r>
          </a:p>
          <a:p>
            <a:pPr lvl="1"/>
            <a:endParaRPr lang="en-US" altLang="zh-C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ü"/>
            </a:pPr>
            <a:r>
              <a:rPr lang="en-US" altLang="zh-CN" dirty="0" err="1">
                <a:latin typeface="Times New Roman" panose="02020603050405020304" pitchFamily="18" charset="0"/>
                <a:cs typeface="Times New Roman" panose="02020603050405020304" pitchFamily="18" charset="0"/>
              </a:rPr>
              <a:t>HiSparse</a:t>
            </a:r>
            <a:r>
              <a:rPr lang="en-US" altLang="zh-CN" dirty="0">
                <a:latin typeface="Times New Roman" panose="02020603050405020304" pitchFamily="18" charset="0"/>
                <a:cs typeface="Times New Roman" panose="02020603050405020304" pitchFamily="18" charset="0"/>
              </a:rPr>
              <a:t> uses an in-flight-wait queue (IFWQ) to store results in local registers</a:t>
            </a:r>
          </a:p>
          <a:p>
            <a:pPr lvl="2"/>
            <a:r>
              <a:rPr lang="en-US" altLang="zh-CN" dirty="0">
                <a:latin typeface="Times New Roman" panose="02020603050405020304" pitchFamily="18" charset="0"/>
                <a:cs typeface="Times New Roman" panose="02020603050405020304" pitchFamily="18" charset="0"/>
              </a:rPr>
              <a:t>However, to ensure correct values are used, it needs to check whether the required result is in the queue by </a:t>
            </a:r>
            <a:r>
              <a:rPr lang="en-US" altLang="zh-CN" u="sng" dirty="0">
                <a:latin typeface="Times New Roman" panose="02020603050405020304" pitchFamily="18" charset="0"/>
                <a:cs typeface="Times New Roman" panose="02020603050405020304" pitchFamily="18" charset="0"/>
              </a:rPr>
              <a:t>comparing row indices with every single element in the queue</a:t>
            </a:r>
            <a:r>
              <a:rPr lang="en-US" altLang="zh-CN" dirty="0">
                <a:latin typeface="Times New Roman" panose="02020603050405020304" pitchFamily="18" charset="0"/>
                <a:cs typeface="Times New Roman" panose="02020603050405020304" pitchFamily="18" charset="0"/>
              </a:rPr>
              <a:t>. This leads to unnecessary resource overhead.</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Proposed Solution</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register-based </a:t>
            </a:r>
            <a:r>
              <a:rPr lang="en-US" altLang="zh-CN" b="1" dirty="0">
                <a:latin typeface="Times New Roman" panose="02020603050405020304" pitchFamily="18" charset="0"/>
                <a:cs typeface="Times New Roman" panose="02020603050405020304" pitchFamily="18" charset="0"/>
              </a:rPr>
              <a:t>circular buffer </a:t>
            </a:r>
            <a:r>
              <a:rPr lang="en-US" altLang="zh-CN" dirty="0">
                <a:latin typeface="Times New Roman" panose="02020603050405020304" pitchFamily="18" charset="0"/>
                <a:cs typeface="Times New Roman" panose="02020603050405020304" pitchFamily="18" charset="0"/>
              </a:rPr>
              <a:t>to half the dependency distance</a:t>
            </a:r>
          </a:p>
          <a:p>
            <a:pPr marL="742950" lvl="1" indent="-285750">
              <a:buFont typeface="Wingdings" panose="05000000000000000000" pitchFamily="2" charset="2"/>
              <a:buChar char="ü"/>
            </a:pPr>
            <a:r>
              <a:rPr lang="en-US" altLang="zh-CN" b="1" dirty="0">
                <a:latin typeface="Times New Roman" panose="02020603050405020304" pitchFamily="18" charset="0"/>
                <a:cs typeface="Times New Roman" panose="02020603050405020304" pitchFamily="18" charset="0"/>
              </a:rPr>
              <a:t>adder chain </a:t>
            </a:r>
            <a:r>
              <a:rPr lang="en-US" altLang="zh-CN" dirty="0">
                <a:latin typeface="Times New Roman" panose="02020603050405020304" pitchFamily="18" charset="0"/>
                <a:cs typeface="Times New Roman" panose="02020603050405020304" pitchFamily="18" charset="0"/>
              </a:rPr>
              <a:t>to achieve full pipelining of the FP accumulation process without the need for out-of-order scheduling or bubbles in the pipeline</a:t>
            </a:r>
          </a:p>
        </p:txBody>
      </p:sp>
      <p:pic>
        <p:nvPicPr>
          <p:cNvPr id="4" name="图片 3">
            <a:extLst>
              <a:ext uri="{FF2B5EF4-FFF2-40B4-BE49-F238E27FC236}">
                <a16:creationId xmlns:a16="http://schemas.microsoft.com/office/drawing/2014/main" id="{F47FB6D1-8278-6620-FD05-1FE65A0514B6}"/>
              </a:ext>
            </a:extLst>
          </p:cNvPr>
          <p:cNvPicPr>
            <a:picLocks noChangeAspect="1"/>
          </p:cNvPicPr>
          <p:nvPr/>
        </p:nvPicPr>
        <p:blipFill>
          <a:blip r:embed="rId3"/>
          <a:srcRect b="67502"/>
          <a:stretch/>
        </p:blipFill>
        <p:spPr>
          <a:xfrm>
            <a:off x="2362199" y="1356130"/>
            <a:ext cx="4419600" cy="1108300"/>
          </a:xfrm>
          <a:prstGeom prst="rect">
            <a:avLst/>
          </a:prstGeom>
        </p:spPr>
      </p:pic>
    </p:spTree>
    <p:extLst>
      <p:ext uri="{BB962C8B-B14F-4D97-AF65-F5344CB8AC3E}">
        <p14:creationId xmlns:p14="http://schemas.microsoft.com/office/powerpoint/2010/main" val="1755678105"/>
      </p:ext>
    </p:extLst>
  </p:cSld>
  <p:clrMapOvr>
    <a:masterClrMapping/>
  </p:clrMapOvr>
  <mc:AlternateContent xmlns:mc="http://schemas.openxmlformats.org/markup-compatibility/2006">
    <mc:Choice xmlns:p14="http://schemas.microsoft.com/office/powerpoint/2010/main" Requires="p14">
      <p:transition spd="slow" p14:dur="2000" advTm="53944"/>
    </mc:Choice>
    <mc:Fallback>
      <p:transition spd="slow" advTm="5394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9D0E-803A-37F1-F500-B1DB435C49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BE6B9F2-003F-F625-01E8-538D80792EFC}"/>
              </a:ext>
            </a:extLst>
          </p:cNvPr>
          <p:cNvSpPr>
            <a:spLocks noGrp="1"/>
          </p:cNvSpPr>
          <p:nvPr>
            <p:ph type="title"/>
          </p:nvPr>
        </p:nvSpPr>
        <p:spPr/>
        <p:txBody>
          <a:bodyPr>
            <a:normAutofit/>
          </a:bodyPr>
          <a:lstStyle/>
          <a:p>
            <a:r>
              <a:rPr lang="en-US" altLang="zh-CN" dirty="0" err="1"/>
              <a:t>SpMV</a:t>
            </a:r>
            <a:r>
              <a:rPr lang="en-US" altLang="zh-CN" dirty="0"/>
              <a:t> – </a:t>
            </a:r>
            <a:r>
              <a:rPr lang="en-US" altLang="zh-CN" dirty="0">
                <a:latin typeface="Times New Roman" panose="02020603050405020304" pitchFamily="18" charset="0"/>
                <a:cs typeface="Times New Roman" panose="02020603050405020304" pitchFamily="18" charset="0"/>
              </a:rPr>
              <a:t>Long-Distance RAW Dependency</a:t>
            </a:r>
            <a:endParaRPr lang="zh-CN" altLang="en-US" dirty="0"/>
          </a:p>
        </p:txBody>
      </p:sp>
      <p:sp>
        <p:nvSpPr>
          <p:cNvPr id="3" name="文本框 2">
            <a:extLst>
              <a:ext uri="{FF2B5EF4-FFF2-40B4-BE49-F238E27FC236}">
                <a16:creationId xmlns:a16="http://schemas.microsoft.com/office/drawing/2014/main" id="{A2556DE6-A260-61D4-2E03-C0156892C68A}"/>
              </a:ext>
            </a:extLst>
          </p:cNvPr>
          <p:cNvSpPr txBox="1"/>
          <p:nvPr/>
        </p:nvSpPr>
        <p:spPr>
          <a:xfrm>
            <a:off x="401282" y="873072"/>
            <a:ext cx="8341435" cy="5632311"/>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Overlooked bottlenecks</a:t>
            </a: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r>
              <a:rPr lang="en-US" altLang="zh-CN" dirty="0">
                <a:latin typeface="Times New Roman" panose="02020603050405020304" pitchFamily="18" charset="0"/>
                <a:cs typeface="Times New Roman" panose="02020603050405020304" pitchFamily="18" charset="0"/>
              </a:rPr>
              <a:t>For very low-density matrices (e.g., ρ ≤ 10−4), two new bottlenecks arise:</a:t>
            </a:r>
          </a:p>
          <a:p>
            <a:pPr lvl="1"/>
            <a:r>
              <a:rPr lang="en-US" altLang="zh-CN" dirty="0">
                <a:latin typeface="Times New Roman" panose="02020603050405020304" pitchFamily="18" charset="0"/>
                <a:cs typeface="Times New Roman" panose="02020603050405020304" pitchFamily="18" charset="0"/>
              </a:rPr>
              <a:t>	1) loading the input dense vector</a:t>
            </a:r>
          </a:p>
          <a:p>
            <a:pPr lvl="1"/>
            <a:r>
              <a:rPr lang="en-US" altLang="zh-CN" dirty="0">
                <a:latin typeface="Times New Roman" panose="02020603050405020304" pitchFamily="18" charset="0"/>
                <a:cs typeface="Times New Roman" panose="02020603050405020304" pitchFamily="18" charset="0"/>
              </a:rPr>
              <a:t>	2) streaming and computing the output  dense vector</a:t>
            </a: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Proposed Solution</a:t>
            </a:r>
          </a:p>
          <a:p>
            <a:pPr lvl="1"/>
            <a:r>
              <a:rPr lang="en-US" altLang="zh-CN" b="1" dirty="0">
                <a:latin typeface="Times New Roman" panose="02020603050405020304" pitchFamily="18" charset="0"/>
                <a:cs typeface="Times New Roman" panose="02020603050405020304" pitchFamily="18" charset="0"/>
              </a:rPr>
              <a:t>Hybrid buffering</a:t>
            </a:r>
            <a:r>
              <a:rPr lang="en-US" altLang="zh-CN" dirty="0">
                <a:latin typeface="Times New Roman" panose="02020603050405020304" pitchFamily="18" charset="0"/>
                <a:cs typeface="Times New Roman" panose="02020603050405020304" pitchFamily="18" charset="0"/>
              </a:rPr>
              <a:t>: private partitioned buffering mode &amp; ping-pong buffering mode</a:t>
            </a:r>
          </a:p>
        </p:txBody>
      </p:sp>
      <p:pic>
        <p:nvPicPr>
          <p:cNvPr id="5" name="Picture 2">
            <a:extLst>
              <a:ext uri="{FF2B5EF4-FFF2-40B4-BE49-F238E27FC236}">
                <a16:creationId xmlns:a16="http://schemas.microsoft.com/office/drawing/2014/main" id="{A9306CAC-3951-8BF6-6C35-F7880AC732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3337"/>
          <a:stretch/>
        </p:blipFill>
        <p:spPr bwMode="auto">
          <a:xfrm>
            <a:off x="2204224" y="1227303"/>
            <a:ext cx="4735552" cy="3531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875580"/>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7C04-D9D3-9B20-C748-E78D4E2376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2CB171-8C0C-F06D-42C6-E3F200DDF7DD}"/>
              </a:ext>
            </a:extLst>
          </p:cNvPr>
          <p:cNvSpPr>
            <a:spLocks noGrp="1"/>
          </p:cNvSpPr>
          <p:nvPr>
            <p:ph type="title"/>
          </p:nvPr>
        </p:nvSpPr>
        <p:spPr/>
        <p:txBody>
          <a:bodyPr>
            <a:normAutofit/>
          </a:bodyPr>
          <a:lstStyle/>
          <a:p>
            <a:r>
              <a:rPr lang="en-US" altLang="zh-CN" dirty="0" err="1"/>
              <a:t>SpMV</a:t>
            </a:r>
            <a:r>
              <a:rPr lang="en-US" altLang="zh-CN" dirty="0"/>
              <a:t> – Corresponding Solutions</a:t>
            </a:r>
            <a:endParaRPr lang="zh-CN" altLang="en-US" dirty="0"/>
          </a:p>
        </p:txBody>
      </p:sp>
      <p:sp>
        <p:nvSpPr>
          <p:cNvPr id="5" name="文本框 4">
            <a:extLst>
              <a:ext uri="{FF2B5EF4-FFF2-40B4-BE49-F238E27FC236}">
                <a16:creationId xmlns:a16="http://schemas.microsoft.com/office/drawing/2014/main" id="{690D4553-81A9-E9D4-0F83-4EBD6F984569}"/>
              </a:ext>
            </a:extLst>
          </p:cNvPr>
          <p:cNvSpPr txBox="1"/>
          <p:nvPr/>
        </p:nvSpPr>
        <p:spPr>
          <a:xfrm>
            <a:off x="159834" y="1569504"/>
            <a:ext cx="3989410" cy="4524315"/>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Imbalanced Workload among PEs</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Long-Distance RAW Dependency</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FP calculator IP requires several cycles to compute (dd=4+1)</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New bottleneck: the memory access of dense input vector</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Ping-pong buffer or </a:t>
            </a:r>
            <a:r>
              <a:rPr lang="en-US" altLang="zh-CN" u="sng" dirty="0">
                <a:latin typeface="Times New Roman" panose="02020603050405020304" pitchFamily="18" charset="0"/>
                <a:cs typeface="Times New Roman" panose="02020603050405020304" pitchFamily="18" charset="0"/>
              </a:rPr>
              <a:t>other better solution?</a:t>
            </a:r>
          </a:p>
          <a:p>
            <a:pPr marL="742950" lvl="1" indent="-285750">
              <a:buFont typeface="Wingdings" panose="05000000000000000000" pitchFamily="2" charset="2"/>
              <a:buChar char="ü"/>
            </a:pPr>
            <a:endParaRPr lang="zh-CN" altLang="en-US"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02628EE8-96E5-8D1A-F631-8878A15E4FD3}"/>
              </a:ext>
            </a:extLst>
          </p:cNvPr>
          <p:cNvSpPr txBox="1"/>
          <p:nvPr/>
        </p:nvSpPr>
        <p:spPr>
          <a:xfrm>
            <a:off x="5154590" y="1569503"/>
            <a:ext cx="3989410" cy="4801314"/>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Hybrid Row Distribution Network</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Fully Pipelined Floating-Point Accumulation</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Hybrid Buffering For Input Vector</a:t>
            </a: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Automation Tool</a:t>
            </a:r>
          </a:p>
          <a:p>
            <a:pPr marL="742950" lvl="1"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automatically generate the optimized </a:t>
            </a:r>
            <a:r>
              <a:rPr lang="en-US" altLang="zh-CN" dirty="0" err="1">
                <a:latin typeface="Times New Roman" panose="02020603050405020304" pitchFamily="18" charset="0"/>
                <a:cs typeface="Times New Roman" panose="02020603050405020304" pitchFamily="18" charset="0"/>
              </a:rPr>
              <a:t>HiSpMV</a:t>
            </a:r>
            <a:r>
              <a:rPr lang="en-US" altLang="zh-CN" dirty="0">
                <a:latin typeface="Times New Roman" panose="02020603050405020304" pitchFamily="18" charset="0"/>
                <a:cs typeface="Times New Roman" panose="02020603050405020304" pitchFamily="18" charset="0"/>
              </a:rPr>
              <a:t> design in Vitis high-level synthesis (HLS) </a:t>
            </a:r>
            <a:endParaRPr lang="zh-CN" altLang="en-US" dirty="0">
              <a:latin typeface="Times New Roman" panose="02020603050405020304" pitchFamily="18" charset="0"/>
              <a:cs typeface="Times New Roman" panose="02020603050405020304" pitchFamily="18" charset="0"/>
            </a:endParaRPr>
          </a:p>
        </p:txBody>
      </p:sp>
      <p:cxnSp>
        <p:nvCxnSpPr>
          <p:cNvPr id="8" name="直接箭头连接符 7">
            <a:extLst>
              <a:ext uri="{FF2B5EF4-FFF2-40B4-BE49-F238E27FC236}">
                <a16:creationId xmlns:a16="http://schemas.microsoft.com/office/drawing/2014/main" id="{19469E02-55D7-39B6-0E9E-98F76CAA54CE}"/>
              </a:ext>
            </a:extLst>
          </p:cNvPr>
          <p:cNvCxnSpPr/>
          <p:nvPr/>
        </p:nvCxnSpPr>
        <p:spPr>
          <a:xfrm>
            <a:off x="3856008" y="1751162"/>
            <a:ext cx="1298582"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9" name="直接箭头连接符 8">
            <a:extLst>
              <a:ext uri="{FF2B5EF4-FFF2-40B4-BE49-F238E27FC236}">
                <a16:creationId xmlns:a16="http://schemas.microsoft.com/office/drawing/2014/main" id="{7395FE58-DCDF-04DF-CC53-9AE9BC777585}"/>
              </a:ext>
            </a:extLst>
          </p:cNvPr>
          <p:cNvCxnSpPr>
            <a:cxnSpLocks/>
          </p:cNvCxnSpPr>
          <p:nvPr/>
        </p:nvCxnSpPr>
        <p:spPr>
          <a:xfrm flipV="1">
            <a:off x="3976777" y="3163019"/>
            <a:ext cx="1244514" cy="265981"/>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11" name="直接箭头连接符 10">
            <a:extLst>
              <a:ext uri="{FF2B5EF4-FFF2-40B4-BE49-F238E27FC236}">
                <a16:creationId xmlns:a16="http://schemas.microsoft.com/office/drawing/2014/main" id="{6238631F-EA57-3379-C87E-22B82CCAEAAC}"/>
              </a:ext>
            </a:extLst>
          </p:cNvPr>
          <p:cNvCxnSpPr>
            <a:cxnSpLocks/>
          </p:cNvCxnSpPr>
          <p:nvPr/>
        </p:nvCxnSpPr>
        <p:spPr>
          <a:xfrm flipV="1">
            <a:off x="3976777" y="4209691"/>
            <a:ext cx="1244514" cy="897147"/>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4258162702"/>
      </p:ext>
    </p:extLst>
  </p:cSld>
  <p:clrMapOvr>
    <a:masterClrMapping/>
  </p:clrMapOvr>
  <mc:AlternateContent xmlns:mc="http://schemas.openxmlformats.org/markup-compatibility/2006" xmlns:p14="http://schemas.microsoft.com/office/powerpoint/2010/main">
    <mc:Choice Requires="p14">
      <p:transition spd="slow" p14:dur="2000" advTm="53944"/>
    </mc:Choice>
    <mc:Fallback xmlns="">
      <p:transition spd="slow" advTm="5394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0983A-56BA-C080-E252-D63EBD3E9971}"/>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3FA1987-2042-48AC-F4DF-15046EB3B4BB}"/>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C023FEFA-2E49-E0C2-2D38-F4683E9D67B3}"/>
              </a:ext>
            </a:extLst>
          </p:cNvPr>
          <p:cNvGrpSpPr/>
          <p:nvPr/>
        </p:nvGrpSpPr>
        <p:grpSpPr>
          <a:xfrm>
            <a:off x="2476502" y="4896177"/>
            <a:ext cx="4487372" cy="494767"/>
            <a:chOff x="2254250" y="3340100"/>
            <a:chExt cx="4811810" cy="712614"/>
          </a:xfrm>
        </p:grpSpPr>
        <p:sp>
          <p:nvSpPr>
            <p:cNvPr id="27" name="矩形: 圆角 26">
              <a:extLst>
                <a:ext uri="{FF2B5EF4-FFF2-40B4-BE49-F238E27FC236}">
                  <a16:creationId xmlns:a16="http://schemas.microsoft.com/office/drawing/2014/main" id="{0FA0D2F9-9883-9BDE-A0FA-26EB574A9202}"/>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E219CB0F-82E4-D5B3-B7B7-F42276C18EF2}"/>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Evaluation</a:t>
              </a:r>
            </a:p>
          </p:txBody>
        </p:sp>
        <p:sp>
          <p:nvSpPr>
            <p:cNvPr id="28" name="矩形: 圆角 27">
              <a:extLst>
                <a:ext uri="{FF2B5EF4-FFF2-40B4-BE49-F238E27FC236}">
                  <a16:creationId xmlns:a16="http://schemas.microsoft.com/office/drawing/2014/main" id="{DF8B3A32-1999-8056-30DE-6E162CAC226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0E158029-0AA5-EB35-2471-618231F516A0}"/>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4FAB7120-70BF-4158-B0EA-3D91B7BCB9C1}"/>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F5EE0A15-49F9-677A-0037-56CE37321B0D}"/>
              </a:ext>
            </a:extLst>
          </p:cNvPr>
          <p:cNvGrpSpPr/>
          <p:nvPr/>
        </p:nvGrpSpPr>
        <p:grpSpPr>
          <a:xfrm>
            <a:off x="2482906" y="2838679"/>
            <a:ext cx="4487372" cy="494767"/>
            <a:chOff x="2254250" y="3340100"/>
            <a:chExt cx="4811810" cy="712614"/>
          </a:xfrm>
        </p:grpSpPr>
        <p:sp>
          <p:nvSpPr>
            <p:cNvPr id="33" name="矩形: 圆角 26">
              <a:extLst>
                <a:ext uri="{FF2B5EF4-FFF2-40B4-BE49-F238E27FC236}">
                  <a16:creationId xmlns:a16="http://schemas.microsoft.com/office/drawing/2014/main" id="{093EB15D-3F30-BCA3-14F7-A9EA0A0EB180}"/>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1232C633-DDF9-58E8-F987-0FF23BDC3815}"/>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01DAF8DC-A31D-45C8-08EC-94853F4E8996}"/>
              </a:ext>
            </a:extLst>
          </p:cNvPr>
          <p:cNvGrpSpPr/>
          <p:nvPr/>
        </p:nvGrpSpPr>
        <p:grpSpPr>
          <a:xfrm>
            <a:off x="2482906" y="4210301"/>
            <a:ext cx="4493776" cy="494767"/>
            <a:chOff x="2254250" y="2386893"/>
            <a:chExt cx="4642115" cy="712614"/>
          </a:xfrm>
        </p:grpSpPr>
        <p:sp>
          <p:nvSpPr>
            <p:cNvPr id="38" name="矩形: 圆角 40">
              <a:extLst>
                <a:ext uri="{FF2B5EF4-FFF2-40B4-BE49-F238E27FC236}">
                  <a16:creationId xmlns:a16="http://schemas.microsoft.com/office/drawing/2014/main" id="{C5495B3F-D569-FB83-4E52-3A48079092A7}"/>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B4D2DDB3-8A55-155E-212E-54E377E88F7D}"/>
                </a:ext>
              </a:extLst>
            </p:cNvPr>
            <p:cNvSpPr txBox="1"/>
            <p:nvPr/>
          </p:nvSpPr>
          <p:spPr>
            <a:xfrm>
              <a:off x="2904639" y="2410730"/>
              <a:ext cx="3991726" cy="664937"/>
            </a:xfrm>
            <a:prstGeom prst="rect">
              <a:avLst/>
            </a:prstGeom>
            <a:noFill/>
          </p:spPr>
          <p:txBody>
            <a:bodyPr wrap="square">
              <a:spAutoFit/>
            </a:bodyPr>
            <a:lstStyle/>
            <a:p>
              <a:pPr lvl="0">
                <a:defRPr/>
              </a:pPr>
              <a:r>
                <a:rPr lang="en-US" altLang="zh-CN" sz="2400" b="1" dirty="0" err="1">
                  <a:solidFill>
                    <a:srgbClr val="FFFFFF"/>
                  </a:solidFill>
                </a:rPr>
                <a:t>HiSpMV</a:t>
              </a:r>
              <a:r>
                <a:rPr lang="en-US" altLang="zh-CN" sz="2400" b="1" dirty="0">
                  <a:solidFill>
                    <a:srgbClr val="FFFFFF"/>
                  </a:solidFill>
                </a:rPr>
                <a:t> Architecture</a:t>
              </a:r>
            </a:p>
          </p:txBody>
        </p:sp>
        <p:sp>
          <p:nvSpPr>
            <p:cNvPr id="40" name="矩形: 圆角 42">
              <a:extLst>
                <a:ext uri="{FF2B5EF4-FFF2-40B4-BE49-F238E27FC236}">
                  <a16:creationId xmlns:a16="http://schemas.microsoft.com/office/drawing/2014/main" id="{CB6A3822-B1F5-4CAD-74AD-11C91F89FE65}"/>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3</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9E386D2E-0C70-94B7-B9A5-43865C4A5CB0}"/>
              </a:ext>
            </a:extLst>
          </p:cNvPr>
          <p:cNvSpPr txBox="1"/>
          <p:nvPr/>
        </p:nvSpPr>
        <p:spPr>
          <a:xfrm>
            <a:off x="3076869" y="2855229"/>
            <a:ext cx="4134814" cy="461665"/>
          </a:xfrm>
          <a:prstGeom prst="rect">
            <a:avLst/>
          </a:prstGeom>
          <a:noFill/>
        </p:spPr>
        <p:txBody>
          <a:bodyPr wrap="square">
            <a:spAutoFit/>
          </a:bodyPr>
          <a:lstStyle/>
          <a:p>
            <a:pPr lvl="0">
              <a:defRPr/>
            </a:pPr>
            <a:r>
              <a:rPr lang="en-US" altLang="zh-CN" sz="2400" b="1" dirty="0">
                <a:solidFill>
                  <a:schemeClr val="accent2"/>
                </a:solidFill>
              </a:rPr>
              <a:t>Background</a:t>
            </a:r>
          </a:p>
        </p:txBody>
      </p:sp>
      <p:grpSp>
        <p:nvGrpSpPr>
          <p:cNvPr id="11" name="组合 10">
            <a:extLst>
              <a:ext uri="{FF2B5EF4-FFF2-40B4-BE49-F238E27FC236}">
                <a16:creationId xmlns:a16="http://schemas.microsoft.com/office/drawing/2014/main" id="{E926AE53-450E-97FE-0C72-FCAFE2A0EF83}"/>
              </a:ext>
            </a:extLst>
          </p:cNvPr>
          <p:cNvGrpSpPr/>
          <p:nvPr/>
        </p:nvGrpSpPr>
        <p:grpSpPr>
          <a:xfrm>
            <a:off x="2489310" y="3524489"/>
            <a:ext cx="4487372" cy="494767"/>
            <a:chOff x="2254250" y="3340100"/>
            <a:chExt cx="4811810" cy="712614"/>
          </a:xfrm>
        </p:grpSpPr>
        <p:sp>
          <p:nvSpPr>
            <p:cNvPr id="12" name="矩形: 圆角 11">
              <a:extLst>
                <a:ext uri="{FF2B5EF4-FFF2-40B4-BE49-F238E27FC236}">
                  <a16:creationId xmlns:a16="http://schemas.microsoft.com/office/drawing/2014/main" id="{E062C6F7-291E-E4B9-E166-AD7C2EA4B795}"/>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2F81C6C4-4A21-2908-D30E-6EA87F55A8F0}"/>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14" name="矩形: 圆角 13">
              <a:extLst>
                <a:ext uri="{FF2B5EF4-FFF2-40B4-BE49-F238E27FC236}">
                  <a16:creationId xmlns:a16="http://schemas.microsoft.com/office/drawing/2014/main" id="{5A5C170A-1671-1043-ECD0-7CDB16E36EED}"/>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3719461428"/>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Overall Architecture</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2" name="文本框 1">
            <a:extLst>
              <a:ext uri="{FF2B5EF4-FFF2-40B4-BE49-F238E27FC236}">
                <a16:creationId xmlns:a16="http://schemas.microsoft.com/office/drawing/2014/main" id="{4BCFAE88-D836-613B-832D-42709F1E9E55}"/>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pic>
        <p:nvPicPr>
          <p:cNvPr id="4" name="图片 3">
            <a:extLst>
              <a:ext uri="{FF2B5EF4-FFF2-40B4-BE49-F238E27FC236}">
                <a16:creationId xmlns:a16="http://schemas.microsoft.com/office/drawing/2014/main" id="{31740A7A-0FFA-51BE-4AA5-85DEDF06D427}"/>
              </a:ext>
            </a:extLst>
          </p:cNvPr>
          <p:cNvPicPr>
            <a:picLocks noChangeAspect="1"/>
          </p:cNvPicPr>
          <p:nvPr/>
        </p:nvPicPr>
        <p:blipFill>
          <a:blip r:embed="rId3"/>
          <a:stretch>
            <a:fillRect/>
          </a:stretch>
        </p:blipFill>
        <p:spPr>
          <a:xfrm>
            <a:off x="1758383" y="1020569"/>
            <a:ext cx="5627233" cy="5386198"/>
          </a:xfrm>
          <a:prstGeom prst="rect">
            <a:avLst/>
          </a:prstGeom>
        </p:spPr>
      </p:pic>
      <p:sp>
        <p:nvSpPr>
          <p:cNvPr id="6" name="文本框 5">
            <a:extLst>
              <a:ext uri="{FF2B5EF4-FFF2-40B4-BE49-F238E27FC236}">
                <a16:creationId xmlns:a16="http://schemas.microsoft.com/office/drawing/2014/main" id="{313F273C-5CAB-84B2-1701-6BBBFFEC1121}"/>
              </a:ext>
            </a:extLst>
          </p:cNvPr>
          <p:cNvSpPr txBox="1"/>
          <p:nvPr/>
        </p:nvSpPr>
        <p:spPr>
          <a:xfrm>
            <a:off x="363525" y="1679453"/>
            <a:ext cx="1155939"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 PEG in 1 Channel</a:t>
            </a:r>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9C9E3978-9464-641D-6916-29A0F8B7BB2D}"/>
              </a:ext>
            </a:extLst>
          </p:cNvPr>
          <p:cNvSpPr txBox="1"/>
          <p:nvPr/>
        </p:nvSpPr>
        <p:spPr>
          <a:xfrm>
            <a:off x="178760" y="1167218"/>
            <a:ext cx="152546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 PE in 1 PEG</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434102"/>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03588-C5F4-AE4D-8501-8495F2986C2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74C57AE-843E-F4C6-46ED-021AC8E9F1F2}"/>
              </a:ext>
            </a:extLst>
          </p:cNvPr>
          <p:cNvSpPr>
            <a:spLocks noGrp="1"/>
          </p:cNvSpPr>
          <p:nvPr>
            <p:ph type="title"/>
          </p:nvPr>
        </p:nvSpPr>
        <p:spPr/>
        <p:txBody>
          <a:bodyPr>
            <a:normAutofit/>
          </a:bodyPr>
          <a:lstStyle/>
          <a:p>
            <a:r>
              <a:rPr lang="en-US" altLang="zh-CN" dirty="0"/>
              <a:t>Overall Architecture</a:t>
            </a:r>
          </a:p>
        </p:txBody>
      </p:sp>
      <p:sp>
        <p:nvSpPr>
          <p:cNvPr id="2" name="文本框 1">
            <a:extLst>
              <a:ext uri="{FF2B5EF4-FFF2-40B4-BE49-F238E27FC236}">
                <a16:creationId xmlns:a16="http://schemas.microsoft.com/office/drawing/2014/main" id="{1B8F4012-8653-8F4B-83BA-2A8C19F1C25B}"/>
              </a:ext>
            </a:extLst>
          </p:cNvPr>
          <p:cNvSpPr txBox="1"/>
          <p:nvPr/>
        </p:nvSpPr>
        <p:spPr>
          <a:xfrm>
            <a:off x="7091494" y="310631"/>
            <a:ext cx="2138081" cy="369332"/>
          </a:xfrm>
          <a:prstGeom prst="rect">
            <a:avLst/>
          </a:prstGeom>
          <a:noFill/>
        </p:spPr>
        <p:txBody>
          <a:bodyPr wrap="square" rtlCol="0">
            <a:spAutoFit/>
          </a:bodyPr>
          <a:lstStyle/>
          <a:p>
            <a:r>
              <a:rPr lang="en-US" altLang="zh-CN" b="1" dirty="0"/>
              <a:t>2024 ACM/SIGDA</a:t>
            </a:r>
          </a:p>
        </p:txBody>
      </p:sp>
      <p:pic>
        <p:nvPicPr>
          <p:cNvPr id="4" name="图片 3">
            <a:extLst>
              <a:ext uri="{FF2B5EF4-FFF2-40B4-BE49-F238E27FC236}">
                <a16:creationId xmlns:a16="http://schemas.microsoft.com/office/drawing/2014/main" id="{9553FCE5-710C-A552-3C5E-336443CEDB2B}"/>
              </a:ext>
            </a:extLst>
          </p:cNvPr>
          <p:cNvPicPr>
            <a:picLocks noChangeAspect="1"/>
          </p:cNvPicPr>
          <p:nvPr/>
        </p:nvPicPr>
        <p:blipFill>
          <a:blip r:embed="rId3"/>
          <a:stretch>
            <a:fillRect/>
          </a:stretch>
        </p:blipFill>
        <p:spPr>
          <a:xfrm>
            <a:off x="2956050" y="821324"/>
            <a:ext cx="3772919" cy="3611311"/>
          </a:xfrm>
          <a:prstGeom prst="rect">
            <a:avLst/>
          </a:prstGeom>
        </p:spPr>
      </p:pic>
      <p:pic>
        <p:nvPicPr>
          <p:cNvPr id="5" name="图片 4">
            <a:extLst>
              <a:ext uri="{FF2B5EF4-FFF2-40B4-BE49-F238E27FC236}">
                <a16:creationId xmlns:a16="http://schemas.microsoft.com/office/drawing/2014/main" id="{4F5FEF1C-B4EC-B46F-1364-8DD80FDE65AB}"/>
              </a:ext>
            </a:extLst>
          </p:cNvPr>
          <p:cNvPicPr>
            <a:picLocks noChangeAspect="1"/>
          </p:cNvPicPr>
          <p:nvPr/>
        </p:nvPicPr>
        <p:blipFill>
          <a:blip r:embed="rId4"/>
          <a:stretch>
            <a:fillRect/>
          </a:stretch>
        </p:blipFill>
        <p:spPr>
          <a:xfrm>
            <a:off x="1433830" y="4432635"/>
            <a:ext cx="6819900" cy="2421515"/>
          </a:xfrm>
          <a:prstGeom prst="rect">
            <a:avLst/>
          </a:prstGeom>
        </p:spPr>
      </p:pic>
      <p:sp>
        <p:nvSpPr>
          <p:cNvPr id="7" name="文本框 6">
            <a:extLst>
              <a:ext uri="{FF2B5EF4-FFF2-40B4-BE49-F238E27FC236}">
                <a16:creationId xmlns:a16="http://schemas.microsoft.com/office/drawing/2014/main" id="{CFB0E03D-6306-EC34-B874-93891B2E3DB0}"/>
              </a:ext>
            </a:extLst>
          </p:cNvPr>
          <p:cNvSpPr txBox="1"/>
          <p:nvPr/>
        </p:nvSpPr>
        <p:spPr>
          <a:xfrm>
            <a:off x="142295" y="1718677"/>
            <a:ext cx="2631656" cy="286232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The HiSpMV scheme greatly improves the performance of </a:t>
            </a:r>
            <a:r>
              <a:rPr lang="zh-CN" altLang="en-US" b="1" dirty="0">
                <a:latin typeface="Times New Roman" panose="02020603050405020304" pitchFamily="18" charset="0"/>
                <a:cs typeface="Times New Roman" panose="02020603050405020304" pitchFamily="18" charset="0"/>
              </a:rPr>
              <a:t>unbalanced</a:t>
            </a:r>
            <a:r>
              <a:rPr lang="zh-CN" altLang="en-US" dirty="0">
                <a:latin typeface="Times New Roman" panose="02020603050405020304" pitchFamily="18" charset="0"/>
                <a:cs typeface="Times New Roman" panose="02020603050405020304" pitchFamily="18" charset="0"/>
              </a:rPr>
              <a:t> and </a:t>
            </a:r>
            <a:r>
              <a:rPr lang="zh-CN" altLang="en-US" b="1" dirty="0">
                <a:latin typeface="Times New Roman" panose="02020603050405020304" pitchFamily="18" charset="0"/>
                <a:cs typeface="Times New Roman" panose="02020603050405020304" pitchFamily="18" charset="0"/>
              </a:rPr>
              <a:t>balanced</a:t>
            </a:r>
            <a:r>
              <a:rPr lang="zh-CN" altLang="en-US" dirty="0">
                <a:latin typeface="Times New Roman" panose="02020603050405020304" pitchFamily="18" charset="0"/>
                <a:cs typeface="Times New Roman" panose="02020603050405020304" pitchFamily="18" charset="0"/>
              </a:rPr>
              <a:t> matrices by introducing new technology based on the existing advanced accelerator </a:t>
            </a:r>
            <a:r>
              <a:rPr lang="zh-CN" altLang="en-US" b="1" dirty="0">
                <a:latin typeface="Times New Roman" panose="02020603050405020304" pitchFamily="18" charset="0"/>
                <a:cs typeface="Times New Roman" panose="02020603050405020304" pitchFamily="18" charset="0"/>
              </a:rPr>
              <a:t>Serpens</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(SOTA)</a:t>
            </a:r>
            <a:endParaRPr lang="zh-CN" altLang="en-US" dirty="0">
              <a:latin typeface="Times New Roman" panose="02020603050405020304" pitchFamily="18" charset="0"/>
              <a:cs typeface="Times New Roman" panose="02020603050405020304" pitchFamily="18" charset="0"/>
            </a:endParaRPr>
          </a:p>
        </p:txBody>
      </p:sp>
      <p:sp>
        <p:nvSpPr>
          <p:cNvPr id="8" name="矩形: 圆角 7">
            <a:extLst>
              <a:ext uri="{FF2B5EF4-FFF2-40B4-BE49-F238E27FC236}">
                <a16:creationId xmlns:a16="http://schemas.microsoft.com/office/drawing/2014/main" id="{67666574-72F8-E7A4-E06A-234ABA3514E1}"/>
              </a:ext>
            </a:extLst>
          </p:cNvPr>
          <p:cNvSpPr/>
          <p:nvPr/>
        </p:nvSpPr>
        <p:spPr>
          <a:xfrm>
            <a:off x="109345" y="1682138"/>
            <a:ext cx="2421584" cy="2866499"/>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7C0D8A8-C1F7-56BE-7E98-98D30EF549DE}"/>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Tree>
    <p:extLst>
      <p:ext uri="{BB962C8B-B14F-4D97-AF65-F5344CB8AC3E}">
        <p14:creationId xmlns:p14="http://schemas.microsoft.com/office/powerpoint/2010/main" val="1396854952"/>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Hybrid Buffering for Input Vector</a:t>
            </a:r>
          </a:p>
        </p:txBody>
      </p:sp>
      <p:sp>
        <p:nvSpPr>
          <p:cNvPr id="20" name="文本框 19"/>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4" name="图片 3">
            <a:extLst>
              <a:ext uri="{FF2B5EF4-FFF2-40B4-BE49-F238E27FC236}">
                <a16:creationId xmlns:a16="http://schemas.microsoft.com/office/drawing/2014/main" id="{AE7C3FA1-5A0E-859B-84A2-5EA46F3F423C}"/>
              </a:ext>
            </a:extLst>
          </p:cNvPr>
          <p:cNvPicPr>
            <a:picLocks noChangeAspect="1"/>
          </p:cNvPicPr>
          <p:nvPr/>
        </p:nvPicPr>
        <p:blipFill>
          <a:blip r:embed="rId3"/>
          <a:stretch>
            <a:fillRect/>
          </a:stretch>
        </p:blipFill>
        <p:spPr>
          <a:xfrm>
            <a:off x="621123" y="1174405"/>
            <a:ext cx="5545911" cy="5105625"/>
          </a:xfrm>
          <a:prstGeom prst="rect">
            <a:avLst/>
          </a:prstGeom>
        </p:spPr>
      </p:pic>
      <p:sp>
        <p:nvSpPr>
          <p:cNvPr id="6" name="文本框 5">
            <a:extLst>
              <a:ext uri="{FF2B5EF4-FFF2-40B4-BE49-F238E27FC236}">
                <a16:creationId xmlns:a16="http://schemas.microsoft.com/office/drawing/2014/main" id="{66D2696A-41DA-1AF6-BC24-A96DAA3464EC}"/>
              </a:ext>
            </a:extLst>
          </p:cNvPr>
          <p:cNvSpPr txBox="1"/>
          <p:nvPr/>
        </p:nvSpPr>
        <p:spPr>
          <a:xfrm>
            <a:off x="785024" y="805073"/>
            <a:ext cx="460248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1. For </a:t>
            </a:r>
            <a:r>
              <a:rPr lang="en-US" altLang="zh-CN" b="1" dirty="0" err="1">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nput Dense Vector Buffering</a:t>
            </a:r>
          </a:p>
        </p:txBody>
      </p:sp>
      <p:sp>
        <p:nvSpPr>
          <p:cNvPr id="2" name="文本框 1">
            <a:extLst>
              <a:ext uri="{FF2B5EF4-FFF2-40B4-BE49-F238E27FC236}">
                <a16:creationId xmlns:a16="http://schemas.microsoft.com/office/drawing/2014/main" id="{AE85B84C-7FFF-2A7F-8626-B859EC17FFEF}"/>
              </a:ext>
            </a:extLst>
          </p:cNvPr>
          <p:cNvSpPr txBox="1"/>
          <p:nvPr/>
        </p:nvSpPr>
        <p:spPr>
          <a:xfrm>
            <a:off x="5491022" y="2603292"/>
            <a:ext cx="2812211" cy="64633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When to use Each Mode:</a:t>
            </a:r>
          </a:p>
          <a:p>
            <a:endParaRPr lang="en-US" altLang="zh-CN"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48562259-1B30-C407-4502-03238F332441}"/>
              </a:ext>
            </a:extLst>
          </p:cNvPr>
          <p:cNvPicPr>
            <a:picLocks noChangeAspect="1"/>
          </p:cNvPicPr>
          <p:nvPr/>
        </p:nvPicPr>
        <p:blipFill>
          <a:blip r:embed="rId4"/>
          <a:stretch>
            <a:fillRect/>
          </a:stretch>
        </p:blipFill>
        <p:spPr>
          <a:xfrm>
            <a:off x="4615133" y="3111123"/>
            <a:ext cx="4528867" cy="611780"/>
          </a:xfrm>
          <a:prstGeom prst="rect">
            <a:avLst/>
          </a:prstGeom>
        </p:spPr>
      </p:pic>
    </p:spTree>
    <p:extLst>
      <p:ext uri="{BB962C8B-B14F-4D97-AF65-F5344CB8AC3E}">
        <p14:creationId xmlns:p14="http://schemas.microsoft.com/office/powerpoint/2010/main" val="353133885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299F8-561A-E1A4-845D-1CF84108EA3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1A28993-E70D-175A-E3A3-BECD851B0A96}"/>
              </a:ext>
            </a:extLst>
          </p:cNvPr>
          <p:cNvSpPr>
            <a:spLocks noGrp="1"/>
          </p:cNvSpPr>
          <p:nvPr>
            <p:ph type="title"/>
          </p:nvPr>
        </p:nvSpPr>
        <p:spPr/>
        <p:txBody>
          <a:bodyPr>
            <a:normAutofit/>
          </a:bodyPr>
          <a:lstStyle/>
          <a:p>
            <a:r>
              <a:rPr lang="en-US" altLang="zh-CN" dirty="0"/>
              <a:t>Hybrid Buffering for Input Vector</a:t>
            </a:r>
          </a:p>
        </p:txBody>
      </p:sp>
      <p:sp>
        <p:nvSpPr>
          <p:cNvPr id="20" name="文本框 19">
            <a:extLst>
              <a:ext uri="{FF2B5EF4-FFF2-40B4-BE49-F238E27FC236}">
                <a16:creationId xmlns:a16="http://schemas.microsoft.com/office/drawing/2014/main" id="{EB5FF0B2-2F59-5CF1-D054-2DC65ED524B5}"/>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6" name="文本框 5">
            <a:extLst>
              <a:ext uri="{FF2B5EF4-FFF2-40B4-BE49-F238E27FC236}">
                <a16:creationId xmlns:a16="http://schemas.microsoft.com/office/drawing/2014/main" id="{B285A356-C37C-B467-6DD9-1F7D20E8EE5F}"/>
              </a:ext>
            </a:extLst>
          </p:cNvPr>
          <p:cNvSpPr txBox="1"/>
          <p:nvPr/>
        </p:nvSpPr>
        <p:spPr>
          <a:xfrm>
            <a:off x="785024" y="805073"/>
            <a:ext cx="460248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1. For </a:t>
            </a:r>
            <a:r>
              <a:rPr lang="en-US" altLang="zh-CN" b="1" dirty="0" err="1">
                <a:latin typeface="Times New Roman" panose="02020603050405020304" pitchFamily="18" charset="0"/>
                <a:cs typeface="Times New Roman" panose="02020603050405020304" pitchFamily="18" charset="0"/>
              </a:rPr>
              <a:t>i</a:t>
            </a:r>
            <a:r>
              <a:rPr lang="zh-CN" altLang="en-US" b="1" dirty="0">
                <a:latin typeface="Times New Roman" panose="02020603050405020304" pitchFamily="18" charset="0"/>
                <a:cs typeface="Times New Roman" panose="02020603050405020304" pitchFamily="18" charset="0"/>
              </a:rPr>
              <a:t>nput Dense Vector Buffering</a:t>
            </a:r>
          </a:p>
        </p:txBody>
      </p:sp>
      <p:sp>
        <p:nvSpPr>
          <p:cNvPr id="2" name="文本框 1">
            <a:extLst>
              <a:ext uri="{FF2B5EF4-FFF2-40B4-BE49-F238E27FC236}">
                <a16:creationId xmlns:a16="http://schemas.microsoft.com/office/drawing/2014/main" id="{DC86F045-F3D3-3E24-5372-ADD320709561}"/>
              </a:ext>
            </a:extLst>
          </p:cNvPr>
          <p:cNvSpPr txBox="1"/>
          <p:nvPr/>
        </p:nvSpPr>
        <p:spPr>
          <a:xfrm>
            <a:off x="919041" y="1248461"/>
            <a:ext cx="8147321" cy="3693319"/>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When to use Each Mode:</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b="1" dirty="0" err="1">
                <a:latin typeface="Times New Roman" panose="02020603050405020304" pitchFamily="18" charset="0"/>
                <a:cs typeface="Times New Roman" panose="02020603050405020304" pitchFamily="18" charset="0"/>
              </a:rPr>
              <a:t>tc</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compute time without stalls (PEG task with private buffer)</a:t>
            </a:r>
          </a:p>
          <a:p>
            <a:r>
              <a:rPr lang="en-US" altLang="zh-CN" b="1" dirty="0">
                <a:latin typeface="Times New Roman" panose="02020603050405020304" pitchFamily="18" charset="0"/>
                <a:cs typeface="Times New Roman" panose="02020603050405020304" pitchFamily="18" charset="0"/>
              </a:rPr>
              <a:t>tb: </a:t>
            </a:r>
            <a:r>
              <a:rPr lang="en-US" altLang="zh-CN" dirty="0">
                <a:latin typeface="Times New Roman" panose="02020603050405020304" pitchFamily="18" charset="0"/>
                <a:cs typeface="Times New Roman" panose="02020603050405020304" pitchFamily="18" charset="0"/>
              </a:rPr>
              <a:t>	buffer time (load task)</a:t>
            </a:r>
          </a:p>
          <a:p>
            <a:r>
              <a:rPr lang="en-US" altLang="zh-CN" b="1" dirty="0" err="1">
                <a:latin typeface="Times New Roman" panose="02020603050405020304" pitchFamily="18" charset="0"/>
                <a:cs typeface="Times New Roman" panose="02020603050405020304" pitchFamily="18" charset="0"/>
              </a:rPr>
              <a:t>tc</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compute time in the worst case where a stall occurs in every cycle </a:t>
            </a:r>
            <a:r>
              <a:rPr lang="en-US" altLang="zh-CN" u="sng" dirty="0">
                <a:latin typeface="Times New Roman" panose="02020603050405020304" pitchFamily="18" charset="0"/>
                <a:cs typeface="Times New Roman" panose="02020603050405020304" pitchFamily="18" charset="0"/>
              </a:rPr>
              <a:t>(</a:t>
            </a:r>
            <a:r>
              <a:rPr lang="en-US" altLang="zh-CN" u="sng" dirty="0" err="1">
                <a:latin typeface="Times New Roman" panose="02020603050405020304" pitchFamily="18" charset="0"/>
                <a:cs typeface="Times New Roman" panose="02020603050405020304" pitchFamily="18" charset="0"/>
              </a:rPr>
              <a:t>tc</a:t>
            </a:r>
            <a:r>
              <a:rPr lang="en-US" altLang="zh-CN" u="sng" dirty="0">
                <a:latin typeface="Times New Roman" panose="02020603050405020304" pitchFamily="18" charset="0"/>
                <a:cs typeface="Times New Roman" panose="02020603050405020304" pitchFamily="18" charset="0"/>
              </a:rPr>
              <a:t>’ = 2tc)</a:t>
            </a:r>
          </a:p>
          <a:p>
            <a:r>
              <a:rPr lang="en-US" altLang="zh-CN" b="1" dirty="0" err="1">
                <a:latin typeface="Times New Roman" panose="02020603050405020304" pitchFamily="18" charset="0"/>
                <a:cs typeface="Times New Roman" panose="02020603050405020304" pitchFamily="18" charset="0"/>
              </a:rPr>
              <a:t>ts</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total time for buffering and computing in private partitioning buffering modes</a:t>
            </a:r>
          </a:p>
          <a:p>
            <a:r>
              <a:rPr lang="en-US" altLang="zh-CN" b="1" dirty="0" err="1">
                <a:latin typeface="Times New Roman" panose="02020603050405020304" pitchFamily="18" charset="0"/>
                <a:cs typeface="Times New Roman" panose="02020603050405020304" pitchFamily="18" charset="0"/>
              </a:rPr>
              <a:t>tp</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total time for buffering and computing in ping-pong buffering modes</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CE350801-0860-174F-4495-6E03D2F5B5CF}"/>
              </a:ext>
            </a:extLst>
          </p:cNvPr>
          <p:cNvPicPr>
            <a:picLocks noChangeAspect="1"/>
          </p:cNvPicPr>
          <p:nvPr/>
        </p:nvPicPr>
        <p:blipFill>
          <a:blip r:embed="rId3"/>
          <a:stretch>
            <a:fillRect/>
          </a:stretch>
        </p:blipFill>
        <p:spPr>
          <a:xfrm>
            <a:off x="2307566" y="1761110"/>
            <a:ext cx="4528867" cy="611780"/>
          </a:xfrm>
          <a:prstGeom prst="rect">
            <a:avLst/>
          </a:prstGeom>
        </p:spPr>
      </p:pic>
      <p:pic>
        <p:nvPicPr>
          <p:cNvPr id="8" name="图片 7">
            <a:extLst>
              <a:ext uri="{FF2B5EF4-FFF2-40B4-BE49-F238E27FC236}">
                <a16:creationId xmlns:a16="http://schemas.microsoft.com/office/drawing/2014/main" id="{03AB18E6-050E-6506-789B-6F27CE28159B}"/>
              </a:ext>
            </a:extLst>
          </p:cNvPr>
          <p:cNvPicPr>
            <a:picLocks noChangeAspect="1"/>
          </p:cNvPicPr>
          <p:nvPr/>
        </p:nvPicPr>
        <p:blipFill>
          <a:blip r:embed="rId4"/>
          <a:stretch>
            <a:fillRect/>
          </a:stretch>
        </p:blipFill>
        <p:spPr>
          <a:xfrm>
            <a:off x="2385333" y="4485110"/>
            <a:ext cx="4563112" cy="314369"/>
          </a:xfrm>
          <a:prstGeom prst="rect">
            <a:avLst/>
          </a:prstGeom>
        </p:spPr>
      </p:pic>
      <p:pic>
        <p:nvPicPr>
          <p:cNvPr id="10" name="图片 9">
            <a:extLst>
              <a:ext uri="{FF2B5EF4-FFF2-40B4-BE49-F238E27FC236}">
                <a16:creationId xmlns:a16="http://schemas.microsoft.com/office/drawing/2014/main" id="{BCA81D55-7CCB-3A07-A126-5251658EBAF8}"/>
              </a:ext>
            </a:extLst>
          </p:cNvPr>
          <p:cNvPicPr>
            <a:picLocks noChangeAspect="1"/>
          </p:cNvPicPr>
          <p:nvPr/>
        </p:nvPicPr>
        <p:blipFill>
          <a:blip r:embed="rId5"/>
          <a:stretch>
            <a:fillRect/>
          </a:stretch>
        </p:blipFill>
        <p:spPr>
          <a:xfrm>
            <a:off x="2313886" y="4971547"/>
            <a:ext cx="4706007" cy="676369"/>
          </a:xfrm>
          <a:prstGeom prst="rect">
            <a:avLst/>
          </a:prstGeom>
        </p:spPr>
      </p:pic>
      <p:cxnSp>
        <p:nvCxnSpPr>
          <p:cNvPr id="11" name="连接符: 肘形 10">
            <a:extLst>
              <a:ext uri="{FF2B5EF4-FFF2-40B4-BE49-F238E27FC236}">
                <a16:creationId xmlns:a16="http://schemas.microsoft.com/office/drawing/2014/main" id="{9D8ED2E4-596A-D0DA-197F-CCD4848E3E62}"/>
              </a:ext>
            </a:extLst>
          </p:cNvPr>
          <p:cNvCxnSpPr>
            <a:cxnSpLocks/>
            <a:endCxn id="7" idx="1"/>
          </p:cNvCxnSpPr>
          <p:nvPr/>
        </p:nvCxnSpPr>
        <p:spPr>
          <a:xfrm rot="5400000" flipH="1" flipV="1">
            <a:off x="-107343" y="2881710"/>
            <a:ext cx="3229619" cy="1600200"/>
          </a:xfrm>
          <a:prstGeom prst="bentConnector2">
            <a:avLst/>
          </a:prstGeom>
          <a:ln w="57150">
            <a:solidFill>
              <a:srgbClr val="278BC7"/>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E2ED4336-302D-120E-2742-10802DCBAEE2}"/>
              </a:ext>
            </a:extLst>
          </p:cNvPr>
          <p:cNvCxnSpPr>
            <a:cxnSpLocks/>
          </p:cNvCxnSpPr>
          <p:nvPr/>
        </p:nvCxnSpPr>
        <p:spPr>
          <a:xfrm rot="10800000">
            <a:off x="707366" y="5296620"/>
            <a:ext cx="1437664" cy="12700"/>
          </a:xfrm>
          <a:prstGeom prst="bentConnector3">
            <a:avLst>
              <a:gd name="adj1" fmla="val 91402"/>
            </a:avLst>
          </a:prstGeom>
          <a:ln w="57150">
            <a:solidFill>
              <a:srgbClr val="278BC7"/>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692823"/>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sz="2200" dirty="0"/>
              <a:t>PEG &amp; Hybrid Row Distribution Design</a:t>
            </a:r>
            <a:endParaRPr lang="en-US" altLang="zh-CN" dirty="0"/>
          </a:p>
        </p:txBody>
      </p:sp>
      <p:sp>
        <p:nvSpPr>
          <p:cNvPr id="6" name="文本框 5">
            <a:extLst>
              <a:ext uri="{FF2B5EF4-FFF2-40B4-BE49-F238E27FC236}">
                <a16:creationId xmlns:a16="http://schemas.microsoft.com/office/drawing/2014/main" id="{45BAE819-13FC-4FBB-23CC-643D19C1D3DA}"/>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2. For imbalanced workload</a:t>
            </a:r>
            <a:endParaRPr lang="zh-CN" altLang="en-US" b="1"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8CF41481-F4E7-E5F8-4C15-9A47D884CDCF}"/>
              </a:ext>
            </a:extLst>
          </p:cNvPr>
          <p:cNvPicPr>
            <a:picLocks noChangeAspect="1"/>
          </p:cNvPicPr>
          <p:nvPr/>
        </p:nvPicPr>
        <p:blipFill>
          <a:blip r:embed="rId3"/>
          <a:stretch>
            <a:fillRect/>
          </a:stretch>
        </p:blipFill>
        <p:spPr>
          <a:xfrm>
            <a:off x="337265" y="1225076"/>
            <a:ext cx="8469470" cy="2055866"/>
          </a:xfrm>
          <a:prstGeom prst="rect">
            <a:avLst/>
          </a:prstGeom>
        </p:spPr>
      </p:pic>
      <p:sp>
        <p:nvSpPr>
          <p:cNvPr id="9" name="文本框 8">
            <a:extLst>
              <a:ext uri="{FF2B5EF4-FFF2-40B4-BE49-F238E27FC236}">
                <a16:creationId xmlns:a16="http://schemas.microsoft.com/office/drawing/2014/main" id="{02842E5F-D7F5-10A5-0A77-AFED2C4AC38E}"/>
              </a:ext>
            </a:extLst>
          </p:cNvPr>
          <p:cNvSpPr txBox="1"/>
          <p:nvPr/>
        </p:nvSpPr>
        <p:spPr>
          <a:xfrm>
            <a:off x="785024" y="3429000"/>
            <a:ext cx="7858644" cy="1077218"/>
          </a:xfrm>
          <a:prstGeom prst="rect">
            <a:avLst/>
          </a:prstGeom>
          <a:noFill/>
        </p:spPr>
        <p:txBody>
          <a:bodyPr wrap="square">
            <a:spAutoFit/>
          </a:bodyPr>
          <a:lstStyle/>
          <a:p>
            <a:r>
              <a:rPr lang="en-US" altLang="zh-CN" sz="1600" b="1" dirty="0">
                <a:latin typeface="Times New Roman" panose="02020603050405020304" pitchFamily="18" charset="0"/>
                <a:cs typeface="Times New Roman" panose="02020603050405020304" pitchFamily="18" charset="0"/>
              </a:rPr>
              <a:t>Bank Index Decoder:</a:t>
            </a:r>
          </a:p>
          <a:p>
            <a:pPr marL="285750" indent="-285750">
              <a:buFont typeface="Arial" panose="020B0604020202020204" pitchFamily="34" charset="0"/>
              <a:buChar char="•"/>
            </a:pPr>
            <a:r>
              <a:rPr lang="zh-CN" altLang="en-US" sz="1600" b="1" dirty="0">
                <a:latin typeface="Times New Roman" panose="02020603050405020304" pitchFamily="18" charset="0"/>
                <a:cs typeface="Times New Roman" panose="02020603050405020304" pitchFamily="18" charset="0"/>
              </a:rPr>
              <a:t>Row_idx</a:t>
            </a:r>
            <a:r>
              <a:rPr lang="en-US" altLang="zh-CN" sz="1600" b="1"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"which row" the data comes from </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sz="1600" b="1" dirty="0">
                <a:latin typeface="Times New Roman" panose="02020603050405020304" pitchFamily="18" charset="0"/>
                <a:cs typeface="Times New Roman" panose="02020603050405020304" pitchFamily="18" charset="0"/>
              </a:rPr>
              <a:t>Bank_idx</a:t>
            </a:r>
            <a:r>
              <a:rPr lang="en-US" altLang="zh-CN" sz="1600" b="1"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"which PE (or accumulator) should process" the </a:t>
            </a:r>
            <a:r>
              <a:rPr lang="zh-CN" altLang="en-US" sz="1600" dirty="0">
                <a:latin typeface="Times New Roman" panose="02020603050405020304" pitchFamily="18" charset="0"/>
                <a:cs typeface="Times New Roman" panose="02020603050405020304" pitchFamily="18" charset="0"/>
              </a:rPr>
              <a:t>data,</a:t>
            </a:r>
            <a:endParaRPr lang="en-US" altLang="zh-C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1600" b="1" dirty="0">
                <a:solidFill>
                  <a:srgbClr val="FF0000"/>
                </a:solidFill>
                <a:latin typeface="Times New Roman" panose="02020603050405020304" pitchFamily="18" charset="0"/>
                <a:cs typeface="Times New Roman" panose="02020603050405020304" pitchFamily="18" charset="0"/>
              </a:rPr>
              <a:t>SR: Whether </a:t>
            </a:r>
            <a:r>
              <a:rPr lang="zh-CN" altLang="en-US" sz="1600" b="1" dirty="0">
                <a:solidFill>
                  <a:srgbClr val="FF0000"/>
                </a:solidFill>
                <a:latin typeface="Times New Roman" panose="02020603050405020304" pitchFamily="18" charset="0"/>
                <a:cs typeface="Times New Roman" panose="02020603050405020304" pitchFamily="18" charset="0"/>
              </a:rPr>
              <a:t>the same row of data needs to be distributed across multiple </a:t>
            </a:r>
            <a:r>
              <a:rPr lang="en-US" altLang="zh-CN" sz="1600" b="1" dirty="0">
                <a:solidFill>
                  <a:srgbClr val="FF0000"/>
                </a:solidFill>
                <a:latin typeface="Times New Roman" panose="02020603050405020304" pitchFamily="18" charset="0"/>
                <a:cs typeface="Times New Roman" panose="02020603050405020304" pitchFamily="18" charset="0"/>
              </a:rPr>
              <a:t>PE</a:t>
            </a:r>
            <a:r>
              <a:rPr lang="zh-CN" altLang="en-US" sz="1600" b="1" dirty="0">
                <a:solidFill>
                  <a:srgbClr val="FF0000"/>
                </a:solidFill>
                <a:latin typeface="Times New Roman" panose="02020603050405020304" pitchFamily="18" charset="0"/>
                <a:cs typeface="Times New Roman" panose="02020603050405020304" pitchFamily="18" charset="0"/>
              </a:rPr>
              <a:t>.</a:t>
            </a:r>
          </a:p>
        </p:txBody>
      </p:sp>
      <p:sp>
        <p:nvSpPr>
          <p:cNvPr id="2" name="文本框 1">
            <a:extLst>
              <a:ext uri="{FF2B5EF4-FFF2-40B4-BE49-F238E27FC236}">
                <a16:creationId xmlns:a16="http://schemas.microsoft.com/office/drawing/2014/main" id="{16B80D24-BABC-9147-0445-2AFCD435190B}"/>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8" name="图片 7">
            <a:extLst>
              <a:ext uri="{FF2B5EF4-FFF2-40B4-BE49-F238E27FC236}">
                <a16:creationId xmlns:a16="http://schemas.microsoft.com/office/drawing/2014/main" id="{7C8A02A7-1B2B-CA96-A8E1-3633642B6678}"/>
              </a:ext>
            </a:extLst>
          </p:cNvPr>
          <p:cNvPicPr>
            <a:picLocks noChangeAspect="1"/>
          </p:cNvPicPr>
          <p:nvPr/>
        </p:nvPicPr>
        <p:blipFill>
          <a:blip r:embed="rId4"/>
          <a:stretch>
            <a:fillRect/>
          </a:stretch>
        </p:blipFill>
        <p:spPr>
          <a:xfrm>
            <a:off x="2413737" y="4596795"/>
            <a:ext cx="4601217" cy="1505160"/>
          </a:xfrm>
          <a:prstGeom prst="rect">
            <a:avLst/>
          </a:prstGeom>
        </p:spPr>
      </p:pic>
    </p:spTree>
    <p:extLst>
      <p:ext uri="{BB962C8B-B14F-4D97-AF65-F5344CB8AC3E}">
        <p14:creationId xmlns:p14="http://schemas.microsoft.com/office/powerpoint/2010/main" val="781430751"/>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Hybrid Row Distribution Network</a:t>
            </a:r>
          </a:p>
        </p:txBody>
      </p:sp>
      <p:sp>
        <p:nvSpPr>
          <p:cNvPr id="5" name="文本框 4">
            <a:extLst>
              <a:ext uri="{FF2B5EF4-FFF2-40B4-BE49-F238E27FC236}">
                <a16:creationId xmlns:a16="http://schemas.microsoft.com/office/drawing/2014/main" id="{3411B8DB-47C2-1772-67B2-0EFC53B1EDB7}"/>
              </a:ext>
            </a:extLst>
          </p:cNvPr>
          <p:cNvSpPr txBox="1"/>
          <p:nvPr/>
        </p:nvSpPr>
        <p:spPr>
          <a:xfrm>
            <a:off x="785024" y="869607"/>
            <a:ext cx="3390736"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2. For imbalanced workload</a:t>
            </a:r>
            <a:endParaRPr lang="zh-CN" altLang="en-US"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3AB928AA-82FC-49AB-5794-9A2C56BDF459}"/>
              </a:ext>
            </a:extLst>
          </p:cNvPr>
          <p:cNvPicPr>
            <a:picLocks noChangeAspect="1"/>
          </p:cNvPicPr>
          <p:nvPr/>
        </p:nvPicPr>
        <p:blipFill>
          <a:blip r:embed="rId3"/>
          <a:stretch>
            <a:fillRect/>
          </a:stretch>
        </p:blipFill>
        <p:spPr>
          <a:xfrm>
            <a:off x="785024" y="1416393"/>
            <a:ext cx="3695700" cy="4572000"/>
          </a:xfrm>
          <a:prstGeom prst="rect">
            <a:avLst/>
          </a:prstGeom>
        </p:spPr>
      </p:pic>
      <p:sp>
        <p:nvSpPr>
          <p:cNvPr id="2" name="文本框 1">
            <a:extLst>
              <a:ext uri="{FF2B5EF4-FFF2-40B4-BE49-F238E27FC236}">
                <a16:creationId xmlns:a16="http://schemas.microsoft.com/office/drawing/2014/main" id="{3ACBA97A-B234-4983-0906-FD7D414088DD}"/>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a:extLst>
              <a:ext uri="{FF2B5EF4-FFF2-40B4-BE49-F238E27FC236}">
                <a16:creationId xmlns:a16="http://schemas.microsoft.com/office/drawing/2014/main" id="{6F0EB54B-392B-F72F-6DB2-150D60AF9DF3}"/>
              </a:ext>
            </a:extLst>
          </p:cNvPr>
          <p:cNvSpPr txBox="1"/>
          <p:nvPr/>
        </p:nvSpPr>
        <p:spPr>
          <a:xfrm>
            <a:off x="5020574" y="1416393"/>
            <a:ext cx="3545456" cy="4247317"/>
          </a:xfrm>
          <a:prstGeom prst="rect">
            <a:avLst/>
          </a:prstGeom>
          <a:noFill/>
        </p:spPr>
        <p:txBody>
          <a:bodyPr wrap="square" rtlCol="0">
            <a:spAutoFit/>
          </a:bodyPr>
          <a:lstStyle/>
          <a:p>
            <a:pPr marL="400050" indent="-400050">
              <a:buAutoNum type="romanLcParenR"/>
            </a:pPr>
            <a:r>
              <a:rPr lang="en-US" altLang="zh-CN" b="1" dirty="0">
                <a:latin typeface="Times New Roman" panose="02020603050405020304" pitchFamily="18" charset="0"/>
                <a:cs typeface="Times New Roman" panose="02020603050405020304" pitchFamily="18" charset="0"/>
              </a:rPr>
              <a:t>Inter-row distribution: </a:t>
            </a:r>
            <a:r>
              <a:rPr lang="en-US" altLang="zh-CN" dirty="0">
                <a:latin typeface="Times New Roman" panose="02020603050405020304" pitchFamily="18" charset="0"/>
                <a:cs typeface="Times New Roman" panose="02020603050405020304" pitchFamily="18" charset="0"/>
              </a:rPr>
              <a:t>When PEs work on separate rows (cyclically), all the blocks forward packets directly from inputs 0 and 1 to outputs 0 and 1, respectively, without any additional processing. </a:t>
            </a:r>
          </a:p>
          <a:p>
            <a:pPr marL="400050" indent="-400050">
              <a:buAutoNum type="romanLcParenR"/>
            </a:pPr>
            <a:endParaRPr lang="en-US" altLang="zh-CN" dirty="0">
              <a:latin typeface="Times New Roman" panose="02020603050405020304" pitchFamily="18" charset="0"/>
              <a:cs typeface="Times New Roman" panose="02020603050405020304" pitchFamily="18" charset="0"/>
            </a:endParaRPr>
          </a:p>
          <a:p>
            <a:pPr marL="400050" indent="-400050">
              <a:buAutoNum type="romanLcParenR"/>
            </a:pPr>
            <a:r>
              <a:rPr lang="en-US" altLang="zh-CN" b="1" dirty="0">
                <a:latin typeface="Times New Roman" panose="02020603050405020304" pitchFamily="18" charset="0"/>
                <a:cs typeface="Times New Roman" panose="02020603050405020304" pitchFamily="18" charset="0"/>
              </a:rPr>
              <a:t>Intra-row distribution: </a:t>
            </a:r>
            <a:r>
              <a:rPr lang="en-US" altLang="zh-CN" dirty="0">
                <a:latin typeface="Times New Roman" panose="02020603050405020304" pitchFamily="18" charset="0"/>
                <a:cs typeface="Times New Roman" panose="02020603050405020304" pitchFamily="18" charset="0"/>
              </a:rPr>
              <a:t>When PEs work on the same row, the network first accumulates all products using a reduction tree and then routes the sum to the corresponding </a:t>
            </a:r>
            <a:r>
              <a:rPr lang="en-US" altLang="zh-CN" dirty="0" err="1">
                <a:latin typeface="Times New Roman" panose="02020603050405020304" pitchFamily="18" charset="0"/>
                <a:cs typeface="Times New Roman" panose="02020603050405020304" pitchFamily="18" charset="0"/>
              </a:rPr>
              <a:t>y_Ax</a:t>
            </a:r>
            <a:r>
              <a:rPr lang="en-US" altLang="zh-CN" dirty="0">
                <a:latin typeface="Times New Roman" panose="02020603050405020304" pitchFamily="18" charset="0"/>
                <a:cs typeface="Times New Roman" panose="02020603050405020304" pitchFamily="18" charset="0"/>
              </a:rPr>
              <a:t> handler using a reversed reduction tree;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839660"/>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1FC9B-79CC-1D71-7AA4-6924151862C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619731C-FCFF-DA7D-6C1F-93F0B2D7DEED}"/>
              </a:ext>
            </a:extLst>
          </p:cNvPr>
          <p:cNvSpPr>
            <a:spLocks noGrp="1"/>
          </p:cNvSpPr>
          <p:nvPr>
            <p:ph type="title"/>
          </p:nvPr>
        </p:nvSpPr>
        <p:spPr/>
        <p:txBody>
          <a:bodyPr>
            <a:normAutofit/>
          </a:bodyPr>
          <a:lstStyle/>
          <a:p>
            <a:r>
              <a:rPr lang="en-US" altLang="zh-CN" dirty="0"/>
              <a:t>Hybrid Row Distribution Network</a:t>
            </a:r>
          </a:p>
        </p:txBody>
      </p:sp>
      <p:sp>
        <p:nvSpPr>
          <p:cNvPr id="5" name="文本框 4">
            <a:extLst>
              <a:ext uri="{FF2B5EF4-FFF2-40B4-BE49-F238E27FC236}">
                <a16:creationId xmlns:a16="http://schemas.microsoft.com/office/drawing/2014/main" id="{5B123BF6-3688-87EB-5022-DF8017E8AE6A}"/>
              </a:ext>
            </a:extLst>
          </p:cNvPr>
          <p:cNvSpPr txBox="1"/>
          <p:nvPr/>
        </p:nvSpPr>
        <p:spPr>
          <a:xfrm>
            <a:off x="785024" y="869607"/>
            <a:ext cx="3390736"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2. For imbalanced workload</a:t>
            </a:r>
            <a:endParaRPr lang="zh-CN" altLang="en-US"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1BB117D0-C323-4693-1055-F827FE06B987}"/>
              </a:ext>
            </a:extLst>
          </p:cNvPr>
          <p:cNvPicPr>
            <a:picLocks noChangeAspect="1"/>
          </p:cNvPicPr>
          <p:nvPr/>
        </p:nvPicPr>
        <p:blipFill>
          <a:blip r:embed="rId3"/>
          <a:stretch>
            <a:fillRect/>
          </a:stretch>
        </p:blipFill>
        <p:spPr>
          <a:xfrm>
            <a:off x="785024" y="1416393"/>
            <a:ext cx="3695700" cy="4572000"/>
          </a:xfrm>
          <a:prstGeom prst="rect">
            <a:avLst/>
          </a:prstGeom>
        </p:spPr>
      </p:pic>
      <p:sp>
        <p:nvSpPr>
          <p:cNvPr id="2" name="文本框 1">
            <a:extLst>
              <a:ext uri="{FF2B5EF4-FFF2-40B4-BE49-F238E27FC236}">
                <a16:creationId xmlns:a16="http://schemas.microsoft.com/office/drawing/2014/main" id="{26D175CC-95D9-BD0C-A64B-4AD918879CF7}"/>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4" name="文本框 3">
            <a:extLst>
              <a:ext uri="{FF2B5EF4-FFF2-40B4-BE49-F238E27FC236}">
                <a16:creationId xmlns:a16="http://schemas.microsoft.com/office/drawing/2014/main" id="{7B5CE15D-2881-C8AE-BBCD-D8F743E9E867}"/>
              </a:ext>
            </a:extLst>
          </p:cNvPr>
          <p:cNvSpPr txBox="1"/>
          <p:nvPr/>
        </p:nvSpPr>
        <p:spPr>
          <a:xfrm>
            <a:off x="4865297" y="1416393"/>
            <a:ext cx="3976777" cy="4524315"/>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When to Use Each Distribution Mode: </a:t>
            </a:r>
          </a:p>
          <a:p>
            <a:pPr marL="400050" indent="-400050">
              <a:buAutoNum type="romanLcParenR"/>
            </a:pPr>
            <a:r>
              <a:rPr lang="en-US" altLang="zh-CN" dirty="0">
                <a:latin typeface="Times New Roman" panose="02020603050405020304" pitchFamily="18" charset="0"/>
                <a:cs typeface="Times New Roman" panose="02020603050405020304" pitchFamily="18" charset="0"/>
              </a:rPr>
              <a:t>An initial imbalance ratio δ is first calculated assuming </a:t>
            </a:r>
            <a:r>
              <a:rPr lang="en-US" altLang="zh-CN" b="1" dirty="0">
                <a:latin typeface="Times New Roman" panose="02020603050405020304" pitchFamily="18" charset="0"/>
                <a:cs typeface="Times New Roman" panose="02020603050405020304" pitchFamily="18" charset="0"/>
              </a:rPr>
              <a:t>all rows are assigned in the inter-row mode</a:t>
            </a:r>
            <a:r>
              <a:rPr lang="en-US" altLang="zh-CN" dirty="0">
                <a:latin typeface="Times New Roman" panose="02020603050405020304" pitchFamily="18" charset="0"/>
                <a:cs typeface="Times New Roman" panose="02020603050405020304" pitchFamily="18" charset="0"/>
              </a:rPr>
              <a:t>.</a:t>
            </a:r>
          </a:p>
          <a:p>
            <a:pPr marL="400050" indent="-400050">
              <a:buAutoNum type="romanLcParenR"/>
            </a:pPr>
            <a:r>
              <a:rPr lang="en-US" altLang="zh-CN" dirty="0">
                <a:latin typeface="Times New Roman" panose="02020603050405020304" pitchFamily="18" charset="0"/>
                <a:cs typeface="Times New Roman" panose="02020603050405020304" pitchFamily="18" charset="0"/>
              </a:rPr>
              <a:t>Then we iteratively refine </a:t>
            </a:r>
            <a:r>
              <a:rPr lang="en-US" altLang="zh-CN" b="1" dirty="0">
                <a:latin typeface="Times New Roman" panose="02020603050405020304" pitchFamily="18" charset="0"/>
                <a:cs typeface="Times New Roman" panose="02020603050405020304" pitchFamily="18" charset="0"/>
              </a:rPr>
              <a:t>δ until the decrease on δ between two consecutive iterations becomes marginal</a:t>
            </a:r>
            <a:r>
              <a:rPr lang="en-US" altLang="zh-CN" dirty="0">
                <a:latin typeface="Times New Roman" panose="02020603050405020304" pitchFamily="18" charset="0"/>
                <a:cs typeface="Times New Roman" panose="02020603050405020304" pitchFamily="18" charset="0"/>
              </a:rPr>
              <a:t>, i.e., less than a predefined threshold Δ (Δ = 0.01 in our design).</a:t>
            </a:r>
          </a:p>
          <a:p>
            <a:pPr marL="400050" indent="-400050">
              <a:buAutoNum type="romanLcParenR"/>
            </a:pPr>
            <a:r>
              <a:rPr lang="en-US" altLang="zh-CN" dirty="0">
                <a:latin typeface="Times New Roman" panose="02020603050405020304" pitchFamily="18" charset="0"/>
                <a:cs typeface="Times New Roman" panose="02020603050405020304" pitchFamily="18" charset="0"/>
              </a:rPr>
              <a:t>Within each iteration, the row with </a:t>
            </a:r>
            <a:r>
              <a:rPr lang="en-US" altLang="zh-CN" b="1" dirty="0">
                <a:latin typeface="Times New Roman" panose="02020603050405020304" pitchFamily="18" charset="0"/>
                <a:cs typeface="Times New Roman" panose="02020603050405020304" pitchFamily="18" charset="0"/>
              </a:rPr>
              <a:t>the highest number of non-zeros in the inter-row mode is identified</a:t>
            </a:r>
            <a:r>
              <a:rPr lang="en-US" altLang="zh-CN" dirty="0">
                <a:latin typeface="Times New Roman" panose="02020603050405020304" pitchFamily="18" charset="0"/>
                <a:cs typeface="Times New Roman" panose="02020603050405020304" pitchFamily="18" charset="0"/>
              </a:rPr>
              <a:t>. </a:t>
            </a:r>
          </a:p>
          <a:p>
            <a:pPr marL="400050" indent="-400050">
              <a:buAutoNum type="romanLcParenR"/>
            </a:pPr>
            <a:r>
              <a:rPr lang="en-US" altLang="zh-CN" dirty="0">
                <a:latin typeface="Times New Roman" panose="02020603050405020304" pitchFamily="18" charset="0"/>
                <a:cs typeface="Times New Roman" panose="02020603050405020304" pitchFamily="18" charset="0"/>
              </a:rPr>
              <a:t>A new δ′ is </a:t>
            </a:r>
            <a:r>
              <a:rPr lang="en-US" altLang="zh-CN" b="1" dirty="0">
                <a:latin typeface="Times New Roman" panose="02020603050405020304" pitchFamily="18" charset="0"/>
                <a:cs typeface="Times New Roman" panose="02020603050405020304" pitchFamily="18" charset="0"/>
              </a:rPr>
              <a:t>then recalculated for all remaining rows</a:t>
            </a:r>
            <a:r>
              <a:rPr lang="en-US" altLang="zh-CN" dirty="0">
                <a:latin typeface="Times New Roman" panose="02020603050405020304" pitchFamily="18" charset="0"/>
                <a:cs typeface="Times New Roman" panose="02020603050405020304" pitchFamily="18" charset="0"/>
              </a:rPr>
              <a:t> in the inter-row mode without considering the identified row. </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0759311"/>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8A53-3538-B2E1-CA47-FAB71F66C79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FCBF9E-421E-985D-E76E-8FC4C1E50286}"/>
              </a:ext>
            </a:extLst>
          </p:cNvPr>
          <p:cNvSpPr>
            <a:spLocks noGrp="1"/>
          </p:cNvSpPr>
          <p:nvPr>
            <p:ph type="title"/>
          </p:nvPr>
        </p:nvSpPr>
        <p:spPr/>
        <p:txBody>
          <a:bodyPr>
            <a:normAutofit/>
          </a:bodyPr>
          <a:lstStyle/>
          <a:p>
            <a:r>
              <a:rPr lang="en-US" altLang="zh-CN" sz="2200" dirty="0"/>
              <a:t>Pipelined Floating-Point Accumulation</a:t>
            </a:r>
            <a:endParaRPr lang="en-US" altLang="zh-CN" dirty="0"/>
          </a:p>
        </p:txBody>
      </p:sp>
      <p:sp>
        <p:nvSpPr>
          <p:cNvPr id="6" name="文本框 5">
            <a:extLst>
              <a:ext uri="{FF2B5EF4-FFF2-40B4-BE49-F238E27FC236}">
                <a16:creationId xmlns:a16="http://schemas.microsoft.com/office/drawing/2014/main" id="{BDC76563-C7C6-1EF3-A715-35362965C46A}"/>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3. For l</a:t>
            </a:r>
            <a:r>
              <a:rPr lang="zh-CN" altLang="en-US" b="1" dirty="0">
                <a:latin typeface="Times New Roman" panose="02020603050405020304" pitchFamily="18" charset="0"/>
                <a:cs typeface="Times New Roman" panose="02020603050405020304" pitchFamily="18" charset="0"/>
              </a:rPr>
              <a:t>ong-Distance RAW Dependency</a:t>
            </a:r>
          </a:p>
        </p:txBody>
      </p:sp>
      <p:sp>
        <p:nvSpPr>
          <p:cNvPr id="2" name="文本框 1">
            <a:extLst>
              <a:ext uri="{FF2B5EF4-FFF2-40B4-BE49-F238E27FC236}">
                <a16:creationId xmlns:a16="http://schemas.microsoft.com/office/drawing/2014/main" id="{E6EDEFC3-6FD1-D017-7803-42C627595E14}"/>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63094950-8A16-0049-E46F-8ECFA3706E96}"/>
              </a:ext>
            </a:extLst>
          </p:cNvPr>
          <p:cNvPicPr>
            <a:picLocks noChangeAspect="1"/>
          </p:cNvPicPr>
          <p:nvPr/>
        </p:nvPicPr>
        <p:blipFill>
          <a:blip r:embed="rId3"/>
          <a:stretch>
            <a:fillRect/>
          </a:stretch>
        </p:blipFill>
        <p:spPr>
          <a:xfrm>
            <a:off x="1250280" y="1183129"/>
            <a:ext cx="6643440" cy="3407274"/>
          </a:xfrm>
          <a:prstGeom prst="rect">
            <a:avLst/>
          </a:prstGeom>
        </p:spPr>
      </p:pic>
      <p:sp>
        <p:nvSpPr>
          <p:cNvPr id="14" name="文本框 13">
            <a:extLst>
              <a:ext uri="{FF2B5EF4-FFF2-40B4-BE49-F238E27FC236}">
                <a16:creationId xmlns:a16="http://schemas.microsoft.com/office/drawing/2014/main" id="{C0FC7239-4015-9DD3-DA0D-713D56A28D34}"/>
              </a:ext>
            </a:extLst>
          </p:cNvPr>
          <p:cNvSpPr txBox="1"/>
          <p:nvPr/>
        </p:nvSpPr>
        <p:spPr>
          <a:xfrm>
            <a:off x="1009311" y="4712190"/>
            <a:ext cx="7645160" cy="19389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zh-CN" sz="1200" b="1" i="0" u="none" strike="noStrike" cap="none" normalizeH="0" baseline="0" dirty="0">
                <a:ln>
                  <a:noFill/>
                </a:ln>
                <a:solidFill>
                  <a:schemeClr val="tx1"/>
                </a:solidFill>
                <a:effectLst/>
                <a:latin typeface="Arial" panose="020B0604020202020204" pitchFamily="34" charset="0"/>
              </a:rPr>
              <a:t>Circular Buffer</a:t>
            </a:r>
            <a:r>
              <a:rPr lang="en-US" altLang="zh-CN" sz="1200" b="1" dirty="0">
                <a:latin typeface="Arial" panose="020B0604020202020204" pitchFamily="34" charset="0"/>
              </a:rPr>
              <a:t>:</a:t>
            </a:r>
            <a:r>
              <a:rPr lang="zh-CN" altLang="en-US" sz="1200" b="1" dirty="0">
                <a:latin typeface="Arial" panose="020B0604020202020204" pitchFamily="34" charset="0"/>
              </a:rPr>
              <a:t> </a:t>
            </a:r>
            <a:endParaRPr kumimoji="0" lang="en-US" altLang="zh-CN" sz="12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Buffer Capacity</a:t>
            </a:r>
            <a:r>
              <a:rPr kumimoji="0" lang="zh-CN" altLang="zh-CN" sz="1200" b="0" i="0" u="none" strike="noStrike" cap="none" normalizeH="0" baseline="0" dirty="0">
                <a:ln>
                  <a:noFill/>
                </a:ln>
                <a:solidFill>
                  <a:schemeClr val="tx1"/>
                </a:solidFill>
                <a:effectLst/>
                <a:latin typeface="Arial" panose="020B0604020202020204" pitchFamily="34" charset="0"/>
              </a:rPr>
              <a:t>:</a:t>
            </a:r>
            <a:br>
              <a:rPr kumimoji="0" lang="zh-CN" altLang="zh-CN" sz="1200" b="0" i="0" u="none" strike="noStrike" cap="none" normalizeH="0" baseline="0" dirty="0">
                <a:ln>
                  <a:noFill/>
                </a:ln>
                <a:solidFill>
                  <a:schemeClr val="tx1"/>
                </a:solidFill>
                <a:effectLst/>
                <a:latin typeface="Arial" panose="020B0604020202020204" pitchFamily="34" charset="0"/>
              </a:rPr>
            </a:br>
            <a:r>
              <a:rPr kumimoji="0" lang="zh-CN" altLang="zh-CN" sz="1200" b="0" i="0" u="none" strike="noStrike" cap="none" normalizeH="0" baseline="0" dirty="0">
                <a:ln>
                  <a:noFill/>
                </a:ln>
                <a:solidFill>
                  <a:schemeClr val="tx1"/>
                </a:solidFill>
                <a:effectLst/>
                <a:latin typeface="Arial" panose="020B0604020202020204" pitchFamily="34" charset="0"/>
              </a:rPr>
              <a:t>Stores </a:t>
            </a:r>
            <a:r>
              <a:rPr kumimoji="0" lang="zh-CN" altLang="zh-CN" sz="1200" b="0" i="0" u="none" strike="noStrike" cap="none" normalizeH="0" baseline="0" dirty="0">
                <a:ln>
                  <a:noFill/>
                </a:ln>
                <a:solidFill>
                  <a:schemeClr val="tx1"/>
                </a:solidFill>
                <a:effectLst/>
                <a:latin typeface="Arial Unicode MS"/>
              </a:rPr>
              <a:t>dd − 1</a:t>
            </a:r>
            <a:r>
              <a:rPr kumimoji="0" lang="zh-CN" altLang="zh-CN" sz="1200" b="0" i="0" u="none" strike="noStrike" cap="none" normalizeH="0" baseline="0" dirty="0">
                <a:ln>
                  <a:noFill/>
                </a:ln>
                <a:solidFill>
                  <a:schemeClr val="tx1"/>
                </a:solidFill>
                <a:effectLst/>
              </a:rPr>
              <a:t> accumulation results for previous rows and one for the current row.</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Precise Positioning</a:t>
            </a:r>
            <a:r>
              <a:rPr kumimoji="0" lang="zh-CN" altLang="zh-CN" sz="1200" b="0" i="0" u="none" strike="noStrike" cap="none" normalizeH="0" baseline="0" dirty="0">
                <a:ln>
                  <a:noFill/>
                </a:ln>
                <a:solidFill>
                  <a:schemeClr val="tx1"/>
                </a:solidFill>
                <a:effectLst/>
                <a:latin typeface="Arial" panose="020B0604020202020204" pitchFamily="34" charset="0"/>
              </a:rPr>
              <a:t>:</a:t>
            </a:r>
            <a:br>
              <a:rPr kumimoji="0" lang="zh-CN" altLang="zh-CN" sz="1200" b="0" i="0" u="none" strike="noStrike" cap="none" normalizeH="0" baseline="0" dirty="0">
                <a:ln>
                  <a:noFill/>
                </a:ln>
                <a:solidFill>
                  <a:schemeClr val="tx1"/>
                </a:solidFill>
                <a:effectLst/>
                <a:latin typeface="Arial" panose="020B0604020202020204" pitchFamily="34" charset="0"/>
              </a:rPr>
            </a:br>
            <a:r>
              <a:rPr kumimoji="0" lang="zh-CN" altLang="zh-CN" sz="1200" b="0" i="0" u="none" strike="noStrike" cap="none" normalizeH="0" baseline="0" dirty="0">
                <a:ln>
                  <a:noFill/>
                </a:ln>
                <a:solidFill>
                  <a:schemeClr val="tx1"/>
                </a:solidFill>
                <a:effectLst/>
                <a:latin typeface="Arial" panose="020B0604020202020204" pitchFamily="34" charset="0"/>
              </a:rPr>
              <a:t>The current row's position in the circular buffer is known because it started exactly </a:t>
            </a:r>
            <a:r>
              <a:rPr kumimoji="0" lang="zh-CN" altLang="zh-CN" sz="1200" b="0" i="0" u="none" strike="noStrike" cap="none" normalizeH="0" baseline="0" dirty="0">
                <a:ln>
                  <a:noFill/>
                </a:ln>
                <a:solidFill>
                  <a:schemeClr val="tx1"/>
                </a:solidFill>
                <a:effectLst/>
                <a:latin typeface="Arial Unicode MS"/>
              </a:rPr>
              <a:t>dd</a:t>
            </a:r>
            <a:r>
              <a:rPr kumimoji="0" lang="zh-CN" altLang="zh-CN" sz="1200" b="0" i="0" u="none" strike="noStrike" cap="none" normalizeH="0" baseline="0" dirty="0">
                <a:ln>
                  <a:noFill/>
                </a:ln>
                <a:solidFill>
                  <a:schemeClr val="tx1"/>
                </a:solidFill>
                <a:effectLst/>
              </a:rPr>
              <a:t> cycles ago.</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Row Index Check</a:t>
            </a:r>
            <a:r>
              <a:rPr kumimoji="0" lang="zh-CN" altLang="zh-CN" sz="1200" b="0" i="0" u="none" strike="noStrike" cap="none" normalizeH="0" baseline="0" dirty="0">
                <a:ln>
                  <a:noFill/>
                </a:ln>
                <a:solidFill>
                  <a:schemeClr val="tx1"/>
                </a:solidFill>
                <a:effectLst/>
                <a:latin typeface="Arial" panose="020B0604020202020204" pitchFamily="34" charset="0"/>
              </a:rPr>
              <a:t>:</a:t>
            </a:r>
            <a:br>
              <a:rPr kumimoji="0" lang="zh-CN" altLang="zh-CN" sz="1200" b="0" i="0" u="none" strike="noStrike" cap="none" normalizeH="0" baseline="0" dirty="0">
                <a:ln>
                  <a:noFill/>
                </a:ln>
                <a:solidFill>
                  <a:schemeClr val="tx1"/>
                </a:solidFill>
                <a:effectLst/>
                <a:latin typeface="Arial" panose="020B0604020202020204" pitchFamily="34" charset="0"/>
              </a:rPr>
            </a:br>
            <a:r>
              <a:rPr kumimoji="0" lang="zh-CN" altLang="zh-CN" sz="1200" b="0" i="0" u="none" strike="noStrike" cap="none" normalizeH="0" baseline="0" dirty="0">
                <a:ln>
                  <a:noFill/>
                </a:ln>
                <a:solidFill>
                  <a:schemeClr val="tx1"/>
                </a:solidFill>
                <a:effectLst/>
                <a:latin typeface="Arial" panose="020B0604020202020204" pitchFamily="34" charset="0"/>
              </a:rPr>
              <a:t>Only one check is needed to determine whether the incoming product belongs to a new row.</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Accumulation Logic</a:t>
            </a:r>
            <a:r>
              <a:rPr kumimoji="0" lang="zh-CN" altLang="zh-CN" sz="1200" b="0" i="0" u="none" strike="noStrike" cap="none" normalizeH="0" baseline="0" dirty="0">
                <a:ln>
                  <a:noFill/>
                </a:ln>
                <a:solidFill>
                  <a:schemeClr val="tx1"/>
                </a:solidFill>
                <a:effectLst/>
                <a:latin typeface="Arial" panose="020B0604020202020204" pitchFamily="34" charset="0"/>
              </a:rPr>
              <a: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628650" lvl="1" indent="-171450" defTabSz="914400" eaLnBrk="0" fontAlgn="base" hangingPunct="0">
              <a:spcBef>
                <a:spcPct val="0"/>
              </a:spcBef>
              <a:spcAft>
                <a:spcPct val="0"/>
              </a:spcAft>
              <a:buFont typeface="Wingdings" panose="05000000000000000000" pitchFamily="2" charset="2"/>
              <a:buChar char="ü"/>
            </a:pPr>
            <a:r>
              <a:rPr kumimoji="0" lang="zh-CN" altLang="zh-CN" sz="1200" b="1" i="0" u="none" strike="noStrike" cap="none" normalizeH="0" baseline="0" dirty="0">
                <a:ln>
                  <a:noFill/>
                </a:ln>
                <a:solidFill>
                  <a:schemeClr val="tx1"/>
                </a:solidFill>
                <a:effectLst/>
                <a:latin typeface="Arial" panose="020B0604020202020204" pitchFamily="34" charset="0"/>
              </a:rPr>
              <a:t>Existing Row</a:t>
            </a:r>
            <a:r>
              <a:rPr kumimoji="0" lang="zh-CN" altLang="zh-CN" sz="1200" b="0" i="0" u="none" strike="noStrike" cap="none" normalizeH="0" baseline="0" dirty="0">
                <a:ln>
                  <a:noFill/>
                </a:ln>
                <a:solidFill>
                  <a:schemeClr val="tx1"/>
                </a:solidFill>
                <a:effectLst/>
                <a:latin typeface="Arial" panose="020B0604020202020204" pitchFamily="34" charset="0"/>
              </a:rPr>
              <a:t>: Retrieve previous result from the buffer and accumulate with the new product.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628650" lvl="1" indent="-171450" defTabSz="914400" eaLnBrk="0" fontAlgn="base" hangingPunct="0">
              <a:spcBef>
                <a:spcPct val="0"/>
              </a:spcBef>
              <a:spcAft>
                <a:spcPct val="0"/>
              </a:spcAft>
              <a:buFont typeface="Wingdings" panose="05000000000000000000" pitchFamily="2" charset="2"/>
              <a:buChar char="ü"/>
            </a:pPr>
            <a:r>
              <a:rPr kumimoji="0" lang="zh-CN" altLang="zh-CN" sz="1200" b="1" i="0" u="none" strike="noStrike" cap="none" normalizeH="0" baseline="0" dirty="0">
                <a:ln>
                  <a:noFill/>
                </a:ln>
                <a:solidFill>
                  <a:schemeClr val="tx1"/>
                </a:solidFill>
                <a:effectLst/>
                <a:latin typeface="Arial" panose="020B0604020202020204" pitchFamily="34" charset="0"/>
              </a:rPr>
              <a:t>New Row</a:t>
            </a:r>
            <a:r>
              <a:rPr kumimoji="0" lang="zh-CN" altLang="zh-CN" sz="1200" b="0" i="0" u="none" strike="noStrike" cap="none" normalizeH="0" baseline="0" dirty="0">
                <a:ln>
                  <a:noFill/>
                </a:ln>
                <a:solidFill>
                  <a:schemeClr val="tx1"/>
                </a:solidFill>
                <a:effectLst/>
                <a:latin typeface="Arial" panose="020B0604020202020204" pitchFamily="34" charset="0"/>
              </a:rPr>
              <a:t>: Start a new accumulation process.</a:t>
            </a:r>
          </a:p>
        </p:txBody>
      </p:sp>
    </p:spTree>
    <p:extLst>
      <p:ext uri="{BB962C8B-B14F-4D97-AF65-F5344CB8AC3E}">
        <p14:creationId xmlns:p14="http://schemas.microsoft.com/office/powerpoint/2010/main" val="3997731672"/>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8E9FE-C0BD-C9E3-04D5-A4E0792BBA6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43A1EF1-B872-9A86-6C53-A0BBEFB768F5}"/>
              </a:ext>
            </a:extLst>
          </p:cNvPr>
          <p:cNvSpPr>
            <a:spLocks noGrp="1"/>
          </p:cNvSpPr>
          <p:nvPr>
            <p:ph type="title"/>
          </p:nvPr>
        </p:nvSpPr>
        <p:spPr/>
        <p:txBody>
          <a:bodyPr>
            <a:normAutofit/>
          </a:bodyPr>
          <a:lstStyle/>
          <a:p>
            <a:r>
              <a:rPr lang="en-US" altLang="zh-CN" sz="2200" dirty="0"/>
              <a:t>Pipelined Floating-Point Accumulation</a:t>
            </a:r>
            <a:endParaRPr lang="en-US" altLang="zh-CN" dirty="0"/>
          </a:p>
        </p:txBody>
      </p:sp>
      <p:sp>
        <p:nvSpPr>
          <p:cNvPr id="6" name="文本框 5">
            <a:extLst>
              <a:ext uri="{FF2B5EF4-FFF2-40B4-BE49-F238E27FC236}">
                <a16:creationId xmlns:a16="http://schemas.microsoft.com/office/drawing/2014/main" id="{5F0A65D3-CFD4-B530-9C8C-18A213BBDA16}"/>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3. For l</a:t>
            </a:r>
            <a:r>
              <a:rPr lang="zh-CN" altLang="en-US" b="1" dirty="0">
                <a:latin typeface="Times New Roman" panose="02020603050405020304" pitchFamily="18" charset="0"/>
                <a:cs typeface="Times New Roman" panose="02020603050405020304" pitchFamily="18" charset="0"/>
              </a:rPr>
              <a:t>ong-Distance RAW Dependency</a:t>
            </a:r>
          </a:p>
        </p:txBody>
      </p:sp>
      <p:sp>
        <p:nvSpPr>
          <p:cNvPr id="2" name="文本框 1">
            <a:extLst>
              <a:ext uri="{FF2B5EF4-FFF2-40B4-BE49-F238E27FC236}">
                <a16:creationId xmlns:a16="http://schemas.microsoft.com/office/drawing/2014/main" id="{51C25ED6-8036-D3DC-D7FF-78110E2D8D84}"/>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37B48928-46F9-48B4-2A98-001257A317C8}"/>
              </a:ext>
            </a:extLst>
          </p:cNvPr>
          <p:cNvPicPr>
            <a:picLocks noChangeAspect="1"/>
          </p:cNvPicPr>
          <p:nvPr/>
        </p:nvPicPr>
        <p:blipFill>
          <a:blip r:embed="rId3"/>
          <a:stretch>
            <a:fillRect/>
          </a:stretch>
        </p:blipFill>
        <p:spPr>
          <a:xfrm>
            <a:off x="1250280" y="1183129"/>
            <a:ext cx="6643440" cy="3407274"/>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5C1249B-3F76-1F4B-BF86-155D3E5D5E7B}"/>
                  </a:ext>
                </a:extLst>
              </p:cNvPr>
              <p:cNvSpPr txBox="1"/>
              <p:nvPr/>
            </p:nvSpPr>
            <p:spPr>
              <a:xfrm>
                <a:off x="1250280" y="4691253"/>
                <a:ext cx="7509569" cy="2166747"/>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zh-CN" sz="1200" b="1" i="0" u="none" strike="noStrike" cap="none" normalizeH="0" baseline="0" dirty="0">
                    <a:ln>
                      <a:noFill/>
                    </a:ln>
                    <a:solidFill>
                      <a:schemeClr val="tx1"/>
                    </a:solidFill>
                    <a:effectLst/>
                    <a:latin typeface="Arial" panose="020B0604020202020204" pitchFamily="34" charset="0"/>
                  </a:rPr>
                  <a:t>Adder Chain</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Scenario Assumption</a:t>
                </a:r>
                <a:r>
                  <a:rPr kumimoji="0" lang="zh-CN" altLang="zh-CN" sz="1200" b="0" i="0" u="none" strike="noStrike" cap="none" normalizeH="0" baseline="0" dirty="0">
                    <a:ln>
                      <a:noFill/>
                    </a:ln>
                    <a:solidFill>
                      <a:schemeClr val="tx1"/>
                    </a:solidFill>
                    <a:effectLst/>
                    <a:latin typeface="Arial" panose="020B0604020202020204" pitchFamily="34" charset="0"/>
                  </a:rPr>
                  <a:t>:</a:t>
                </a:r>
                <a:endParaRPr lang="en-US" altLang="zh-CN" sz="1200" dirty="0">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Products from the Processing Elements (PEs) belong to the </a:t>
                </a:r>
                <a:r>
                  <a:rPr kumimoji="0" lang="zh-CN" altLang="zh-CN" sz="1200" b="1" i="0" u="none" strike="noStrike" cap="none" normalizeH="0" baseline="0" dirty="0">
                    <a:ln>
                      <a:noFill/>
                    </a:ln>
                    <a:solidFill>
                      <a:schemeClr val="tx1"/>
                    </a:solidFill>
                    <a:effectLst/>
                    <a:latin typeface="Arial" panose="020B0604020202020204" pitchFamily="34" charset="0"/>
                  </a:rPr>
                  <a:t>same row</a:t>
                </a:r>
                <a:r>
                  <a:rPr kumimoji="0" lang="zh-CN" altLang="zh-CN" sz="1200" b="0" i="0" u="none" strike="noStrike" cap="none" normalizeH="0" baseline="0" dirty="0">
                    <a:ln>
                      <a:noFill/>
                    </a:ln>
                    <a:solidFill>
                      <a:schemeClr val="tx1"/>
                    </a:solidFill>
                    <a:effectLst/>
                    <a:latin typeface="Arial" panose="020B0604020202020204" pitchFamily="34" charset="0"/>
                  </a:rPr>
                  <a:t>, with </a:t>
                </a:r>
                <a:r>
                  <a:rPr kumimoji="0" lang="zh-CN" altLang="zh-CN" sz="1200" b="1" i="0" u="none" strike="noStrike" cap="none" normalizeH="0" baseline="0" dirty="0">
                    <a:ln>
                      <a:noFill/>
                    </a:ln>
                    <a:solidFill>
                      <a:schemeClr val="tx1"/>
                    </a:solidFill>
                    <a:effectLst/>
                    <a:latin typeface="Arial" panose="020B0604020202020204" pitchFamily="34" charset="0"/>
                  </a:rPr>
                  <a:t>no out-of-order scheduling</a:t>
                </a:r>
                <a:r>
                  <a:rPr kumimoji="0" lang="zh-CN" altLang="zh-CN" sz="1200" b="0" i="0" u="none" strike="noStrike" cap="none" normalizeH="0" baseline="0" dirty="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Product and Accumulation Definitions</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Unicode MS"/>
                  </a:rPr>
                  <a:t>Prodi</a:t>
                </a:r>
                <a:r>
                  <a:rPr kumimoji="0" lang="zh-CN" altLang="zh-CN" sz="1200" b="0" i="0" u="none" strike="noStrike" cap="none" normalizeH="0" baseline="0" dirty="0">
                    <a:ln>
                      <a:noFill/>
                    </a:ln>
                    <a:solidFill>
                      <a:schemeClr val="tx1"/>
                    </a:solidFill>
                    <a:effectLst/>
                  </a:rPr>
                  <a:t>: the ith product in the current row.</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14:m>
                  <m:oMath xmlns:m="http://schemas.openxmlformats.org/officeDocument/2006/math">
                    <m:sSub>
                      <m:sSubPr>
                        <m:ctrlPr>
                          <a:rPr kumimoji="0" lang="en-US" altLang="zh-CN" sz="1200" b="0" i="1" u="none" strike="noStrike" cap="none" normalizeH="0" baseline="0" dirty="0" smtClean="0">
                            <a:ln>
                              <a:noFill/>
                            </a:ln>
                            <a:solidFill>
                              <a:schemeClr val="tx1"/>
                            </a:solidFill>
                            <a:effectLst/>
                            <a:latin typeface="Cambria Math" panose="02040503050406030204" pitchFamily="18" charset="0"/>
                          </a:rPr>
                        </m:ctrlPr>
                      </m:sSubPr>
                      <m:e>
                        <m:r>
                          <a:rPr kumimoji="0" lang="zh-CN" altLang="zh-CN" sz="1200" b="0" i="1" u="none" strike="noStrike" cap="none" normalizeH="0" baseline="0" dirty="0" smtClean="0">
                            <a:ln>
                              <a:noFill/>
                            </a:ln>
                            <a:solidFill>
                              <a:schemeClr val="tx1"/>
                            </a:solidFill>
                            <a:effectLst/>
                            <a:latin typeface="Cambria Math" panose="02040503050406030204" pitchFamily="18" charset="0"/>
                          </a:rPr>
                          <m:t>𝑦</m:t>
                        </m:r>
                      </m:e>
                      <m:sub>
                        <m:r>
                          <a:rPr kumimoji="0" lang="zh-CN" altLang="zh-CN" sz="1200" b="0" i="1" u="none" strike="noStrike" cap="none" normalizeH="0" baseline="0" dirty="0" smtClean="0">
                            <a:ln>
                              <a:noFill/>
                            </a:ln>
                            <a:solidFill>
                              <a:schemeClr val="tx1"/>
                            </a:solidFill>
                            <a:effectLst/>
                            <a:latin typeface="Cambria Math" panose="02040503050406030204" pitchFamily="18" charset="0"/>
                          </a:rPr>
                          <m:t>𝑖</m:t>
                        </m:r>
                      </m:sub>
                    </m:sSub>
                  </m:oMath>
                </a14:m>
                <a:r>
                  <a:rPr kumimoji="0" lang="zh-CN" altLang="zh-CN" sz="1200" b="0" i="0" u="none" strike="noStrike" cap="none" normalizeH="0" baseline="0" dirty="0">
                    <a:ln>
                      <a:noFill/>
                    </a:ln>
                    <a:solidFill>
                      <a:schemeClr val="tx1"/>
                    </a:solidFill>
                    <a:effectLst/>
                  </a:rPr>
                  <a:t>: the accumulated sum up to the ith product.</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Adder Chain Function</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Pre-adds the last </a:t>
                </a:r>
                <a:r>
                  <a:rPr kumimoji="0" lang="zh-CN" altLang="zh-CN" sz="1200" b="0" i="0" u="none" strike="noStrike" cap="none" normalizeH="0" baseline="0" dirty="0">
                    <a:ln>
                      <a:noFill/>
                    </a:ln>
                    <a:solidFill>
                      <a:schemeClr val="tx1"/>
                    </a:solidFill>
                    <a:effectLst/>
                    <a:latin typeface="Arial Unicode MS"/>
                  </a:rPr>
                  <a:t>dd</a:t>
                </a:r>
                <a:r>
                  <a:rPr kumimoji="0" lang="zh-CN" altLang="zh-CN" sz="1200" b="0" i="0" u="none" strike="noStrike" cap="none" normalizeH="0" baseline="0" dirty="0">
                    <a:ln>
                      <a:noFill/>
                    </a:ln>
                    <a:solidFill>
                      <a:schemeClr val="tx1"/>
                    </a:solidFill>
                    <a:effectLst/>
                  </a:rPr>
                  <a:t> products (including current </a:t>
                </a:r>
                <a:r>
                  <a:rPr kumimoji="0" lang="zh-CN" altLang="zh-CN" sz="1200" b="0" i="0" u="none" strike="noStrike" cap="none" normalizeH="0" baseline="0" dirty="0">
                    <a:ln>
                      <a:noFill/>
                    </a:ln>
                    <a:solidFill>
                      <a:schemeClr val="tx1"/>
                    </a:solidFill>
                    <a:effectLst/>
                    <a:latin typeface="Arial Unicode MS"/>
                  </a:rPr>
                  <a:t>Prodi</a:t>
                </a:r>
                <a:r>
                  <a:rPr kumimoji="0" lang="zh-CN" altLang="zh-CN" sz="1200" b="0" i="0" u="none" strike="noStrike" cap="none" normalizeH="0" baseline="0" dirty="0">
                    <a:ln>
                      <a:noFill/>
                    </a:ln>
                    <a:solidFill>
                      <a:schemeClr val="tx1"/>
                    </a:solidFill>
                    <a:effectLst/>
                  </a:rPr>
                  <a:t>) while waiting for </a:t>
                </a:r>
                <a:r>
                  <a:rPr kumimoji="0" lang="zh-CN" altLang="zh-CN" sz="1200" b="0" i="0" u="none" strike="noStrike" cap="none" normalizeH="0" baseline="0" dirty="0">
                    <a:ln>
                      <a:noFill/>
                    </a:ln>
                    <a:solidFill>
                      <a:schemeClr val="tx1"/>
                    </a:solidFill>
                    <a:effectLst/>
                    <a:latin typeface="Arial Unicode MS"/>
                  </a:rPr>
                  <a:t>yi−dd</a:t>
                </a:r>
                <a:r>
                  <a:rPr kumimoji="0" lang="zh-CN" altLang="zh-CN" sz="1200" b="0" i="0" u="none" strike="noStrike" cap="none" normalizeH="0" baseline="0" dirty="0">
                    <a:ln>
                      <a:noFill/>
                    </a:ln>
                    <a:solidFill>
                      <a:schemeClr val="tx1"/>
                    </a:solidFill>
                    <a:effectLst/>
                  </a:rPr>
                  <a:t>.</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Pre-added result </a:t>
                </a:r>
                <a14:m>
                  <m:oMath xmlns:m="http://schemas.openxmlformats.org/officeDocument/2006/math">
                    <m:r>
                      <a:rPr kumimoji="0" lang="zh-CN" altLang="zh-CN" sz="1200" b="0" i="1" u="none" strike="noStrike" cap="none" normalizeH="0" baseline="0" dirty="0" smtClean="0">
                        <a:ln>
                          <a:noFill/>
                        </a:ln>
                        <a:solidFill>
                          <a:schemeClr val="tx1"/>
                        </a:solidFill>
                        <a:effectLst/>
                        <a:latin typeface="Cambria Math" panose="02040503050406030204" pitchFamily="18" charset="0"/>
                      </a:rPr>
                      <m:t>𝑄</m:t>
                    </m:r>
                    <m:r>
                      <a:rPr kumimoji="0" lang="zh-CN" altLang="zh-CN" sz="1200" b="0" i="1" u="none" strike="noStrike" cap="none" normalizeH="0" baseline="0" dirty="0" smtClean="0">
                        <a:ln>
                          <a:noFill/>
                        </a:ln>
                        <a:solidFill>
                          <a:schemeClr val="tx1"/>
                        </a:solidFill>
                        <a:effectLst/>
                        <a:latin typeface="Cambria Math" panose="02040503050406030204" pitchFamily="18" charset="0"/>
                      </a:rPr>
                      <m:t> =</m:t>
                    </m:r>
                    <m:nary>
                      <m:naryPr>
                        <m:chr m:val="∑"/>
                        <m:ctrlPr>
                          <a:rPr kumimoji="0" lang="pt-BR" altLang="zh-CN" sz="1200" b="0" i="1" u="none" strike="noStrike" cap="none" normalizeH="0" baseline="0" dirty="0" smtClean="0">
                            <a:ln>
                              <a:noFill/>
                            </a:ln>
                            <a:solidFill>
                              <a:schemeClr val="tx1"/>
                            </a:solidFill>
                            <a:effectLst/>
                            <a:latin typeface="Cambria Math" panose="02040503050406030204" pitchFamily="18" charset="0"/>
                          </a:rPr>
                        </m:ctrlPr>
                      </m:naryPr>
                      <m:sub>
                        <m:r>
                          <m:rPr>
                            <m:brk m:alnAt="23"/>
                          </m:rPr>
                          <a:rPr kumimoji="0" lang="en-US" altLang="zh-CN" sz="1200" b="0" i="1" u="none" strike="noStrike" cap="none" normalizeH="0" baseline="0" dirty="0" smtClean="0">
                            <a:ln>
                              <a:noFill/>
                            </a:ln>
                            <a:solidFill>
                              <a:schemeClr val="tx1"/>
                            </a:solidFill>
                            <a:effectLst/>
                            <a:latin typeface="Cambria Math" panose="02040503050406030204" pitchFamily="18" charset="0"/>
                          </a:rPr>
                          <m:t>𝑗</m:t>
                        </m:r>
                        <m:r>
                          <a:rPr kumimoji="0" lang="pt-BR" altLang="zh-CN" sz="1200" b="0" i="1" u="none" strike="noStrike" cap="none" normalizeH="0" baseline="0" dirty="0" smtClean="0">
                            <a:ln>
                              <a:noFill/>
                            </a:ln>
                            <a:solidFill>
                              <a:schemeClr val="tx1"/>
                            </a:solidFill>
                            <a:effectLst/>
                            <a:latin typeface="Cambria Math" panose="02040503050406030204" pitchFamily="18" charset="0"/>
                          </a:rPr>
                          <m:t>=</m:t>
                        </m:r>
                        <m:r>
                          <m:rPr>
                            <m:sty m:val="p"/>
                          </m:rPr>
                          <a:rPr lang="en-US" altLang="zh-CN" sz="1200" i="1" dirty="0">
                            <a:latin typeface="Cambria Math" panose="02040503050406030204" pitchFamily="18" charset="0"/>
                          </a:rPr>
                          <m:t>i</m:t>
                        </m:r>
                        <m:r>
                          <a:rPr lang="en-US" altLang="zh-CN" sz="1200" i="1" dirty="0">
                            <a:latin typeface="Cambria Math" panose="02040503050406030204" pitchFamily="18" charset="0"/>
                          </a:rPr>
                          <m:t>−(</m:t>
                        </m:r>
                        <m:r>
                          <a:rPr lang="en-US" altLang="zh-CN" sz="1200" b="0" i="1" dirty="0" smtClean="0">
                            <a:latin typeface="Cambria Math" panose="02040503050406030204" pitchFamily="18" charset="0"/>
                          </a:rPr>
                          <m:t>𝑑𝑑</m:t>
                        </m:r>
                        <m:r>
                          <a:rPr lang="en-US" altLang="zh-CN" sz="1200" b="0" i="1" dirty="0" smtClean="0">
                            <a:latin typeface="Cambria Math" panose="02040503050406030204" pitchFamily="18" charset="0"/>
                          </a:rPr>
                          <m:t>−1)</m:t>
                        </m:r>
                      </m:sub>
                      <m:sup>
                        <m:r>
                          <a:rPr kumimoji="0" lang="en-US" altLang="zh-CN" sz="1200" b="0" i="1" u="none" strike="noStrike" cap="none" normalizeH="0" baseline="0" dirty="0" smtClean="0">
                            <a:ln>
                              <a:noFill/>
                            </a:ln>
                            <a:solidFill>
                              <a:schemeClr val="tx1"/>
                            </a:solidFill>
                            <a:effectLst/>
                            <a:latin typeface="Cambria Math" panose="02040503050406030204" pitchFamily="18" charset="0"/>
                          </a:rPr>
                          <m:t>𝑖</m:t>
                        </m:r>
                      </m:sup>
                      <m:e>
                        <m:r>
                          <a:rPr kumimoji="0" lang="en-US" altLang="zh-CN" sz="1200" b="0" i="1" u="none" strike="noStrike" cap="none" normalizeH="0" baseline="0" dirty="0" smtClean="0">
                            <a:ln>
                              <a:noFill/>
                            </a:ln>
                            <a:solidFill>
                              <a:schemeClr val="tx1"/>
                            </a:solidFill>
                            <a:effectLst/>
                            <a:latin typeface="Cambria Math" panose="02040503050406030204" pitchFamily="18" charset="0"/>
                          </a:rPr>
                          <m:t>𝑝𝑟𝑜</m:t>
                        </m:r>
                        <m:sSub>
                          <m:sSubPr>
                            <m:ctrlPr>
                              <a:rPr kumimoji="0" lang="en-US" altLang="zh-CN" sz="1200" b="0" i="1" u="none" strike="noStrike" cap="none" normalizeH="0" baseline="0" dirty="0" smtClean="0">
                                <a:ln>
                                  <a:noFill/>
                                </a:ln>
                                <a:solidFill>
                                  <a:schemeClr val="tx1"/>
                                </a:solidFill>
                                <a:effectLst/>
                                <a:latin typeface="Cambria Math" panose="02040503050406030204" pitchFamily="18" charset="0"/>
                              </a:rPr>
                            </m:ctrlPr>
                          </m:sSubPr>
                          <m:e>
                            <m:r>
                              <a:rPr kumimoji="0" lang="en-US" altLang="zh-CN" sz="1200" b="0" i="1" u="none" strike="noStrike" cap="none" normalizeH="0" baseline="0" dirty="0" smtClean="0">
                                <a:ln>
                                  <a:noFill/>
                                </a:ln>
                                <a:solidFill>
                                  <a:schemeClr val="tx1"/>
                                </a:solidFill>
                                <a:effectLst/>
                                <a:latin typeface="Cambria Math" panose="02040503050406030204" pitchFamily="18" charset="0"/>
                              </a:rPr>
                              <m:t>𝑑</m:t>
                            </m:r>
                          </m:e>
                          <m:sub>
                            <m:r>
                              <a:rPr kumimoji="0" lang="en-US" altLang="zh-CN" sz="1200" b="0" i="1" u="none" strike="noStrike" cap="none" normalizeH="0" baseline="0" dirty="0" smtClean="0">
                                <a:ln>
                                  <a:noFill/>
                                </a:ln>
                                <a:solidFill>
                                  <a:schemeClr val="tx1"/>
                                </a:solidFill>
                                <a:effectLst/>
                                <a:latin typeface="Cambria Math" panose="02040503050406030204" pitchFamily="18" charset="0"/>
                              </a:rPr>
                              <m:t>𝑗</m:t>
                            </m:r>
                          </m:sub>
                        </m:sSub>
                      </m:e>
                    </m:nary>
                  </m:oMath>
                </a14:m>
                <a:r>
                  <a:rPr kumimoji="0" lang="zh-CN" altLang="zh-CN" sz="1200" b="0" i="0" u="none" strike="noStrike" cap="none" normalizeH="0" baseline="0" dirty="0">
                    <a:ln>
                      <a:noFill/>
                    </a:ln>
                    <a:solidFill>
                      <a:schemeClr val="tx1"/>
                    </a:solidFill>
                    <a:effectLst/>
                  </a:rPr>
                  <a:t>.</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Final result: </a:t>
                </a:r>
                <a14:m>
                  <m:oMath xmlns:m="http://schemas.openxmlformats.org/officeDocument/2006/math">
                    <m:sSub>
                      <m:sSubPr>
                        <m:ctrlPr>
                          <a:rPr kumimoji="0" lang="en-US" altLang="zh-CN" sz="1200" b="0" i="1" u="none" strike="noStrike" cap="none" normalizeH="0" baseline="0" dirty="0" smtClean="0">
                            <a:ln>
                              <a:noFill/>
                            </a:ln>
                            <a:solidFill>
                              <a:schemeClr val="tx1"/>
                            </a:solidFill>
                            <a:effectLst/>
                            <a:latin typeface="Cambria Math" panose="02040503050406030204" pitchFamily="18" charset="0"/>
                          </a:rPr>
                        </m:ctrlPr>
                      </m:sSubPr>
                      <m:e>
                        <m:r>
                          <a:rPr kumimoji="0" lang="zh-CN" altLang="zh-CN" sz="1200" b="0" i="1" u="none" strike="noStrike" cap="none" normalizeH="0" baseline="0" dirty="0" smtClean="0">
                            <a:ln>
                              <a:noFill/>
                            </a:ln>
                            <a:solidFill>
                              <a:schemeClr val="tx1"/>
                            </a:solidFill>
                            <a:effectLst/>
                            <a:latin typeface="Cambria Math" panose="02040503050406030204" pitchFamily="18" charset="0"/>
                          </a:rPr>
                          <m:t>𝑦</m:t>
                        </m:r>
                      </m:e>
                      <m:sub>
                        <m:r>
                          <a:rPr kumimoji="0" lang="zh-CN" altLang="zh-CN" sz="1200" b="0" i="1" u="none" strike="noStrike" cap="none" normalizeH="0" baseline="0" dirty="0" smtClean="0">
                            <a:ln>
                              <a:noFill/>
                            </a:ln>
                            <a:solidFill>
                              <a:schemeClr val="tx1"/>
                            </a:solidFill>
                            <a:effectLst/>
                            <a:latin typeface="Cambria Math" panose="02040503050406030204" pitchFamily="18" charset="0"/>
                          </a:rPr>
                          <m:t>𝑖</m:t>
                        </m:r>
                      </m:sub>
                    </m:sSub>
                    <m:r>
                      <a:rPr kumimoji="0" lang="zh-CN" altLang="zh-CN" sz="1200" b="0" i="1" u="none" strike="noStrike" cap="none" normalizeH="0" baseline="0" dirty="0" smtClean="0">
                        <a:ln>
                          <a:noFill/>
                        </a:ln>
                        <a:solidFill>
                          <a:schemeClr val="tx1"/>
                        </a:solidFill>
                        <a:effectLst/>
                        <a:latin typeface="Cambria Math" panose="02040503050406030204" pitchFamily="18" charset="0"/>
                      </a:rPr>
                      <m:t> = </m:t>
                    </m:r>
                    <m:r>
                      <a:rPr kumimoji="0" lang="zh-CN" altLang="zh-CN" sz="1200" b="0" i="1" u="none" strike="noStrike" cap="none" normalizeH="0" baseline="0" dirty="0" smtClean="0">
                        <a:ln>
                          <a:noFill/>
                        </a:ln>
                        <a:solidFill>
                          <a:schemeClr val="tx1"/>
                        </a:solidFill>
                        <a:effectLst/>
                        <a:latin typeface="Cambria Math" panose="02040503050406030204" pitchFamily="18" charset="0"/>
                      </a:rPr>
                      <m:t>𝑄</m:t>
                    </m:r>
                    <m:r>
                      <a:rPr kumimoji="0" lang="zh-CN" altLang="zh-CN" sz="1200" b="0" i="1" u="none" strike="noStrike" cap="none" normalizeH="0" baseline="0" dirty="0" smtClean="0">
                        <a:ln>
                          <a:noFill/>
                        </a:ln>
                        <a:solidFill>
                          <a:schemeClr val="tx1"/>
                        </a:solidFill>
                        <a:effectLst/>
                        <a:latin typeface="Cambria Math" panose="02040503050406030204" pitchFamily="18" charset="0"/>
                      </a:rPr>
                      <m:t> + </m:t>
                    </m:r>
                    <m:sSub>
                      <m:sSubPr>
                        <m:ctrlPr>
                          <a:rPr kumimoji="0" lang="en-US" altLang="zh-CN" sz="1200" b="0" i="1" u="none" strike="noStrike" cap="none" normalizeH="0" baseline="0" dirty="0" smtClean="0">
                            <a:ln>
                              <a:noFill/>
                            </a:ln>
                            <a:solidFill>
                              <a:schemeClr val="tx1"/>
                            </a:solidFill>
                            <a:effectLst/>
                            <a:latin typeface="Cambria Math" panose="02040503050406030204" pitchFamily="18" charset="0"/>
                          </a:rPr>
                        </m:ctrlPr>
                      </m:sSubPr>
                      <m:e>
                        <m:r>
                          <a:rPr kumimoji="0" lang="zh-CN" altLang="zh-CN" sz="1200" b="0" i="1" u="none" strike="noStrike" cap="none" normalizeH="0" baseline="0" dirty="0" smtClean="0">
                            <a:ln>
                              <a:noFill/>
                            </a:ln>
                            <a:solidFill>
                              <a:schemeClr val="tx1"/>
                            </a:solidFill>
                            <a:effectLst/>
                            <a:latin typeface="Cambria Math" panose="02040503050406030204" pitchFamily="18" charset="0"/>
                          </a:rPr>
                          <m:t>𝑦</m:t>
                        </m:r>
                      </m:e>
                      <m:sub>
                        <m:r>
                          <a:rPr kumimoji="0" lang="en-US" altLang="zh-CN" sz="1200" b="0" i="1" u="none" strike="noStrike" cap="none" normalizeH="0" baseline="0" dirty="0" smtClean="0">
                            <a:ln>
                              <a:noFill/>
                            </a:ln>
                            <a:solidFill>
                              <a:schemeClr val="tx1"/>
                            </a:solidFill>
                            <a:effectLst/>
                            <a:latin typeface="Cambria Math" panose="02040503050406030204" pitchFamily="18" charset="0"/>
                          </a:rPr>
                          <m:t>𝑖</m:t>
                        </m:r>
                        <m:r>
                          <a:rPr kumimoji="0" lang="en-US" altLang="zh-CN" sz="1200" b="0" i="1" u="none" strike="noStrike" cap="none" normalizeH="0" baseline="0" dirty="0" smtClean="0">
                            <a:ln>
                              <a:noFill/>
                            </a:ln>
                            <a:solidFill>
                              <a:schemeClr val="tx1"/>
                            </a:solidFill>
                            <a:effectLst/>
                            <a:latin typeface="Cambria Math" panose="02040503050406030204" pitchFamily="18" charset="0"/>
                          </a:rPr>
                          <m:t>−</m:t>
                        </m:r>
                        <m:r>
                          <a:rPr kumimoji="0" lang="en-US" altLang="zh-CN" sz="1200" b="0" i="1" u="none" strike="noStrike" cap="none" normalizeH="0" baseline="0" dirty="0" smtClean="0">
                            <a:ln>
                              <a:noFill/>
                            </a:ln>
                            <a:solidFill>
                              <a:schemeClr val="tx1"/>
                            </a:solidFill>
                            <a:effectLst/>
                            <a:latin typeface="Cambria Math" panose="02040503050406030204" pitchFamily="18" charset="0"/>
                          </a:rPr>
                          <m:t>𝑑𝑑</m:t>
                        </m:r>
                      </m:sub>
                    </m:sSub>
                  </m:oMath>
                </a14:m>
                <a:r>
                  <a:rPr kumimoji="0" lang="zh-CN" altLang="zh-CN" sz="1200" b="0" i="0" u="none" strike="noStrike" cap="none" normalizeH="0" baseline="0" dirty="0">
                    <a:ln>
                      <a:noFill/>
                    </a:ln>
                    <a:solidFill>
                      <a:schemeClr val="tx1"/>
                    </a:solidFill>
                    <a:effectLst/>
                  </a:rPr>
                  <a:t>, retrieved from the circular buffer.</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8" name="文本框 7">
                <a:extLst>
                  <a:ext uri="{FF2B5EF4-FFF2-40B4-BE49-F238E27FC236}">
                    <a16:creationId xmlns:a16="http://schemas.microsoft.com/office/drawing/2014/main" id="{F5C1249B-3F76-1F4B-BF86-155D3E5D5E7B}"/>
                  </a:ext>
                </a:extLst>
              </p:cNvPr>
              <p:cNvSpPr txBox="1">
                <a:spLocks noRot="1" noChangeAspect="1" noMove="1" noResize="1" noEditPoints="1" noAdjustHandles="1" noChangeArrowheads="1" noChangeShapeType="1" noTextEdit="1"/>
              </p:cNvSpPr>
              <p:nvPr/>
            </p:nvSpPr>
            <p:spPr>
              <a:xfrm>
                <a:off x="1250280" y="4691253"/>
                <a:ext cx="7509569" cy="2166747"/>
              </a:xfrm>
              <a:prstGeom prst="rect">
                <a:avLst/>
              </a:prstGeom>
              <a:blipFill>
                <a:blip r:embed="rId4"/>
                <a:stretch>
                  <a:fillRect t="-563" b="-101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872545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01C93-250E-837C-EFC5-10570BFCD80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4E5848F-B0DC-88B3-3630-F5E7FD482D21}"/>
              </a:ext>
            </a:extLst>
          </p:cNvPr>
          <p:cNvSpPr>
            <a:spLocks noGrp="1"/>
          </p:cNvSpPr>
          <p:nvPr>
            <p:ph type="title"/>
          </p:nvPr>
        </p:nvSpPr>
        <p:spPr/>
        <p:txBody>
          <a:bodyPr>
            <a:normAutofit/>
          </a:bodyPr>
          <a:lstStyle/>
          <a:p>
            <a:r>
              <a:rPr lang="en-US" altLang="zh-CN" sz="2200" dirty="0"/>
              <a:t>Pipelined Floating-Point Accumulation</a:t>
            </a:r>
            <a:endParaRPr lang="en-US" altLang="zh-CN" dirty="0"/>
          </a:p>
        </p:txBody>
      </p:sp>
      <p:sp>
        <p:nvSpPr>
          <p:cNvPr id="6" name="文本框 5">
            <a:extLst>
              <a:ext uri="{FF2B5EF4-FFF2-40B4-BE49-F238E27FC236}">
                <a16:creationId xmlns:a16="http://schemas.microsoft.com/office/drawing/2014/main" id="{947C72D7-E196-4263-4F28-542D599B9522}"/>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3. For l</a:t>
            </a:r>
            <a:r>
              <a:rPr lang="zh-CN" altLang="en-US" b="1" dirty="0">
                <a:latin typeface="Times New Roman" panose="02020603050405020304" pitchFamily="18" charset="0"/>
                <a:cs typeface="Times New Roman" panose="02020603050405020304" pitchFamily="18" charset="0"/>
              </a:rPr>
              <a:t>ong-Distance RAW Dependency</a:t>
            </a:r>
          </a:p>
        </p:txBody>
      </p:sp>
      <p:sp>
        <p:nvSpPr>
          <p:cNvPr id="2" name="文本框 1">
            <a:extLst>
              <a:ext uri="{FF2B5EF4-FFF2-40B4-BE49-F238E27FC236}">
                <a16:creationId xmlns:a16="http://schemas.microsoft.com/office/drawing/2014/main" id="{32A933A9-3DA8-293B-E699-FF669845A61B}"/>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E3ECB08F-BAEA-5E49-3B67-34E9801B52F1}"/>
              </a:ext>
            </a:extLst>
          </p:cNvPr>
          <p:cNvPicPr>
            <a:picLocks noChangeAspect="1"/>
          </p:cNvPicPr>
          <p:nvPr/>
        </p:nvPicPr>
        <p:blipFill>
          <a:blip r:embed="rId3"/>
          <a:stretch>
            <a:fillRect/>
          </a:stretch>
        </p:blipFill>
        <p:spPr>
          <a:xfrm>
            <a:off x="1250280" y="1183129"/>
            <a:ext cx="6643440" cy="3407274"/>
          </a:xfrm>
          <a:prstGeom prst="rect">
            <a:avLst/>
          </a:prstGeom>
        </p:spPr>
      </p:pic>
      <p:sp>
        <p:nvSpPr>
          <p:cNvPr id="8" name="文本框 7">
            <a:extLst>
              <a:ext uri="{FF2B5EF4-FFF2-40B4-BE49-F238E27FC236}">
                <a16:creationId xmlns:a16="http://schemas.microsoft.com/office/drawing/2014/main" id="{04166742-8091-AB1F-E97E-79E91D98DA15}"/>
              </a:ext>
            </a:extLst>
          </p:cNvPr>
          <p:cNvSpPr txBox="1"/>
          <p:nvPr/>
        </p:nvSpPr>
        <p:spPr>
          <a:xfrm>
            <a:off x="1369306" y="4705375"/>
            <a:ext cx="6405388" cy="193899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zh-CN" sz="1200" b="1" i="0" u="none" strike="noStrike" cap="none" normalizeH="0" baseline="0" dirty="0">
                <a:ln>
                  <a:noFill/>
                </a:ln>
                <a:solidFill>
                  <a:schemeClr val="tx1"/>
                </a:solidFill>
                <a:effectLst/>
                <a:latin typeface="Arial" panose="020B0604020202020204" pitchFamily="34" charset="0"/>
              </a:rPr>
              <a:t>Adder Chain</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Hardware Implementation</a:t>
            </a:r>
            <a:r>
              <a:rPr kumimoji="0" lang="zh-CN" altLang="zh-CN" sz="1200" b="0" i="0" u="none" strike="noStrike" cap="none" normalizeH="0" baseline="0" dirty="0">
                <a:ln>
                  <a:noFill/>
                </a:ln>
                <a:solidFill>
                  <a:schemeClr val="tx1"/>
                </a:solidFill>
                <a:effectLst/>
                <a:latin typeface="Arial" panose="020B0604020202020204" pitchFamily="34" charset="0"/>
              </a:rPr>
              <a: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Uses </a:t>
            </a:r>
            <a:r>
              <a:rPr kumimoji="0" lang="zh-CN" altLang="zh-CN" sz="800" b="0" i="0" u="none" strike="noStrike" cap="none" normalizeH="0" baseline="0" dirty="0">
                <a:ln>
                  <a:noFill/>
                </a:ln>
                <a:solidFill>
                  <a:schemeClr val="tx1"/>
                </a:solidFill>
                <a:effectLst/>
                <a:latin typeface="Arial Unicode MS"/>
              </a:rPr>
              <a:t>dd − 1</a:t>
            </a:r>
            <a:r>
              <a:rPr kumimoji="0" lang="zh-CN" altLang="zh-CN" sz="100" b="0" i="0" u="none" strike="noStrike" cap="none" normalizeH="0" baseline="0" dirty="0">
                <a:ln>
                  <a:noFill/>
                </a:ln>
                <a:solidFill>
                  <a:schemeClr val="tx1"/>
                </a:solidFill>
                <a:effectLst/>
              </a:rPr>
              <a:t> </a:t>
            </a:r>
            <a:r>
              <a:rPr kumimoji="0" lang="zh-CN" altLang="zh-CN" sz="1200" b="1" i="0" u="none" strike="noStrike" cap="none" normalizeH="0" baseline="0" dirty="0">
                <a:ln>
                  <a:noFill/>
                </a:ln>
                <a:solidFill>
                  <a:schemeClr val="tx1"/>
                </a:solidFill>
                <a:effectLst/>
                <a:latin typeface="Arial" panose="020B0604020202020204" pitchFamily="34" charset="0"/>
              </a:rPr>
              <a:t>shift registers</a:t>
            </a:r>
            <a:r>
              <a:rPr kumimoji="0" lang="zh-CN" altLang="zh-CN" sz="1200" b="0" i="0" u="none" strike="noStrike" cap="none" normalizeH="0" baseline="0" dirty="0">
                <a:ln>
                  <a:noFill/>
                </a:ln>
                <a:solidFill>
                  <a:schemeClr val="tx1"/>
                </a:solidFill>
                <a:effectLst/>
                <a:latin typeface="Arial" panose="020B0604020202020204" pitchFamily="34" charset="0"/>
              </a:rPr>
              <a:t> to store previous products.</a:t>
            </a: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Uses </a:t>
            </a:r>
            <a:r>
              <a:rPr kumimoji="0" lang="zh-CN" altLang="zh-CN" sz="800" b="0" i="0" u="none" strike="noStrike" cap="none" normalizeH="0" baseline="0" dirty="0">
                <a:ln>
                  <a:noFill/>
                </a:ln>
                <a:solidFill>
                  <a:schemeClr val="tx1"/>
                </a:solidFill>
                <a:effectLst/>
                <a:latin typeface="Arial Unicode MS"/>
              </a:rPr>
              <a:t>dd − 1</a:t>
            </a:r>
            <a:r>
              <a:rPr kumimoji="0" lang="zh-CN" altLang="zh-CN" sz="100" b="0" i="0" u="none" strike="noStrike" cap="none" normalizeH="0" baseline="0" dirty="0">
                <a:ln>
                  <a:noFill/>
                </a:ln>
                <a:solidFill>
                  <a:schemeClr val="tx1"/>
                </a:solidFill>
                <a:effectLst/>
              </a:rPr>
              <a:t> </a:t>
            </a:r>
            <a:r>
              <a:rPr kumimoji="0" lang="zh-CN" altLang="zh-CN" sz="1200" b="1" i="0" u="none" strike="noStrike" cap="none" normalizeH="0" baseline="0" dirty="0">
                <a:ln>
                  <a:noFill/>
                </a:ln>
                <a:solidFill>
                  <a:schemeClr val="tx1"/>
                </a:solidFill>
                <a:effectLst/>
                <a:latin typeface="Arial" panose="020B0604020202020204" pitchFamily="34" charset="0"/>
              </a:rPr>
              <a:t>adders</a:t>
            </a:r>
            <a:r>
              <a:rPr kumimoji="0" lang="zh-CN" altLang="zh-CN" sz="1200" b="0" i="0" u="none" strike="noStrike" cap="none" normalizeH="0" baseline="0" dirty="0">
                <a:ln>
                  <a:noFill/>
                </a:ln>
                <a:solidFill>
                  <a:schemeClr val="tx1"/>
                </a:solidFill>
                <a:effectLst/>
                <a:latin typeface="Arial" panose="020B0604020202020204" pitchFamily="34" charset="0"/>
              </a:rPr>
              <a:t> to form an </a:t>
            </a:r>
            <a:r>
              <a:rPr kumimoji="0" lang="zh-CN" altLang="zh-CN" sz="1200" b="1" i="0" u="none" strike="noStrike" cap="none" normalizeH="0" baseline="0" dirty="0">
                <a:ln>
                  <a:noFill/>
                </a:ln>
                <a:solidFill>
                  <a:schemeClr val="tx1"/>
                </a:solidFill>
                <a:effectLst/>
                <a:latin typeface="Arial" panose="020B0604020202020204" pitchFamily="34" charset="0"/>
              </a:rPr>
              <a:t>adder chain</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1" i="0" u="none" strike="noStrike" cap="none" normalizeH="0" baseline="0" dirty="0">
                <a:ln>
                  <a:noFill/>
                </a:ln>
                <a:solidFill>
                  <a:schemeClr val="tx1"/>
                </a:solidFill>
                <a:effectLst/>
                <a:latin typeface="Arial" panose="020B0604020202020204" pitchFamily="34" charset="0"/>
              </a:rPr>
              <a:t>Row indices</a:t>
            </a:r>
            <a:r>
              <a:rPr kumimoji="0" lang="zh-CN" altLang="zh-CN" sz="1200" b="0" i="0" u="none" strike="noStrike" cap="none" normalizeH="0" baseline="0" dirty="0">
                <a:ln>
                  <a:noFill/>
                </a:ln>
                <a:solidFill>
                  <a:schemeClr val="tx1"/>
                </a:solidFill>
                <a:effectLst/>
                <a:latin typeface="Arial" panose="020B0604020202020204" pitchFamily="34" charset="0"/>
              </a:rPr>
              <a:t> are tracked to ensure only products from the </a:t>
            </a:r>
            <a:r>
              <a:rPr kumimoji="0" lang="zh-CN" altLang="zh-CN" sz="1200" b="1" i="0" u="none" strike="noStrike" cap="none" normalizeH="0" baseline="0" dirty="0">
                <a:ln>
                  <a:noFill/>
                </a:ln>
                <a:solidFill>
                  <a:schemeClr val="tx1"/>
                </a:solidFill>
                <a:effectLst/>
                <a:latin typeface="Arial" panose="020B0604020202020204" pitchFamily="34" charset="0"/>
              </a:rPr>
              <a:t>same row</a:t>
            </a:r>
            <a:r>
              <a:rPr kumimoji="0" lang="zh-CN" altLang="zh-CN" sz="1200" b="0" i="0" u="none" strike="noStrike" cap="none" normalizeH="0" baseline="0" dirty="0">
                <a:ln>
                  <a:noFill/>
                </a:ln>
                <a:solidFill>
                  <a:schemeClr val="tx1"/>
                </a:solidFill>
                <a:effectLst/>
                <a:latin typeface="Arial" panose="020B0604020202020204" pitchFamily="34" charset="0"/>
              </a:rPr>
              <a:t> are included.</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Pipeline Efficiency</a:t>
            </a:r>
            <a:r>
              <a:rPr kumimoji="0" lang="zh-CN" altLang="zh-CN" sz="1200" b="0" i="0" u="none" strike="noStrike" cap="none" normalizeH="0" baseline="0" dirty="0">
                <a:ln>
                  <a:noFill/>
                </a:ln>
                <a:solidFill>
                  <a:schemeClr val="tx1"/>
                </a:solidFill>
                <a:effectLst/>
                <a:latin typeface="Arial" panose="020B0604020202020204" pitchFamily="34" charset="0"/>
              </a:rPr>
              <a: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Achieves </a:t>
            </a:r>
            <a:r>
              <a:rPr kumimoji="0" lang="zh-CN" altLang="zh-CN" sz="1200" b="1" i="0" u="none" strike="noStrike" cap="none" normalizeH="0" baseline="0" dirty="0">
                <a:ln>
                  <a:noFill/>
                </a:ln>
                <a:solidFill>
                  <a:schemeClr val="tx1"/>
                </a:solidFill>
                <a:effectLst/>
                <a:latin typeface="Arial" panose="020B0604020202020204" pitchFamily="34" charset="0"/>
              </a:rPr>
              <a:t>fully pipelined accumulation</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1" i="0" u="none" strike="noStrike" cap="none" normalizeH="0" baseline="0" dirty="0">
                <a:ln>
                  <a:noFill/>
                </a:ln>
                <a:solidFill>
                  <a:schemeClr val="tx1"/>
                </a:solidFill>
                <a:effectLst/>
                <a:latin typeface="Arial" panose="020B0604020202020204" pitchFamily="34" charset="0"/>
              </a:rPr>
              <a:t>Avoids bubbles</a:t>
            </a:r>
            <a:r>
              <a:rPr kumimoji="0" lang="zh-CN" altLang="zh-CN" sz="1200" b="0" i="0" u="none" strike="noStrike" cap="none" normalizeH="0" baseline="0" dirty="0">
                <a:ln>
                  <a:noFill/>
                </a:ln>
                <a:solidFill>
                  <a:schemeClr val="tx1"/>
                </a:solidFill>
                <a:effectLst/>
                <a:latin typeface="Arial" panose="020B0604020202020204" pitchFamily="34" charset="0"/>
              </a:rPr>
              <a:t> and </a:t>
            </a:r>
            <a:r>
              <a:rPr kumimoji="0" lang="zh-CN" altLang="zh-CN" sz="1200" b="1" i="0" u="none" strike="noStrike" cap="none" normalizeH="0" baseline="0" dirty="0">
                <a:ln>
                  <a:noFill/>
                </a:ln>
                <a:solidFill>
                  <a:schemeClr val="tx1"/>
                </a:solidFill>
                <a:effectLst/>
                <a:latin typeface="Arial" panose="020B0604020202020204" pitchFamily="34" charset="0"/>
              </a:rPr>
              <a:t>out-of-order logic</a:t>
            </a:r>
            <a:r>
              <a:rPr kumimoji="0" lang="zh-CN" altLang="zh-CN" sz="1200" b="0" i="0" u="none" strike="noStrike" cap="none" normalizeH="0" baseline="0" dirty="0">
                <a:ln>
                  <a:noFill/>
                </a:ln>
                <a:solidFill>
                  <a:schemeClr val="tx1"/>
                </a:solidFill>
                <a:effectLst/>
                <a:latin typeface="Arial" panose="020B0604020202020204" pitchFamily="34" charset="0"/>
              </a:rPr>
              <a:t>, enhancing throughput.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003835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F017-BF26-72A2-F0EB-F72CC716DCE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039346B-9EBA-EA50-85E1-FC68FEC89F6F}"/>
              </a:ext>
            </a:extLst>
          </p:cNvPr>
          <p:cNvSpPr>
            <a:spLocks noGrp="1"/>
          </p:cNvSpPr>
          <p:nvPr>
            <p:ph type="title"/>
          </p:nvPr>
        </p:nvSpPr>
        <p:spPr/>
        <p:txBody>
          <a:bodyPr>
            <a:normAutofit/>
          </a:bodyPr>
          <a:lstStyle/>
          <a:p>
            <a:r>
              <a:rPr lang="en-US" altLang="zh-CN" sz="2200" dirty="0"/>
              <a:t>Pipelined Floating-Point Accumulation</a:t>
            </a:r>
            <a:endParaRPr lang="en-US" altLang="zh-CN" dirty="0"/>
          </a:p>
        </p:txBody>
      </p:sp>
      <p:sp>
        <p:nvSpPr>
          <p:cNvPr id="6" name="文本框 5">
            <a:extLst>
              <a:ext uri="{FF2B5EF4-FFF2-40B4-BE49-F238E27FC236}">
                <a16:creationId xmlns:a16="http://schemas.microsoft.com/office/drawing/2014/main" id="{A4C6597D-4503-0CBC-45A2-AA88337AFB23}"/>
              </a:ext>
            </a:extLst>
          </p:cNvPr>
          <p:cNvSpPr txBox="1"/>
          <p:nvPr/>
        </p:nvSpPr>
        <p:spPr>
          <a:xfrm>
            <a:off x="785024" y="813797"/>
            <a:ext cx="4613910"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3. For l</a:t>
            </a:r>
            <a:r>
              <a:rPr lang="zh-CN" altLang="en-US" b="1" dirty="0">
                <a:latin typeface="Times New Roman" panose="02020603050405020304" pitchFamily="18" charset="0"/>
                <a:cs typeface="Times New Roman" panose="02020603050405020304" pitchFamily="18" charset="0"/>
              </a:rPr>
              <a:t>ong-Distance RAW Dependency</a:t>
            </a:r>
          </a:p>
        </p:txBody>
      </p:sp>
      <p:sp>
        <p:nvSpPr>
          <p:cNvPr id="2" name="文本框 1">
            <a:extLst>
              <a:ext uri="{FF2B5EF4-FFF2-40B4-BE49-F238E27FC236}">
                <a16:creationId xmlns:a16="http://schemas.microsoft.com/office/drawing/2014/main" id="{39F74590-994B-26C1-9977-908237F63DAD}"/>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FCBD4F0C-69D6-65F0-F5BE-01F9F111AAFD}"/>
              </a:ext>
            </a:extLst>
          </p:cNvPr>
          <p:cNvPicPr>
            <a:picLocks noChangeAspect="1"/>
          </p:cNvPicPr>
          <p:nvPr/>
        </p:nvPicPr>
        <p:blipFill>
          <a:blip r:embed="rId3"/>
          <a:stretch>
            <a:fillRect/>
          </a:stretch>
        </p:blipFill>
        <p:spPr>
          <a:xfrm>
            <a:off x="1250280" y="1183129"/>
            <a:ext cx="6643440" cy="3407274"/>
          </a:xfrm>
          <a:prstGeom prst="rect">
            <a:avLst/>
          </a:prstGeom>
        </p:spPr>
      </p:pic>
      <p:sp>
        <p:nvSpPr>
          <p:cNvPr id="8" name="文本框 7">
            <a:extLst>
              <a:ext uri="{FF2B5EF4-FFF2-40B4-BE49-F238E27FC236}">
                <a16:creationId xmlns:a16="http://schemas.microsoft.com/office/drawing/2014/main" id="{A76EA23B-9DB8-5F55-0523-FFCC77AF3070}"/>
              </a:ext>
            </a:extLst>
          </p:cNvPr>
          <p:cNvSpPr txBox="1"/>
          <p:nvPr/>
        </p:nvSpPr>
        <p:spPr>
          <a:xfrm>
            <a:off x="1369306" y="4705375"/>
            <a:ext cx="6405388" cy="193899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zh-CN" sz="1200" b="1" i="0" u="none" strike="noStrike" cap="none" normalizeH="0" baseline="0" dirty="0">
                <a:ln>
                  <a:noFill/>
                </a:ln>
                <a:solidFill>
                  <a:schemeClr val="tx1"/>
                </a:solidFill>
                <a:effectLst/>
                <a:latin typeface="Arial" panose="020B0604020202020204" pitchFamily="34" charset="0"/>
              </a:rPr>
              <a:t>Adder Chain</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Hardware Implementation</a:t>
            </a:r>
            <a:r>
              <a:rPr kumimoji="0" lang="zh-CN" altLang="zh-CN" sz="1200" b="0" i="0" u="none" strike="noStrike" cap="none" normalizeH="0" baseline="0" dirty="0">
                <a:ln>
                  <a:noFill/>
                </a:ln>
                <a:solidFill>
                  <a:schemeClr val="tx1"/>
                </a:solidFill>
                <a:effectLst/>
                <a:latin typeface="Arial" panose="020B0604020202020204" pitchFamily="34" charset="0"/>
              </a:rPr>
              <a: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Uses </a:t>
            </a:r>
            <a:r>
              <a:rPr kumimoji="0" lang="zh-CN" altLang="zh-CN" sz="800" b="0" i="0" u="none" strike="noStrike" cap="none" normalizeH="0" baseline="0" dirty="0">
                <a:ln>
                  <a:noFill/>
                </a:ln>
                <a:solidFill>
                  <a:schemeClr val="tx1"/>
                </a:solidFill>
                <a:effectLst/>
                <a:latin typeface="Arial Unicode MS"/>
              </a:rPr>
              <a:t>dd − 1</a:t>
            </a:r>
            <a:r>
              <a:rPr kumimoji="0" lang="zh-CN" altLang="zh-CN" sz="100" b="0" i="0" u="none" strike="noStrike" cap="none" normalizeH="0" baseline="0" dirty="0">
                <a:ln>
                  <a:noFill/>
                </a:ln>
                <a:solidFill>
                  <a:schemeClr val="tx1"/>
                </a:solidFill>
                <a:effectLst/>
              </a:rPr>
              <a:t> </a:t>
            </a:r>
            <a:r>
              <a:rPr kumimoji="0" lang="zh-CN" altLang="zh-CN" sz="1200" b="1" i="0" u="none" strike="noStrike" cap="none" normalizeH="0" baseline="0" dirty="0">
                <a:ln>
                  <a:noFill/>
                </a:ln>
                <a:solidFill>
                  <a:schemeClr val="tx1"/>
                </a:solidFill>
                <a:effectLst/>
                <a:latin typeface="Arial" panose="020B0604020202020204" pitchFamily="34" charset="0"/>
              </a:rPr>
              <a:t>shift registers</a:t>
            </a:r>
            <a:r>
              <a:rPr kumimoji="0" lang="zh-CN" altLang="zh-CN" sz="1200" b="0" i="0" u="none" strike="noStrike" cap="none" normalizeH="0" baseline="0" dirty="0">
                <a:ln>
                  <a:noFill/>
                </a:ln>
                <a:solidFill>
                  <a:schemeClr val="tx1"/>
                </a:solidFill>
                <a:effectLst/>
                <a:latin typeface="Arial" panose="020B0604020202020204" pitchFamily="34" charset="0"/>
              </a:rPr>
              <a:t> to store previous products.</a:t>
            </a: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Uses </a:t>
            </a:r>
            <a:r>
              <a:rPr kumimoji="0" lang="zh-CN" altLang="zh-CN" sz="800" b="0" i="0" u="none" strike="noStrike" cap="none" normalizeH="0" baseline="0" dirty="0">
                <a:ln>
                  <a:noFill/>
                </a:ln>
                <a:solidFill>
                  <a:schemeClr val="tx1"/>
                </a:solidFill>
                <a:effectLst/>
                <a:latin typeface="Arial Unicode MS"/>
              </a:rPr>
              <a:t>dd − 1</a:t>
            </a:r>
            <a:r>
              <a:rPr kumimoji="0" lang="zh-CN" altLang="zh-CN" sz="100" b="0" i="0" u="none" strike="noStrike" cap="none" normalizeH="0" baseline="0" dirty="0">
                <a:ln>
                  <a:noFill/>
                </a:ln>
                <a:solidFill>
                  <a:schemeClr val="tx1"/>
                </a:solidFill>
                <a:effectLst/>
              </a:rPr>
              <a:t> </a:t>
            </a:r>
            <a:r>
              <a:rPr kumimoji="0" lang="zh-CN" altLang="zh-CN" sz="1200" b="1" i="0" u="none" strike="noStrike" cap="none" normalizeH="0" baseline="0" dirty="0">
                <a:ln>
                  <a:noFill/>
                </a:ln>
                <a:solidFill>
                  <a:schemeClr val="tx1"/>
                </a:solidFill>
                <a:effectLst/>
                <a:latin typeface="Arial" panose="020B0604020202020204" pitchFamily="34" charset="0"/>
              </a:rPr>
              <a:t>adders</a:t>
            </a:r>
            <a:r>
              <a:rPr kumimoji="0" lang="zh-CN" altLang="zh-CN" sz="1200" b="0" i="0" u="none" strike="noStrike" cap="none" normalizeH="0" baseline="0" dirty="0">
                <a:ln>
                  <a:noFill/>
                </a:ln>
                <a:solidFill>
                  <a:schemeClr val="tx1"/>
                </a:solidFill>
                <a:effectLst/>
                <a:latin typeface="Arial" panose="020B0604020202020204" pitchFamily="34" charset="0"/>
              </a:rPr>
              <a:t> to form an </a:t>
            </a:r>
            <a:r>
              <a:rPr kumimoji="0" lang="zh-CN" altLang="zh-CN" sz="1200" b="1" i="0" u="none" strike="noStrike" cap="none" normalizeH="0" baseline="0" dirty="0">
                <a:ln>
                  <a:noFill/>
                </a:ln>
                <a:solidFill>
                  <a:schemeClr val="tx1"/>
                </a:solidFill>
                <a:effectLst/>
                <a:latin typeface="Arial" panose="020B0604020202020204" pitchFamily="34" charset="0"/>
              </a:rPr>
              <a:t>adder chain</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1" i="0" u="none" strike="noStrike" cap="none" normalizeH="0" baseline="0" dirty="0">
                <a:ln>
                  <a:noFill/>
                </a:ln>
                <a:solidFill>
                  <a:schemeClr val="tx1"/>
                </a:solidFill>
                <a:effectLst/>
                <a:latin typeface="Arial" panose="020B0604020202020204" pitchFamily="34" charset="0"/>
              </a:rPr>
              <a:t>Row indices</a:t>
            </a:r>
            <a:r>
              <a:rPr kumimoji="0" lang="zh-CN" altLang="zh-CN" sz="1200" b="0" i="0" u="none" strike="noStrike" cap="none" normalizeH="0" baseline="0" dirty="0">
                <a:ln>
                  <a:noFill/>
                </a:ln>
                <a:solidFill>
                  <a:schemeClr val="tx1"/>
                </a:solidFill>
                <a:effectLst/>
                <a:latin typeface="Arial" panose="020B0604020202020204" pitchFamily="34" charset="0"/>
              </a:rPr>
              <a:t> are tracked to ensure only products from the </a:t>
            </a:r>
            <a:r>
              <a:rPr kumimoji="0" lang="zh-CN" altLang="zh-CN" sz="1200" b="1" i="0" u="none" strike="noStrike" cap="none" normalizeH="0" baseline="0" dirty="0">
                <a:ln>
                  <a:noFill/>
                </a:ln>
                <a:solidFill>
                  <a:schemeClr val="tx1"/>
                </a:solidFill>
                <a:effectLst/>
                <a:latin typeface="Arial" panose="020B0604020202020204" pitchFamily="34" charset="0"/>
              </a:rPr>
              <a:t>same row</a:t>
            </a:r>
            <a:r>
              <a:rPr kumimoji="0" lang="zh-CN" altLang="zh-CN" sz="1200" b="0" i="0" u="none" strike="noStrike" cap="none" normalizeH="0" baseline="0" dirty="0">
                <a:ln>
                  <a:noFill/>
                </a:ln>
                <a:solidFill>
                  <a:schemeClr val="tx1"/>
                </a:solidFill>
                <a:effectLst/>
                <a:latin typeface="Arial" panose="020B0604020202020204" pitchFamily="34" charset="0"/>
              </a:rPr>
              <a:t> are included.</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zh-CN" altLang="zh-CN" sz="1200" b="1" i="0" u="none" strike="noStrike" cap="none" normalizeH="0" baseline="0" dirty="0">
                <a:ln>
                  <a:noFill/>
                </a:ln>
                <a:solidFill>
                  <a:schemeClr val="tx1"/>
                </a:solidFill>
                <a:effectLst/>
                <a:latin typeface="Arial" panose="020B0604020202020204" pitchFamily="34" charset="0"/>
              </a:rPr>
              <a:t>Pipeline Efficiency</a:t>
            </a:r>
            <a:r>
              <a:rPr kumimoji="0" lang="zh-CN" altLang="zh-CN" sz="1200" b="0" i="0" u="none" strike="noStrike" cap="none" normalizeH="0" baseline="0" dirty="0">
                <a:ln>
                  <a:noFill/>
                </a:ln>
                <a:solidFill>
                  <a:schemeClr val="tx1"/>
                </a:solidFill>
                <a:effectLst/>
                <a:latin typeface="Arial" panose="020B0604020202020204" pitchFamily="34" charset="0"/>
              </a:rPr>
              <a:t>:</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zh-CN" altLang="zh-CN" sz="1200" b="0" i="0" u="none" strike="noStrike" cap="none" normalizeH="0" baseline="0" dirty="0">
                <a:ln>
                  <a:noFill/>
                </a:ln>
                <a:solidFill>
                  <a:schemeClr val="tx1"/>
                </a:solidFill>
                <a:effectLst/>
                <a:latin typeface="Arial" panose="020B0604020202020204" pitchFamily="34" charset="0"/>
              </a:rPr>
              <a:t>Achieves </a:t>
            </a:r>
            <a:r>
              <a:rPr kumimoji="0" lang="zh-CN" altLang="zh-CN" sz="1200" b="1" i="0" u="none" strike="noStrike" cap="none" normalizeH="0" baseline="0" dirty="0">
                <a:ln>
                  <a:noFill/>
                </a:ln>
                <a:solidFill>
                  <a:schemeClr val="tx1"/>
                </a:solidFill>
                <a:effectLst/>
                <a:latin typeface="Arial" panose="020B0604020202020204" pitchFamily="34" charset="0"/>
              </a:rPr>
              <a:t>fully pipelined accumulation</a:t>
            </a:r>
            <a:r>
              <a:rPr kumimoji="0" lang="zh-CN" altLang="zh-CN" sz="1200" b="0" i="0" u="none" strike="noStrike" cap="none" normalizeH="0" baseline="0" dirty="0">
                <a:ln>
                  <a:noFill/>
                </a:ln>
                <a:solidFill>
                  <a:schemeClr val="tx1"/>
                </a:solidFill>
                <a:effectLst/>
                <a:latin typeface="Arial" panose="020B0604020202020204" pitchFamily="34" charset="0"/>
              </a:rPr>
              <a:t>.</a:t>
            </a:r>
          </a:p>
          <a:p>
            <a:pPr lvl="1" defTabSz="914400" eaLnBrk="0" fontAlgn="base" hangingPunct="0">
              <a:spcBef>
                <a:spcPct val="0"/>
              </a:spcBef>
              <a:spcAft>
                <a:spcPct val="0"/>
              </a:spcAft>
            </a:pPr>
            <a:r>
              <a:rPr kumimoji="0" lang="zh-CN" altLang="zh-CN" sz="1200" b="1" i="0" u="none" strike="noStrike" cap="none" normalizeH="0" baseline="0" dirty="0">
                <a:ln>
                  <a:noFill/>
                </a:ln>
                <a:solidFill>
                  <a:schemeClr val="tx1"/>
                </a:solidFill>
                <a:effectLst/>
                <a:latin typeface="Arial" panose="020B0604020202020204" pitchFamily="34" charset="0"/>
              </a:rPr>
              <a:t>Avoids bubbles</a:t>
            </a:r>
            <a:r>
              <a:rPr kumimoji="0" lang="zh-CN" altLang="zh-CN" sz="1200" b="0" i="0" u="none" strike="noStrike" cap="none" normalizeH="0" baseline="0" dirty="0">
                <a:ln>
                  <a:noFill/>
                </a:ln>
                <a:solidFill>
                  <a:schemeClr val="tx1"/>
                </a:solidFill>
                <a:effectLst/>
                <a:latin typeface="Arial" panose="020B0604020202020204" pitchFamily="34" charset="0"/>
              </a:rPr>
              <a:t> and </a:t>
            </a:r>
            <a:r>
              <a:rPr kumimoji="0" lang="zh-CN" altLang="zh-CN" sz="1200" b="1" i="0" u="none" strike="noStrike" cap="none" normalizeH="0" baseline="0" dirty="0">
                <a:ln>
                  <a:noFill/>
                </a:ln>
                <a:solidFill>
                  <a:schemeClr val="tx1"/>
                </a:solidFill>
                <a:effectLst/>
                <a:latin typeface="Arial" panose="020B0604020202020204" pitchFamily="34" charset="0"/>
              </a:rPr>
              <a:t>out-of-order logic</a:t>
            </a:r>
            <a:r>
              <a:rPr kumimoji="0" lang="zh-CN" altLang="zh-CN" sz="1200" b="0" i="0" u="none" strike="noStrike" cap="none" normalizeH="0" baseline="0" dirty="0">
                <a:ln>
                  <a:noFill/>
                </a:ln>
                <a:solidFill>
                  <a:schemeClr val="tx1"/>
                </a:solidFill>
                <a:effectLst/>
                <a:latin typeface="Arial" panose="020B0604020202020204" pitchFamily="34" charset="0"/>
              </a:rPr>
              <a:t>, enhancing throughput.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40277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37BC-0637-FBCB-7F4A-36ADB115AD5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BFBEE8A-F24E-9937-1829-34B5133D063C}"/>
              </a:ext>
            </a:extLst>
          </p:cNvPr>
          <p:cNvSpPr>
            <a:spLocks noGrp="1"/>
          </p:cNvSpPr>
          <p:nvPr>
            <p:ph type="title"/>
          </p:nvPr>
        </p:nvSpPr>
        <p:spPr/>
        <p:txBody>
          <a:bodyPr>
            <a:normAutofit/>
          </a:bodyPr>
          <a:lstStyle/>
          <a:p>
            <a:r>
              <a:rPr lang="en-US" altLang="zh-CN" sz="2200" dirty="0"/>
              <a:t>Automation Tool</a:t>
            </a:r>
            <a:endParaRPr lang="en-US" altLang="zh-CN" dirty="0"/>
          </a:p>
        </p:txBody>
      </p:sp>
      <p:sp>
        <p:nvSpPr>
          <p:cNvPr id="2" name="文本框 1">
            <a:extLst>
              <a:ext uri="{FF2B5EF4-FFF2-40B4-BE49-F238E27FC236}">
                <a16:creationId xmlns:a16="http://schemas.microsoft.com/office/drawing/2014/main" id="{12010751-48A2-9379-E9E4-352C64BB3106}"/>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10" name="图片 9">
            <a:extLst>
              <a:ext uri="{FF2B5EF4-FFF2-40B4-BE49-F238E27FC236}">
                <a16:creationId xmlns:a16="http://schemas.microsoft.com/office/drawing/2014/main" id="{2CA3ED93-F849-BA63-6E0F-123C223D5383}"/>
              </a:ext>
            </a:extLst>
          </p:cNvPr>
          <p:cNvPicPr>
            <a:picLocks noChangeAspect="1"/>
          </p:cNvPicPr>
          <p:nvPr/>
        </p:nvPicPr>
        <p:blipFill>
          <a:blip r:embed="rId3"/>
          <a:stretch>
            <a:fillRect/>
          </a:stretch>
        </p:blipFill>
        <p:spPr>
          <a:xfrm>
            <a:off x="721844" y="1396773"/>
            <a:ext cx="7210694" cy="4219023"/>
          </a:xfrm>
          <a:prstGeom prst="rect">
            <a:avLst/>
          </a:prstGeom>
        </p:spPr>
      </p:pic>
    </p:spTree>
    <p:extLst>
      <p:ext uri="{BB962C8B-B14F-4D97-AF65-F5344CB8AC3E}">
        <p14:creationId xmlns:p14="http://schemas.microsoft.com/office/powerpoint/2010/main" val="2622666691"/>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477D-9D76-47DE-8D24-7DF482709BF2}"/>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2F1DE67D-1F1B-C29B-5A5F-8D875EA44A34}"/>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E9847C21-4F52-ACF8-885E-61BAA2BEC4A5}"/>
              </a:ext>
            </a:extLst>
          </p:cNvPr>
          <p:cNvGrpSpPr/>
          <p:nvPr/>
        </p:nvGrpSpPr>
        <p:grpSpPr>
          <a:xfrm>
            <a:off x="2476502" y="4226851"/>
            <a:ext cx="4487372" cy="494767"/>
            <a:chOff x="2254250" y="3340100"/>
            <a:chExt cx="4811810" cy="712614"/>
          </a:xfrm>
        </p:grpSpPr>
        <p:sp>
          <p:nvSpPr>
            <p:cNvPr id="27" name="矩形: 圆角 26">
              <a:extLst>
                <a:ext uri="{FF2B5EF4-FFF2-40B4-BE49-F238E27FC236}">
                  <a16:creationId xmlns:a16="http://schemas.microsoft.com/office/drawing/2014/main" id="{F53FA835-2AC4-EFC5-5D79-1C2F076D1667}"/>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CE6E40A8-A488-4BAD-21F7-B6D5F2F5DE3F}"/>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err="1">
                  <a:solidFill>
                    <a:schemeClr val="accent2"/>
                  </a:solidFill>
                  <a:latin typeface="Arial"/>
                  <a:ea typeface="微软雅黑"/>
                </a:rPr>
                <a:t>HiSpMV</a:t>
              </a:r>
              <a:r>
                <a:rPr lang="en-US" altLang="zh-CN" sz="2400" b="1" dirty="0">
                  <a:solidFill>
                    <a:schemeClr val="accent2"/>
                  </a:solidFill>
                  <a:latin typeface="Arial"/>
                  <a:ea typeface="微软雅黑"/>
                </a:rPr>
                <a:t> Architecture</a:t>
              </a:r>
            </a:p>
          </p:txBody>
        </p:sp>
        <p:sp>
          <p:nvSpPr>
            <p:cNvPr id="28" name="矩形: 圆角 27">
              <a:extLst>
                <a:ext uri="{FF2B5EF4-FFF2-40B4-BE49-F238E27FC236}">
                  <a16:creationId xmlns:a16="http://schemas.microsoft.com/office/drawing/2014/main" id="{B303C57E-DCD2-2082-426E-733651ACEE1F}"/>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6746D0A8-CAD3-061A-E582-FD998925261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8B7A4B67-4413-525A-03B9-7696C6BB5CD4}"/>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Arial"/>
                <a:ea typeface="微软雅黑"/>
                <a:cs typeface="+mn-cs"/>
              </a:rPr>
              <a:t>Content</a:t>
            </a:r>
            <a:endParaRPr kumimoji="0" lang="zh-CN" altLang="en-US" sz="4800" b="1" i="0" u="none" strike="noStrike" kern="1200" cap="none" spc="600" normalizeH="0" baseline="0" noProof="0" dirty="0">
              <a:ln>
                <a:noFill/>
              </a:ln>
              <a:solidFill>
                <a:srgbClr val="082E72"/>
              </a:solidFill>
              <a:effectLst/>
              <a:uLnTx/>
              <a:uFillTx/>
              <a:latin typeface="Arial"/>
              <a:ea typeface="微软雅黑"/>
              <a:cs typeface="+mn-cs"/>
            </a:endParaRPr>
          </a:p>
        </p:txBody>
      </p:sp>
      <p:grpSp>
        <p:nvGrpSpPr>
          <p:cNvPr id="32" name="组合 31">
            <a:extLst>
              <a:ext uri="{FF2B5EF4-FFF2-40B4-BE49-F238E27FC236}">
                <a16:creationId xmlns:a16="http://schemas.microsoft.com/office/drawing/2014/main" id="{59B44913-0FB7-2411-B3DA-84453988ED46}"/>
              </a:ext>
            </a:extLst>
          </p:cNvPr>
          <p:cNvGrpSpPr/>
          <p:nvPr/>
        </p:nvGrpSpPr>
        <p:grpSpPr>
          <a:xfrm>
            <a:off x="2482906" y="2838679"/>
            <a:ext cx="4487372" cy="494767"/>
            <a:chOff x="2254250" y="3340100"/>
            <a:chExt cx="4811810" cy="712614"/>
          </a:xfrm>
        </p:grpSpPr>
        <p:sp>
          <p:nvSpPr>
            <p:cNvPr id="33" name="矩形: 圆角 26">
              <a:extLst>
                <a:ext uri="{FF2B5EF4-FFF2-40B4-BE49-F238E27FC236}">
                  <a16:creationId xmlns:a16="http://schemas.microsoft.com/office/drawing/2014/main" id="{0B2B51AC-1CB5-4140-7632-D98D49395B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7" name="矩形: 圆角 27">
              <a:extLst>
                <a:ext uri="{FF2B5EF4-FFF2-40B4-BE49-F238E27FC236}">
                  <a16:creationId xmlns:a16="http://schemas.microsoft.com/office/drawing/2014/main" id="{0C638D77-4F27-62A6-B5A0-2A3CC0DF6A3D}"/>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94EC252C-9844-F7BB-9F68-FDBAFA5FCDC3}"/>
              </a:ext>
            </a:extLst>
          </p:cNvPr>
          <p:cNvGrpSpPr/>
          <p:nvPr/>
        </p:nvGrpSpPr>
        <p:grpSpPr>
          <a:xfrm>
            <a:off x="2470098" y="4863674"/>
            <a:ext cx="4493776" cy="494767"/>
            <a:chOff x="2254250" y="2386893"/>
            <a:chExt cx="4642115" cy="712614"/>
          </a:xfrm>
        </p:grpSpPr>
        <p:sp>
          <p:nvSpPr>
            <p:cNvPr id="38" name="矩形: 圆角 40">
              <a:extLst>
                <a:ext uri="{FF2B5EF4-FFF2-40B4-BE49-F238E27FC236}">
                  <a16:creationId xmlns:a16="http://schemas.microsoft.com/office/drawing/2014/main" id="{236A5B22-393F-50DC-091A-59764F42171F}"/>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061CEFA9-5A85-2CAB-A633-ACD1F8ED0093}"/>
                </a:ext>
              </a:extLst>
            </p:cNvPr>
            <p:cNvSpPr txBox="1"/>
            <p:nvPr/>
          </p:nvSpPr>
          <p:spPr>
            <a:xfrm>
              <a:off x="2904639" y="2410730"/>
              <a:ext cx="3991726" cy="664937"/>
            </a:xfrm>
            <a:prstGeom prst="rect">
              <a:avLst/>
            </a:prstGeom>
            <a:noFill/>
          </p:spPr>
          <p:txBody>
            <a:bodyPr wrap="square">
              <a:spAutoFit/>
            </a:bodyPr>
            <a:lstStyle/>
            <a:p>
              <a:pPr lvl="0">
                <a:defRPr/>
              </a:pPr>
              <a:r>
                <a:rPr lang="en-US" altLang="zh-CN" sz="2400" b="1" dirty="0">
                  <a:solidFill>
                    <a:srgbClr val="FFFFFF"/>
                  </a:solidFill>
                </a:rPr>
                <a:t>Evaluation</a:t>
              </a:r>
            </a:p>
          </p:txBody>
        </p:sp>
        <p:sp>
          <p:nvSpPr>
            <p:cNvPr id="40" name="矩形: 圆角 42">
              <a:extLst>
                <a:ext uri="{FF2B5EF4-FFF2-40B4-BE49-F238E27FC236}">
                  <a16:creationId xmlns:a16="http://schemas.microsoft.com/office/drawing/2014/main" id="{A76006CA-2CE2-20BD-473F-88A6A265B8C2}"/>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accent2"/>
                  </a:solidFill>
                  <a:effectLst/>
                  <a:uLnTx/>
                  <a:uFillTx/>
                  <a:latin typeface="Arial"/>
                  <a:ea typeface="微软雅黑"/>
                  <a:cs typeface="+mn-cs"/>
                </a:rPr>
                <a:t>4</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
        <p:nvSpPr>
          <p:cNvPr id="3" name="文本框 2">
            <a:extLst>
              <a:ext uri="{FF2B5EF4-FFF2-40B4-BE49-F238E27FC236}">
                <a16:creationId xmlns:a16="http://schemas.microsoft.com/office/drawing/2014/main" id="{24CE367F-B7A0-9777-24B2-C905AFA16136}"/>
              </a:ext>
            </a:extLst>
          </p:cNvPr>
          <p:cNvSpPr txBox="1"/>
          <p:nvPr/>
        </p:nvSpPr>
        <p:spPr>
          <a:xfrm>
            <a:off x="3076869" y="2855229"/>
            <a:ext cx="4134814" cy="461665"/>
          </a:xfrm>
          <a:prstGeom prst="rect">
            <a:avLst/>
          </a:prstGeom>
          <a:noFill/>
        </p:spPr>
        <p:txBody>
          <a:bodyPr wrap="square">
            <a:spAutoFit/>
          </a:bodyPr>
          <a:lstStyle/>
          <a:p>
            <a:pPr lvl="0">
              <a:defRPr/>
            </a:pPr>
            <a:r>
              <a:rPr lang="en-US" altLang="zh-CN" sz="2400" b="1" dirty="0">
                <a:solidFill>
                  <a:schemeClr val="accent2"/>
                </a:solidFill>
              </a:rPr>
              <a:t>Background</a:t>
            </a:r>
          </a:p>
        </p:txBody>
      </p:sp>
      <p:grpSp>
        <p:nvGrpSpPr>
          <p:cNvPr id="11" name="组合 10">
            <a:extLst>
              <a:ext uri="{FF2B5EF4-FFF2-40B4-BE49-F238E27FC236}">
                <a16:creationId xmlns:a16="http://schemas.microsoft.com/office/drawing/2014/main" id="{2BA04FCE-AFA9-48D8-4568-9F4D7C11A091}"/>
              </a:ext>
            </a:extLst>
          </p:cNvPr>
          <p:cNvGrpSpPr/>
          <p:nvPr/>
        </p:nvGrpSpPr>
        <p:grpSpPr>
          <a:xfrm>
            <a:off x="2489310" y="3524489"/>
            <a:ext cx="4487372" cy="494767"/>
            <a:chOff x="2254250" y="3340100"/>
            <a:chExt cx="4811810" cy="712614"/>
          </a:xfrm>
        </p:grpSpPr>
        <p:sp>
          <p:nvSpPr>
            <p:cNvPr id="12" name="矩形: 圆角 11">
              <a:extLst>
                <a:ext uri="{FF2B5EF4-FFF2-40B4-BE49-F238E27FC236}">
                  <a16:creationId xmlns:a16="http://schemas.microsoft.com/office/drawing/2014/main" id="{F25C0208-BC67-4FCD-6871-87E6B4110AA1}"/>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87965312-CB1E-C256-1673-0A0D356E7CA0}"/>
                </a:ext>
              </a:extLst>
            </p:cNvPr>
            <p:cNvSpPr txBox="1"/>
            <p:nvPr/>
          </p:nvSpPr>
          <p:spPr>
            <a:xfrm>
              <a:off x="2898024" y="3361774"/>
              <a:ext cx="3904677" cy="66493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Challenge</a:t>
              </a:r>
            </a:p>
          </p:txBody>
        </p:sp>
        <p:sp>
          <p:nvSpPr>
            <p:cNvPr id="14" name="矩形: 圆角 13">
              <a:extLst>
                <a:ext uri="{FF2B5EF4-FFF2-40B4-BE49-F238E27FC236}">
                  <a16:creationId xmlns:a16="http://schemas.microsoft.com/office/drawing/2014/main" id="{27F63C30-4B7E-2EEA-2915-BC8B69394AFD}"/>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994170950"/>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3CC10-C95F-0EA7-61DA-E669F61448B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1E87B96-1A17-DE16-D2C4-6FF4FA36D4DA}"/>
              </a:ext>
            </a:extLst>
          </p:cNvPr>
          <p:cNvSpPr>
            <a:spLocks noGrp="1"/>
          </p:cNvSpPr>
          <p:nvPr>
            <p:ph type="title"/>
          </p:nvPr>
        </p:nvSpPr>
        <p:spPr/>
        <p:txBody>
          <a:bodyPr>
            <a:normAutofit/>
          </a:bodyPr>
          <a:lstStyle/>
          <a:p>
            <a:r>
              <a:rPr lang="en-US" altLang="zh-CN" dirty="0"/>
              <a:t>Performance Evaluation</a:t>
            </a:r>
          </a:p>
        </p:txBody>
      </p:sp>
      <p:sp>
        <p:nvSpPr>
          <p:cNvPr id="4" name="文本框 3">
            <a:extLst>
              <a:ext uri="{FF2B5EF4-FFF2-40B4-BE49-F238E27FC236}">
                <a16:creationId xmlns:a16="http://schemas.microsoft.com/office/drawing/2014/main" id="{1DA13CC1-8B09-E662-67B4-7E511C227781}"/>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6" name="图片 5">
            <a:extLst>
              <a:ext uri="{FF2B5EF4-FFF2-40B4-BE49-F238E27FC236}">
                <a16:creationId xmlns:a16="http://schemas.microsoft.com/office/drawing/2014/main" id="{C72A8D10-ECA7-B740-FAFF-58B35B7A01C7}"/>
              </a:ext>
            </a:extLst>
          </p:cNvPr>
          <p:cNvPicPr>
            <a:picLocks noChangeAspect="1"/>
          </p:cNvPicPr>
          <p:nvPr/>
        </p:nvPicPr>
        <p:blipFill>
          <a:blip r:embed="rId3"/>
          <a:stretch>
            <a:fillRect/>
          </a:stretch>
        </p:blipFill>
        <p:spPr>
          <a:xfrm>
            <a:off x="0" y="1124050"/>
            <a:ext cx="9144000" cy="4609899"/>
          </a:xfrm>
          <a:prstGeom prst="rect">
            <a:avLst/>
          </a:prstGeom>
        </p:spPr>
      </p:pic>
    </p:spTree>
    <p:extLst>
      <p:ext uri="{BB962C8B-B14F-4D97-AF65-F5344CB8AC3E}">
        <p14:creationId xmlns:p14="http://schemas.microsoft.com/office/powerpoint/2010/main" val="406902387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156F2-A3F6-BB39-8EE3-F6F210F5C98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23648E8-CD39-0449-1328-8A401C964372}"/>
              </a:ext>
            </a:extLst>
          </p:cNvPr>
          <p:cNvSpPr>
            <a:spLocks noGrp="1"/>
          </p:cNvSpPr>
          <p:nvPr>
            <p:ph type="title"/>
          </p:nvPr>
        </p:nvSpPr>
        <p:spPr/>
        <p:txBody>
          <a:bodyPr>
            <a:normAutofit/>
          </a:bodyPr>
          <a:lstStyle/>
          <a:p>
            <a:r>
              <a:rPr lang="en-US" altLang="zh-CN" dirty="0"/>
              <a:t>Performance Evaluation</a:t>
            </a:r>
          </a:p>
        </p:txBody>
      </p:sp>
      <p:sp>
        <p:nvSpPr>
          <p:cNvPr id="4" name="文本框 3">
            <a:extLst>
              <a:ext uri="{FF2B5EF4-FFF2-40B4-BE49-F238E27FC236}">
                <a16:creationId xmlns:a16="http://schemas.microsoft.com/office/drawing/2014/main" id="{B05045CA-821B-3A1A-1843-C67B70825066}"/>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5" name="图片 4">
            <a:extLst>
              <a:ext uri="{FF2B5EF4-FFF2-40B4-BE49-F238E27FC236}">
                <a16:creationId xmlns:a16="http://schemas.microsoft.com/office/drawing/2014/main" id="{1C3B62F1-A13A-54C8-EA18-3EB04AC2A06F}"/>
              </a:ext>
            </a:extLst>
          </p:cNvPr>
          <p:cNvPicPr>
            <a:picLocks noChangeAspect="1"/>
          </p:cNvPicPr>
          <p:nvPr/>
        </p:nvPicPr>
        <p:blipFill>
          <a:blip r:embed="rId3"/>
          <a:stretch>
            <a:fillRect/>
          </a:stretch>
        </p:blipFill>
        <p:spPr>
          <a:xfrm>
            <a:off x="1371153" y="1078378"/>
            <a:ext cx="6401693" cy="4410691"/>
          </a:xfrm>
          <a:prstGeom prst="rect">
            <a:avLst/>
          </a:prstGeom>
        </p:spPr>
      </p:pic>
      <p:pic>
        <p:nvPicPr>
          <p:cNvPr id="10" name="图片 9">
            <a:extLst>
              <a:ext uri="{FF2B5EF4-FFF2-40B4-BE49-F238E27FC236}">
                <a16:creationId xmlns:a16="http://schemas.microsoft.com/office/drawing/2014/main" id="{4C3A277A-A2CB-991A-CC50-E1CB354BC0EB}"/>
              </a:ext>
            </a:extLst>
          </p:cNvPr>
          <p:cNvPicPr>
            <a:picLocks noChangeAspect="1"/>
          </p:cNvPicPr>
          <p:nvPr/>
        </p:nvPicPr>
        <p:blipFill>
          <a:blip r:embed="rId4"/>
          <a:stretch>
            <a:fillRect/>
          </a:stretch>
        </p:blipFill>
        <p:spPr>
          <a:xfrm>
            <a:off x="3044978" y="5795597"/>
            <a:ext cx="3381847" cy="581106"/>
          </a:xfrm>
          <a:prstGeom prst="rect">
            <a:avLst/>
          </a:prstGeom>
        </p:spPr>
      </p:pic>
    </p:spTree>
    <p:extLst>
      <p:ext uri="{BB962C8B-B14F-4D97-AF65-F5344CB8AC3E}">
        <p14:creationId xmlns:p14="http://schemas.microsoft.com/office/powerpoint/2010/main" val="3534776579"/>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42A0-216E-0361-9A5D-D578F61B4B3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C467EDC-7C1B-1637-9112-6D751B0DFEB4}"/>
              </a:ext>
            </a:extLst>
          </p:cNvPr>
          <p:cNvSpPr>
            <a:spLocks noGrp="1"/>
          </p:cNvSpPr>
          <p:nvPr>
            <p:ph type="title"/>
          </p:nvPr>
        </p:nvSpPr>
        <p:spPr/>
        <p:txBody>
          <a:bodyPr>
            <a:normAutofit/>
          </a:bodyPr>
          <a:lstStyle/>
          <a:p>
            <a:r>
              <a:rPr lang="en-US" altLang="zh-CN" dirty="0"/>
              <a:t>Performance Evaluation</a:t>
            </a:r>
          </a:p>
        </p:txBody>
      </p:sp>
      <p:sp>
        <p:nvSpPr>
          <p:cNvPr id="4" name="文本框 3">
            <a:extLst>
              <a:ext uri="{FF2B5EF4-FFF2-40B4-BE49-F238E27FC236}">
                <a16:creationId xmlns:a16="http://schemas.microsoft.com/office/drawing/2014/main" id="{AADA11A6-0639-A0CD-4474-680D3AF7AECA}"/>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6" name="图片 5">
            <a:extLst>
              <a:ext uri="{FF2B5EF4-FFF2-40B4-BE49-F238E27FC236}">
                <a16:creationId xmlns:a16="http://schemas.microsoft.com/office/drawing/2014/main" id="{2E9804C6-C33D-1CD7-0596-45F1DAC48A08}"/>
              </a:ext>
            </a:extLst>
          </p:cNvPr>
          <p:cNvPicPr>
            <a:picLocks noChangeAspect="1"/>
          </p:cNvPicPr>
          <p:nvPr/>
        </p:nvPicPr>
        <p:blipFill>
          <a:blip r:embed="rId3"/>
          <a:stretch>
            <a:fillRect/>
          </a:stretch>
        </p:blipFill>
        <p:spPr>
          <a:xfrm>
            <a:off x="1542627" y="916215"/>
            <a:ext cx="6058746" cy="1562318"/>
          </a:xfrm>
          <a:prstGeom prst="rect">
            <a:avLst/>
          </a:prstGeom>
        </p:spPr>
      </p:pic>
      <p:pic>
        <p:nvPicPr>
          <p:cNvPr id="8" name="图片 7">
            <a:extLst>
              <a:ext uri="{FF2B5EF4-FFF2-40B4-BE49-F238E27FC236}">
                <a16:creationId xmlns:a16="http://schemas.microsoft.com/office/drawing/2014/main" id="{21FDA065-B7DD-5CDE-8797-206DB9869706}"/>
              </a:ext>
            </a:extLst>
          </p:cNvPr>
          <p:cNvPicPr>
            <a:picLocks noChangeAspect="1"/>
          </p:cNvPicPr>
          <p:nvPr/>
        </p:nvPicPr>
        <p:blipFill>
          <a:blip r:embed="rId4"/>
          <a:stretch>
            <a:fillRect/>
          </a:stretch>
        </p:blipFill>
        <p:spPr>
          <a:xfrm>
            <a:off x="12861" y="2415865"/>
            <a:ext cx="9144000" cy="2390961"/>
          </a:xfrm>
          <a:prstGeom prst="rect">
            <a:avLst/>
          </a:prstGeom>
        </p:spPr>
      </p:pic>
      <p:pic>
        <p:nvPicPr>
          <p:cNvPr id="11" name="图片 10">
            <a:extLst>
              <a:ext uri="{FF2B5EF4-FFF2-40B4-BE49-F238E27FC236}">
                <a16:creationId xmlns:a16="http://schemas.microsoft.com/office/drawing/2014/main" id="{FC55AC61-08E6-E75F-A870-8B82938998B3}"/>
              </a:ext>
            </a:extLst>
          </p:cNvPr>
          <p:cNvPicPr>
            <a:picLocks noChangeAspect="1"/>
          </p:cNvPicPr>
          <p:nvPr/>
        </p:nvPicPr>
        <p:blipFill>
          <a:blip r:embed="rId5"/>
          <a:stretch>
            <a:fillRect/>
          </a:stretch>
        </p:blipFill>
        <p:spPr>
          <a:xfrm>
            <a:off x="2145030" y="4806826"/>
            <a:ext cx="4879662" cy="1966764"/>
          </a:xfrm>
          <a:prstGeom prst="rect">
            <a:avLst/>
          </a:prstGeom>
        </p:spPr>
      </p:pic>
    </p:spTree>
    <p:extLst>
      <p:ext uri="{BB962C8B-B14F-4D97-AF65-F5344CB8AC3E}">
        <p14:creationId xmlns:p14="http://schemas.microsoft.com/office/powerpoint/2010/main" val="1055467970"/>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Boosting </a:t>
            </a:r>
            <a:r>
              <a:rPr lang="en-US" altLang="zh-CN" dirty="0" err="1"/>
              <a:t>FlightVGM</a:t>
            </a:r>
            <a:endParaRPr lang="en-US" altLang="zh-CN" dirty="0"/>
          </a:p>
        </p:txBody>
      </p:sp>
      <p:sp>
        <p:nvSpPr>
          <p:cNvPr id="5" name="文本框 4">
            <a:extLst>
              <a:ext uri="{FF2B5EF4-FFF2-40B4-BE49-F238E27FC236}">
                <a16:creationId xmlns:a16="http://schemas.microsoft.com/office/drawing/2014/main" id="{05B8EBD3-472D-FFBE-1F3E-28614D35661E}"/>
              </a:ext>
            </a:extLst>
          </p:cNvPr>
          <p:cNvSpPr txBox="1"/>
          <p:nvPr/>
        </p:nvSpPr>
        <p:spPr>
          <a:xfrm>
            <a:off x="1173480" y="1417319"/>
            <a:ext cx="6225540" cy="1200329"/>
          </a:xfrm>
          <a:prstGeom prst="rect">
            <a:avLst/>
          </a:prstGeom>
          <a:noFill/>
        </p:spPr>
        <p:txBody>
          <a:bodyPr wrap="square">
            <a:spAutoFit/>
          </a:bodyPr>
          <a:lstStyle/>
          <a:p>
            <a:r>
              <a:rPr lang="en-US" altLang="zh-CN" dirty="0" err="1">
                <a:latin typeface="Times New Roman" panose="02020603050405020304" pitchFamily="18" charset="0"/>
                <a:cs typeface="Times New Roman" panose="02020603050405020304" pitchFamily="18" charset="0"/>
              </a:rPr>
              <a:t>HiSpMV</a:t>
            </a:r>
            <a:r>
              <a:rPr lang="en-US" altLang="zh-CN" dirty="0">
                <a:latin typeface="Times New Roman" panose="02020603050405020304" pitchFamily="18" charset="0"/>
                <a:cs typeface="Times New Roman" panose="02020603050405020304" pitchFamily="18" charset="0"/>
              </a:rPr>
              <a:t> is specifically optimized for </a:t>
            </a:r>
            <a:r>
              <a:rPr lang="en-US" altLang="zh-CN" b="1" dirty="0">
                <a:latin typeface="Times New Roman" panose="02020603050405020304" pitchFamily="18" charset="0"/>
                <a:cs typeface="Times New Roman" panose="02020603050405020304" pitchFamily="18" charset="0"/>
              </a:rPr>
              <a:t>sparse matrix-vector multiplication workloads</a:t>
            </a:r>
            <a:r>
              <a:rPr lang="en-US" altLang="zh-CN" dirty="0">
                <a:latin typeface="Times New Roman" panose="02020603050405020304" pitchFamily="18" charset="0"/>
                <a:cs typeface="Times New Roman" panose="02020603050405020304" pitchFamily="18" charset="0"/>
              </a:rPr>
              <a:t>, where its design focuses on managing </a:t>
            </a:r>
            <a:r>
              <a:rPr lang="en-US" altLang="zh-CN" b="1" dirty="0">
                <a:latin typeface="Times New Roman" panose="02020603050405020304" pitchFamily="18" charset="0"/>
                <a:cs typeface="Times New Roman" panose="02020603050405020304" pitchFamily="18" charset="0"/>
              </a:rPr>
              <a:t>irregular data accesses </a:t>
            </a:r>
            <a:r>
              <a:rPr lang="en-US" altLang="zh-CN" dirty="0">
                <a:latin typeface="Times New Roman" panose="02020603050405020304" pitchFamily="18" charset="0"/>
                <a:cs typeface="Times New Roman" panose="02020603050405020304" pitchFamily="18" charset="0"/>
              </a:rPr>
              <a:t>and hiding </a:t>
            </a:r>
            <a:r>
              <a:rPr lang="en-US" altLang="zh-CN" b="1" dirty="0">
                <a:latin typeface="Times New Roman" panose="02020603050405020304" pitchFamily="18" charset="0"/>
                <a:cs typeface="Times New Roman" panose="02020603050405020304" pitchFamily="18" charset="0"/>
              </a:rPr>
              <a:t>memory latency </a:t>
            </a:r>
            <a:r>
              <a:rPr lang="en-US" altLang="zh-CN" dirty="0">
                <a:latin typeface="Times New Roman" panose="02020603050405020304" pitchFamily="18" charset="0"/>
                <a:cs typeface="Times New Roman" panose="02020603050405020304" pitchFamily="18" charset="0"/>
              </a:rPr>
              <a:t>rather than delivering massive parallel compute for dense multiplications.</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B0FB9F6-88C9-B57E-7855-C484E0D4B9D4}"/>
              </a:ext>
            </a:extLst>
          </p:cNvPr>
          <p:cNvSpPr txBox="1"/>
          <p:nvPr/>
        </p:nvSpPr>
        <p:spPr>
          <a:xfrm>
            <a:off x="1173480" y="3982981"/>
            <a:ext cx="6499860"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Consequently, its </a:t>
            </a:r>
            <a:r>
              <a:rPr lang="en-US" altLang="zh-CN" b="1" dirty="0">
                <a:solidFill>
                  <a:srgbClr val="FF0000"/>
                </a:solidFill>
                <a:latin typeface="Times New Roman" panose="02020603050405020304" pitchFamily="18" charset="0"/>
                <a:cs typeface="Times New Roman" panose="02020603050405020304" pitchFamily="18" charset="0"/>
              </a:rPr>
              <a:t>low parallelism </a:t>
            </a:r>
            <a:r>
              <a:rPr lang="en-US" altLang="zh-CN" dirty="0">
                <a:latin typeface="Times New Roman" panose="02020603050405020304" pitchFamily="18" charset="0"/>
                <a:cs typeface="Times New Roman" panose="02020603050405020304" pitchFamily="18" charset="0"/>
              </a:rPr>
              <a:t>becomes a bottleneck when trying to efficiently handle the high computational load of matrix multiplications in </a:t>
            </a:r>
            <a:r>
              <a:rPr lang="en-US" altLang="zh-CN" b="1" dirty="0">
                <a:latin typeface="Times New Roman" panose="02020603050405020304" pitchFamily="18" charset="0"/>
                <a:cs typeface="Times New Roman" panose="02020603050405020304" pitchFamily="18" charset="0"/>
              </a:rPr>
              <a:t>VGM   </a:t>
            </a:r>
            <a:r>
              <a:rPr lang="zh-CN" altLang="en-US"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cxnSp>
        <p:nvCxnSpPr>
          <p:cNvPr id="14" name="连接符: 肘形 13">
            <a:extLst>
              <a:ext uri="{FF2B5EF4-FFF2-40B4-BE49-F238E27FC236}">
                <a16:creationId xmlns:a16="http://schemas.microsoft.com/office/drawing/2014/main" id="{BE822822-177F-D043-6315-429228A12A64}"/>
              </a:ext>
            </a:extLst>
          </p:cNvPr>
          <p:cNvCxnSpPr>
            <a:cxnSpLocks/>
          </p:cNvCxnSpPr>
          <p:nvPr/>
        </p:nvCxnSpPr>
        <p:spPr>
          <a:xfrm rot="16200000" flipH="1">
            <a:off x="526391" y="2171341"/>
            <a:ext cx="2993603" cy="2476336"/>
          </a:xfrm>
          <a:prstGeom prst="bentConnector3">
            <a:avLst>
              <a:gd name="adj1" fmla="val 114756"/>
            </a:avLst>
          </a:prstGeom>
          <a:ln w="57150">
            <a:solidFill>
              <a:srgbClr val="278BC7"/>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A263E17-7DA7-7466-C390-6E84392FF29F}"/>
              </a:ext>
            </a:extLst>
          </p:cNvPr>
          <p:cNvCxnSpPr>
            <a:cxnSpLocks/>
          </p:cNvCxnSpPr>
          <p:nvPr/>
        </p:nvCxnSpPr>
        <p:spPr>
          <a:xfrm>
            <a:off x="760095" y="1941282"/>
            <a:ext cx="413385" cy="2"/>
          </a:xfrm>
          <a:prstGeom prst="line">
            <a:avLst/>
          </a:prstGeom>
          <a:ln w="57150">
            <a:solidFill>
              <a:srgbClr val="278BC7"/>
            </a:solidFill>
          </a:ln>
        </p:spPr>
        <p:style>
          <a:lnRef idx="1">
            <a:schemeClr val="accent1"/>
          </a:lnRef>
          <a:fillRef idx="0">
            <a:schemeClr val="accent1"/>
          </a:fillRef>
          <a:effectRef idx="0">
            <a:schemeClr val="accent1"/>
          </a:effectRef>
          <a:fontRef idx="minor">
            <a:schemeClr val="tx1"/>
          </a:fontRef>
        </p:style>
      </p:cxnSp>
      <p:sp>
        <p:nvSpPr>
          <p:cNvPr id="34" name="不等号 33">
            <a:extLst>
              <a:ext uri="{FF2B5EF4-FFF2-40B4-BE49-F238E27FC236}">
                <a16:creationId xmlns:a16="http://schemas.microsoft.com/office/drawing/2014/main" id="{FCC5F4C7-CC96-7CAC-BF92-1B8751C02F6D}"/>
              </a:ext>
            </a:extLst>
          </p:cNvPr>
          <p:cNvSpPr/>
          <p:nvPr/>
        </p:nvSpPr>
        <p:spPr>
          <a:xfrm>
            <a:off x="475869" y="3429000"/>
            <a:ext cx="618309" cy="398897"/>
          </a:xfrm>
          <a:prstGeom prst="mathNotEqual">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矩形: 圆角 34">
            <a:extLst>
              <a:ext uri="{FF2B5EF4-FFF2-40B4-BE49-F238E27FC236}">
                <a16:creationId xmlns:a16="http://schemas.microsoft.com/office/drawing/2014/main" id="{A80CE4BE-D2DB-E345-7CCB-C04051ECEC9F}"/>
              </a:ext>
            </a:extLst>
          </p:cNvPr>
          <p:cNvSpPr/>
          <p:nvPr/>
        </p:nvSpPr>
        <p:spPr>
          <a:xfrm>
            <a:off x="4759779" y="1417319"/>
            <a:ext cx="2163535" cy="386988"/>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35">
            <a:extLst>
              <a:ext uri="{FF2B5EF4-FFF2-40B4-BE49-F238E27FC236}">
                <a16:creationId xmlns:a16="http://schemas.microsoft.com/office/drawing/2014/main" id="{76E9DAC3-A7F1-5EBB-E04D-F8D8D30AADF0}"/>
              </a:ext>
            </a:extLst>
          </p:cNvPr>
          <p:cNvSpPr/>
          <p:nvPr/>
        </p:nvSpPr>
        <p:spPr>
          <a:xfrm>
            <a:off x="2895601" y="4572000"/>
            <a:ext cx="674916" cy="348780"/>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F6104369-EFB5-F0AC-D24B-EB627A0E6FCB}"/>
              </a:ext>
            </a:extLst>
          </p:cNvPr>
          <p:cNvSpPr/>
          <p:nvPr/>
        </p:nvSpPr>
        <p:spPr>
          <a:xfrm>
            <a:off x="1224477" y="1723848"/>
            <a:ext cx="2514765" cy="348780"/>
          </a:xfrm>
          <a:prstGeom prst="roundRect">
            <a:avLst/>
          </a:prstGeom>
          <a:noFill/>
          <a:ln w="28575">
            <a:solidFill>
              <a:srgbClr val="298DC8"/>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descr="图示&#10;&#10;AI 生成的内容可能不正确。">
            <a:extLst>
              <a:ext uri="{FF2B5EF4-FFF2-40B4-BE49-F238E27FC236}">
                <a16:creationId xmlns:a16="http://schemas.microsoft.com/office/drawing/2014/main" id="{733C8064-7CA4-4291-FC16-7B0FA16A3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500" y="2603490"/>
            <a:ext cx="1297350" cy="1400920"/>
          </a:xfrm>
          <a:prstGeom prst="rect">
            <a:avLst/>
          </a:prstGeom>
        </p:spPr>
      </p:pic>
      <p:pic>
        <p:nvPicPr>
          <p:cNvPr id="41" name="图片 40">
            <a:extLst>
              <a:ext uri="{FF2B5EF4-FFF2-40B4-BE49-F238E27FC236}">
                <a16:creationId xmlns:a16="http://schemas.microsoft.com/office/drawing/2014/main" id="{DE8E6BC2-1D99-1739-649E-C7FD7817452B}"/>
              </a:ext>
            </a:extLst>
          </p:cNvPr>
          <p:cNvPicPr>
            <a:picLocks noChangeAspect="1"/>
          </p:cNvPicPr>
          <p:nvPr/>
        </p:nvPicPr>
        <p:blipFill>
          <a:blip r:embed="rId4">
            <a:extLst>
              <a:ext uri="{28A0092B-C50C-407E-A947-70E740481C1C}">
                <a14:useLocalDpi xmlns:a14="http://schemas.microsoft.com/office/drawing/2010/main" val="0"/>
              </a:ext>
            </a:extLst>
          </a:blip>
          <a:srcRect l="3074" t="17857" r="2842" b="3129"/>
          <a:stretch/>
        </p:blipFill>
        <p:spPr>
          <a:xfrm>
            <a:off x="4350389" y="2617648"/>
            <a:ext cx="2375396" cy="1406185"/>
          </a:xfrm>
          <a:prstGeom prst="rect">
            <a:avLst/>
          </a:prstGeom>
        </p:spPr>
      </p:pic>
      <p:sp>
        <p:nvSpPr>
          <p:cNvPr id="4" name="文本框 3">
            <a:extLst>
              <a:ext uri="{FF2B5EF4-FFF2-40B4-BE49-F238E27FC236}">
                <a16:creationId xmlns:a16="http://schemas.microsoft.com/office/drawing/2014/main" id="{0E747B79-BF0C-F999-CB99-3BCD97208CA9}"/>
              </a:ext>
            </a:extLst>
          </p:cNvPr>
          <p:cNvSpPr txBox="1"/>
          <p:nvPr/>
        </p:nvSpPr>
        <p:spPr>
          <a:xfrm>
            <a:off x="50584" y="269352"/>
            <a:ext cx="1468880"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rgbClr val="FFFFFF"/>
                </a:solidFill>
                <a:effectLst/>
                <a:uLnTx/>
                <a:uFillTx/>
                <a:latin typeface="Arial" panose="020B0604020202020204"/>
                <a:ea typeface="微软雅黑" panose="020B0503020204020204" charset="-122"/>
                <a:cs typeface="+mn-cs"/>
              </a:rPr>
              <a:t>HiSpMV</a:t>
            </a:r>
            <a:endParaRPr kumimoji="0" lang="zh-CN" altLang="en-US" sz="2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Tree>
    <p:extLst>
      <p:ext uri="{BB962C8B-B14F-4D97-AF65-F5344CB8AC3E}">
        <p14:creationId xmlns:p14="http://schemas.microsoft.com/office/powerpoint/2010/main" val="2164609535"/>
      </p:ext>
    </p:extLst>
  </p:cSld>
  <p:clrMapOvr>
    <a:masterClrMapping/>
  </p:clrMapOvr>
  <mc:AlternateContent xmlns:mc="http://schemas.openxmlformats.org/markup-compatibility/2006" xmlns:p14="http://schemas.microsoft.com/office/powerpoint/2010/main">
    <mc:Choice Requires="p14">
      <p:transition spd="slow" p14:dur="2000" advTm="22261"/>
    </mc:Choice>
    <mc:Fallback xmlns="">
      <p:transition spd="slow" advTm="2226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4997693-0404-4E02-A731-A03D5EE9B0CD}"/>
              </a:ext>
            </a:extLst>
          </p:cNvPr>
          <p:cNvGrpSpPr/>
          <p:nvPr/>
        </p:nvGrpSpPr>
        <p:grpSpPr>
          <a:xfrm>
            <a:off x="0" y="1809280"/>
            <a:ext cx="9144000" cy="3655907"/>
            <a:chOff x="0" y="1854055"/>
            <a:chExt cx="9144000" cy="3149891"/>
          </a:xfrm>
        </p:grpSpPr>
        <p:sp>
          <p:nvSpPr>
            <p:cNvPr id="7" name="任意多边形: 形状 6">
              <a:extLst>
                <a:ext uri="{FF2B5EF4-FFF2-40B4-BE49-F238E27FC236}">
                  <a16:creationId xmlns:a16="http://schemas.microsoft.com/office/drawing/2014/main" id="{48F55F44-093B-4A22-BCCD-8A1284DE467A}"/>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8" name="任意多边形: 形状 7">
              <a:extLst>
                <a:ext uri="{FF2B5EF4-FFF2-40B4-BE49-F238E27FC236}">
                  <a16:creationId xmlns:a16="http://schemas.microsoft.com/office/drawing/2014/main" id="{C4736510-80CE-4E5E-9CF7-FA3CC063264E}"/>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8" descr="图片包含 游戏机, 电子, 电路&#10;&#10;描述已自动生成">
              <a:extLst>
                <a:ext uri="{FF2B5EF4-FFF2-40B4-BE49-F238E27FC236}">
                  <a16:creationId xmlns:a16="http://schemas.microsoft.com/office/drawing/2014/main" id="{A267D6E2-4DEE-421B-8C3F-D18FBFE890DB}"/>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t="21235" b="33550"/>
            <a:stretch>
              <a:fillRect/>
            </a:stretch>
          </p:blipFill>
          <p:spPr>
            <a:xfrm>
              <a:off x="0" y="2051052"/>
              <a:ext cx="9144000" cy="2755896"/>
            </a:xfrm>
            <a:custGeom>
              <a:avLst/>
              <a:gdLst>
                <a:gd name="connsiteX0" fmla="*/ 0 w 9144000"/>
                <a:gd name="connsiteY0" fmla="*/ 0 h 2755896"/>
                <a:gd name="connsiteX1" fmla="*/ 182855 w 9144000"/>
                <a:gd name="connsiteY1" fmla="*/ 18198 h 2755896"/>
                <a:gd name="connsiteX2" fmla="*/ 4572000 w 9144000"/>
                <a:gd name="connsiteY2" fmla="*/ 195209 h 2755896"/>
                <a:gd name="connsiteX3" fmla="*/ 8961145 w 9144000"/>
                <a:gd name="connsiteY3" fmla="*/ 18198 h 2755896"/>
                <a:gd name="connsiteX4" fmla="*/ 9144000 w 9144000"/>
                <a:gd name="connsiteY4" fmla="*/ 0 h 2755896"/>
                <a:gd name="connsiteX5" fmla="*/ 9144000 w 9144000"/>
                <a:gd name="connsiteY5" fmla="*/ 534576 h 2755896"/>
                <a:gd name="connsiteX6" fmla="*/ 9144000 w 9144000"/>
                <a:gd name="connsiteY6" fmla="*/ 2221320 h 2755896"/>
                <a:gd name="connsiteX7" fmla="*/ 9144000 w 9144000"/>
                <a:gd name="connsiteY7" fmla="*/ 2755896 h 2755896"/>
                <a:gd name="connsiteX8" fmla="*/ 8961145 w 9144000"/>
                <a:gd name="connsiteY8" fmla="*/ 2737698 h 2755896"/>
                <a:gd name="connsiteX9" fmla="*/ 4572000 w 9144000"/>
                <a:gd name="connsiteY9" fmla="*/ 2560687 h 2755896"/>
                <a:gd name="connsiteX10" fmla="*/ 182855 w 9144000"/>
                <a:gd name="connsiteY10" fmla="*/ 2737698 h 2755896"/>
                <a:gd name="connsiteX11" fmla="*/ 0 w 9144000"/>
                <a:gd name="connsiteY11" fmla="*/ 2755896 h 2755896"/>
                <a:gd name="connsiteX12" fmla="*/ 0 w 9144000"/>
                <a:gd name="connsiteY12" fmla="*/ 2221320 h 2755896"/>
                <a:gd name="connsiteX13" fmla="*/ 0 w 9144000"/>
                <a:gd name="connsiteY13" fmla="*/ 534576 h 275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755896">
                  <a:moveTo>
                    <a:pt x="0" y="0"/>
                  </a:moveTo>
                  <a:lnTo>
                    <a:pt x="182855" y="18198"/>
                  </a:lnTo>
                  <a:cubicBezTo>
                    <a:pt x="1342108" y="128178"/>
                    <a:pt x="2882061" y="195209"/>
                    <a:pt x="4572000" y="195209"/>
                  </a:cubicBezTo>
                  <a:cubicBezTo>
                    <a:pt x="6261940" y="195209"/>
                    <a:pt x="7801892" y="128178"/>
                    <a:pt x="8961145" y="18198"/>
                  </a:cubicBezTo>
                  <a:lnTo>
                    <a:pt x="9144000" y="0"/>
                  </a:lnTo>
                  <a:lnTo>
                    <a:pt x="9144000" y="534576"/>
                  </a:lnTo>
                  <a:lnTo>
                    <a:pt x="9144000" y="2221320"/>
                  </a:lnTo>
                  <a:lnTo>
                    <a:pt x="9144000" y="2755896"/>
                  </a:lnTo>
                  <a:lnTo>
                    <a:pt x="8961145" y="2737698"/>
                  </a:lnTo>
                  <a:cubicBezTo>
                    <a:pt x="7801892" y="2627718"/>
                    <a:pt x="6261940" y="2560687"/>
                    <a:pt x="4572000" y="2560687"/>
                  </a:cubicBezTo>
                  <a:cubicBezTo>
                    <a:pt x="2882061" y="2560687"/>
                    <a:pt x="1342108" y="2627718"/>
                    <a:pt x="182855" y="2737698"/>
                  </a:cubicBezTo>
                  <a:lnTo>
                    <a:pt x="0" y="2755896"/>
                  </a:lnTo>
                  <a:lnTo>
                    <a:pt x="0" y="2221320"/>
                  </a:lnTo>
                  <a:lnTo>
                    <a:pt x="0" y="534576"/>
                  </a:lnTo>
                  <a:close/>
                </a:path>
              </a:pathLst>
            </a:custGeom>
          </p:spPr>
        </p:pic>
      </p:grpSp>
      <p:sp>
        <p:nvSpPr>
          <p:cNvPr id="10" name="文本框 9">
            <a:extLst>
              <a:ext uri="{FF2B5EF4-FFF2-40B4-BE49-F238E27FC236}">
                <a16:creationId xmlns:a16="http://schemas.microsoft.com/office/drawing/2014/main" id="{41B38898-C56C-4BE6-B481-6558D753729A}"/>
              </a:ext>
            </a:extLst>
          </p:cNvPr>
          <p:cNvSpPr txBox="1"/>
          <p:nvPr/>
        </p:nvSpPr>
        <p:spPr>
          <a:xfrm>
            <a:off x="1385091" y="2927196"/>
            <a:ext cx="6367814" cy="1003608"/>
          </a:xfrm>
          <a:prstGeom prst="rect">
            <a:avLst/>
          </a:prstGeom>
          <a:noFill/>
        </p:spPr>
        <p:txBody>
          <a:bodyPr wrap="square">
            <a:spAutoFit/>
          </a:bodyPr>
          <a:lstStyle/>
          <a:p>
            <a:pPr marL="0" marR="0" lvl="0" indent="0" algn="ctr" defTabSz="457200" rtl="0" eaLnBrk="1" fontAlgn="auto" latinLnBrk="0" hangingPunct="1">
              <a:lnSpc>
                <a:spcPct val="12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FFFFFF"/>
                </a:solidFill>
                <a:effectLst/>
                <a:uLnTx/>
                <a:uFillTx/>
                <a:latin typeface="Arial"/>
                <a:ea typeface="微软雅黑"/>
                <a:cs typeface="+mn-cs"/>
              </a:rPr>
              <a:t>Thanks</a:t>
            </a:r>
            <a:r>
              <a:rPr kumimoji="0" lang="zh-CN" altLang="en-US" sz="5400" b="1" i="0" u="none" strike="noStrike" kern="1200" cap="none" spc="0" normalizeH="0" baseline="0" noProof="0" dirty="0">
                <a:ln>
                  <a:noFill/>
                </a:ln>
                <a:solidFill>
                  <a:srgbClr val="FFFFFF"/>
                </a:solidFill>
                <a:effectLst/>
                <a:uLnTx/>
                <a:uFillTx/>
                <a:latin typeface="Arial"/>
                <a:ea typeface="微软雅黑"/>
                <a:cs typeface="+mn-cs"/>
              </a:rPr>
              <a:t>！</a:t>
            </a:r>
            <a:endParaRPr kumimoji="0" lang="en-US" altLang="zh-CN" sz="54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12"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15" name="图片 14">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481853" y="5693831"/>
            <a:ext cx="3039847" cy="815686"/>
          </a:xfrm>
          <a:prstGeom prst="rect">
            <a:avLst/>
          </a:prstGeom>
        </p:spPr>
      </p:pic>
      <p:sp>
        <p:nvSpPr>
          <p:cNvPr id="16" name="文本框 15"/>
          <p:cNvSpPr txBox="1"/>
          <p:nvPr/>
        </p:nvSpPr>
        <p:spPr>
          <a:xfrm>
            <a:off x="1428830" y="5859243"/>
            <a:ext cx="2079141" cy="369332"/>
          </a:xfrm>
          <a:prstGeom prst="rect">
            <a:avLst/>
          </a:prstGeom>
          <a:noFill/>
        </p:spPr>
        <p:txBody>
          <a:bodyPr wrap="square" rtlCol="0">
            <a:spAutoFit/>
          </a:bodyPr>
          <a:lstStyle/>
          <a:p>
            <a:r>
              <a:rPr lang="en-US" altLang="zh-CN" b="1" dirty="0"/>
              <a:t>2024 ACM/SIGDA</a:t>
            </a:r>
          </a:p>
        </p:txBody>
      </p:sp>
    </p:spTree>
    <p:extLst>
      <p:ext uri="{BB962C8B-B14F-4D97-AF65-F5344CB8AC3E}">
        <p14:creationId xmlns:p14="http://schemas.microsoft.com/office/powerpoint/2010/main" val="4267402064"/>
      </p:ext>
    </p:extLst>
  </p:cSld>
  <p:clrMapOvr>
    <a:masterClrMapping/>
  </p:clrMapOvr>
  <mc:AlternateContent xmlns:mc="http://schemas.openxmlformats.org/markup-compatibility/2006" xmlns:p14="http://schemas.microsoft.com/office/powerpoint/2010/main">
    <mc:Choice Requires="p14">
      <p:transition spd="slow" p14:dur="2000" advTm="2523"/>
    </mc:Choice>
    <mc:Fallback xmlns="">
      <p:transition spd="slow" advTm="2523"/>
    </mc:Fallback>
  </mc:AlternateContent>
</p:sld>
</file>

<file path=ppt/theme/theme1.xml><?xml version="1.0" encoding="utf-8"?>
<a:theme xmlns:a="http://schemas.openxmlformats.org/drawingml/2006/main" name="Office 主题​​">
  <a:themeElements>
    <a:clrScheme name="自定义 27">
      <a:dk1>
        <a:srgbClr val="000000"/>
      </a:dk1>
      <a:lt1>
        <a:srgbClr val="FFFFFF"/>
      </a:lt1>
      <a:dk2>
        <a:srgbClr val="768394"/>
      </a:dk2>
      <a:lt2>
        <a:srgbClr val="F0F0F0"/>
      </a:lt2>
      <a:accent1>
        <a:srgbClr val="0070C0"/>
      </a:accent1>
      <a:accent2>
        <a:srgbClr val="082E72"/>
      </a:accent2>
      <a:accent3>
        <a:srgbClr val="D6ECFA"/>
      </a:accent3>
      <a:accent4>
        <a:srgbClr val="C8000B"/>
      </a:accent4>
      <a:accent5>
        <a:srgbClr val="FFC000"/>
      </a:accent5>
      <a:accent6>
        <a:srgbClr val="008080"/>
      </a:accent6>
      <a:hlink>
        <a:srgbClr val="00FFFF"/>
      </a:hlink>
      <a:folHlink>
        <a:srgbClr val="BFBFBF"/>
      </a:folHlink>
    </a:clrScheme>
    <a:fontScheme name="雅黑+arial">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23887</TotalTime>
  <Words>13685</Words>
  <Application>Microsoft Office PowerPoint</Application>
  <PresentationFormat>全屏显示(4:3)</PresentationFormat>
  <Paragraphs>688</Paragraphs>
  <Slides>31</Slides>
  <Notes>31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Arial Unicode MS</vt:lpstr>
      <vt:lpstr>等线</vt:lpstr>
      <vt:lpstr>Arial</vt:lpstr>
      <vt:lpstr>Cambria Math</vt:lpstr>
      <vt:lpstr>Times New Roman</vt:lpstr>
      <vt:lpstr>Wingdings</vt:lpstr>
      <vt:lpstr>Office 主题​​</vt:lpstr>
      <vt:lpstr>PowerPoint 演示文稿</vt:lpstr>
      <vt:lpstr>PowerPoint 演示文稿</vt:lpstr>
      <vt:lpstr>Previous Solution</vt:lpstr>
      <vt:lpstr>PowerPoint 演示文稿</vt:lpstr>
      <vt:lpstr>Imbalanced Sparsity</vt:lpstr>
      <vt:lpstr>SpMV – Challenges</vt:lpstr>
      <vt:lpstr>SpMV – Imbalanced Workload among PEs</vt:lpstr>
      <vt:lpstr>SpMV – Imbalanced Workload among PEs</vt:lpstr>
      <vt:lpstr>SpMV – Long-Distance RAW Dependency</vt:lpstr>
      <vt:lpstr>SpMV – Long-Distance RAW Dependency</vt:lpstr>
      <vt:lpstr>SpMV – Long-Distance RAW Dependency</vt:lpstr>
      <vt:lpstr>SpMV – Corresponding Solutions</vt:lpstr>
      <vt:lpstr>PowerPoint 演示文稿</vt:lpstr>
      <vt:lpstr>Overall Architecture</vt:lpstr>
      <vt:lpstr>Overall Architecture</vt:lpstr>
      <vt:lpstr>Hybrid Buffering for Input Vector</vt:lpstr>
      <vt:lpstr>Hybrid Buffering for Input Vector</vt:lpstr>
      <vt:lpstr>PEG &amp; Hybrid Row Distribution Design</vt:lpstr>
      <vt:lpstr>Hybrid Row Distribution Network</vt:lpstr>
      <vt:lpstr>Hybrid Row Distribution Network</vt:lpstr>
      <vt:lpstr>Pipelined Floating-Point Accumulation</vt:lpstr>
      <vt:lpstr>Pipelined Floating-Point Accumulation</vt:lpstr>
      <vt:lpstr>Pipelined Floating-Point Accumulation</vt:lpstr>
      <vt:lpstr>Pipelined Floating-Point Accumulation</vt:lpstr>
      <vt:lpstr>Automation Tool</vt:lpstr>
      <vt:lpstr>PowerPoint 演示文稿</vt:lpstr>
      <vt:lpstr>Performance Evaluation</vt:lpstr>
      <vt:lpstr>Performance Evaluation</vt:lpstr>
      <vt:lpstr>Performance Evaluation</vt:lpstr>
      <vt:lpstr>Boosting FlightVGM</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楷鑫 刘</cp:lastModifiedBy>
  <cp:revision>1626</cp:revision>
  <cp:lastPrinted>2021-11-03T08:01:40Z</cp:lastPrinted>
  <dcterms:created xsi:type="dcterms:W3CDTF">2021-05-30T09:40:00Z</dcterms:created>
  <dcterms:modified xsi:type="dcterms:W3CDTF">2025-06-04T07:17:23Z</dcterms:modified>
</cp:coreProperties>
</file>