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7" r:id="rId2"/>
    <p:sldId id="431" r:id="rId3"/>
    <p:sldId id="410" r:id="rId4"/>
    <p:sldId id="411" r:id="rId5"/>
    <p:sldId id="412" r:id="rId6"/>
    <p:sldId id="420" r:id="rId7"/>
    <p:sldId id="407" r:id="rId8"/>
    <p:sldId id="422" r:id="rId9"/>
    <p:sldId id="421" r:id="rId10"/>
    <p:sldId id="416" r:id="rId11"/>
    <p:sldId id="418" r:id="rId12"/>
    <p:sldId id="419" r:id="rId13"/>
    <p:sldId id="417" r:id="rId14"/>
    <p:sldId id="406" r:id="rId15"/>
    <p:sldId id="413" r:id="rId16"/>
    <p:sldId id="414" r:id="rId17"/>
    <p:sldId id="415" r:id="rId18"/>
    <p:sldId id="430" r:id="rId19"/>
    <p:sldId id="392" r:id="rId20"/>
    <p:sldId id="429" r:id="rId21"/>
    <p:sldId id="393" r:id="rId22"/>
    <p:sldId id="428" r:id="rId23"/>
    <p:sldId id="394" r:id="rId24"/>
    <p:sldId id="395" r:id="rId25"/>
    <p:sldId id="396" r:id="rId26"/>
    <p:sldId id="397" r:id="rId27"/>
    <p:sldId id="398" r:id="rId28"/>
    <p:sldId id="423" r:id="rId29"/>
    <p:sldId id="424" r:id="rId30"/>
    <p:sldId id="399" r:id="rId31"/>
    <p:sldId id="400" r:id="rId32"/>
    <p:sldId id="401" r:id="rId33"/>
    <p:sldId id="427" r:id="rId34"/>
    <p:sldId id="402" r:id="rId35"/>
    <p:sldId id="403" r:id="rId36"/>
    <p:sldId id="404" r:id="rId37"/>
    <p:sldId id="426" r:id="rId38"/>
    <p:sldId id="405" r:id="rId39"/>
    <p:sldId id="425" r:id="rId40"/>
    <p:sldId id="315"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26" userDrawn="1">
          <p15:clr>
            <a:srgbClr val="A4A3A4"/>
          </p15:clr>
        </p15:guide>
        <p15:guide id="2" pos="5534" userDrawn="1">
          <p15:clr>
            <a:srgbClr val="A4A3A4"/>
          </p15:clr>
        </p15:guide>
        <p15:guide id="3" orient="horz" pos="40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E72"/>
    <a:srgbClr val="FFFFFF"/>
    <a:srgbClr val="298DC8"/>
    <a:srgbClr val="278BC7"/>
    <a:srgbClr val="C8000B"/>
    <a:srgbClr val="A3BCED"/>
    <a:srgbClr val="F1F0D1"/>
    <a:srgbClr val="FFFF00"/>
    <a:srgbClr val="D2E6F3"/>
    <a:srgbClr val="2A8E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54" autoAdjust="0"/>
    <p:restoredTop sz="73310" autoAdjust="0"/>
  </p:normalViewPr>
  <p:slideViewPr>
    <p:cSldViewPr snapToGrid="0">
      <p:cViewPr>
        <p:scale>
          <a:sx n="100" d="100"/>
          <a:sy n="100" d="100"/>
        </p:scale>
        <p:origin x="2616" y="10"/>
      </p:cViewPr>
      <p:guideLst>
        <p:guide pos="226"/>
        <p:guide pos="5534"/>
        <p:guide orient="horz" pos="402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47987-D2E7-4398-81D5-121CC77D9CD8}" type="datetimeFigureOut">
              <a:rPr lang="zh-CN" altLang="en-US" smtClean="0"/>
              <a:t>2025/4/7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0C18FD-0CD8-4FA2-8928-172EA938A55D}" type="slidenum">
              <a:rPr lang="zh-CN" altLang="en-US" smtClean="0"/>
              <a:t>‹#›</a:t>
            </a:fld>
            <a:endParaRPr lang="zh-CN" altLang="en-US"/>
          </a:p>
        </p:txBody>
      </p:sp>
    </p:spTree>
    <p:extLst>
      <p:ext uri="{BB962C8B-B14F-4D97-AF65-F5344CB8AC3E}">
        <p14:creationId xmlns:p14="http://schemas.microsoft.com/office/powerpoint/2010/main" val="4002794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39143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84275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 </a:t>
            </a:r>
            <a:r>
              <a:rPr lang="en-US" altLang="zh-CN" dirty="0"/>
              <a:t>Transformer </a:t>
            </a:r>
            <a:r>
              <a:rPr lang="zh-CN" altLang="en-US" dirty="0"/>
              <a:t>架构中，</a:t>
            </a:r>
            <a:r>
              <a:rPr lang="en-US" altLang="zh-CN" dirty="0"/>
              <a:t>Encoder </a:t>
            </a:r>
            <a:r>
              <a:rPr lang="zh-CN" altLang="en-US" dirty="0"/>
              <a:t>和 </a:t>
            </a:r>
            <a:r>
              <a:rPr lang="en-US" altLang="zh-CN" dirty="0"/>
              <a:t>Decoder </a:t>
            </a:r>
            <a:r>
              <a:rPr lang="zh-CN" altLang="en-US" dirty="0"/>
              <a:t>分别承担不同的任务，共同完成从输入到输出的映射过程：</a:t>
            </a:r>
          </a:p>
          <a:p>
            <a:pPr>
              <a:buFont typeface="+mj-lt"/>
              <a:buAutoNum type="arabicPeriod"/>
            </a:pPr>
            <a:r>
              <a:rPr lang="en-US" altLang="zh-CN" b="1" dirty="0"/>
              <a:t>Encoder</a:t>
            </a:r>
            <a:r>
              <a:rPr lang="zh-CN" altLang="en-US" b="1" dirty="0"/>
              <a:t>（编码器）</a:t>
            </a:r>
            <a:endParaRPr lang="zh-CN" altLang="en-US" dirty="0"/>
          </a:p>
          <a:p>
            <a:pPr marL="742950" lvl="1" indent="-285750">
              <a:buFont typeface="+mj-lt"/>
              <a:buAutoNum type="arabicPeriod"/>
            </a:pPr>
            <a:r>
              <a:rPr lang="zh-CN" altLang="en-US" b="1" dirty="0"/>
              <a:t>功能</a:t>
            </a:r>
            <a:r>
              <a:rPr lang="zh-CN" altLang="en-US" dirty="0"/>
              <a:t>：编码器的主要作用是对输入序列进行处理和特征提取，将原始输入（如句子、单词等）转换为一系列高维的表示（即上下文敏感的向量表示）。</a:t>
            </a:r>
          </a:p>
          <a:p>
            <a:pPr marL="742950" lvl="1" indent="-285750">
              <a:buFont typeface="+mj-lt"/>
              <a:buAutoNum type="arabicPeriod"/>
            </a:pPr>
            <a:r>
              <a:rPr lang="zh-CN" altLang="en-US" b="1" dirty="0"/>
              <a:t>工作流程</a:t>
            </a:r>
            <a:r>
              <a:rPr lang="zh-CN" altLang="en-US" dirty="0"/>
              <a:t>：</a:t>
            </a:r>
          </a:p>
          <a:p>
            <a:pPr marL="1143000" lvl="2" indent="-228600">
              <a:buFont typeface="+mj-lt"/>
              <a:buAutoNum type="arabicPeriod"/>
            </a:pPr>
            <a:r>
              <a:rPr lang="zh-CN" altLang="en-US" dirty="0"/>
              <a:t>输入经过嵌入层转换成向量表示，并加入位置信息（位置编码）。</a:t>
            </a:r>
          </a:p>
          <a:p>
            <a:pPr marL="1143000" lvl="2" indent="-228600">
              <a:buFont typeface="+mj-lt"/>
              <a:buAutoNum type="arabicPeriod"/>
            </a:pPr>
            <a:r>
              <a:rPr lang="zh-CN" altLang="en-US" dirty="0"/>
              <a:t>这些向量会通过多个 </a:t>
            </a:r>
            <a:r>
              <a:rPr lang="en-US" altLang="zh-CN" dirty="0"/>
              <a:t>Encoder </a:t>
            </a:r>
            <a:r>
              <a:rPr lang="zh-CN" altLang="en-US" dirty="0"/>
              <a:t>层（通常每一层都包含多头注意力机制和前馈神经网络）进行逐步加工，层层提取更深层次的语义信息。</a:t>
            </a:r>
          </a:p>
          <a:p>
            <a:pPr marL="742950" lvl="1" indent="-285750">
              <a:buFont typeface="+mj-lt"/>
              <a:buAutoNum type="arabicPeriod"/>
            </a:pPr>
            <a:r>
              <a:rPr lang="zh-CN" altLang="en-US" b="1" dirty="0"/>
              <a:t>目的</a:t>
            </a:r>
            <a:r>
              <a:rPr lang="zh-CN" altLang="en-US" dirty="0"/>
              <a:t>：最终生成一个对整个输入序列的全局上下文表示，后续的 </a:t>
            </a:r>
            <a:r>
              <a:rPr lang="en-US" altLang="zh-CN" dirty="0"/>
              <a:t>Decoder </a:t>
            </a:r>
            <a:r>
              <a:rPr lang="zh-CN" altLang="en-US" dirty="0"/>
              <a:t>就可以依赖这些信息来生成输出。</a:t>
            </a:r>
          </a:p>
          <a:p>
            <a:pPr>
              <a:buFont typeface="+mj-lt"/>
              <a:buAutoNum type="arabicPeriod"/>
            </a:pPr>
            <a:r>
              <a:rPr lang="en-US" altLang="zh-CN" b="1" dirty="0"/>
              <a:t>Decoder</a:t>
            </a:r>
            <a:r>
              <a:rPr lang="zh-CN" altLang="en-US" b="1" dirty="0"/>
              <a:t>（解码器）</a:t>
            </a:r>
            <a:endParaRPr lang="zh-CN" altLang="en-US" dirty="0"/>
          </a:p>
          <a:p>
            <a:pPr marL="742950" lvl="1" indent="-285750">
              <a:buFont typeface="+mj-lt"/>
              <a:buAutoNum type="arabicPeriod"/>
            </a:pPr>
            <a:r>
              <a:rPr lang="zh-CN" altLang="en-US" b="1" dirty="0"/>
              <a:t>功能</a:t>
            </a:r>
            <a:r>
              <a:rPr lang="zh-CN" altLang="en-US" dirty="0"/>
              <a:t>：解码器的主要任务是根据编码器生成的上下文表示，逐步生成目标序列（如翻译结果、生成文本等）。</a:t>
            </a:r>
          </a:p>
          <a:p>
            <a:pPr marL="742950" lvl="1" indent="-285750">
              <a:buFont typeface="+mj-lt"/>
              <a:buAutoNum type="arabicPeriod"/>
            </a:pPr>
            <a:r>
              <a:rPr lang="zh-CN" altLang="en-US" b="1" dirty="0"/>
              <a:t>工作流程</a:t>
            </a:r>
            <a:r>
              <a:rPr lang="zh-CN" altLang="en-US" dirty="0"/>
              <a:t>：</a:t>
            </a:r>
          </a:p>
          <a:p>
            <a:pPr marL="1143000" lvl="2" indent="-228600">
              <a:buFont typeface="+mj-lt"/>
              <a:buAutoNum type="arabicPeriod"/>
            </a:pPr>
            <a:r>
              <a:rPr lang="zh-CN" altLang="en-US" dirty="0"/>
              <a:t>解码器接收两个输入：一是前面已生成的部分输出（在训练时使用目标序列，生成时采用自回归策略）；二是编码器输出的上下文信息。</a:t>
            </a:r>
          </a:p>
          <a:p>
            <a:pPr marL="1143000" lvl="2" indent="-228600">
              <a:buFont typeface="+mj-lt"/>
              <a:buAutoNum type="arabicPeriod"/>
            </a:pPr>
            <a:r>
              <a:rPr lang="zh-CN" altLang="en-US" dirty="0"/>
              <a:t>每个 </a:t>
            </a:r>
            <a:r>
              <a:rPr lang="en-US" altLang="zh-CN" dirty="0"/>
              <a:t>Decoder </a:t>
            </a:r>
            <a:r>
              <a:rPr lang="zh-CN" altLang="en-US" dirty="0"/>
              <a:t>层通常也包含多头注意力机制，但其注意力计算分为两个部分：</a:t>
            </a:r>
          </a:p>
          <a:p>
            <a:pPr marL="1600200" lvl="3" indent="-228600">
              <a:buFont typeface="+mj-lt"/>
              <a:buAutoNum type="arabicPeriod"/>
            </a:pPr>
            <a:r>
              <a:rPr lang="zh-CN" altLang="en-US" b="1" dirty="0"/>
              <a:t>自注意力层</a:t>
            </a:r>
            <a:r>
              <a:rPr lang="zh-CN" altLang="en-US" dirty="0"/>
              <a:t>：首先对当前已生成的输出进行处理，捕捉生成序列内部的依赖关系。</a:t>
            </a:r>
          </a:p>
          <a:p>
            <a:pPr marL="1600200" lvl="3" indent="-228600">
              <a:buFont typeface="+mj-lt"/>
              <a:buAutoNum type="arabicPeriod"/>
            </a:pPr>
            <a:r>
              <a:rPr lang="zh-CN" altLang="en-US" b="1" dirty="0"/>
              <a:t>交叉注意力层</a:t>
            </a:r>
            <a:r>
              <a:rPr lang="zh-CN" altLang="en-US" dirty="0"/>
              <a:t>：利用自注意力层的输出作为查询，结合编码器的输出作为键和值，捕捉当前生成 </a:t>
            </a:r>
            <a:r>
              <a:rPr lang="en-US" altLang="zh-CN" dirty="0"/>
              <a:t>token </a:t>
            </a:r>
            <a:r>
              <a:rPr lang="zh-CN" altLang="en-US" dirty="0"/>
              <a:t>与输入序列之间的关系。</a:t>
            </a:r>
          </a:p>
          <a:p>
            <a:pPr marL="1143000" lvl="2" indent="-228600">
              <a:buFont typeface="+mj-lt"/>
              <a:buAutoNum type="arabicPeriod"/>
            </a:pPr>
            <a:r>
              <a:rPr lang="zh-CN" altLang="en-US" dirty="0"/>
              <a:t>最终，经过多层 </a:t>
            </a:r>
            <a:r>
              <a:rPr lang="en-US" altLang="zh-CN" dirty="0"/>
              <a:t>Decoder </a:t>
            </a:r>
            <a:r>
              <a:rPr lang="zh-CN" altLang="en-US" dirty="0"/>
              <a:t>的处理，生成的表示经过线性变换和 </a:t>
            </a:r>
            <a:r>
              <a:rPr lang="en-US" altLang="zh-CN" dirty="0" err="1"/>
              <a:t>softmax</a:t>
            </a:r>
            <a:r>
              <a:rPr lang="en-US" altLang="zh-CN" dirty="0"/>
              <a:t> </a:t>
            </a:r>
            <a:r>
              <a:rPr lang="zh-CN" altLang="en-US" dirty="0"/>
              <a:t>得到概率分布，从而预测下一个 </a:t>
            </a:r>
            <a:r>
              <a:rPr lang="en-US" altLang="zh-CN" dirty="0"/>
              <a:t>token</a:t>
            </a:r>
            <a:r>
              <a:rPr lang="zh-CN" altLang="en-US" dirty="0"/>
              <a:t>。</a:t>
            </a:r>
          </a:p>
          <a:p>
            <a:pPr marL="742950" lvl="1" indent="-285750">
              <a:buFont typeface="+mj-lt"/>
              <a:buAutoNum type="arabicPeriod"/>
            </a:pPr>
            <a:r>
              <a:rPr lang="zh-CN" altLang="en-US" b="1" dirty="0"/>
              <a:t>目的</a:t>
            </a:r>
            <a:r>
              <a:rPr lang="zh-CN" altLang="en-US" dirty="0"/>
              <a:t>：解码器通过迭代生成方式（自回归生成），逐步构建完整的输出序列，确保每个生成的 </a:t>
            </a:r>
            <a:r>
              <a:rPr lang="en-US" altLang="zh-CN" dirty="0"/>
              <a:t>token </a:t>
            </a:r>
            <a:r>
              <a:rPr lang="zh-CN" altLang="en-US" dirty="0"/>
              <a:t>都充分考虑了输入信息和之前生成的内容。</a:t>
            </a:r>
          </a:p>
          <a:p>
            <a:r>
              <a:rPr lang="zh-CN" altLang="en-US" dirty="0"/>
              <a:t>总结来说，</a:t>
            </a:r>
            <a:r>
              <a:rPr lang="en-US" altLang="zh-CN" b="1" dirty="0"/>
              <a:t>Encoder </a:t>
            </a:r>
            <a:r>
              <a:rPr lang="zh-CN" altLang="en-US" b="1" dirty="0"/>
              <a:t>负责理解和编码输入序列的语义信息</a:t>
            </a:r>
            <a:r>
              <a:rPr lang="zh-CN" altLang="en-US" dirty="0"/>
              <a:t>，而 </a:t>
            </a:r>
            <a:r>
              <a:rPr lang="en-US" altLang="zh-CN" b="1" dirty="0"/>
              <a:t>Decoder </a:t>
            </a:r>
            <a:r>
              <a:rPr lang="zh-CN" altLang="en-US" b="1" dirty="0"/>
              <a:t>则利用这些编码信息，结合已生成的输出，自行决定下一个 </a:t>
            </a:r>
            <a:r>
              <a:rPr lang="en-US" altLang="zh-CN" b="1" dirty="0"/>
              <a:t>token </a:t>
            </a:r>
            <a:r>
              <a:rPr lang="zh-CN" altLang="en-US" b="1" dirty="0"/>
              <a:t>的生成</a:t>
            </a:r>
            <a:r>
              <a:rPr lang="zh-CN" altLang="en-US" dirty="0"/>
              <a:t>。这两部分协同工作，使 </a:t>
            </a:r>
            <a:r>
              <a:rPr lang="en-US" altLang="zh-CN" dirty="0"/>
              <a:t>Transformer </a:t>
            </a:r>
            <a:r>
              <a:rPr lang="zh-CN" altLang="en-US" dirty="0"/>
              <a:t>能够高效地处理各种序列到序列的任务，如机器翻译、文本生成等。</a:t>
            </a:r>
          </a:p>
          <a:p>
            <a:endParaRPr lang="en-US" altLang="zh-CN" b="1" dirty="0"/>
          </a:p>
          <a:p>
            <a:endParaRPr lang="en-US" altLang="zh-CN" b="1" dirty="0"/>
          </a:p>
          <a:p>
            <a:r>
              <a:rPr lang="en-US" altLang="zh-CN" b="1" dirty="0"/>
              <a:t>MHA</a:t>
            </a:r>
          </a:p>
          <a:p>
            <a:r>
              <a:rPr lang="zh-CN" altLang="en-US" b="1" dirty="0"/>
              <a:t>捕捉 </a:t>
            </a:r>
            <a:r>
              <a:rPr lang="en-US" altLang="zh-CN" b="1" dirty="0"/>
              <a:t>token </a:t>
            </a:r>
            <a:r>
              <a:rPr lang="zh-CN" altLang="en-US" b="1" dirty="0"/>
              <a:t>间关系的目的</a:t>
            </a:r>
            <a:br>
              <a:rPr lang="zh-CN" altLang="en-US" dirty="0"/>
            </a:br>
            <a:r>
              <a:rPr lang="zh-CN" altLang="en-US" dirty="0"/>
              <a:t>在自然语言处理中，一个句子由多个 </a:t>
            </a:r>
            <a:r>
              <a:rPr lang="en-US" altLang="zh-CN" dirty="0"/>
              <a:t>token</a:t>
            </a:r>
            <a:r>
              <a:rPr lang="zh-CN" altLang="en-US" dirty="0"/>
              <a:t>（单词或子词）组成，这些 </a:t>
            </a:r>
            <a:r>
              <a:rPr lang="en-US" altLang="zh-CN" dirty="0"/>
              <a:t>token </a:t>
            </a:r>
            <a:r>
              <a:rPr lang="zh-CN" altLang="en-US" dirty="0"/>
              <a:t>之间存在语义联系和上下文关系。为了更好地理解句子含义，模型需要捕捉到这些 </a:t>
            </a:r>
            <a:r>
              <a:rPr lang="en-US" altLang="zh-CN" dirty="0"/>
              <a:t>token </a:t>
            </a:r>
            <a:r>
              <a:rPr lang="zh-CN" altLang="en-US" dirty="0"/>
              <a:t>之间的相互影响和联系。</a:t>
            </a:r>
          </a:p>
          <a:p>
            <a:r>
              <a:rPr lang="zh-CN" altLang="en-US" b="1" dirty="0"/>
              <a:t>输入嵌入与权重矩阵变换</a:t>
            </a:r>
            <a:br>
              <a:rPr lang="zh-CN" altLang="en-US" dirty="0"/>
            </a:br>
            <a:r>
              <a:rPr lang="zh-CN" altLang="en-US" dirty="0"/>
              <a:t>每个 </a:t>
            </a:r>
            <a:r>
              <a:rPr lang="en-US" altLang="zh-CN" dirty="0"/>
              <a:t>token </a:t>
            </a:r>
            <a:r>
              <a:rPr lang="zh-CN" altLang="en-US" dirty="0"/>
              <a:t>都会被转换成一个向量（即嵌入表示）。接下来，模型会使用三个不同的权重矩阵分别对这些嵌入进行线性变换，得到三个新的向量集合：</a:t>
            </a:r>
          </a:p>
          <a:p>
            <a:pPr>
              <a:buFont typeface="Arial" panose="020B0604020202020204" pitchFamily="34" charset="0"/>
              <a:buChar char="•"/>
            </a:pPr>
            <a:r>
              <a:rPr lang="zh-CN" altLang="en-US" b="1" dirty="0"/>
              <a:t>查询（</a:t>
            </a:r>
            <a:r>
              <a:rPr lang="en-US" altLang="zh-CN" b="1" dirty="0"/>
              <a:t>Query, Q</a:t>
            </a:r>
            <a:r>
              <a:rPr lang="zh-CN" altLang="en-US" b="1" dirty="0"/>
              <a:t>）</a:t>
            </a:r>
            <a:r>
              <a:rPr lang="zh-CN" altLang="en-US" dirty="0"/>
              <a:t>：代表当前 </a:t>
            </a:r>
            <a:r>
              <a:rPr lang="en-US" altLang="zh-CN" dirty="0"/>
              <a:t>token </a:t>
            </a:r>
            <a:r>
              <a:rPr lang="zh-CN" altLang="en-US" dirty="0"/>
              <a:t>想要“查询”其它 </a:t>
            </a:r>
            <a:r>
              <a:rPr lang="en-US" altLang="zh-CN" dirty="0"/>
              <a:t>token </a:t>
            </a:r>
            <a:r>
              <a:rPr lang="zh-CN" altLang="en-US" dirty="0"/>
              <a:t>中哪些信息对它有用。</a:t>
            </a:r>
          </a:p>
          <a:p>
            <a:pPr>
              <a:buFont typeface="Arial" panose="020B0604020202020204" pitchFamily="34" charset="0"/>
              <a:buChar char="•"/>
            </a:pPr>
            <a:r>
              <a:rPr lang="zh-CN" altLang="en-US" b="1" dirty="0"/>
              <a:t>键（</a:t>
            </a:r>
            <a:r>
              <a:rPr lang="en-US" altLang="zh-CN" b="1" dirty="0"/>
              <a:t>Key, K</a:t>
            </a:r>
            <a:r>
              <a:rPr lang="zh-CN" altLang="en-US" b="1" dirty="0"/>
              <a:t>）</a:t>
            </a:r>
            <a:r>
              <a:rPr lang="zh-CN" altLang="en-US" dirty="0"/>
              <a:t>：代表每个 </a:t>
            </a:r>
            <a:r>
              <a:rPr lang="en-US" altLang="zh-CN" dirty="0"/>
              <a:t>token “</a:t>
            </a:r>
            <a:r>
              <a:rPr lang="zh-CN" altLang="en-US" dirty="0"/>
              <a:t>携带”的信息，供其它 </a:t>
            </a:r>
            <a:r>
              <a:rPr lang="en-US" altLang="zh-CN" dirty="0"/>
              <a:t>token </a:t>
            </a:r>
            <a:r>
              <a:rPr lang="zh-CN" altLang="en-US" dirty="0"/>
              <a:t>查询使用。</a:t>
            </a:r>
          </a:p>
          <a:p>
            <a:pPr>
              <a:buFont typeface="Arial" panose="020B0604020202020204" pitchFamily="34" charset="0"/>
              <a:buChar char="•"/>
            </a:pPr>
            <a:r>
              <a:rPr lang="zh-CN" altLang="en-US" b="1" dirty="0"/>
              <a:t>值（</a:t>
            </a:r>
            <a:r>
              <a:rPr lang="en-US" altLang="zh-CN" b="1" dirty="0"/>
              <a:t>Value, V</a:t>
            </a:r>
            <a:r>
              <a:rPr lang="zh-CN" altLang="en-US" b="1" dirty="0"/>
              <a:t>）</a:t>
            </a:r>
            <a:r>
              <a:rPr lang="zh-CN" altLang="en-US" dirty="0"/>
              <a:t>：代表 </a:t>
            </a:r>
            <a:r>
              <a:rPr lang="en-US" altLang="zh-CN" dirty="0"/>
              <a:t>token </a:t>
            </a:r>
            <a:r>
              <a:rPr lang="zh-CN" altLang="en-US" dirty="0"/>
              <a:t>实际的内容，当查询到与其对应的信息时，最终会用这个值来构造输出。</a:t>
            </a:r>
          </a:p>
          <a:p>
            <a:r>
              <a:rPr lang="zh-CN" altLang="en-US" dirty="0"/>
              <a:t>这样做的目的在于，通过不同的变换，可以让模型在计算时更加灵活地捕捉 </a:t>
            </a:r>
            <a:r>
              <a:rPr lang="en-US" altLang="zh-CN" dirty="0"/>
              <a:t>token </a:t>
            </a:r>
            <a:r>
              <a:rPr lang="zh-CN" altLang="en-US" dirty="0"/>
              <a:t>之间的依赖关系。</a:t>
            </a:r>
          </a:p>
          <a:p>
            <a:r>
              <a:rPr lang="zh-CN" altLang="en-US" b="1" dirty="0"/>
              <a:t>计算注意力分数</a:t>
            </a:r>
            <a:br>
              <a:rPr lang="zh-CN" altLang="en-US" dirty="0"/>
            </a:br>
            <a:r>
              <a:rPr lang="zh-CN" altLang="en-US" dirty="0"/>
              <a:t>通过将查询向量与所有 </a:t>
            </a:r>
            <a:r>
              <a:rPr lang="en-US" altLang="zh-CN" dirty="0"/>
              <a:t>token </a:t>
            </a:r>
            <a:r>
              <a:rPr lang="zh-CN" altLang="en-US" dirty="0"/>
              <a:t>的键向量做点积计算（即内积），模型可以衡量每个 </a:t>
            </a:r>
            <a:r>
              <a:rPr lang="en-US" altLang="zh-CN" dirty="0"/>
              <a:t>token </a:t>
            </a:r>
            <a:r>
              <a:rPr lang="zh-CN" altLang="en-US" dirty="0"/>
              <a:t>对当前 </a:t>
            </a:r>
            <a:r>
              <a:rPr lang="en-US" altLang="zh-CN" dirty="0"/>
              <a:t>token </a:t>
            </a:r>
            <a:r>
              <a:rPr lang="zh-CN" altLang="en-US" dirty="0"/>
              <a:t>的重要性。点积的结果表示了两个向量之间的相似度：</a:t>
            </a:r>
          </a:p>
          <a:p>
            <a:pPr>
              <a:buFont typeface="Arial" panose="020B0604020202020204" pitchFamily="34" charset="0"/>
              <a:buChar char="•"/>
            </a:pPr>
            <a:r>
              <a:rPr lang="zh-CN" altLang="en-US" dirty="0"/>
              <a:t>如果两个向量相似（即方向接近），它们的点积会比较大，说明这个 </a:t>
            </a:r>
            <a:r>
              <a:rPr lang="en-US" altLang="zh-CN" dirty="0"/>
              <a:t>token </a:t>
            </a:r>
            <a:r>
              <a:rPr lang="zh-CN" altLang="en-US" dirty="0"/>
              <a:t>对当前 </a:t>
            </a:r>
            <a:r>
              <a:rPr lang="en-US" altLang="zh-CN" dirty="0"/>
              <a:t>token </a:t>
            </a:r>
            <a:r>
              <a:rPr lang="zh-CN" altLang="en-US" dirty="0"/>
              <a:t>很重要。</a:t>
            </a:r>
          </a:p>
          <a:p>
            <a:pPr>
              <a:buFont typeface="Arial" panose="020B0604020202020204" pitchFamily="34" charset="0"/>
              <a:buChar char="•"/>
            </a:pPr>
            <a:r>
              <a:rPr lang="zh-CN" altLang="en-US" dirty="0"/>
              <a:t>如果两个向量相差很大，点积则会很小，表示相关性低。</a:t>
            </a:r>
          </a:p>
          <a:p>
            <a:r>
              <a:rPr lang="en-US" altLang="zh-CN" b="1" dirty="0" err="1"/>
              <a:t>Softmax</a:t>
            </a:r>
            <a:r>
              <a:rPr lang="en-US" altLang="zh-CN" b="1" dirty="0"/>
              <a:t> </a:t>
            </a:r>
            <a:r>
              <a:rPr lang="zh-CN" altLang="en-US" b="1" dirty="0"/>
              <a:t>标准化</a:t>
            </a:r>
            <a:br>
              <a:rPr lang="zh-CN" altLang="en-US" dirty="0"/>
            </a:br>
            <a:r>
              <a:rPr lang="zh-CN" altLang="en-US" dirty="0"/>
              <a:t>得到的注意力分数经过 </a:t>
            </a:r>
            <a:r>
              <a:rPr lang="en-US" altLang="zh-CN" dirty="0" err="1"/>
              <a:t>softmax</a:t>
            </a:r>
            <a:r>
              <a:rPr lang="en-US" altLang="zh-CN" dirty="0"/>
              <a:t> </a:t>
            </a:r>
            <a:r>
              <a:rPr lang="zh-CN" altLang="en-US" dirty="0"/>
              <a:t>函数处理，转换成一个概率分布。这样，每个分数就变成了一个权重，反映了其它 </a:t>
            </a:r>
            <a:r>
              <a:rPr lang="en-US" altLang="zh-CN" dirty="0"/>
              <a:t>token </a:t>
            </a:r>
            <a:r>
              <a:rPr lang="zh-CN" altLang="en-US" dirty="0"/>
              <a:t>对当前 </a:t>
            </a:r>
            <a:r>
              <a:rPr lang="en-US" altLang="zh-CN" dirty="0"/>
              <a:t>token </a:t>
            </a:r>
            <a:r>
              <a:rPr lang="zh-CN" altLang="en-US" dirty="0"/>
              <a:t>的影响程度。这一步可以确保所有权重的和为 </a:t>
            </a:r>
            <a:r>
              <a:rPr lang="en-US" altLang="zh-CN" dirty="0"/>
              <a:t>1</a:t>
            </a:r>
            <a:r>
              <a:rPr lang="zh-CN" altLang="en-US" dirty="0"/>
              <a:t>，使得后续加权求和时能得到一个平衡的结果。</a:t>
            </a:r>
          </a:p>
          <a:p>
            <a:r>
              <a:rPr lang="zh-CN" altLang="en-US" b="1" dirty="0"/>
              <a:t>加权求和得到输出</a:t>
            </a:r>
            <a:br>
              <a:rPr lang="zh-CN" altLang="en-US" dirty="0"/>
            </a:br>
            <a:r>
              <a:rPr lang="zh-CN" altLang="en-US" dirty="0"/>
              <a:t>最后，模型会利用这些权重对所有 </a:t>
            </a:r>
            <a:r>
              <a:rPr lang="en-US" altLang="zh-CN" dirty="0"/>
              <a:t>token </a:t>
            </a:r>
            <a:r>
              <a:rPr lang="zh-CN" altLang="en-US" dirty="0"/>
              <a:t>的值（</a:t>
            </a:r>
            <a:r>
              <a:rPr lang="en-US" altLang="zh-CN" dirty="0"/>
              <a:t>V</a:t>
            </a:r>
            <a:r>
              <a:rPr lang="zh-CN" altLang="en-US" dirty="0"/>
              <a:t>）进行加权求和。这个过程实际上是在“聚合”其它 </a:t>
            </a:r>
            <a:r>
              <a:rPr lang="en-US" altLang="zh-CN" dirty="0"/>
              <a:t>token </a:t>
            </a:r>
            <a:r>
              <a:rPr lang="zh-CN" altLang="en-US" dirty="0"/>
              <a:t>的信息，形成一个综合的表示，从而反映了当前 </a:t>
            </a:r>
            <a:r>
              <a:rPr lang="en-US" altLang="zh-CN" dirty="0"/>
              <a:t>token </a:t>
            </a:r>
            <a:r>
              <a:rPr lang="zh-CN" altLang="en-US" dirty="0"/>
              <a:t>与整个序列之间的关系。最终的输出不仅包含了当前 </a:t>
            </a:r>
            <a:r>
              <a:rPr lang="en-US" altLang="zh-CN" dirty="0"/>
              <a:t>token </a:t>
            </a:r>
            <a:r>
              <a:rPr lang="zh-CN" altLang="en-US" dirty="0"/>
              <a:t>的信息，还融入了其它 </a:t>
            </a:r>
            <a:r>
              <a:rPr lang="en-US" altLang="zh-CN" dirty="0"/>
              <a:t>token </a:t>
            </a:r>
            <a:r>
              <a:rPr lang="zh-CN" altLang="en-US" dirty="0"/>
              <a:t>的上下文信息。</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FFN</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多头注意力机制的输出通常会经过残差连接和层归一化后，再传递给前馈神经网络（</a:t>
            </a:r>
            <a:r>
              <a:rPr lang="en-US" altLang="zh-CN" b="1" dirty="0"/>
              <a:t>FFN</a:t>
            </a:r>
            <a:r>
              <a:rPr lang="zh-CN" altLang="en-US" b="1" dirty="0"/>
              <a:t>）。前馈神经网络进一步处理这些融合了上下文信息的表示，通过两个全连接层和非线性激活函数，将特征进行转换，从而提取更高层次、更抽象的语义信息。这一过程有助于模型捕捉更复杂的模式，并为后续层提供更优质的输入。</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01718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量化</a:t>
            </a:r>
            <a:endParaRPr lang="zh-CN" altLang="en-US" dirty="0"/>
          </a:p>
          <a:p>
            <a:pPr>
              <a:buFont typeface="Arial" panose="020B0604020202020204" pitchFamily="34" charset="0"/>
              <a:buChar char="•"/>
            </a:pPr>
            <a:r>
              <a:rPr lang="zh-CN" altLang="en-US" b="1" dirty="0"/>
              <a:t>量化的概念</a:t>
            </a:r>
            <a:r>
              <a:rPr lang="zh-CN" altLang="en-US" dirty="0"/>
              <a:t>：量化方法将传统的 </a:t>
            </a:r>
            <a:r>
              <a:rPr lang="en-US" altLang="zh-CN" dirty="0"/>
              <a:t>16 </a:t>
            </a:r>
            <a:r>
              <a:rPr lang="zh-CN" altLang="en-US" dirty="0"/>
              <a:t>位浮点参数和激活值转换为低比特（如 </a:t>
            </a:r>
            <a:r>
              <a:rPr lang="en-US" altLang="zh-CN" dirty="0"/>
              <a:t>8 </a:t>
            </a:r>
            <a:r>
              <a:rPr lang="zh-CN" altLang="en-US" dirty="0"/>
              <a:t>位、甚至更低）的整数表示。</a:t>
            </a:r>
          </a:p>
          <a:p>
            <a:pPr>
              <a:buFont typeface="Arial" panose="020B0604020202020204" pitchFamily="34" charset="0"/>
              <a:buChar char="•"/>
            </a:pPr>
            <a:r>
              <a:rPr lang="zh-CN" altLang="en-US" b="1" dirty="0"/>
              <a:t>优势</a:t>
            </a:r>
            <a:r>
              <a:rPr lang="zh-CN" altLang="en-US" dirty="0"/>
              <a:t>：低比特表示的数据体积更小，不仅可以减少存储需求，还能降低数据传输和计算时的能耗，从而提升推理速度。</a:t>
            </a:r>
          </a:p>
          <a:p>
            <a:pPr>
              <a:buFont typeface="Arial" panose="020B0604020202020204" pitchFamily="34" charset="0"/>
              <a:buChar char="•"/>
            </a:pPr>
            <a:r>
              <a:rPr lang="zh-CN" altLang="en-US" b="1" dirty="0"/>
              <a:t>引用</a:t>
            </a:r>
            <a:r>
              <a:rPr lang="zh-CN" altLang="en-US" dirty="0"/>
              <a:t>：文中引用了多个文献（</a:t>
            </a:r>
            <a:r>
              <a:rPr lang="en-US" altLang="zh-CN" dirty="0"/>
              <a:t>[15, 20, 33, 49, 52]</a:t>
            </a:r>
            <a:r>
              <a:rPr lang="zh-CN" altLang="en-US" dirty="0"/>
              <a:t>）来说明量化在提升推理效率方面的有效性。</a:t>
            </a:r>
          </a:p>
          <a:p>
            <a:pPr>
              <a:buFont typeface="+mj-lt"/>
              <a:buAutoNum type="arabicPeriod"/>
            </a:pPr>
            <a:r>
              <a:rPr lang="zh-CN" altLang="en-US" b="1" dirty="0"/>
              <a:t>稀疏注意力和权重剪枝</a:t>
            </a:r>
            <a:endParaRPr lang="zh-CN" altLang="en-US" dirty="0"/>
          </a:p>
          <a:p>
            <a:pPr marL="742950" lvl="1" indent="-285750">
              <a:buFont typeface="+mj-lt"/>
              <a:buAutoNum type="arabicPeriod"/>
            </a:pPr>
            <a:r>
              <a:rPr lang="zh-CN" altLang="en-US" b="1" dirty="0"/>
              <a:t>稀疏注意力</a:t>
            </a:r>
            <a:r>
              <a:rPr lang="zh-CN" altLang="en-US" dirty="0"/>
              <a:t>：这类方法通过设计稀疏化的注意力矩阵，选择性地计算矩阵中的部分元素，而不是计算全部元素。例如，可以只计算与当前 </a:t>
            </a:r>
            <a:r>
              <a:rPr lang="en-US" altLang="zh-CN" dirty="0"/>
              <a:t>token </a:t>
            </a:r>
            <a:r>
              <a:rPr lang="zh-CN" altLang="en-US" dirty="0"/>
              <a:t>相关的局部区域或对角线区域，从而减少计算量。</a:t>
            </a:r>
          </a:p>
          <a:p>
            <a:pPr marL="742950" lvl="1" indent="-285750">
              <a:buFont typeface="+mj-lt"/>
              <a:buAutoNum type="arabicPeriod"/>
            </a:pPr>
            <a:r>
              <a:rPr lang="zh-CN" altLang="en-US" b="1" dirty="0"/>
              <a:t>权重剪枝</a:t>
            </a:r>
            <a:r>
              <a:rPr lang="zh-CN" altLang="en-US" dirty="0"/>
              <a:t>：权重剪枝则是在训练或推理过程中，去除一些被认为不重要的权重（参数），从而使得权重矩阵变得稀疏，减少计算量。</a:t>
            </a:r>
          </a:p>
          <a:p>
            <a:pPr marL="742950" lvl="1" indent="-285750">
              <a:buFont typeface="+mj-lt"/>
              <a:buAutoNum type="arabicPeriod"/>
            </a:pPr>
            <a:r>
              <a:rPr lang="zh-CN" altLang="en-US" b="1" dirty="0"/>
              <a:t>引用</a:t>
            </a:r>
            <a:r>
              <a:rPr lang="zh-CN" altLang="en-US" dirty="0"/>
              <a:t>：文中通过 </a:t>
            </a:r>
            <a:r>
              <a:rPr lang="en-US" altLang="zh-CN" dirty="0"/>
              <a:t>[4, 8, 9, 45, 53] </a:t>
            </a:r>
            <a:r>
              <a:rPr lang="zh-CN" altLang="en-US" dirty="0"/>
              <a:t>提到了稀疏注意力的方法，通过 </a:t>
            </a:r>
            <a:r>
              <a:rPr lang="en-US" altLang="zh-CN" dirty="0"/>
              <a:t>[19, 30] </a:t>
            </a:r>
            <a:r>
              <a:rPr lang="zh-CN" altLang="en-US" dirty="0"/>
              <a:t>提到了权重剪枝的方法。</a:t>
            </a:r>
            <a:endParaRPr lang="en-US" altLang="zh-CN" dirty="0"/>
          </a:p>
          <a:p>
            <a:pPr marL="457200" lvl="1" indent="0">
              <a:buFont typeface="+mj-lt"/>
              <a:buNone/>
            </a:pPr>
            <a:endParaRPr lang="en-US" altLang="zh-CN" dirty="0"/>
          </a:p>
          <a:p>
            <a:r>
              <a:rPr lang="en-US" altLang="zh-CN" dirty="0"/>
              <a:t>Sparse attention</a:t>
            </a:r>
            <a:r>
              <a:rPr lang="zh-CN" altLang="en-US" dirty="0"/>
              <a:t>（稀疏注意力）是一种优化 </a:t>
            </a:r>
            <a:r>
              <a:rPr lang="en-US" altLang="zh-CN" dirty="0"/>
              <a:t>Transformer </a:t>
            </a:r>
            <a:r>
              <a:rPr lang="zh-CN" altLang="en-US" dirty="0"/>
              <a:t>自注意力机制的方法，旨在降低计算复杂度和内存消耗。传统自注意力机制需要计算整个 </a:t>
            </a:r>
            <a:r>
              <a:rPr lang="en-US" altLang="zh-CN" dirty="0"/>
              <a:t>N×NN \times NN×N </a:t>
            </a:r>
            <a:r>
              <a:rPr lang="zh-CN" altLang="en-US" dirty="0"/>
              <a:t>的注意力矩阵，其中 </a:t>
            </a:r>
            <a:r>
              <a:rPr lang="en-US" altLang="zh-CN" dirty="0"/>
              <a:t>NNN </a:t>
            </a:r>
            <a:r>
              <a:rPr lang="zh-CN" altLang="en-US" dirty="0"/>
              <a:t>是输入序列的长度，这在长序列上计算量和存储需求非常高。</a:t>
            </a:r>
            <a:r>
              <a:rPr lang="en-US" altLang="zh-CN" dirty="0"/>
              <a:t>Sparse attention </a:t>
            </a:r>
            <a:r>
              <a:rPr lang="zh-CN" altLang="en-US" dirty="0"/>
              <a:t>通过仅计算注意力矩阵中部分元素，从而减少了计算量和内存开销。下面详细解释其主要内容和实现方式：</a:t>
            </a:r>
          </a:p>
          <a:p>
            <a:pPr>
              <a:buFont typeface="+mj-lt"/>
              <a:buAutoNum type="arabicPeriod"/>
            </a:pPr>
            <a:r>
              <a:rPr lang="zh-CN" altLang="en-US" b="1" dirty="0"/>
              <a:t>基本思想</a:t>
            </a:r>
            <a:endParaRPr lang="zh-CN" altLang="en-US" dirty="0"/>
          </a:p>
          <a:p>
            <a:pPr marL="742950" lvl="1" indent="-285750">
              <a:buFont typeface="+mj-lt"/>
              <a:buAutoNum type="arabicPeriod"/>
            </a:pPr>
            <a:r>
              <a:rPr lang="zh-CN" altLang="en-US" b="1" dirty="0"/>
              <a:t>全注意力的代价</a:t>
            </a:r>
            <a:r>
              <a:rPr lang="zh-CN" altLang="en-US" dirty="0"/>
              <a:t>：在标准自注意力中，每个 </a:t>
            </a:r>
            <a:r>
              <a:rPr lang="en-US" altLang="zh-CN" dirty="0"/>
              <a:t>token </a:t>
            </a:r>
            <a:r>
              <a:rPr lang="zh-CN" altLang="en-US" dirty="0"/>
              <a:t>都与所有 </a:t>
            </a:r>
            <a:r>
              <a:rPr lang="en-US" altLang="zh-CN" dirty="0"/>
              <a:t>token </a:t>
            </a:r>
            <a:r>
              <a:rPr lang="zh-CN" altLang="en-US" dirty="0"/>
              <a:t>进行交互，计算所有可能的相似度（点积），生成一个完整的注意力矩阵。这种计算复杂度为 </a:t>
            </a:r>
            <a:r>
              <a:rPr lang="en-US" altLang="zh-CN" dirty="0"/>
              <a:t>O(N2)O(N^2)O(N2)</a:t>
            </a:r>
            <a:r>
              <a:rPr lang="zh-CN" altLang="en-US" dirty="0"/>
              <a:t>。</a:t>
            </a:r>
          </a:p>
          <a:p>
            <a:pPr marL="742950" lvl="1" indent="-285750">
              <a:buFont typeface="+mj-lt"/>
              <a:buAutoNum type="arabicPeriod"/>
            </a:pPr>
            <a:r>
              <a:rPr lang="zh-CN" altLang="en-US" b="1" dirty="0"/>
              <a:t>稀疏策略</a:t>
            </a:r>
            <a:r>
              <a:rPr lang="zh-CN" altLang="en-US" dirty="0"/>
              <a:t>：稀疏注意力不计算全部 </a:t>
            </a:r>
            <a:r>
              <a:rPr lang="en-US" altLang="zh-CN" dirty="0"/>
              <a:t>N×NN \times NN×N </a:t>
            </a:r>
            <a:r>
              <a:rPr lang="zh-CN" altLang="en-US" dirty="0"/>
              <a:t>的相似度，而是预先设计或动态选择一个稀疏模式，只计算某些特定位置的注意力得分。这样可以将计算复杂度从 </a:t>
            </a:r>
            <a:r>
              <a:rPr lang="en-US" altLang="zh-CN" dirty="0"/>
              <a:t>O(N2)O(N^2)O(N2) </a:t>
            </a:r>
            <a:r>
              <a:rPr lang="zh-CN" altLang="en-US" dirty="0"/>
              <a:t>降低到更低的级别。</a:t>
            </a:r>
          </a:p>
          <a:p>
            <a:pPr>
              <a:buFont typeface="+mj-lt"/>
              <a:buAutoNum type="arabicPeriod"/>
            </a:pPr>
            <a:r>
              <a:rPr lang="zh-CN" altLang="en-US" b="1" dirty="0"/>
              <a:t>常见的稀疏模式</a:t>
            </a:r>
            <a:br>
              <a:rPr lang="zh-CN" altLang="en-US" dirty="0"/>
            </a:br>
            <a:r>
              <a:rPr lang="zh-CN" altLang="en-US" dirty="0"/>
              <a:t>稀疏注意力可以通过多种方式实现，常见的有：</a:t>
            </a:r>
          </a:p>
          <a:p>
            <a:pPr marL="742950" lvl="1" indent="-285750">
              <a:buFont typeface="+mj-lt"/>
              <a:buAutoNum type="arabicPeriod"/>
            </a:pPr>
            <a:r>
              <a:rPr lang="zh-CN" altLang="en-US" b="1" dirty="0"/>
              <a:t>局部注意力（</a:t>
            </a:r>
            <a:r>
              <a:rPr lang="en-US" altLang="zh-CN" b="1" dirty="0"/>
              <a:t>Local Attention</a:t>
            </a:r>
            <a:r>
              <a:rPr lang="zh-CN" altLang="en-US" b="1" dirty="0"/>
              <a:t>）</a:t>
            </a:r>
            <a:r>
              <a:rPr lang="zh-CN" altLang="en-US" dirty="0"/>
              <a:t>：每个 </a:t>
            </a:r>
            <a:r>
              <a:rPr lang="en-US" altLang="zh-CN" dirty="0"/>
              <a:t>token </a:t>
            </a:r>
            <a:r>
              <a:rPr lang="zh-CN" altLang="en-US" dirty="0"/>
              <a:t>只关注其附近的邻居。例如，只计算与前后 </a:t>
            </a:r>
            <a:r>
              <a:rPr lang="en-US" altLang="zh-CN" dirty="0" err="1"/>
              <a:t>kkk</a:t>
            </a:r>
            <a:r>
              <a:rPr lang="en-US" altLang="zh-CN" dirty="0"/>
              <a:t> </a:t>
            </a:r>
            <a:r>
              <a:rPr lang="zh-CN" altLang="en-US" dirty="0"/>
              <a:t>个 </a:t>
            </a:r>
            <a:r>
              <a:rPr lang="en-US" altLang="zh-CN" dirty="0"/>
              <a:t>token </a:t>
            </a:r>
            <a:r>
              <a:rPr lang="zh-CN" altLang="en-US" dirty="0"/>
              <a:t>之间的相似度。这种方法适用于捕捉局部上下文信息，适合语言中局部依赖较强的场景。</a:t>
            </a:r>
          </a:p>
          <a:p>
            <a:pPr marL="742950" lvl="1" indent="-285750">
              <a:buFont typeface="+mj-lt"/>
              <a:buAutoNum type="arabicPeriod"/>
            </a:pPr>
            <a:r>
              <a:rPr lang="zh-CN" altLang="en-US" b="1" dirty="0"/>
              <a:t>块状稀疏（</a:t>
            </a:r>
            <a:r>
              <a:rPr lang="en-US" altLang="zh-CN" b="1" dirty="0"/>
              <a:t>Block Sparse</a:t>
            </a:r>
            <a:r>
              <a:rPr lang="zh-CN" altLang="en-US" b="1" dirty="0"/>
              <a:t>）</a:t>
            </a:r>
            <a:r>
              <a:rPr lang="zh-CN" altLang="en-US" dirty="0"/>
              <a:t>：将输入序列划分为若干块，每个块内部或者相邻块之间计算注意力，而忽略远距离的块之间的交互。</a:t>
            </a:r>
          </a:p>
          <a:p>
            <a:pPr marL="742950" lvl="1" indent="-285750">
              <a:buFont typeface="+mj-lt"/>
              <a:buAutoNum type="arabicPeriod"/>
            </a:pPr>
            <a:r>
              <a:rPr lang="en-US" altLang="zh-CN" b="1" dirty="0"/>
              <a:t>N:M </a:t>
            </a:r>
            <a:r>
              <a:rPr lang="zh-CN" altLang="en-US" b="1" dirty="0"/>
              <a:t>稀疏模式</a:t>
            </a:r>
            <a:r>
              <a:rPr lang="zh-CN" altLang="en-US" dirty="0"/>
              <a:t>：在一个固定大小的矩阵块中，只保留其中 </a:t>
            </a:r>
            <a:r>
              <a:rPr lang="en-US" altLang="zh-CN" dirty="0"/>
              <a:t>NNN </a:t>
            </a:r>
            <a:r>
              <a:rPr lang="zh-CN" altLang="en-US" dirty="0"/>
              <a:t>个重要的非零值，其余置零，这种模式在硬件实现上具有一定的规律性，便于加速器高效执行。</a:t>
            </a:r>
          </a:p>
          <a:p>
            <a:pPr marL="742950" lvl="1" indent="-285750">
              <a:buFont typeface="+mj-lt"/>
              <a:buAutoNum type="arabicPeriod"/>
            </a:pPr>
            <a:r>
              <a:rPr lang="zh-CN" altLang="en-US" b="1" dirty="0"/>
              <a:t>全局</a:t>
            </a:r>
            <a:r>
              <a:rPr lang="en-US" altLang="zh-CN" b="1" dirty="0"/>
              <a:t>+</a:t>
            </a:r>
            <a:r>
              <a:rPr lang="zh-CN" altLang="en-US" b="1" dirty="0"/>
              <a:t>局部混合注意力</a:t>
            </a:r>
            <a:r>
              <a:rPr lang="zh-CN" altLang="en-US" dirty="0"/>
              <a:t>：例如 </a:t>
            </a:r>
            <a:r>
              <a:rPr lang="en-US" altLang="zh-CN" dirty="0" err="1"/>
              <a:t>Longformer</a:t>
            </a:r>
            <a:r>
              <a:rPr lang="en-US" altLang="zh-CN" dirty="0"/>
              <a:t> </a:t>
            </a:r>
            <a:r>
              <a:rPr lang="zh-CN" altLang="en-US" dirty="0"/>
              <a:t>模型中，部分 </a:t>
            </a:r>
            <a:r>
              <a:rPr lang="en-US" altLang="zh-CN" dirty="0"/>
              <a:t>token </a:t>
            </a:r>
            <a:r>
              <a:rPr lang="zh-CN" altLang="en-US" dirty="0"/>
              <a:t>具有全局注意力（能够关注整个序列），而其他 </a:t>
            </a:r>
            <a:r>
              <a:rPr lang="en-US" altLang="zh-CN" dirty="0"/>
              <a:t>token </a:t>
            </a:r>
            <a:r>
              <a:rPr lang="zh-CN" altLang="en-US" dirty="0"/>
              <a:t>则采用局部注意力，这种方式可以兼顾长距离依赖和计算效率。</a:t>
            </a:r>
          </a:p>
          <a:p>
            <a:pPr>
              <a:buFont typeface="+mj-lt"/>
              <a:buAutoNum type="arabicPeriod"/>
            </a:pPr>
            <a:r>
              <a:rPr lang="zh-CN" altLang="en-US" b="1" dirty="0"/>
              <a:t>实现与优势</a:t>
            </a:r>
            <a:endParaRPr lang="zh-CN" altLang="en-US" dirty="0"/>
          </a:p>
          <a:p>
            <a:pPr marL="742950" lvl="1" indent="-285750">
              <a:buFont typeface="+mj-lt"/>
              <a:buAutoNum type="arabicPeriod"/>
            </a:pPr>
            <a:r>
              <a:rPr lang="zh-CN" altLang="en-US" b="1" dirty="0"/>
              <a:t>计算效率提升</a:t>
            </a:r>
            <a:r>
              <a:rPr lang="zh-CN" altLang="en-US" dirty="0"/>
              <a:t>：通过只计算部分注意力得分，稀疏注意力显著减少了乘法操作的数量，使得在处理长序列时计算量从 </a:t>
            </a:r>
            <a:r>
              <a:rPr lang="en-US" altLang="zh-CN" dirty="0"/>
              <a:t>O(N2)O(N^2)O(N2) </a:t>
            </a:r>
            <a:r>
              <a:rPr lang="zh-CN" altLang="en-US" dirty="0"/>
              <a:t>降低到 </a:t>
            </a:r>
            <a:r>
              <a:rPr lang="en-US" altLang="zh-CN" dirty="0"/>
              <a:t>O(N)O(N)O(N) </a:t>
            </a:r>
            <a:r>
              <a:rPr lang="zh-CN" altLang="en-US" dirty="0"/>
              <a:t>或 </a:t>
            </a:r>
            <a:r>
              <a:rPr lang="en-US" altLang="zh-CN" dirty="0"/>
              <a:t>O(</a:t>
            </a:r>
            <a:r>
              <a:rPr lang="en-US" altLang="zh-CN" dirty="0" err="1"/>
              <a:t>Nlog⁡N</a:t>
            </a:r>
            <a:r>
              <a:rPr lang="en-US" altLang="zh-CN" dirty="0"/>
              <a:t>)O(N \log N)O(</a:t>
            </a:r>
            <a:r>
              <a:rPr lang="en-US" altLang="zh-CN" dirty="0" err="1"/>
              <a:t>NlogN</a:t>
            </a:r>
            <a:r>
              <a:rPr lang="en-US" altLang="zh-CN" dirty="0"/>
              <a:t>)</a:t>
            </a:r>
            <a:r>
              <a:rPr lang="zh-CN" altLang="en-US" dirty="0"/>
              <a:t>（具体取决于稀疏模式）。</a:t>
            </a:r>
          </a:p>
          <a:p>
            <a:pPr marL="742950" lvl="1" indent="-285750">
              <a:buFont typeface="+mj-lt"/>
              <a:buAutoNum type="arabicPeriod"/>
            </a:pPr>
            <a:r>
              <a:rPr lang="zh-CN" altLang="en-US" b="1" dirty="0"/>
              <a:t>内存消耗降低</a:t>
            </a:r>
            <a:r>
              <a:rPr lang="zh-CN" altLang="en-US" dirty="0"/>
              <a:t>：只存储和处理稀疏矩阵中非零元素，节省了内存带宽和存储资源，有利于在资源受限的硬件（如 </a:t>
            </a:r>
            <a:r>
              <a:rPr lang="en-US" altLang="zh-CN" dirty="0"/>
              <a:t>FPGA </a:t>
            </a:r>
            <a:r>
              <a:rPr lang="zh-CN" altLang="en-US" dirty="0"/>
              <a:t>或嵌入式设备）上部署大型模型。</a:t>
            </a:r>
          </a:p>
          <a:p>
            <a:pPr marL="742950" lvl="1" indent="-285750">
              <a:buFont typeface="+mj-lt"/>
              <a:buAutoNum type="arabicPeriod"/>
            </a:pPr>
            <a:r>
              <a:rPr lang="zh-CN" altLang="en-US" b="1" dirty="0"/>
              <a:t>灵活性和适应性</a:t>
            </a:r>
            <a:r>
              <a:rPr lang="zh-CN" altLang="en-US" dirty="0"/>
              <a:t>：不同任务和模型可能对全局信息和局部信息的需求不同，稀疏注意力可以根据具体需求设计相应的稀疏模式，从而在效率和准确性之间取得平衡。</a:t>
            </a:r>
          </a:p>
          <a:p>
            <a:pPr>
              <a:buFont typeface="+mj-lt"/>
              <a:buAutoNum type="arabicPeriod"/>
            </a:pPr>
            <a:r>
              <a:rPr lang="zh-CN" altLang="en-US" b="1" dirty="0"/>
              <a:t>挑战与权衡</a:t>
            </a:r>
            <a:endParaRPr lang="zh-CN" altLang="en-US" dirty="0"/>
          </a:p>
          <a:p>
            <a:pPr marL="742950" lvl="1" indent="-285750">
              <a:buFont typeface="+mj-lt"/>
              <a:buAutoNum type="arabicPeriod"/>
            </a:pPr>
            <a:r>
              <a:rPr lang="zh-CN" altLang="en-US" b="1" dirty="0"/>
              <a:t>信息损失风险</a:t>
            </a:r>
            <a:r>
              <a:rPr lang="zh-CN" altLang="en-US" dirty="0"/>
              <a:t>：如果设计不当，过于激进的稀疏策略可能会忽略重要的上下文信息，从而影响模型性能。</a:t>
            </a:r>
          </a:p>
          <a:p>
            <a:pPr marL="742950" lvl="1" indent="-285750">
              <a:buFont typeface="+mj-lt"/>
              <a:buAutoNum type="arabicPeriod"/>
            </a:pPr>
            <a:r>
              <a:rPr lang="zh-CN" altLang="en-US" b="1" dirty="0"/>
              <a:t>模式设计</a:t>
            </a:r>
            <a:r>
              <a:rPr lang="zh-CN" altLang="en-US" dirty="0"/>
              <a:t>：如何设计既能高效计算又不损失关键上下文关系的稀疏模式，是一个重要的研究问题。很多方法会结合先验知识或者通过学习动态选择注意力模式来解决这个问题。</a:t>
            </a:r>
          </a:p>
          <a:p>
            <a:r>
              <a:rPr lang="zh-CN" altLang="en-US" dirty="0"/>
              <a:t>总之，</a:t>
            </a:r>
            <a:r>
              <a:rPr lang="en-US" altLang="zh-CN" dirty="0"/>
              <a:t>Sparse attention </a:t>
            </a:r>
            <a:r>
              <a:rPr lang="zh-CN" altLang="en-US" dirty="0"/>
              <a:t>通过减少计算和存储的冗余，提供了一种在保证一定精度前提下加速 </a:t>
            </a:r>
            <a:r>
              <a:rPr lang="en-US" altLang="zh-CN" dirty="0"/>
              <a:t>Transformer </a:t>
            </a:r>
            <a:r>
              <a:rPr lang="zh-CN" altLang="en-US" dirty="0"/>
              <a:t>模型的有效手段，尤其在长序列处理场景中显示出巨大的优势。</a:t>
            </a:r>
          </a:p>
          <a:p>
            <a:pPr marL="457200" lvl="1" indent="0">
              <a:buFont typeface="+mj-lt"/>
              <a:buNone/>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84324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这段内容总体上反映了现有 </a:t>
            </a:r>
            <a:r>
              <a:rPr lang="en-US" altLang="zh-CN" dirty="0"/>
              <a:t>Transformer </a:t>
            </a:r>
            <a:r>
              <a:rPr lang="zh-CN" altLang="en-US" dirty="0"/>
              <a:t>加速器在两个方面的努力和不足：</a:t>
            </a:r>
          </a:p>
          <a:p>
            <a:pPr>
              <a:buFont typeface="Arial" panose="020B0604020202020204" pitchFamily="34" charset="0"/>
              <a:buChar char="•"/>
            </a:pPr>
            <a:r>
              <a:rPr lang="zh-CN" altLang="en-US" dirty="0"/>
              <a:t>一方面，一些加速器专门针对稀疏注意力和混合精度量化进行了硬件优化，但主要针对预填充阶段或静态注意力模式，适合判别模型。</a:t>
            </a:r>
          </a:p>
          <a:p>
            <a:pPr>
              <a:buFont typeface="Arial" panose="020B0604020202020204" pitchFamily="34" charset="0"/>
              <a:buChar char="•"/>
            </a:pPr>
            <a:r>
              <a:rPr lang="zh-CN" altLang="en-US" dirty="0"/>
              <a:t>另一方面，对于生成式 </a:t>
            </a:r>
            <a:r>
              <a:rPr lang="en-US" altLang="zh-CN" dirty="0"/>
              <a:t>LLM </a:t>
            </a:r>
            <a:r>
              <a:rPr lang="zh-CN" altLang="en-US" dirty="0"/>
              <a:t>的解码阶段，现有加速方法要么缺乏相应的硬件支持，要么不能兼顾模型压缩和动态 </a:t>
            </a:r>
            <a:r>
              <a:rPr lang="en-US" altLang="zh-CN" dirty="0"/>
              <a:t>token </a:t>
            </a:r>
            <a:r>
              <a:rPr lang="zh-CN" altLang="en-US" dirty="0"/>
              <a:t>生成，因此在扩展模型规模和支持大规模 </a:t>
            </a:r>
            <a:r>
              <a:rPr lang="en-US" altLang="zh-CN" dirty="0"/>
              <a:t>LLM </a:t>
            </a:r>
            <a:r>
              <a:rPr lang="zh-CN" altLang="en-US" dirty="0"/>
              <a:t>推理上还存在局限。</a:t>
            </a:r>
          </a:p>
          <a:p>
            <a:endParaRPr lang="en-US" altLang="zh-CN" dirty="0"/>
          </a:p>
          <a:p>
            <a:endParaRPr lang="en-US" altLang="zh-CN" dirty="0"/>
          </a:p>
          <a:p>
            <a:r>
              <a:rPr lang="zh-CN" altLang="en-US" dirty="0"/>
              <a:t>这张图展示了</a:t>
            </a:r>
            <a:r>
              <a:rPr lang="zh-CN" altLang="en-US" b="1" dirty="0"/>
              <a:t>混合精度量化</a:t>
            </a:r>
            <a:r>
              <a:rPr lang="zh-CN" altLang="en-US" dirty="0"/>
              <a:t>在推理时的整体思路，分为“离线量化（</a:t>
            </a:r>
            <a:r>
              <a:rPr lang="en-US" altLang="zh-CN" dirty="0"/>
              <a:t>ahead-of-time quantization</a:t>
            </a:r>
            <a:r>
              <a:rPr lang="zh-CN" altLang="en-US" dirty="0"/>
              <a:t>）”与“运行时内核执行（</a:t>
            </a:r>
            <a:r>
              <a:rPr lang="en-US" altLang="zh-CN" dirty="0"/>
              <a:t>runtime kernel execution</a:t>
            </a:r>
            <a:r>
              <a:rPr lang="zh-CN" altLang="en-US" dirty="0"/>
              <a:t>）”两大部分。可以从左到右理解：</a:t>
            </a:r>
          </a:p>
          <a:p>
            <a:pPr>
              <a:buFont typeface="+mj-lt"/>
              <a:buAutoNum type="arabicPeriod"/>
            </a:pPr>
            <a:r>
              <a:rPr lang="zh-CN" altLang="en-US" b="1" dirty="0"/>
              <a:t>左侧：离线量化（</a:t>
            </a:r>
            <a:r>
              <a:rPr lang="en-US" altLang="zh-CN" b="1" dirty="0"/>
              <a:t>ahead-of-time quantization</a:t>
            </a:r>
            <a:r>
              <a:rPr lang="zh-CN" altLang="en-US" b="1" dirty="0"/>
              <a:t>）</a:t>
            </a:r>
            <a:endParaRPr lang="zh-CN" altLang="en-US" dirty="0"/>
          </a:p>
          <a:p>
            <a:pPr marL="742950" lvl="1" indent="-285750">
              <a:buFont typeface="+mj-lt"/>
              <a:buAutoNum type="arabicPeriod"/>
            </a:pPr>
            <a:r>
              <a:rPr lang="zh-CN" altLang="en-US" b="1" dirty="0"/>
              <a:t>“</a:t>
            </a:r>
            <a:r>
              <a:rPr lang="en-US" altLang="zh-CN" b="1" dirty="0"/>
              <a:t>searched global precision config”</a:t>
            </a:r>
            <a:r>
              <a:rPr lang="zh-CN" altLang="en-US" dirty="0"/>
              <a:t>：通过某种搜索或分析过程，针对线性层的每个输出通道（</a:t>
            </a:r>
            <a:r>
              <a:rPr lang="en-US" altLang="zh-CN" dirty="0"/>
              <a:t>out-features</a:t>
            </a:r>
            <a:r>
              <a:rPr lang="zh-CN" altLang="en-US" dirty="0"/>
              <a:t>）确定适用的量化精度。通常会根据重要性（</a:t>
            </a:r>
            <a:r>
              <a:rPr lang="en-US" altLang="zh-CN" dirty="0"/>
              <a:t>salience</a:t>
            </a:r>
            <a:r>
              <a:rPr lang="zh-CN" altLang="en-US" dirty="0"/>
              <a:t>）或敏感度来决定哪些通道使用 </a:t>
            </a:r>
            <a:r>
              <a:rPr lang="en-US" altLang="zh-CN" dirty="0"/>
              <a:t>8 </a:t>
            </a:r>
            <a:r>
              <a:rPr lang="zh-CN" altLang="en-US" dirty="0"/>
              <a:t>位，哪些使用 </a:t>
            </a:r>
            <a:r>
              <a:rPr lang="en-US" altLang="zh-CN" dirty="0"/>
              <a:t>4 </a:t>
            </a:r>
            <a:r>
              <a:rPr lang="zh-CN" altLang="en-US" dirty="0"/>
              <a:t>位。</a:t>
            </a:r>
          </a:p>
          <a:p>
            <a:pPr marL="1143000" lvl="2" indent="-228600">
              <a:buFont typeface="+mj-lt"/>
              <a:buAutoNum type="arabicPeriod"/>
            </a:pPr>
            <a:r>
              <a:rPr lang="zh-CN" altLang="en-US" b="1" dirty="0"/>
              <a:t>低敏感度（</a:t>
            </a:r>
            <a:r>
              <a:rPr lang="en-US" altLang="zh-CN" b="1" dirty="0"/>
              <a:t>low salience</a:t>
            </a:r>
            <a:r>
              <a:rPr lang="zh-CN" altLang="en-US" b="1" dirty="0"/>
              <a:t>）</a:t>
            </a:r>
            <a:r>
              <a:rPr lang="zh-CN" altLang="en-US" dirty="0"/>
              <a:t> → </a:t>
            </a:r>
            <a:r>
              <a:rPr lang="en-US" altLang="zh-CN" dirty="0"/>
              <a:t>4 </a:t>
            </a:r>
            <a:r>
              <a:rPr lang="zh-CN" altLang="en-US" dirty="0"/>
              <a:t>位量化</a:t>
            </a:r>
          </a:p>
          <a:p>
            <a:pPr marL="1143000" lvl="2" indent="-228600">
              <a:buFont typeface="+mj-lt"/>
              <a:buAutoNum type="arabicPeriod"/>
            </a:pPr>
            <a:r>
              <a:rPr lang="zh-CN" altLang="en-US" b="1" dirty="0"/>
              <a:t>高敏感度（</a:t>
            </a:r>
            <a:r>
              <a:rPr lang="en-US" altLang="zh-CN" b="1" dirty="0"/>
              <a:t>high salience</a:t>
            </a:r>
            <a:r>
              <a:rPr lang="zh-CN" altLang="en-US" b="1" dirty="0"/>
              <a:t>）</a:t>
            </a:r>
            <a:r>
              <a:rPr lang="zh-CN" altLang="en-US" dirty="0"/>
              <a:t> → </a:t>
            </a:r>
            <a:r>
              <a:rPr lang="en-US" altLang="zh-CN" dirty="0"/>
              <a:t>8 </a:t>
            </a:r>
            <a:r>
              <a:rPr lang="zh-CN" altLang="en-US" dirty="0"/>
              <a:t>位量化</a:t>
            </a:r>
          </a:p>
          <a:p>
            <a:pPr marL="742950" lvl="1" indent="-285750">
              <a:buFont typeface="+mj-lt"/>
              <a:buAutoNum type="arabicPeriod"/>
            </a:pPr>
            <a:r>
              <a:rPr lang="zh-CN" altLang="en-US" b="1" dirty="0"/>
              <a:t>预打包（</a:t>
            </a:r>
            <a:r>
              <a:rPr lang="en-US" altLang="zh-CN" b="1" dirty="0"/>
              <a:t>pre-pack</a:t>
            </a:r>
            <a:r>
              <a:rPr lang="zh-CN" altLang="en-US" b="1" dirty="0"/>
              <a:t>）与内存交织（</a:t>
            </a:r>
            <a:r>
              <a:rPr lang="en-US" altLang="zh-CN" b="1" dirty="0"/>
              <a:t>mem-interleave</a:t>
            </a:r>
            <a:r>
              <a:rPr lang="zh-CN" altLang="en-US" b="1" dirty="0"/>
              <a:t>）</a:t>
            </a:r>
            <a:r>
              <a:rPr lang="zh-CN" altLang="en-US" dirty="0"/>
              <a:t>：将已经量化好的 </a:t>
            </a:r>
            <a:r>
              <a:rPr lang="en-US" altLang="zh-CN" dirty="0"/>
              <a:t>4 </a:t>
            </a:r>
            <a:r>
              <a:rPr lang="zh-CN" altLang="en-US" dirty="0"/>
              <a:t>位与 </a:t>
            </a:r>
            <a:r>
              <a:rPr lang="en-US" altLang="zh-CN" dirty="0"/>
              <a:t>8 </a:t>
            </a:r>
            <a:r>
              <a:rPr lang="zh-CN" altLang="en-US" dirty="0"/>
              <a:t>位权重按照一定规则打包存储，以便在运行时能高效读取和对齐。这一步是离线完成的，不会影响推理时的性能。</a:t>
            </a:r>
          </a:p>
          <a:p>
            <a:pPr>
              <a:buFont typeface="+mj-lt"/>
              <a:buAutoNum type="arabicPeriod"/>
            </a:pPr>
            <a:r>
              <a:rPr lang="zh-CN" altLang="en-US" b="1" dirty="0"/>
              <a:t>右侧：运行时内核执行（</a:t>
            </a:r>
            <a:r>
              <a:rPr lang="en-US" altLang="zh-CN" b="1" dirty="0"/>
              <a:t>runtime kernel execution</a:t>
            </a:r>
            <a:r>
              <a:rPr lang="zh-CN" altLang="en-US" b="1" dirty="0"/>
              <a:t>）</a:t>
            </a:r>
            <a:endParaRPr lang="zh-CN" altLang="en-US" dirty="0"/>
          </a:p>
          <a:p>
            <a:pPr marL="742950" lvl="1" indent="-285750">
              <a:buFont typeface="+mj-lt"/>
              <a:buAutoNum type="arabicPeriod"/>
            </a:pPr>
            <a:r>
              <a:rPr lang="en-US" altLang="zh-CN" b="1" dirty="0"/>
              <a:t>8-bit activation</a:t>
            </a:r>
            <a:r>
              <a:rPr lang="zh-CN" altLang="en-US" dirty="0"/>
              <a:t>：激活值统一采用 </a:t>
            </a:r>
            <a:r>
              <a:rPr lang="en-US" altLang="zh-CN" dirty="0"/>
              <a:t>8 </a:t>
            </a:r>
            <a:r>
              <a:rPr lang="zh-CN" altLang="en-US" dirty="0"/>
              <a:t>位表示。</a:t>
            </a:r>
          </a:p>
          <a:p>
            <a:pPr marL="742950" lvl="1" indent="-285750">
              <a:buFont typeface="+mj-lt"/>
              <a:buAutoNum type="arabicPeriod"/>
            </a:pPr>
            <a:r>
              <a:rPr lang="en-US" altLang="zh-CN" b="1" dirty="0"/>
              <a:t>two </a:t>
            </a:r>
            <a:r>
              <a:rPr lang="en-US" altLang="zh-CN" b="1" dirty="0" err="1"/>
              <a:t>MatMuls</a:t>
            </a:r>
            <a:r>
              <a:rPr lang="en-US" altLang="zh-CN" b="1" dirty="0"/>
              <a:t> in parallel</a:t>
            </a:r>
            <a:r>
              <a:rPr lang="zh-CN" altLang="en-US" dirty="0"/>
              <a:t>：在真正进行推理时，会将 </a:t>
            </a:r>
            <a:r>
              <a:rPr lang="en-US" altLang="zh-CN" dirty="0"/>
              <a:t>4 </a:t>
            </a:r>
            <a:r>
              <a:rPr lang="zh-CN" altLang="en-US" dirty="0"/>
              <a:t>位权重部分与 </a:t>
            </a:r>
            <a:r>
              <a:rPr lang="en-US" altLang="zh-CN" dirty="0"/>
              <a:t>8 </a:t>
            </a:r>
            <a:r>
              <a:rPr lang="zh-CN" altLang="en-US" dirty="0"/>
              <a:t>位权重部分分别执行矩阵乘法（</a:t>
            </a:r>
            <a:r>
              <a:rPr lang="en-US" altLang="zh-CN" dirty="0" err="1"/>
              <a:t>MatMul</a:t>
            </a:r>
            <a:r>
              <a:rPr lang="zh-CN" altLang="en-US" dirty="0"/>
              <a:t>）。这两个乘法可以并行执行，从而提高吞吐量。</a:t>
            </a:r>
          </a:p>
          <a:p>
            <a:pPr marL="742950" lvl="1" indent="-285750">
              <a:buFont typeface="+mj-lt"/>
              <a:buAutoNum type="arabicPeriod"/>
            </a:pPr>
            <a:r>
              <a:rPr lang="en-US" altLang="zh-CN" b="1" dirty="0"/>
              <a:t>fused scatter</a:t>
            </a:r>
            <a:r>
              <a:rPr lang="zh-CN" altLang="en-US" b="1" dirty="0"/>
              <a:t>（</a:t>
            </a:r>
            <a:r>
              <a:rPr lang="en-US" altLang="zh-CN" b="1" dirty="0"/>
              <a:t>kernel epilogue</a:t>
            </a:r>
            <a:r>
              <a:rPr lang="zh-CN" altLang="en-US" b="1" dirty="0"/>
              <a:t>）</a:t>
            </a:r>
            <a:r>
              <a:rPr lang="zh-CN" altLang="en-US" dirty="0"/>
              <a:t>：在内核尾部阶段（</a:t>
            </a:r>
            <a:r>
              <a:rPr lang="en-US" altLang="zh-CN" dirty="0"/>
              <a:t>epilogue</a:t>
            </a:r>
            <a:r>
              <a:rPr lang="zh-CN" altLang="en-US" dirty="0"/>
              <a:t>）将这两部分乘法的结果进行融合（如累加、重排等），再输出最终结果。这个过程也被称为“</a:t>
            </a:r>
            <a:r>
              <a:rPr lang="en-US" altLang="zh-CN" dirty="0"/>
              <a:t>fused scatter”</a:t>
            </a:r>
            <a:r>
              <a:rPr lang="zh-CN" altLang="en-US" dirty="0"/>
              <a:t>，因为需要把不同精度的运算结果写回到统一的输出缓冲区。</a:t>
            </a:r>
          </a:p>
          <a:p>
            <a:r>
              <a:rPr lang="zh-CN" altLang="en-US" b="1" dirty="0"/>
              <a:t>整体意义</a:t>
            </a:r>
            <a:endParaRPr lang="zh-CN" altLang="en-US" dirty="0"/>
          </a:p>
          <a:p>
            <a:pPr>
              <a:buFont typeface="Arial" panose="020B0604020202020204" pitchFamily="34" charset="0"/>
              <a:buChar char="•"/>
            </a:pPr>
            <a:r>
              <a:rPr lang="zh-CN" altLang="en-US" dirty="0"/>
              <a:t>通过在离线阶段对每个通道进行精度搜索和量化，模型能够在不明显牺牲精度的前提下，显著减少部分权重的位宽（例如从 </a:t>
            </a:r>
            <a:r>
              <a:rPr lang="en-US" altLang="zh-CN" dirty="0"/>
              <a:t>8 </a:t>
            </a:r>
            <a:r>
              <a:rPr lang="zh-CN" altLang="en-US" dirty="0"/>
              <a:t>位降到 </a:t>
            </a:r>
            <a:r>
              <a:rPr lang="en-US" altLang="zh-CN" dirty="0"/>
              <a:t>4 </a:t>
            </a:r>
            <a:r>
              <a:rPr lang="zh-CN" altLang="en-US" dirty="0"/>
              <a:t>位），从而减少存储和带宽占用。</a:t>
            </a:r>
          </a:p>
          <a:p>
            <a:pPr>
              <a:buFont typeface="Arial" panose="020B0604020202020204" pitchFamily="34" charset="0"/>
              <a:buChar char="•"/>
            </a:pPr>
            <a:r>
              <a:rPr lang="zh-CN" altLang="en-US" dirty="0"/>
              <a:t>在推理时，为了兼顾不同精度的权重，内核将 </a:t>
            </a:r>
            <a:r>
              <a:rPr lang="en-US" altLang="zh-CN" dirty="0"/>
              <a:t>4 </a:t>
            </a:r>
            <a:r>
              <a:rPr lang="zh-CN" altLang="en-US" dirty="0"/>
              <a:t>位与 </a:t>
            </a:r>
            <a:r>
              <a:rPr lang="en-US" altLang="zh-CN" dirty="0"/>
              <a:t>8 </a:t>
            </a:r>
            <a:r>
              <a:rPr lang="zh-CN" altLang="en-US" dirty="0"/>
              <a:t>位的矩阵乘法分别执行，再在尾部统一处理输出，这样既能保持较高的运算效率，又能实现混合精度量化的灵活性。</a:t>
            </a:r>
          </a:p>
          <a:p>
            <a:r>
              <a:rPr lang="zh-CN" altLang="en-US" dirty="0"/>
              <a:t>换言之，这幅图展示了一个混合精度量化方案的典型流程：先对权重进行离线精度搜索和打包，然后在推理阶段同时支持多种位宽的权重计算，并最终融合结果得到输出。通过这样的方法，可以在一定程度上兼顾模型的准确率和推理效率。</a:t>
            </a:r>
          </a:p>
          <a:p>
            <a:r>
              <a:rPr lang="en-US" altLang="zh-CN" dirty="0"/>
              <a:t>o3-mini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DFX </a:t>
            </a:r>
            <a:r>
              <a:rPr lang="zh-CN" altLang="en-US" dirty="0"/>
              <a:t>是专门为解码阶段（逐个生成 </a:t>
            </a:r>
            <a:r>
              <a:rPr lang="en-US" altLang="zh-CN" dirty="0"/>
              <a:t>token</a:t>
            </a:r>
            <a:r>
              <a:rPr lang="zh-CN" altLang="en-US" dirty="0"/>
              <a:t>）而设计的加速器，目标是满足实时生成响应的需求。然而，它的硬件设计没有支持一些常用的模型压缩技术，比如稀疏化和量化。模型压缩技术能降低计算量和内存占用，使得模型可以扩展到更大的规模或者处理更长的 </a:t>
            </a:r>
            <a:r>
              <a:rPr lang="en-US" altLang="zh-CN" dirty="0"/>
              <a:t>token </a:t>
            </a:r>
            <a:r>
              <a:rPr lang="zh-CN" altLang="en-US" dirty="0"/>
              <a:t>序列。因为 </a:t>
            </a:r>
            <a:r>
              <a:rPr lang="en-US" altLang="zh-CN" dirty="0"/>
              <a:t>DFX </a:t>
            </a:r>
            <a:r>
              <a:rPr lang="zh-CN" altLang="en-US" dirty="0"/>
              <a:t>没有利用这些技术，所以在面对大规模模型或更长输入时，其性能和扩展能力会受到限制。</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8939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mj-lt"/>
              <a:buAutoNum type="arabicPeriod"/>
            </a:pPr>
            <a:r>
              <a:rPr lang="zh-CN" altLang="en-US" dirty="0"/>
              <a:t>稀疏矩阵</a:t>
            </a:r>
            <a:r>
              <a:rPr lang="en-US" altLang="zh-CN" dirty="0"/>
              <a:t>-</a:t>
            </a:r>
            <a:r>
              <a:rPr lang="zh-CN" altLang="en-US" dirty="0"/>
              <a:t>向量乘法（</a:t>
            </a:r>
            <a:r>
              <a:rPr lang="en-US" altLang="zh-CN" dirty="0" err="1"/>
              <a:t>SpMV</a:t>
            </a:r>
            <a:r>
              <a:rPr lang="zh-CN" altLang="en-US" dirty="0"/>
              <a:t>）在科学计算、机器学习和图分析等众多领域中都是核心操作。然而，传统加速方法主要针对均衡稀疏矩阵设计，当矩阵各行的非零元素分布不均时，会产生以下三个主要问题：</a:t>
            </a:r>
          </a:p>
          <a:p>
            <a:pPr marL="742950" lvl="1" indent="-285750">
              <a:buFont typeface="+mj-lt"/>
              <a:buAutoNum type="arabicPeriod"/>
            </a:pPr>
            <a:r>
              <a:rPr lang="zh-CN" altLang="en-US" b="1" dirty="0"/>
              <a:t>负载不均衡</a:t>
            </a:r>
            <a:r>
              <a:rPr lang="zh-CN" altLang="en-US" dirty="0"/>
              <a:t>：传统方法将矩阵行按循环方式分配给各个处理单元（</a:t>
            </a:r>
            <a:r>
              <a:rPr lang="en-US" altLang="zh-CN" dirty="0"/>
              <a:t>PE</a:t>
            </a:r>
            <a:r>
              <a:rPr lang="zh-CN" altLang="en-US" dirty="0"/>
              <a:t>），当某些行的非零数目远大于平均值时，某些</a:t>
            </a:r>
            <a:r>
              <a:rPr lang="en-US" altLang="zh-CN" dirty="0"/>
              <a:t>PE</a:t>
            </a:r>
            <a:r>
              <a:rPr lang="zh-CN" altLang="en-US" dirty="0"/>
              <a:t>会承担过多工作，导致整体性能下降。</a:t>
            </a:r>
          </a:p>
          <a:p>
            <a:pPr marL="742950" lvl="1" indent="-285750">
              <a:buFont typeface="+mj-lt"/>
              <a:buAutoNum type="arabicPeriod"/>
            </a:pPr>
            <a:r>
              <a:rPr lang="zh-CN" altLang="en-US" b="1" dirty="0"/>
              <a:t>长距离数据依赖</a:t>
            </a:r>
            <a:r>
              <a:rPr lang="zh-CN" altLang="en-US" dirty="0"/>
              <a:t>：在对输出向量进行浮点累加时，连续处理同一行的多个非零元素会产生长距离的读后写（</a:t>
            </a:r>
            <a:r>
              <a:rPr lang="en-US" altLang="zh-CN" dirty="0"/>
              <a:t>RAW</a:t>
            </a:r>
            <a:r>
              <a:rPr lang="zh-CN" altLang="en-US" dirty="0"/>
              <a:t>）依赖，因硬件中的浮点加法通常需要多个时钟周期完成，流水线中会产生空泡。</a:t>
            </a:r>
          </a:p>
          <a:p>
            <a:pPr marL="742950" lvl="1" indent="-285750">
              <a:buFont typeface="+mj-lt"/>
              <a:buAutoNum type="arabicPeriod"/>
            </a:pPr>
            <a:r>
              <a:rPr lang="zh-CN" altLang="en-US" b="1" dirty="0"/>
              <a:t>输入向量瓶颈</a:t>
            </a:r>
            <a:r>
              <a:rPr lang="zh-CN" altLang="en-US" dirty="0"/>
              <a:t>：加速 </a:t>
            </a:r>
            <a:r>
              <a:rPr lang="en-US" altLang="zh-CN" dirty="0" err="1"/>
              <a:t>SpMV</a:t>
            </a:r>
            <a:r>
              <a:rPr lang="en-US" altLang="zh-CN" dirty="0"/>
              <a:t> </a:t>
            </a:r>
            <a:r>
              <a:rPr lang="zh-CN" altLang="en-US" dirty="0"/>
              <a:t>后，原本容易被忽视的输入向量加载问题可能成为新的性能瓶颈，尤其在低密度矩阵中更为明显。</a:t>
            </a:r>
          </a:p>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67965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en-US" dirty="0"/>
              <a:t>综上所述，该处理模式的核心在于：通过对稀疏矩阵及其输入、输出向量进行分块和流水化处理，并采用循环行分配与片上缓存等手段，最大化利用 </a:t>
            </a:r>
            <a:r>
              <a:rPr lang="en-US" altLang="zh-CN" dirty="0"/>
              <a:t>HBM </a:t>
            </a:r>
            <a:r>
              <a:rPr lang="zh-CN" altLang="en-US" dirty="0"/>
              <a:t>带宽、降低随机访问影响，从而在 </a:t>
            </a:r>
            <a:r>
              <a:rPr lang="en-US" altLang="zh-CN" dirty="0"/>
              <a:t>FPGA </a:t>
            </a:r>
            <a:r>
              <a:rPr lang="zh-CN" altLang="en-US" dirty="0"/>
              <a:t>上更高效地完成 </a:t>
            </a:r>
            <a:r>
              <a:rPr lang="en-US" altLang="zh-CN" dirty="0" err="1"/>
              <a:t>SpMV</a:t>
            </a:r>
            <a:r>
              <a:rPr lang="en-US" altLang="zh-CN" dirty="0"/>
              <a:t> </a:t>
            </a:r>
            <a:r>
              <a:rPr lang="zh-CN" altLang="en-US" dirty="0"/>
              <a:t>运算。</a:t>
            </a:r>
            <a:endParaRPr lang="en-US" altLang="zh-CN"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en-US" b="1" dirty="0"/>
              <a:t>在处理高度不平衡的稀疏矩阵时，传统加速方法存在明显不足，必须针对这种不平衡性提出新的优化策略，以满足实际应用的需求</a:t>
            </a:r>
            <a:endParaRPr lang="zh-CN" altLang="en-US"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zh-CN" altLang="en-US" dirty="0"/>
          </a:p>
          <a:p>
            <a:pPr>
              <a:buFont typeface="+mj-lt"/>
              <a:buNone/>
            </a:pPr>
            <a:endParaRPr lang="en-US" altLang="zh-CN" b="1" dirty="0"/>
          </a:p>
          <a:p>
            <a:pPr>
              <a:buFont typeface="+mj-lt"/>
              <a:buAutoNum type="arabicPeriod"/>
            </a:pPr>
            <a:r>
              <a:rPr lang="zh-CN" altLang="en-US" b="1" dirty="0"/>
              <a:t>分块（</a:t>
            </a:r>
            <a:r>
              <a:rPr lang="en-US" altLang="zh-CN" b="1" dirty="0"/>
              <a:t>Tiling</a:t>
            </a:r>
            <a:r>
              <a:rPr lang="zh-CN" altLang="en-US" b="1" dirty="0"/>
              <a:t>）思路</a:t>
            </a:r>
            <a:endParaRPr lang="zh-CN" altLang="en-US" dirty="0"/>
          </a:p>
          <a:p>
            <a:pPr marL="742950" lvl="1" indent="-285750">
              <a:buFont typeface="+mj-lt"/>
              <a:buAutoNum type="arabicPeriod"/>
            </a:pPr>
            <a:r>
              <a:rPr lang="zh-CN" altLang="en-US" dirty="0"/>
              <a:t>在大型稀疏矩阵的加速过程中，通常将矩阵 </a:t>
            </a:r>
            <a:r>
              <a:rPr lang="en-US" altLang="zh-CN" dirty="0"/>
              <a:t>A </a:t>
            </a:r>
            <a:r>
              <a:rPr lang="zh-CN" altLang="en-US" dirty="0"/>
              <a:t>进行行、列两个方向上的分块（即 </a:t>
            </a:r>
            <a:r>
              <a:rPr lang="en-US" altLang="zh-CN" dirty="0"/>
              <a:t>Rt × Ct </a:t>
            </a:r>
            <a:r>
              <a:rPr lang="zh-CN" altLang="en-US" dirty="0"/>
              <a:t>大小的子块），以便在硬件中分步处理。这样可以有效控制片上所需的缓冲区大小，同时利用多个 </a:t>
            </a:r>
            <a:r>
              <a:rPr lang="en-US" altLang="zh-CN" dirty="0"/>
              <a:t>HBM </a:t>
            </a:r>
            <a:r>
              <a:rPr lang="zh-CN" altLang="en-US" dirty="0"/>
              <a:t>通道进行并行加载。</a:t>
            </a:r>
          </a:p>
          <a:p>
            <a:pPr>
              <a:buFont typeface="+mj-lt"/>
              <a:buAutoNum type="arabicPeriod"/>
            </a:pPr>
            <a:r>
              <a:rPr lang="zh-CN" altLang="en-US" b="1" dirty="0"/>
              <a:t>循环行分配（</a:t>
            </a:r>
            <a:r>
              <a:rPr lang="en-US" altLang="zh-CN" b="1" dirty="0"/>
              <a:t>Cyclic Row-Wise Partition</a:t>
            </a:r>
            <a:r>
              <a:rPr lang="zh-CN" altLang="en-US" b="1" dirty="0"/>
              <a:t>）</a:t>
            </a:r>
            <a:endParaRPr lang="zh-CN" altLang="en-US" dirty="0"/>
          </a:p>
          <a:p>
            <a:pPr marL="742950" lvl="1" indent="-285750">
              <a:buFont typeface="+mj-lt"/>
              <a:buAutoNum type="arabicPeriod"/>
            </a:pPr>
            <a:r>
              <a:rPr lang="zh-CN" altLang="en-US" dirty="0"/>
              <a:t>通过将矩阵的行循环分配给不同的处理单元（</a:t>
            </a:r>
            <a:r>
              <a:rPr lang="en-US" altLang="zh-CN" dirty="0"/>
              <a:t>PE</a:t>
            </a:r>
            <a:r>
              <a:rPr lang="zh-CN" altLang="en-US" dirty="0"/>
              <a:t>），能够在一定程度上平衡负载。如果没有任何分配策略，可能会导致某些 </a:t>
            </a:r>
            <a:r>
              <a:rPr lang="en-US" altLang="zh-CN" dirty="0"/>
              <a:t>PE </a:t>
            </a:r>
            <a:r>
              <a:rPr lang="zh-CN" altLang="en-US" dirty="0"/>
              <a:t>处理的行中非零元素特别多，而其他 </a:t>
            </a:r>
            <a:r>
              <a:rPr lang="en-US" altLang="zh-CN" dirty="0"/>
              <a:t>PE </a:t>
            </a:r>
            <a:r>
              <a:rPr lang="zh-CN" altLang="en-US" dirty="0"/>
              <a:t>处理的行中非零元素极少，从而造成资源利用不均。</a:t>
            </a:r>
          </a:p>
          <a:p>
            <a:pPr>
              <a:buFont typeface="+mj-lt"/>
              <a:buAutoNum type="arabicPeriod"/>
            </a:pPr>
            <a:r>
              <a:rPr lang="zh-CN" altLang="en-US" b="1" dirty="0"/>
              <a:t>输入向量与临时输出向量的片上缓存</a:t>
            </a:r>
            <a:endParaRPr lang="zh-CN" altLang="en-US" dirty="0"/>
          </a:p>
          <a:p>
            <a:pPr marL="742950" lvl="1" indent="-285750">
              <a:buFont typeface="+mj-lt"/>
              <a:buAutoNum type="arabicPeriod"/>
            </a:pPr>
            <a:r>
              <a:rPr lang="zh-CN" altLang="en-US" dirty="0"/>
              <a:t>将输入向量 </a:t>
            </a:r>
            <a:r>
              <a:rPr lang="en-US" altLang="zh-CN" dirty="0"/>
              <a:t>x® </a:t>
            </a:r>
            <a:r>
              <a:rPr lang="zh-CN" altLang="en-US" dirty="0"/>
              <a:t>和临时输出向量 </a:t>
            </a:r>
            <a:r>
              <a:rPr lang="en-US" altLang="zh-CN" dirty="0" err="1"/>
              <a:t>y_Ax</a:t>
            </a:r>
            <a:r>
              <a:rPr lang="en-US" altLang="zh-CN" dirty="0"/>
              <a:t> </a:t>
            </a:r>
            <a:r>
              <a:rPr lang="zh-CN" altLang="en-US" dirty="0"/>
              <a:t>在片上缓存，有助于减少访存开销，特别是随机访问带来的性能损耗。由于稀疏矩阵在乘法过程中对 </a:t>
            </a:r>
            <a:r>
              <a:rPr lang="en-US" altLang="zh-CN" dirty="0"/>
              <a:t>x® </a:t>
            </a:r>
            <a:r>
              <a:rPr lang="zh-CN" altLang="en-US" dirty="0"/>
              <a:t>的访问具有不规则性，若能将相关部分的数据缓存在片上，就能避免反复访问外部存储器。</a:t>
            </a:r>
          </a:p>
          <a:p>
            <a:pPr marL="742950" lvl="1" indent="-285750">
              <a:buFont typeface="+mj-lt"/>
              <a:buAutoNum type="arabicPeriod"/>
            </a:pPr>
            <a:r>
              <a:rPr lang="zh-CN" altLang="en-US" dirty="0"/>
              <a:t>输入向量的缓存（</a:t>
            </a:r>
            <a:r>
              <a:rPr lang="en-US" altLang="zh-CN" dirty="0" err="1"/>
              <a:t>buf_x</a:t>
            </a:r>
            <a:r>
              <a:rPr lang="en-US" altLang="zh-CN" dirty="0"/>
              <a:t> [Ct]</a:t>
            </a:r>
            <a:r>
              <a:rPr lang="zh-CN" altLang="en-US" dirty="0"/>
              <a:t>）既可以为每个 </a:t>
            </a:r>
            <a:r>
              <a:rPr lang="en-US" altLang="zh-CN" dirty="0"/>
              <a:t>PE </a:t>
            </a:r>
            <a:r>
              <a:rPr lang="zh-CN" altLang="en-US" dirty="0"/>
              <a:t>独立复制，也可以让多个 </a:t>
            </a:r>
            <a:r>
              <a:rPr lang="en-US" altLang="zh-CN" dirty="0"/>
              <a:t>PE </a:t>
            </a:r>
            <a:r>
              <a:rPr lang="zh-CN" altLang="en-US" dirty="0"/>
              <a:t>共享，从而在片上资源和访问效率之间进行折中。</a:t>
            </a:r>
          </a:p>
          <a:p>
            <a:pPr>
              <a:buFont typeface="+mj-lt"/>
              <a:buAutoNum type="arabicPeriod"/>
            </a:pPr>
            <a:r>
              <a:rPr lang="zh-CN" altLang="en-US" b="1" dirty="0"/>
              <a:t>输出向量的分块与流式读写</a:t>
            </a:r>
            <a:endParaRPr lang="zh-CN" altLang="en-US" dirty="0"/>
          </a:p>
          <a:p>
            <a:pPr marL="742950" lvl="1" indent="-285750">
              <a:buFont typeface="+mj-lt"/>
              <a:buAutoNum type="arabicPeriod"/>
            </a:pPr>
            <a:r>
              <a:rPr lang="zh-CN" altLang="en-US" dirty="0"/>
              <a:t>对最终的输出向量 </a:t>
            </a:r>
            <a:r>
              <a:rPr lang="en-US" altLang="zh-CN" dirty="0"/>
              <a:t>y® </a:t>
            </a:r>
            <a:r>
              <a:rPr lang="zh-CN" altLang="en-US" dirty="0"/>
              <a:t>也进行与矩阵同样的行分块，每一块的大小为 </a:t>
            </a:r>
            <a:r>
              <a:rPr lang="en-US" altLang="zh-CN" dirty="0"/>
              <a:t>Rt</a:t>
            </a:r>
            <a:r>
              <a:rPr lang="zh-CN" altLang="en-US" dirty="0"/>
              <a:t>，并在处理该块时进行流式的读入和写出。这样能够保持数据的连续性，进一步减少访存时的随机访问开销。</a:t>
            </a:r>
            <a:endParaRPr lang="en-US" altLang="zh-CN" dirty="0"/>
          </a:p>
          <a:p>
            <a:pPr marL="742950" lvl="1" indent="-285750">
              <a:buFont typeface="+mj-lt"/>
              <a:buAutoNum type="arabicPeriod"/>
            </a:pPr>
            <a:endParaRPr lang="en-US" altLang="zh-CN" dirty="0"/>
          </a:p>
          <a:p>
            <a:r>
              <a:rPr lang="zh-CN" altLang="en-US" dirty="0"/>
              <a:t>因为在流式读写里，我们是按下标 </a:t>
            </a:r>
            <a:r>
              <a:rPr lang="en-US" altLang="zh-CN" dirty="0" err="1"/>
              <a:t>i</a:t>
            </a:r>
            <a:r>
              <a:rPr lang="en-US" altLang="zh-CN" dirty="0"/>
              <a:t> </a:t>
            </a:r>
            <a:r>
              <a:rPr lang="zh-CN" altLang="en-US" dirty="0"/>
              <a:t>从小到大 </a:t>
            </a:r>
            <a:r>
              <a:rPr lang="zh-CN" altLang="en-US" b="1" dirty="0"/>
              <a:t>连续</a:t>
            </a:r>
            <a:r>
              <a:rPr lang="zh-CN" altLang="en-US" dirty="0"/>
              <a:t> 地读 </a:t>
            </a:r>
            <a:r>
              <a:rPr lang="en-US" altLang="zh-CN" dirty="0"/>
              <a:t>y[</a:t>
            </a:r>
            <a:r>
              <a:rPr lang="en-US" altLang="zh-CN" dirty="0" err="1"/>
              <a:t>i</a:t>
            </a:r>
            <a:r>
              <a:rPr lang="en-US" altLang="zh-CN" dirty="0"/>
              <a:t>]</a:t>
            </a:r>
            <a:r>
              <a:rPr lang="zh-CN" altLang="en-US" dirty="0"/>
              <a:t>、算完就写 </a:t>
            </a:r>
            <a:r>
              <a:rPr lang="en-US" altLang="zh-CN" dirty="0"/>
              <a:t>y[</a:t>
            </a:r>
            <a:r>
              <a:rPr lang="en-US" altLang="zh-CN" dirty="0" err="1"/>
              <a:t>i</a:t>
            </a:r>
            <a:r>
              <a:rPr lang="en-US" altLang="zh-CN" dirty="0"/>
              <a:t>]</a:t>
            </a:r>
            <a:r>
              <a:rPr lang="zh-CN" altLang="en-US" dirty="0"/>
              <a:t>，所以整个过程只需要维护一个自增的地址指针，不会出现“跳来跳去”去读写同一个地址的情况。这就天然满足了存储器和总线对 </a:t>
            </a:r>
            <a:r>
              <a:rPr lang="zh-CN" altLang="en-US" b="1" dirty="0"/>
              <a:t>突发（</a:t>
            </a:r>
            <a:r>
              <a:rPr lang="en-US" altLang="zh-CN" b="1" dirty="0"/>
              <a:t>burst</a:t>
            </a:r>
            <a:r>
              <a:rPr lang="zh-CN" altLang="en-US" b="1" dirty="0"/>
              <a:t>）传输</a:t>
            </a:r>
            <a:r>
              <a:rPr lang="zh-CN" altLang="en-US" dirty="0"/>
              <a:t> 的要求，具体原因有：</a:t>
            </a:r>
          </a:p>
          <a:p>
            <a:pPr>
              <a:buFont typeface="+mj-lt"/>
              <a:buAutoNum type="arabicPeriod"/>
            </a:pPr>
            <a:r>
              <a:rPr lang="en-US" altLang="zh-CN" b="1" dirty="0"/>
              <a:t>DRAM/HBM </a:t>
            </a:r>
            <a:r>
              <a:rPr lang="zh-CN" altLang="en-US" b="1" dirty="0"/>
              <a:t>的行缓冲器（</a:t>
            </a:r>
            <a:r>
              <a:rPr lang="en-US" altLang="zh-CN" b="1" dirty="0"/>
              <a:t>row buffer</a:t>
            </a:r>
            <a:r>
              <a:rPr lang="zh-CN" altLang="en-US" b="1" dirty="0"/>
              <a:t>）特性</a:t>
            </a:r>
            <a:endParaRPr lang="zh-CN" altLang="en-US" dirty="0"/>
          </a:p>
          <a:p>
            <a:pPr marL="742950" lvl="1" indent="-285750">
              <a:buFont typeface="+mj-lt"/>
              <a:buAutoNum type="arabicPeriod"/>
            </a:pPr>
            <a:r>
              <a:rPr lang="zh-CN" altLang="en-US" dirty="0"/>
              <a:t>现代的 </a:t>
            </a:r>
            <a:r>
              <a:rPr lang="en-US" altLang="zh-CN" dirty="0"/>
              <a:t>DRAM</a:t>
            </a:r>
            <a:r>
              <a:rPr lang="zh-CN" altLang="en-US" dirty="0"/>
              <a:t>（包括 </a:t>
            </a:r>
            <a:r>
              <a:rPr lang="en-US" altLang="zh-CN" dirty="0"/>
              <a:t>HBM</a:t>
            </a:r>
            <a:r>
              <a:rPr lang="zh-CN" altLang="en-US" dirty="0"/>
              <a:t>）在读写时，先打开（</a:t>
            </a:r>
            <a:r>
              <a:rPr lang="en-US" altLang="zh-CN" dirty="0"/>
              <a:t>activate</a:t>
            </a:r>
            <a:r>
              <a:rPr lang="zh-CN" altLang="en-US" dirty="0"/>
              <a:t>）一个“行”（</a:t>
            </a:r>
            <a:r>
              <a:rPr lang="en-US" altLang="zh-CN" dirty="0"/>
              <a:t>row</a:t>
            </a:r>
            <a:r>
              <a:rPr lang="zh-CN" altLang="en-US" dirty="0"/>
              <a:t>），然后才能对该行内的各个“列”（</a:t>
            </a:r>
            <a:r>
              <a:rPr lang="en-US" altLang="zh-CN" dirty="0"/>
              <a:t>column</a:t>
            </a:r>
            <a:r>
              <a:rPr lang="zh-CN" altLang="en-US" dirty="0"/>
              <a:t>）进行访问。</a:t>
            </a:r>
          </a:p>
          <a:p>
            <a:pPr marL="742950" lvl="1" indent="-285750">
              <a:buFont typeface="+mj-lt"/>
              <a:buAutoNum type="arabicPeriod"/>
            </a:pPr>
            <a:r>
              <a:rPr lang="zh-CN" altLang="en-US" dirty="0"/>
              <a:t>如果你一次性连续访问同一行里的多个地址，就可以只做一次 </a:t>
            </a:r>
            <a:r>
              <a:rPr lang="en-US" altLang="zh-CN" dirty="0"/>
              <a:t>activate</a:t>
            </a:r>
            <a:r>
              <a:rPr lang="zh-CN" altLang="en-US" dirty="0"/>
              <a:t>，然后连续做多次 </a:t>
            </a:r>
            <a:r>
              <a:rPr lang="en-US" altLang="zh-CN" dirty="0"/>
              <a:t>column access</a:t>
            </a:r>
            <a:r>
              <a:rPr lang="zh-CN" altLang="en-US" dirty="0"/>
              <a:t>；而随机访问就可能频繁跨行，导致不断地 </a:t>
            </a:r>
            <a:r>
              <a:rPr lang="en-US" altLang="zh-CN" dirty="0" err="1"/>
              <a:t>precharge</a:t>
            </a:r>
            <a:r>
              <a:rPr lang="en-US" altLang="zh-CN" dirty="0"/>
              <a:t> + activate</a:t>
            </a:r>
            <a:r>
              <a:rPr lang="zh-CN" altLang="en-US" dirty="0"/>
              <a:t>，开销很大。</a:t>
            </a:r>
          </a:p>
          <a:p>
            <a:pPr>
              <a:buFont typeface="+mj-lt"/>
              <a:buAutoNum type="arabicPeriod"/>
            </a:pPr>
            <a:r>
              <a:rPr lang="en-US" altLang="zh-CN" b="1" dirty="0"/>
              <a:t>AXI</a:t>
            </a:r>
            <a:r>
              <a:rPr lang="zh-CN" altLang="en-US" b="1" dirty="0"/>
              <a:t>／</a:t>
            </a:r>
            <a:r>
              <a:rPr lang="en-US" altLang="zh-CN" b="1" dirty="0"/>
              <a:t>DMA </a:t>
            </a:r>
            <a:r>
              <a:rPr lang="zh-CN" altLang="en-US" b="1" dirty="0"/>
              <a:t>协议的突发传输支持</a:t>
            </a:r>
            <a:endParaRPr lang="zh-CN" altLang="en-US" dirty="0"/>
          </a:p>
          <a:p>
            <a:pPr marL="742950" lvl="1" indent="-285750">
              <a:buFont typeface="+mj-lt"/>
              <a:buAutoNum type="arabicPeriod"/>
            </a:pPr>
            <a:r>
              <a:rPr lang="en-US" altLang="zh-CN" dirty="0"/>
              <a:t>AXI4‑Lite </a:t>
            </a:r>
            <a:r>
              <a:rPr lang="zh-CN" altLang="en-US" dirty="0"/>
              <a:t>只支持单次读写，但 </a:t>
            </a:r>
            <a:r>
              <a:rPr lang="en-US" altLang="zh-CN" dirty="0"/>
              <a:t>AXI4</a:t>
            </a:r>
            <a:r>
              <a:rPr lang="zh-CN" altLang="en-US" dirty="0"/>
              <a:t>／</a:t>
            </a:r>
            <a:r>
              <a:rPr lang="en-US" altLang="zh-CN" dirty="0"/>
              <a:t>AXI‑Stream</a:t>
            </a:r>
            <a:r>
              <a:rPr lang="zh-CN" altLang="en-US" dirty="0"/>
              <a:t>＋</a:t>
            </a:r>
            <a:r>
              <a:rPr lang="en-US" altLang="zh-CN" dirty="0"/>
              <a:t>DMA </a:t>
            </a:r>
            <a:r>
              <a:rPr lang="zh-CN" altLang="en-US" dirty="0"/>
              <a:t>可以在一次握手（一次地址 </a:t>
            </a:r>
            <a:r>
              <a:rPr lang="en-US" altLang="zh-CN" dirty="0"/>
              <a:t>phase</a:t>
            </a:r>
            <a:r>
              <a:rPr lang="zh-CN" altLang="en-US" dirty="0"/>
              <a:t>）之后，自动连续传输多拍（</a:t>
            </a:r>
            <a:r>
              <a:rPr lang="en-US" altLang="zh-CN" dirty="0"/>
              <a:t>beats</a:t>
            </a:r>
            <a:r>
              <a:rPr lang="zh-CN" altLang="en-US" dirty="0"/>
              <a:t>）。</a:t>
            </a:r>
          </a:p>
          <a:p>
            <a:pPr marL="742950" lvl="1" indent="-285750">
              <a:buFont typeface="+mj-lt"/>
              <a:buAutoNum type="arabicPeriod"/>
            </a:pPr>
            <a:r>
              <a:rPr lang="zh-CN" altLang="en-US" dirty="0"/>
              <a:t>每多传输一拍，就省去一次地址握手和总线仲裁的开销，提高了总线带宽利用率。</a:t>
            </a:r>
          </a:p>
          <a:p>
            <a:pPr>
              <a:buFont typeface="+mj-lt"/>
              <a:buAutoNum type="arabicPeriod"/>
            </a:pPr>
            <a:r>
              <a:rPr lang="zh-CN" altLang="en-US" b="1" dirty="0"/>
              <a:t>减少控制逻辑复杂度</a:t>
            </a:r>
            <a:endParaRPr lang="zh-CN" altLang="en-US" dirty="0"/>
          </a:p>
          <a:p>
            <a:pPr marL="742950" lvl="1" indent="-285750">
              <a:buFont typeface="+mj-lt"/>
              <a:buAutoNum type="arabicPeriod"/>
            </a:pPr>
            <a:r>
              <a:rPr lang="zh-CN" altLang="en-US" dirty="0"/>
              <a:t>随机访问需要复杂的地址生成、缓存管理和乱序调度；而顺序访问只要一个加法器不停地加一，控制器极其简单，延迟更低，硬件资源占用也更少。</a:t>
            </a:r>
          </a:p>
          <a:p>
            <a:pPr>
              <a:buFont typeface="+mj-lt"/>
              <a:buAutoNum type="arabicPeriod"/>
            </a:pPr>
            <a:r>
              <a:rPr lang="zh-CN" altLang="en-US" b="1" dirty="0"/>
              <a:t>深度流水线的配合</a:t>
            </a:r>
            <a:endParaRPr lang="zh-CN" altLang="en-US" dirty="0"/>
          </a:p>
          <a:p>
            <a:pPr marL="742950" lvl="1" indent="-285750">
              <a:buFont typeface="+mj-lt"/>
              <a:buAutoNum type="arabicPeriod"/>
            </a:pPr>
            <a:r>
              <a:rPr lang="zh-CN" altLang="en-US" dirty="0"/>
              <a:t>读 → 算 → 写 三个阶段可以严格按照 “元素 </a:t>
            </a:r>
            <a:r>
              <a:rPr lang="en-US" altLang="zh-CN" dirty="0"/>
              <a:t>0</a:t>
            </a:r>
            <a:r>
              <a:rPr lang="zh-CN" altLang="en-US" dirty="0"/>
              <a:t>、元素 </a:t>
            </a:r>
            <a:r>
              <a:rPr lang="en-US" altLang="zh-CN" dirty="0"/>
              <a:t>1</a:t>
            </a:r>
            <a:r>
              <a:rPr lang="zh-CN" altLang="en-US" dirty="0"/>
              <a:t>、元素 </a:t>
            </a:r>
            <a:r>
              <a:rPr lang="en-US" altLang="zh-CN" dirty="0"/>
              <a:t>2…” </a:t>
            </a:r>
            <a:r>
              <a:rPr lang="zh-CN" altLang="en-US" dirty="0"/>
              <a:t>的顺序循环推进，既能保证流水线里每个阶段都在做有用的事，又能让内存传输和计算阶段高度重叠，不会因为等待随机访问而堵塞。</a:t>
            </a:r>
          </a:p>
          <a:p>
            <a:r>
              <a:rPr lang="zh-CN" altLang="en-US" b="1" dirty="0"/>
              <a:t>总结</a:t>
            </a:r>
            <a:r>
              <a:rPr lang="zh-CN" altLang="en-US" dirty="0"/>
              <a:t>：只要按序读、算、写，就能把一次次小的随机访问，合并成大块的、顺序的突发（</a:t>
            </a:r>
            <a:r>
              <a:rPr lang="en-US" altLang="zh-CN" dirty="0"/>
              <a:t>burst</a:t>
            </a:r>
            <a:r>
              <a:rPr lang="zh-CN" altLang="en-US" dirty="0"/>
              <a:t>）传输，从而最大化地利用 </a:t>
            </a:r>
            <a:r>
              <a:rPr lang="en-US" altLang="zh-CN" dirty="0"/>
              <a:t>DRAM/HBM </a:t>
            </a:r>
            <a:r>
              <a:rPr lang="zh-CN" altLang="en-US" dirty="0"/>
              <a:t>的行缓冲、减少握手开销、提升总线带宽和流水线吞吐。</a:t>
            </a:r>
          </a:p>
          <a:p>
            <a:r>
              <a:rPr lang="en-US" altLang="zh-CN" dirty="0"/>
              <a:t>o3-mini</a:t>
            </a:r>
          </a:p>
          <a:p>
            <a:pPr marL="457200" lvl="1" indent="0">
              <a:buFont typeface="+mj-lt"/>
              <a:buNone/>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380652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mj-lt"/>
              <a:buAutoNum type="arabicPeriod"/>
            </a:pPr>
            <a:r>
              <a:rPr lang="zh-CN" altLang="en-US" dirty="0"/>
              <a:t>矩阵的非零元素呈现强烈的不均匀分布，尤其有“超密集”行。</a:t>
            </a:r>
          </a:p>
          <a:p>
            <a:pPr>
              <a:buFont typeface="+mj-lt"/>
              <a:buAutoNum type="arabicPeriod"/>
            </a:pPr>
            <a:r>
              <a:rPr lang="zh-CN" altLang="en-US" dirty="0"/>
              <a:t>在硬件加速（如 </a:t>
            </a:r>
            <a:r>
              <a:rPr lang="en-US" altLang="zh-CN" dirty="0"/>
              <a:t>FPGA</a:t>
            </a:r>
            <a:r>
              <a:rPr lang="zh-CN" altLang="en-US" dirty="0"/>
              <a:t>）上处理此类矩阵时，传统的循环行分配策略常常会造成某些处理单元（</a:t>
            </a:r>
            <a:r>
              <a:rPr lang="en-US" altLang="zh-CN" dirty="0"/>
              <a:t>PE</a:t>
            </a:r>
            <a:r>
              <a:rPr lang="zh-CN" altLang="en-US" dirty="0"/>
              <a:t>）负载过重，显著降低整体性能。</a:t>
            </a:r>
          </a:p>
          <a:p>
            <a:pPr>
              <a:buFont typeface="+mj-lt"/>
              <a:buAutoNum type="arabicPeriod"/>
            </a:pPr>
            <a:r>
              <a:rPr lang="zh-CN" altLang="en-US" dirty="0"/>
              <a:t>正因为这种高度不平衡的特征，该矩阵在研究如何优化 </a:t>
            </a:r>
            <a:r>
              <a:rPr lang="en-US" altLang="zh-CN" dirty="0" err="1"/>
              <a:t>SpMV</a:t>
            </a:r>
            <a:r>
              <a:rPr lang="en-US" altLang="zh-CN" dirty="0"/>
              <a:t> </a:t>
            </a:r>
            <a:r>
              <a:rPr lang="zh-CN" altLang="en-US" dirty="0"/>
              <a:t>加速时，能很好地用来测试和验证新算法或新硬件设计对不平衡负载的处理能力。</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606558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本文提出的 </a:t>
            </a:r>
            <a:r>
              <a:rPr lang="en-US" altLang="zh-CN" dirty="0" err="1"/>
              <a:t>HiSpMV</a:t>
            </a:r>
            <a:r>
              <a:rPr lang="en-US" altLang="zh-CN" dirty="0"/>
              <a:t> </a:t>
            </a:r>
            <a:r>
              <a:rPr lang="zh-CN" altLang="en-US" dirty="0"/>
              <a:t>针对不平衡稀疏矩阵（即各行非零元素分布极不均衡）在 </a:t>
            </a:r>
            <a:r>
              <a:rPr lang="en-US" altLang="zh-CN" dirty="0"/>
              <a:t>FPGA </a:t>
            </a:r>
            <a:r>
              <a:rPr lang="zh-CN" altLang="en-US" dirty="0"/>
              <a:t>上加速 </a:t>
            </a:r>
            <a:r>
              <a:rPr lang="en-US" altLang="zh-CN" dirty="0" err="1"/>
              <a:t>SpMV</a:t>
            </a:r>
            <a:r>
              <a:rPr lang="en-US" altLang="zh-CN" dirty="0"/>
              <a:t> </a:t>
            </a:r>
            <a:r>
              <a:rPr lang="zh-CN" altLang="en-US" dirty="0"/>
              <a:t>时遇到的难题，主要从以下四个方面进行了创新和优化：</a:t>
            </a:r>
          </a:p>
          <a:p>
            <a:pPr>
              <a:buFont typeface="+mj-lt"/>
              <a:buAutoNum type="arabicPeriod"/>
            </a:pPr>
            <a:r>
              <a:rPr lang="zh-CN" altLang="en-US" b="1" dirty="0"/>
              <a:t>混合行分配网络</a:t>
            </a:r>
            <a:endParaRPr lang="zh-CN" altLang="en-US" dirty="0"/>
          </a:p>
          <a:p>
            <a:pPr marL="742950" lvl="1" indent="-285750">
              <a:buFont typeface="+mj-lt"/>
              <a:buAutoNum type="arabicPeriod"/>
            </a:pPr>
            <a:r>
              <a:rPr lang="zh-CN" altLang="en-US" dirty="0"/>
              <a:t>传统的行分配策略通常是将矩阵行均匀地分配给各个 </a:t>
            </a:r>
            <a:r>
              <a:rPr lang="en-US" altLang="zh-CN" dirty="0"/>
              <a:t>PE</a:t>
            </a:r>
            <a:r>
              <a:rPr lang="zh-CN" altLang="en-US" dirty="0"/>
              <a:t>，这在大多数均衡矩阵中能达到较好的效果。</a:t>
            </a:r>
          </a:p>
          <a:p>
            <a:pPr marL="742950" lvl="1" indent="-285750">
              <a:buFont typeface="+mj-lt"/>
              <a:buAutoNum type="arabicPeriod"/>
            </a:pPr>
            <a:r>
              <a:rPr lang="zh-CN" altLang="en-US" dirty="0"/>
              <a:t>但对于不平衡矩阵，一些行的非零元素远多于其他行，导致单个 </a:t>
            </a:r>
            <a:r>
              <a:rPr lang="en-US" altLang="zh-CN" dirty="0"/>
              <a:t>PE </a:t>
            </a:r>
            <a:r>
              <a:rPr lang="zh-CN" altLang="en-US" dirty="0"/>
              <a:t>负载过重。</a:t>
            </a:r>
          </a:p>
          <a:p>
            <a:pPr marL="742950" lvl="1" indent="-285750">
              <a:buFont typeface="+mj-lt"/>
              <a:buAutoNum type="arabicPeriod"/>
            </a:pPr>
            <a:r>
              <a:rPr lang="zh-CN" altLang="en-US" dirty="0"/>
              <a:t>为此，</a:t>
            </a:r>
            <a:r>
              <a:rPr lang="en-US" altLang="zh-CN" dirty="0" err="1"/>
              <a:t>HiSpMV</a:t>
            </a:r>
            <a:r>
              <a:rPr lang="en-US" altLang="zh-CN" dirty="0"/>
              <a:t> </a:t>
            </a:r>
            <a:r>
              <a:rPr lang="zh-CN" altLang="en-US" dirty="0"/>
              <a:t>设计了混合行分配网络，使得同一组 </a:t>
            </a:r>
            <a:r>
              <a:rPr lang="en-US" altLang="zh-CN" dirty="0"/>
              <a:t>PE </a:t>
            </a:r>
            <a:r>
              <a:rPr lang="zh-CN" altLang="en-US" dirty="0"/>
              <a:t>能够根据实际情况选择：</a:t>
            </a:r>
          </a:p>
          <a:p>
            <a:pPr marL="1143000" lvl="2" indent="-228600">
              <a:buFont typeface="+mj-lt"/>
              <a:buAutoNum type="arabicPeriod"/>
            </a:pPr>
            <a:r>
              <a:rPr lang="zh-CN" altLang="en-US" b="1" dirty="0"/>
              <a:t>行间分配</a:t>
            </a:r>
            <a:r>
              <a:rPr lang="zh-CN" altLang="en-US" dirty="0"/>
              <a:t>：各 </a:t>
            </a:r>
            <a:r>
              <a:rPr lang="en-US" altLang="zh-CN" dirty="0"/>
              <a:t>PE </a:t>
            </a:r>
            <a:r>
              <a:rPr lang="zh-CN" altLang="en-US" dirty="0"/>
              <a:t>分别处理不同的行（适用于负载相对均衡的情况）。</a:t>
            </a:r>
          </a:p>
          <a:p>
            <a:pPr marL="1143000" lvl="2" indent="-228600">
              <a:buFont typeface="+mj-lt"/>
              <a:buAutoNum type="arabicPeriod"/>
            </a:pPr>
            <a:r>
              <a:rPr lang="zh-CN" altLang="en-US" b="1" dirty="0"/>
              <a:t>行内分配</a:t>
            </a:r>
            <a:r>
              <a:rPr lang="zh-CN" altLang="en-US" dirty="0"/>
              <a:t>：多个 </a:t>
            </a:r>
            <a:r>
              <a:rPr lang="en-US" altLang="zh-CN" dirty="0"/>
              <a:t>PE </a:t>
            </a:r>
            <a:r>
              <a:rPr lang="zh-CN" altLang="en-US" dirty="0"/>
              <a:t>协同处理同一行（适用于某一行特别密集的情况）。</a:t>
            </a:r>
          </a:p>
          <a:p>
            <a:pPr marL="742950" lvl="1" indent="-285750">
              <a:buFont typeface="+mj-lt"/>
              <a:buAutoNum type="arabicPeriod"/>
            </a:pPr>
            <a:r>
              <a:rPr lang="zh-CN" altLang="en-US" dirty="0"/>
              <a:t>这种设计有助于在面对不平衡矩阵时达到更均衡的工作负载分配，从而提高整体加速效率。</a:t>
            </a:r>
          </a:p>
          <a:p>
            <a:pPr>
              <a:buFont typeface="+mj-lt"/>
              <a:buAutoNum type="arabicPeriod"/>
            </a:pPr>
            <a:r>
              <a:rPr lang="zh-CN" altLang="en-US" b="1" dirty="0"/>
              <a:t>全流水线浮点累加</a:t>
            </a:r>
            <a:endParaRPr lang="zh-CN" altLang="en-US" dirty="0"/>
          </a:p>
          <a:p>
            <a:pPr marL="742950" lvl="1" indent="-285750">
              <a:buFont typeface="+mj-lt"/>
              <a:buAutoNum type="arabicPeriod"/>
            </a:pPr>
            <a:r>
              <a:rPr lang="zh-CN" altLang="en-US" dirty="0"/>
              <a:t>在 </a:t>
            </a:r>
            <a:r>
              <a:rPr lang="en-US" altLang="zh-CN" dirty="0" err="1"/>
              <a:t>SpMV</a:t>
            </a:r>
            <a:r>
              <a:rPr lang="en-US" altLang="zh-CN" dirty="0"/>
              <a:t> </a:t>
            </a:r>
            <a:r>
              <a:rPr lang="zh-CN" altLang="en-US" dirty="0"/>
              <a:t>运算中，对同一行的非零元素进行累加时，由于浮点加法延迟较长，会产生长距离的读后写依赖，从而导致流水线停顿。</a:t>
            </a:r>
          </a:p>
          <a:p>
            <a:pPr marL="742950" lvl="1" indent="-285750">
              <a:buFont typeface="+mj-lt"/>
              <a:buAutoNum type="arabicPeriod"/>
            </a:pPr>
            <a:r>
              <a:rPr lang="zh-CN" altLang="en-US" dirty="0"/>
              <a:t>为了解决这一问题，</a:t>
            </a:r>
            <a:r>
              <a:rPr lang="en-US" altLang="zh-CN" dirty="0" err="1"/>
              <a:t>HiSpMV</a:t>
            </a:r>
            <a:r>
              <a:rPr lang="en-US" altLang="zh-CN" dirty="0"/>
              <a:t> </a:t>
            </a:r>
            <a:r>
              <a:rPr lang="zh-CN" altLang="en-US" dirty="0"/>
              <a:t>采用了两种策略：</a:t>
            </a:r>
          </a:p>
          <a:p>
            <a:pPr marL="1143000" lvl="2" indent="-228600">
              <a:buFont typeface="+mj-lt"/>
              <a:buAutoNum type="arabicPeriod"/>
            </a:pPr>
            <a:r>
              <a:rPr lang="zh-CN" altLang="en-US" b="1" dirty="0"/>
              <a:t>基于寄存器的循环缓冲器</a:t>
            </a:r>
            <a:r>
              <a:rPr lang="zh-CN" altLang="en-US" dirty="0"/>
              <a:t>：在每个 </a:t>
            </a:r>
            <a:r>
              <a:rPr lang="en-US" altLang="zh-CN" dirty="0"/>
              <a:t>PE </a:t>
            </a:r>
            <a:r>
              <a:rPr lang="zh-CN" altLang="en-US" dirty="0"/>
              <a:t>内部设置一个小型循环缓冲器，用于存储中间累加结果，这样可以快速访问数据，将原本大约 </a:t>
            </a:r>
            <a:r>
              <a:rPr lang="en-US" altLang="zh-CN" dirty="0"/>
              <a:t>10 </a:t>
            </a:r>
            <a:r>
              <a:rPr lang="zh-CN" altLang="en-US" dirty="0"/>
              <a:t>个周期的依赖距离降低到 </a:t>
            </a:r>
            <a:r>
              <a:rPr lang="en-US" altLang="zh-CN" dirty="0"/>
              <a:t>5 </a:t>
            </a:r>
            <a:r>
              <a:rPr lang="zh-CN" altLang="en-US" dirty="0"/>
              <a:t>个周期，减少等待时间。</a:t>
            </a:r>
          </a:p>
          <a:p>
            <a:pPr marL="1143000" lvl="2" indent="-228600">
              <a:buFont typeface="+mj-lt"/>
              <a:buAutoNum type="arabicPeriod"/>
            </a:pPr>
            <a:r>
              <a:rPr lang="zh-CN" altLang="en-US" b="1" dirty="0"/>
              <a:t>加法链</a:t>
            </a:r>
            <a:r>
              <a:rPr lang="zh-CN" altLang="en-US" dirty="0"/>
              <a:t>：通过一个小型加法链，在等待前一个累加结果完成期间，提前将同一行的部分结果进行预加，从而在后续周期内直接将预加结果与缓冲器中的旧结果相加，避免了流水线因等待而产生的空泡。</a:t>
            </a:r>
          </a:p>
          <a:p>
            <a:pPr marL="742950" lvl="1" indent="-285750">
              <a:buFont typeface="+mj-lt"/>
              <a:buAutoNum type="arabicPeriod"/>
            </a:pPr>
            <a:r>
              <a:rPr lang="zh-CN" altLang="en-US" dirty="0"/>
              <a:t>这两项技术的结合，使得浮点累加能够实现全流水线化，极大地提高了累加部分的处理效率。</a:t>
            </a:r>
          </a:p>
          <a:p>
            <a:pPr>
              <a:buFont typeface="+mj-lt"/>
              <a:buAutoNum type="arabicPeriod"/>
            </a:pPr>
            <a:r>
              <a:rPr lang="zh-CN" altLang="en-US" b="1" dirty="0"/>
              <a:t>输入向量的混合缓冲</a:t>
            </a:r>
            <a:endParaRPr lang="zh-CN" altLang="en-US" dirty="0"/>
          </a:p>
          <a:p>
            <a:pPr marL="742950" lvl="1" indent="-285750">
              <a:buFont typeface="+mj-lt"/>
              <a:buAutoNum type="arabicPeriod"/>
            </a:pPr>
            <a:r>
              <a:rPr lang="en-US" altLang="zh-CN" dirty="0" err="1"/>
              <a:t>SpMV</a:t>
            </a:r>
            <a:r>
              <a:rPr lang="en-US" altLang="zh-CN" dirty="0"/>
              <a:t> </a:t>
            </a:r>
            <a:r>
              <a:rPr lang="zh-CN" altLang="en-US" dirty="0"/>
              <a:t>运算中除了处理稀疏矩阵外，还需要频繁加载输入向量数据。对于低密度矩阵，输入向量加载可能成为新的性能瓶颈。</a:t>
            </a:r>
          </a:p>
          <a:p>
            <a:pPr marL="742950" lvl="1" indent="-285750">
              <a:buFont typeface="+mj-lt"/>
              <a:buAutoNum type="arabicPeriod"/>
            </a:pPr>
            <a:r>
              <a:rPr lang="zh-CN" altLang="en-US" dirty="0"/>
              <a:t>为此，</a:t>
            </a:r>
            <a:r>
              <a:rPr lang="en-US" altLang="zh-CN" dirty="0" err="1"/>
              <a:t>HiSpMV</a:t>
            </a:r>
            <a:r>
              <a:rPr lang="en-US" altLang="zh-CN" dirty="0"/>
              <a:t> </a:t>
            </a:r>
            <a:r>
              <a:rPr lang="zh-CN" altLang="en-US" dirty="0"/>
              <a:t>提出了一种混合缓冲技术，允许同一组片上缓冲器有两种使用模式：</a:t>
            </a:r>
          </a:p>
          <a:p>
            <a:pPr marL="1143000" lvl="2" indent="-228600">
              <a:buFont typeface="+mj-lt"/>
              <a:buAutoNum type="arabicPeriod"/>
            </a:pPr>
            <a:r>
              <a:rPr lang="zh-CN" altLang="en-US" b="1" dirty="0"/>
              <a:t>私有分区模式</a:t>
            </a:r>
            <a:r>
              <a:rPr lang="zh-CN" altLang="en-US" dirty="0"/>
              <a:t>：每个 </a:t>
            </a:r>
            <a:r>
              <a:rPr lang="en-US" altLang="zh-CN" dirty="0"/>
              <a:t>PE </a:t>
            </a:r>
            <a:r>
              <a:rPr lang="zh-CN" altLang="en-US" dirty="0"/>
              <a:t>拥有独立的缓冲副本，适用于计算成为主要瓶颈的情况。</a:t>
            </a:r>
          </a:p>
          <a:p>
            <a:pPr marL="1143000" lvl="2" indent="-228600">
              <a:buFont typeface="+mj-lt"/>
              <a:buAutoNum type="arabicPeriod"/>
            </a:pPr>
            <a:r>
              <a:rPr lang="zh-CN" altLang="en-US" b="1" dirty="0"/>
              <a:t>共享的 </a:t>
            </a:r>
            <a:r>
              <a:rPr lang="en-US" altLang="zh-CN" b="1" dirty="0"/>
              <a:t>ping-pong </a:t>
            </a:r>
            <a:r>
              <a:rPr lang="zh-CN" altLang="en-US" b="1" dirty="0"/>
              <a:t>模式</a:t>
            </a:r>
            <a:r>
              <a:rPr lang="zh-CN" altLang="en-US" dirty="0"/>
              <a:t>：两个 </a:t>
            </a:r>
            <a:r>
              <a:rPr lang="en-US" altLang="zh-CN" dirty="0"/>
              <a:t>PE </a:t>
            </a:r>
            <a:r>
              <a:rPr lang="zh-CN" altLang="en-US" dirty="0"/>
              <a:t>共享同一缓冲器，通过交替读写来隐藏输入向量加载的延迟，适用于低密度矩阵中输入向量加载成为瓶颈的情况。</a:t>
            </a:r>
          </a:p>
          <a:p>
            <a:pPr marL="742950" lvl="1" indent="-285750">
              <a:buFont typeface="+mj-lt"/>
              <a:buAutoNum type="arabicPeriod"/>
            </a:pPr>
            <a:r>
              <a:rPr lang="zh-CN" altLang="en-US" dirty="0"/>
              <a:t>这种灵活的缓冲方案能够根据矩阵密度动态切换，确保不同场景下都能高效工作。</a:t>
            </a:r>
          </a:p>
          <a:p>
            <a:r>
              <a:rPr lang="en-US" altLang="zh-CN" b="1" dirty="0"/>
              <a:t>4. </a:t>
            </a:r>
            <a:r>
              <a:rPr lang="zh-CN" altLang="en-US" b="1" dirty="0"/>
              <a:t>自动化工具</a:t>
            </a:r>
            <a:endParaRPr lang="zh-CN" altLang="en-US" dirty="0"/>
          </a:p>
          <a:p>
            <a:pPr>
              <a:buFont typeface="Arial" panose="020B0604020202020204" pitchFamily="34" charset="0"/>
              <a:buChar char="•"/>
            </a:pPr>
            <a:r>
              <a:rPr lang="zh-CN" altLang="en-US" dirty="0"/>
              <a:t>为了便于用户在不同 </a:t>
            </a:r>
            <a:r>
              <a:rPr lang="en-US" altLang="zh-CN" dirty="0"/>
              <a:t>FPGA </a:t>
            </a:r>
            <a:r>
              <a:rPr lang="zh-CN" altLang="en-US" dirty="0"/>
              <a:t>平台上进行设计空间探索和优化，</a:t>
            </a:r>
            <a:r>
              <a:rPr lang="en-US" altLang="zh-CN" dirty="0" err="1"/>
              <a:t>HiSpMV</a:t>
            </a:r>
            <a:r>
              <a:rPr lang="en-US" altLang="zh-CN" dirty="0"/>
              <a:t> </a:t>
            </a:r>
            <a:r>
              <a:rPr lang="zh-CN" altLang="en-US" dirty="0"/>
              <a:t>提供了一个自动化工具，该工具基于 </a:t>
            </a:r>
            <a:r>
              <a:rPr lang="en-US" altLang="zh-CN" dirty="0"/>
              <a:t>Vitis HLS </a:t>
            </a:r>
            <a:r>
              <a:rPr lang="zh-CN" altLang="en-US" dirty="0"/>
              <a:t>环境，用户可以通过配置选项选择是否启用各项优化，并设置设计参数（如 </a:t>
            </a:r>
            <a:r>
              <a:rPr lang="en-US" altLang="zh-CN" dirty="0"/>
              <a:t>HBM </a:t>
            </a:r>
            <a:r>
              <a:rPr lang="zh-CN" altLang="en-US" dirty="0"/>
              <a:t>通道数、</a:t>
            </a:r>
            <a:r>
              <a:rPr lang="en-US" altLang="zh-CN" dirty="0"/>
              <a:t>PE </a:t>
            </a:r>
            <a:r>
              <a:rPr lang="zh-CN" altLang="en-US" dirty="0"/>
              <a:t>数量等）。</a:t>
            </a:r>
          </a:p>
          <a:p>
            <a:pPr>
              <a:buFont typeface="Arial" panose="020B0604020202020204" pitchFamily="34" charset="0"/>
              <a:buChar char="•"/>
            </a:pPr>
            <a:r>
              <a:rPr lang="zh-CN" altLang="en-US" dirty="0"/>
              <a:t>此外，该工具与 </a:t>
            </a:r>
            <a:r>
              <a:rPr lang="en-US" altLang="zh-CN" dirty="0"/>
              <a:t>PASTA </a:t>
            </a:r>
            <a:r>
              <a:rPr lang="zh-CN" altLang="en-US" dirty="0"/>
              <a:t>任务并行 </a:t>
            </a:r>
            <a:r>
              <a:rPr lang="en-US" altLang="zh-CN" dirty="0"/>
              <a:t>HLS </a:t>
            </a:r>
            <a:r>
              <a:rPr lang="zh-CN" altLang="en-US" dirty="0"/>
              <a:t>编程框架集成，不仅有助于改善时序闭合问题，还利用了其缓冲通道特性来实现混合缓冲方案，从而大大简化了设计和验证过程。</a:t>
            </a:r>
          </a:p>
          <a:p>
            <a:endParaRPr lang="en-US" altLang="zh-CN" dirty="0"/>
          </a:p>
          <a:p>
            <a:pPr>
              <a:buFont typeface="+mj-lt"/>
              <a:buAutoNum type="arabicPeriod"/>
            </a:pPr>
            <a:r>
              <a:rPr lang="zh-CN" altLang="en-US" b="1" dirty="0"/>
              <a:t>整体架构设计</a:t>
            </a:r>
            <a:endParaRPr lang="zh-CN" altLang="en-US" dirty="0"/>
          </a:p>
          <a:p>
            <a:pPr marL="742950" lvl="1" indent="-285750">
              <a:buFont typeface="+mj-lt"/>
              <a:buAutoNum type="arabicPeriod"/>
            </a:pPr>
            <a:r>
              <a:rPr lang="zh-CN" altLang="en-US" b="1" dirty="0"/>
              <a:t>基于 </a:t>
            </a:r>
            <a:r>
              <a:rPr lang="en-US" altLang="zh-CN" b="1" dirty="0"/>
              <a:t>Serpens </a:t>
            </a:r>
            <a:r>
              <a:rPr lang="zh-CN" altLang="en-US" b="1" dirty="0"/>
              <a:t>构建</a:t>
            </a:r>
            <a:r>
              <a:rPr lang="zh-CN" altLang="en-US" dirty="0"/>
              <a:t>：</a:t>
            </a:r>
            <a:r>
              <a:rPr lang="en-US" altLang="zh-CN" dirty="0" err="1"/>
              <a:t>HiSpMV</a:t>
            </a:r>
            <a:r>
              <a:rPr lang="en-US" altLang="zh-CN" dirty="0"/>
              <a:t> </a:t>
            </a:r>
            <a:r>
              <a:rPr lang="zh-CN" altLang="en-US" dirty="0"/>
              <a:t>的设计是在已有高性能 </a:t>
            </a:r>
            <a:r>
              <a:rPr lang="en-US" altLang="zh-CN" dirty="0" err="1"/>
              <a:t>SpMV</a:t>
            </a:r>
            <a:r>
              <a:rPr lang="en-US" altLang="zh-CN" dirty="0"/>
              <a:t> </a:t>
            </a:r>
            <a:r>
              <a:rPr lang="zh-CN" altLang="en-US" dirty="0"/>
              <a:t>加速器 </a:t>
            </a:r>
            <a:r>
              <a:rPr lang="en-US" altLang="zh-CN" dirty="0"/>
              <a:t>Serpens </a:t>
            </a:r>
            <a:r>
              <a:rPr lang="zh-CN" altLang="en-US" dirty="0"/>
              <a:t>的基础上进行的，这样可以利用 </a:t>
            </a:r>
            <a:r>
              <a:rPr lang="en-US" altLang="zh-CN" dirty="0"/>
              <a:t>Serpens </a:t>
            </a:r>
            <a:r>
              <a:rPr lang="zh-CN" altLang="en-US" dirty="0"/>
              <a:t>的优势，再加入新的优化特性（如混合行分配、全流水线累加、混合缓冲技术等）以及自动化设计工具来进一步提升性能。</a:t>
            </a:r>
          </a:p>
          <a:p>
            <a:pPr>
              <a:buFont typeface="+mj-lt"/>
              <a:buAutoNum type="arabicPeriod"/>
            </a:pPr>
            <a:r>
              <a:rPr lang="zh-CN" altLang="en-US" b="1" dirty="0"/>
              <a:t>模块划分与数据流</a:t>
            </a:r>
            <a:endParaRPr lang="zh-CN" altLang="en-US" dirty="0"/>
          </a:p>
          <a:p>
            <a:pPr marL="742950" lvl="1" indent="-285750">
              <a:buFont typeface="+mj-lt"/>
              <a:buAutoNum type="arabicPeriod"/>
            </a:pPr>
            <a:r>
              <a:rPr lang="zh-CN" altLang="en-US" b="1" dirty="0"/>
              <a:t>输入向量加载模块</a:t>
            </a:r>
            <a:r>
              <a:rPr lang="zh-CN" altLang="en-US" dirty="0"/>
              <a:t>：首先，将输入向量 </a:t>
            </a:r>
            <a:r>
              <a:rPr lang="en-US" altLang="zh-CN" dirty="0"/>
              <a:t>x® </a:t>
            </a:r>
            <a:r>
              <a:rPr lang="zh-CN" altLang="en-US" dirty="0"/>
              <a:t>的加载单独划分为一个模块，与后续计算模块（处理引擎组，</a:t>
            </a:r>
            <a:r>
              <a:rPr lang="en-US" altLang="zh-CN" dirty="0"/>
              <a:t>PEG</a:t>
            </a:r>
            <a:r>
              <a:rPr lang="zh-CN" altLang="en-US" dirty="0"/>
              <a:t>）分离。这样做的好处是，可以专门优化数据加载部分，并且利用一个专用的缓冲通道实现模块间的通信，从而为混合缓冲技术提供支持。</a:t>
            </a:r>
          </a:p>
          <a:p>
            <a:pPr marL="742950" lvl="1" indent="-285750">
              <a:buFont typeface="+mj-lt"/>
              <a:buAutoNum type="arabicPeriod"/>
            </a:pPr>
            <a:r>
              <a:rPr lang="zh-CN" altLang="en-US" b="1" dirty="0"/>
              <a:t>缓冲通道</a:t>
            </a:r>
            <a:r>
              <a:rPr lang="zh-CN" altLang="en-US" dirty="0"/>
              <a:t>：用来在输入向量加载模块和 </a:t>
            </a:r>
            <a:r>
              <a:rPr lang="en-US" altLang="zh-CN" dirty="0"/>
              <a:t>PEG </a:t>
            </a:r>
            <a:r>
              <a:rPr lang="zh-CN" altLang="en-US" dirty="0"/>
              <a:t>之间传递数据。所有这些缓冲通道都采用 </a:t>
            </a:r>
            <a:r>
              <a:rPr lang="en-US" altLang="zh-CN" dirty="0"/>
              <a:t>512 </a:t>
            </a:r>
            <a:r>
              <a:rPr lang="zh-CN" altLang="en-US" dirty="0"/>
              <a:t>位宽，以确保数据传输的高带宽和效率。</a:t>
            </a:r>
          </a:p>
          <a:p>
            <a:pPr marL="742950" lvl="1" indent="-285750">
              <a:buFont typeface="+mj-lt"/>
              <a:buAutoNum type="arabicPeriod"/>
            </a:pPr>
            <a:r>
              <a:rPr lang="zh-CN" altLang="en-US" b="1" dirty="0"/>
              <a:t>累加与输出模块（</a:t>
            </a:r>
            <a:r>
              <a:rPr lang="en-US" altLang="zh-CN" b="1" dirty="0" err="1"/>
              <a:t>y_Ax</a:t>
            </a:r>
            <a:r>
              <a:rPr lang="en-US" altLang="zh-CN" b="1" dirty="0"/>
              <a:t> </a:t>
            </a:r>
            <a:r>
              <a:rPr lang="zh-CN" altLang="en-US" b="1" dirty="0"/>
              <a:t>处理器）</a:t>
            </a:r>
            <a:r>
              <a:rPr lang="zh-CN" altLang="en-US" dirty="0"/>
              <a:t>：原本在 </a:t>
            </a:r>
            <a:r>
              <a:rPr lang="en-US" altLang="zh-CN" dirty="0"/>
              <a:t>PEG </a:t>
            </a:r>
            <a:r>
              <a:rPr lang="zh-CN" altLang="en-US" dirty="0"/>
              <a:t>内部进行的累加和输出缓冲区被移到了专用的 </a:t>
            </a:r>
            <a:r>
              <a:rPr lang="en-US" altLang="zh-CN" dirty="0" err="1"/>
              <a:t>y_Ax</a:t>
            </a:r>
            <a:r>
              <a:rPr lang="en-US" altLang="zh-CN" dirty="0"/>
              <a:t> </a:t>
            </a:r>
            <a:r>
              <a:rPr lang="zh-CN" altLang="en-US" dirty="0"/>
              <a:t>处理器模块中。这样可以将数据累加和后续输出操作独立出来，便于专门优化这些步骤。</a:t>
            </a:r>
          </a:p>
          <a:p>
            <a:pPr>
              <a:buFont typeface="+mj-lt"/>
              <a:buAutoNum type="arabicPeriod"/>
            </a:pPr>
            <a:r>
              <a:rPr lang="zh-CN" altLang="en-US" b="1" dirty="0"/>
              <a:t>处理引擎组 </a:t>
            </a:r>
            <a:r>
              <a:rPr lang="en-US" altLang="zh-CN" b="1" dirty="0"/>
              <a:t>(PEG) </a:t>
            </a:r>
            <a:r>
              <a:rPr lang="zh-CN" altLang="en-US" b="1" dirty="0"/>
              <a:t>与 </a:t>
            </a:r>
            <a:r>
              <a:rPr lang="en-US" altLang="zh-CN" b="1" dirty="0"/>
              <a:t>PE</a:t>
            </a:r>
            <a:endParaRPr lang="zh-CN" altLang="en-US" dirty="0"/>
          </a:p>
          <a:p>
            <a:pPr marL="742950" lvl="1" indent="-285750">
              <a:buFont typeface="+mj-lt"/>
              <a:buAutoNum type="arabicPeriod"/>
            </a:pPr>
            <a:r>
              <a:rPr lang="en-US" altLang="zh-CN" b="1" dirty="0"/>
              <a:t>PEG </a:t>
            </a:r>
            <a:r>
              <a:rPr lang="zh-CN" altLang="en-US" b="1" dirty="0"/>
              <a:t>结构</a:t>
            </a:r>
            <a:r>
              <a:rPr lang="zh-CN" altLang="en-US" dirty="0"/>
              <a:t>：每个 </a:t>
            </a:r>
            <a:r>
              <a:rPr lang="en-US" altLang="zh-CN" dirty="0"/>
              <a:t>PEG </a:t>
            </a:r>
            <a:r>
              <a:rPr lang="zh-CN" altLang="en-US" dirty="0"/>
              <a:t>内包含 </a:t>
            </a:r>
            <a:r>
              <a:rPr lang="en-US" altLang="zh-CN" dirty="0"/>
              <a:t>2 </a:t>
            </a:r>
            <a:r>
              <a:rPr lang="zh-CN" altLang="en-US" dirty="0"/>
              <a:t>个处理单元（</a:t>
            </a:r>
            <a:r>
              <a:rPr lang="en-US" altLang="zh-CN" dirty="0"/>
              <a:t>PE</a:t>
            </a:r>
            <a:r>
              <a:rPr lang="zh-CN" altLang="en-US" dirty="0"/>
              <a:t>），而一个 </a:t>
            </a:r>
            <a:r>
              <a:rPr lang="en-US" altLang="zh-CN" dirty="0"/>
              <a:t>HBM </a:t>
            </a:r>
            <a:r>
              <a:rPr lang="zh-CN" altLang="en-US" dirty="0"/>
              <a:t>通道用于流式传输稀疏矩阵 </a:t>
            </a:r>
            <a:r>
              <a:rPr lang="en-US" altLang="zh-CN" dirty="0"/>
              <a:t>A</a:t>
            </a:r>
            <a:r>
              <a:rPr lang="zh-CN" altLang="en-US" dirty="0"/>
              <a:t>，每个通道服务于 </a:t>
            </a:r>
            <a:r>
              <a:rPr lang="en-US" altLang="zh-CN" dirty="0"/>
              <a:t>4 </a:t>
            </a:r>
            <a:r>
              <a:rPr lang="zh-CN" altLang="en-US" dirty="0"/>
              <a:t>个 </a:t>
            </a:r>
            <a:r>
              <a:rPr lang="en-US" altLang="zh-CN" dirty="0"/>
              <a:t>PEG</a:t>
            </a:r>
            <a:r>
              <a:rPr lang="zh-CN" altLang="en-US" dirty="0"/>
              <a:t>，这样可以充分利用多个 </a:t>
            </a:r>
            <a:r>
              <a:rPr lang="en-US" altLang="zh-CN" dirty="0"/>
              <a:t>HBM </a:t>
            </a:r>
            <a:r>
              <a:rPr lang="zh-CN" altLang="en-US" dirty="0"/>
              <a:t>通道实现并行数据传输。</a:t>
            </a:r>
          </a:p>
          <a:p>
            <a:pPr marL="742950" lvl="1" indent="-285750">
              <a:buFont typeface="+mj-lt"/>
              <a:buAutoNum type="arabicPeriod"/>
            </a:pPr>
            <a:r>
              <a:rPr lang="en-US" altLang="zh-CN" b="1" dirty="0"/>
              <a:t>PE </a:t>
            </a:r>
            <a:r>
              <a:rPr lang="zh-CN" altLang="en-US" b="1" dirty="0"/>
              <a:t>的工作</a:t>
            </a:r>
            <a:r>
              <a:rPr lang="zh-CN" altLang="en-US" dirty="0"/>
              <a:t>：每个 </a:t>
            </a:r>
            <a:r>
              <a:rPr lang="en-US" altLang="zh-CN" dirty="0"/>
              <a:t>PE </a:t>
            </a:r>
            <a:r>
              <a:rPr lang="zh-CN" altLang="en-US" dirty="0"/>
              <a:t>从片上缓冲的输入向量中获取对应的数据，与矩阵 </a:t>
            </a:r>
            <a:r>
              <a:rPr lang="en-US" altLang="zh-CN" dirty="0"/>
              <a:t>A </a:t>
            </a:r>
            <a:r>
              <a:rPr lang="zh-CN" altLang="en-US" dirty="0"/>
              <a:t>中的非零元素（</a:t>
            </a:r>
            <a:r>
              <a:rPr lang="en-US" altLang="zh-CN" dirty="0"/>
              <a:t>arc</a:t>
            </a:r>
            <a:r>
              <a:rPr lang="zh-CN" altLang="en-US" dirty="0"/>
              <a:t>）相乘。这个操作按照算法 </a:t>
            </a:r>
            <a:r>
              <a:rPr lang="en-US" altLang="zh-CN" dirty="0"/>
              <a:t>1 </a:t>
            </a:r>
            <a:r>
              <a:rPr lang="zh-CN" altLang="en-US" dirty="0"/>
              <a:t>的描述进行，并且需要对乘积结果进行路由判断。</a:t>
            </a:r>
          </a:p>
          <a:p>
            <a:pPr>
              <a:buFont typeface="+mj-lt"/>
              <a:buAutoNum type="arabicPeriod"/>
            </a:pPr>
            <a:r>
              <a:rPr lang="zh-CN" altLang="en-US" b="1" dirty="0"/>
              <a:t>路由与混合行分配网络</a:t>
            </a:r>
            <a:endParaRPr lang="zh-CN" altLang="en-US" dirty="0"/>
          </a:p>
          <a:p>
            <a:pPr marL="742950" lvl="1" indent="-285750">
              <a:buFont typeface="+mj-lt"/>
              <a:buAutoNum type="arabicPeriod"/>
            </a:pPr>
            <a:r>
              <a:rPr lang="zh-CN" altLang="en-US" b="1" dirty="0"/>
              <a:t>行分配信息解码</a:t>
            </a:r>
            <a:r>
              <a:rPr lang="zh-CN" altLang="en-US" dirty="0"/>
              <a:t>：每个 </a:t>
            </a:r>
            <a:r>
              <a:rPr lang="en-US" altLang="zh-CN" dirty="0"/>
              <a:t>PE </a:t>
            </a:r>
            <a:r>
              <a:rPr lang="zh-CN" altLang="en-US" dirty="0"/>
              <a:t>根据预处理阶段生成的编码信息，确定乘积结果应路由到哪个 </a:t>
            </a:r>
            <a:r>
              <a:rPr lang="en-US" altLang="zh-CN" dirty="0" err="1"/>
              <a:t>y_Ax</a:t>
            </a:r>
            <a:r>
              <a:rPr lang="en-US" altLang="zh-CN" dirty="0"/>
              <a:t> </a:t>
            </a:r>
            <a:r>
              <a:rPr lang="zh-CN" altLang="en-US" dirty="0"/>
              <a:t>处理器（对应 </a:t>
            </a:r>
            <a:r>
              <a:rPr lang="en-US" altLang="zh-CN" dirty="0"/>
              <a:t>bank ID</a:t>
            </a:r>
            <a:r>
              <a:rPr lang="zh-CN" altLang="en-US" dirty="0"/>
              <a:t>）。</a:t>
            </a:r>
          </a:p>
          <a:p>
            <a:pPr marL="742950" lvl="1" indent="-285750">
              <a:buFont typeface="+mj-lt"/>
              <a:buAutoNum type="arabicPeriod"/>
            </a:pPr>
            <a:r>
              <a:rPr lang="zh-CN" altLang="en-US" b="1" dirty="0"/>
              <a:t>混合行分配网络</a:t>
            </a:r>
            <a:r>
              <a:rPr lang="zh-CN" altLang="en-US" dirty="0"/>
              <a:t>：这个网络根据解码得到的 </a:t>
            </a:r>
            <a:r>
              <a:rPr lang="en-US" altLang="zh-CN" dirty="0"/>
              <a:t>bank ID</a:t>
            </a:r>
            <a:r>
              <a:rPr lang="zh-CN" altLang="en-US" dirty="0"/>
              <a:t>，将乘积结果从各个 </a:t>
            </a:r>
            <a:r>
              <a:rPr lang="en-US" altLang="zh-CN" dirty="0"/>
              <a:t>PE </a:t>
            </a:r>
            <a:r>
              <a:rPr lang="zh-CN" altLang="en-US" dirty="0"/>
              <a:t>传送到相应的 </a:t>
            </a:r>
            <a:r>
              <a:rPr lang="en-US" altLang="zh-CN" dirty="0" err="1"/>
              <a:t>y_Ax</a:t>
            </a:r>
            <a:r>
              <a:rPr lang="en-US" altLang="zh-CN" dirty="0"/>
              <a:t> </a:t>
            </a:r>
            <a:r>
              <a:rPr lang="zh-CN" altLang="en-US" dirty="0"/>
              <a:t>处理器进行累加。混合行分配网络支持两种分配模式（行间分配与行内分配），以应对矩阵行不均衡问题。</a:t>
            </a:r>
          </a:p>
          <a:p>
            <a:pPr>
              <a:buFont typeface="+mj-lt"/>
              <a:buAutoNum type="arabicPeriod"/>
            </a:pPr>
            <a:r>
              <a:rPr lang="zh-CN" altLang="en-US" b="1" dirty="0"/>
              <a:t>加法链与循环缓冲器</a:t>
            </a:r>
            <a:endParaRPr lang="zh-CN" altLang="en-US" dirty="0"/>
          </a:p>
          <a:p>
            <a:pPr marL="742950" lvl="1" indent="-285750">
              <a:buFont typeface="+mj-lt"/>
              <a:buAutoNum type="arabicPeriod"/>
            </a:pPr>
            <a:r>
              <a:rPr lang="zh-CN" altLang="en-US" b="1" dirty="0"/>
              <a:t>加法链</a:t>
            </a:r>
            <a:r>
              <a:rPr lang="zh-CN" altLang="en-US" dirty="0"/>
              <a:t>：加法链被放置在 </a:t>
            </a:r>
            <a:r>
              <a:rPr lang="en-US" altLang="zh-CN" dirty="0"/>
              <a:t>PEG </a:t>
            </a:r>
            <a:r>
              <a:rPr lang="zh-CN" altLang="en-US" dirty="0"/>
              <a:t>后面，目的是在将乘积结果传送给 </a:t>
            </a:r>
            <a:r>
              <a:rPr lang="en-US" altLang="zh-CN" dirty="0" err="1"/>
              <a:t>y_Ax</a:t>
            </a:r>
            <a:r>
              <a:rPr lang="en-US" altLang="zh-CN" dirty="0"/>
              <a:t> </a:t>
            </a:r>
            <a:r>
              <a:rPr lang="zh-CN" altLang="en-US" dirty="0"/>
              <a:t>处理器前，对这些结果进行预加，独立地将同一行的部分结果先进行加和，从而减少流水线因 </a:t>
            </a:r>
            <a:r>
              <a:rPr lang="en-US" altLang="zh-CN" dirty="0"/>
              <a:t>RAW </a:t>
            </a:r>
            <a:r>
              <a:rPr lang="zh-CN" altLang="en-US" dirty="0"/>
              <a:t>依赖而产生的停顿。</a:t>
            </a:r>
          </a:p>
          <a:p>
            <a:pPr marL="742950" lvl="1" indent="-285750">
              <a:buFont typeface="+mj-lt"/>
              <a:buAutoNum type="arabicPeriod"/>
            </a:pPr>
            <a:r>
              <a:rPr lang="zh-CN" altLang="en-US" b="1" dirty="0"/>
              <a:t>循环缓冲器</a:t>
            </a:r>
            <a:r>
              <a:rPr lang="zh-CN" altLang="en-US" dirty="0"/>
              <a:t>：每个 </a:t>
            </a:r>
            <a:r>
              <a:rPr lang="en-US" altLang="zh-CN" dirty="0" err="1"/>
              <a:t>y_Ax</a:t>
            </a:r>
            <a:r>
              <a:rPr lang="en-US" altLang="zh-CN" dirty="0"/>
              <a:t> </a:t>
            </a:r>
            <a:r>
              <a:rPr lang="zh-CN" altLang="en-US" dirty="0"/>
              <a:t>处理器内部使用基于寄存器的循环缓冲器来存储最近的中间累加结果，降低读写延迟，将依赖距离降低到 </a:t>
            </a:r>
            <a:r>
              <a:rPr lang="en-US" altLang="zh-CN" dirty="0"/>
              <a:t>5 </a:t>
            </a:r>
            <a:r>
              <a:rPr lang="zh-CN" altLang="en-US" dirty="0"/>
              <a:t>个周期，从而提高流水线效率。</a:t>
            </a:r>
          </a:p>
          <a:p>
            <a:pPr>
              <a:buFont typeface="+mj-lt"/>
              <a:buAutoNum type="arabicPeriod"/>
            </a:pPr>
            <a:r>
              <a:rPr lang="zh-CN" altLang="en-US" b="1" dirty="0"/>
              <a:t>最终数据流</a:t>
            </a:r>
            <a:endParaRPr lang="zh-CN" altLang="en-US" dirty="0"/>
          </a:p>
          <a:p>
            <a:pPr marL="742950" lvl="1" indent="-285750">
              <a:buFont typeface="+mj-lt"/>
              <a:buAutoNum type="arabicPeriod"/>
            </a:pPr>
            <a:r>
              <a:rPr lang="zh-CN" altLang="en-US" dirty="0"/>
              <a:t>当所有乘积累加完成后，得到 </a:t>
            </a:r>
            <a:r>
              <a:rPr lang="en-US" altLang="zh-CN" dirty="0" err="1"/>
              <a:t>y_Ax</a:t>
            </a:r>
            <a:r>
              <a:rPr lang="en-US" altLang="zh-CN" dirty="0"/>
              <a:t>[Rt] = A × x®</a:t>
            </a:r>
            <a:r>
              <a:rPr lang="zh-CN" altLang="en-US" dirty="0"/>
              <a:t>，然后系统会流式接入另一个向量 </a:t>
            </a:r>
            <a:r>
              <a:rPr lang="en-US" altLang="zh-CN" dirty="0" err="1"/>
              <a:t>y_in</a:t>
            </a:r>
            <a:r>
              <a:rPr lang="zh-CN" altLang="en-US" dirty="0"/>
              <a:t>，并按公式计算最终的输出向量 </a:t>
            </a:r>
            <a:r>
              <a:rPr lang="en-US" altLang="zh-CN" dirty="0" err="1"/>
              <a:t>y_out</a:t>
            </a:r>
            <a:r>
              <a:rPr lang="zh-CN" altLang="en-US" dirty="0"/>
              <a:t>（例如 </a:t>
            </a:r>
            <a:r>
              <a:rPr lang="en-US" altLang="zh-CN" dirty="0" err="1"/>
              <a:t>y_out</a:t>
            </a:r>
            <a:r>
              <a:rPr lang="en-US" altLang="zh-CN" dirty="0"/>
              <a:t> = α · </a:t>
            </a:r>
            <a:r>
              <a:rPr lang="en-US" altLang="zh-CN" dirty="0" err="1"/>
              <a:t>y_Ax</a:t>
            </a:r>
            <a:r>
              <a:rPr lang="en-US" altLang="zh-CN" dirty="0"/>
              <a:t> + β · </a:t>
            </a:r>
            <a:r>
              <a:rPr lang="en-US" altLang="zh-CN" dirty="0" err="1"/>
              <a:t>y_in</a:t>
            </a:r>
            <a:r>
              <a:rPr lang="zh-CN" altLang="en-US" dirty="0"/>
              <a:t>），最后将 </a:t>
            </a:r>
            <a:r>
              <a:rPr lang="en-US" altLang="zh-CN" dirty="0" err="1"/>
              <a:t>y_out</a:t>
            </a:r>
            <a:r>
              <a:rPr lang="en-US" altLang="zh-CN" dirty="0"/>
              <a:t> </a:t>
            </a:r>
            <a:r>
              <a:rPr lang="zh-CN" altLang="en-US" dirty="0"/>
              <a:t>流式输出。</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823660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在行间分配模式下，每个 </a:t>
            </a:r>
            <a:r>
              <a:rPr lang="en-US" altLang="zh-CN" dirty="0"/>
              <a:t>PE </a:t>
            </a:r>
            <a:r>
              <a:rPr lang="zh-CN" altLang="en-US" dirty="0"/>
              <a:t>负责处理不同的行，也就是说，一个 </a:t>
            </a:r>
            <a:r>
              <a:rPr lang="en-US" altLang="zh-CN" dirty="0"/>
              <a:t>PE </a:t>
            </a:r>
            <a:r>
              <a:rPr lang="zh-CN" altLang="en-US" dirty="0"/>
              <a:t>内部产生的乘积结果都来自不同的行，每个乘积结果都直接归属于一个完整的行的计算。因此，这些乘积结果不需要额外的加法操作来进行归约，只需要简单地将数据转发到对应的累加器即可。在这种情况下，加法器块就只起到“直通”的作用，或在没有实际运算需求的情况下输出一个虚拟数据包（</a:t>
            </a:r>
            <a:r>
              <a:rPr lang="en-US" altLang="zh-CN" dirty="0"/>
              <a:t>dummy packet</a:t>
            </a:r>
            <a:r>
              <a:rPr lang="zh-CN" altLang="en-US" dirty="0"/>
              <a:t>）。</a:t>
            </a:r>
          </a:p>
          <a:p>
            <a:r>
              <a:rPr lang="zh-CN" altLang="en-US" dirty="0"/>
              <a:t>而在行内分配模式下，多个 </a:t>
            </a:r>
            <a:r>
              <a:rPr lang="en-US" altLang="zh-CN" dirty="0"/>
              <a:t>PE </a:t>
            </a:r>
            <a:r>
              <a:rPr lang="zh-CN" altLang="en-US" dirty="0"/>
              <a:t>协同处理同一行的非零元素，这意味着来自不同 </a:t>
            </a:r>
            <a:r>
              <a:rPr lang="en-US" altLang="zh-CN" dirty="0"/>
              <a:t>PE </a:t>
            </a:r>
            <a:r>
              <a:rPr lang="zh-CN" altLang="en-US" dirty="0"/>
              <a:t>的乘积结果都属于同一行。为了得到这一行的完整累加结果，必须将这些分散的乘积结果进行加法归约，也就是把多个部分结果相加。这时，加法器块就必须真正参与到归约运算中，把多个输入的部分结果累加起来，生成一个完整的输出。</a:t>
            </a:r>
          </a:p>
          <a:p>
            <a:r>
              <a:rPr lang="zh-CN" altLang="en-US" dirty="0"/>
              <a:t>简单来说：</a:t>
            </a:r>
          </a:p>
          <a:p>
            <a:pPr>
              <a:buFont typeface="Arial" panose="020B0604020202020204" pitchFamily="34" charset="0"/>
              <a:buChar char="•"/>
            </a:pPr>
            <a:r>
              <a:rPr lang="zh-CN" altLang="en-US" b="1" dirty="0"/>
              <a:t>行间分配模式</a:t>
            </a:r>
            <a:r>
              <a:rPr lang="zh-CN" altLang="en-US" dirty="0"/>
              <a:t>：每个 </a:t>
            </a:r>
            <a:r>
              <a:rPr lang="en-US" altLang="zh-CN" dirty="0"/>
              <a:t>PE </a:t>
            </a:r>
            <a:r>
              <a:rPr lang="zh-CN" altLang="en-US" dirty="0"/>
              <a:t>处理不同的行，乘积结果不需要跨 </a:t>
            </a:r>
            <a:r>
              <a:rPr lang="en-US" altLang="zh-CN" dirty="0"/>
              <a:t>PE </a:t>
            </a:r>
            <a:r>
              <a:rPr lang="zh-CN" altLang="en-US" dirty="0"/>
              <a:t>相加，故加法器只做简单转发。</a:t>
            </a:r>
          </a:p>
          <a:p>
            <a:pPr>
              <a:buFont typeface="Arial" panose="020B0604020202020204" pitchFamily="34" charset="0"/>
              <a:buChar char="•"/>
            </a:pPr>
            <a:r>
              <a:rPr lang="zh-CN" altLang="en-US" b="1" dirty="0"/>
              <a:t>行内分配模式</a:t>
            </a:r>
            <a:r>
              <a:rPr lang="zh-CN" altLang="en-US" dirty="0"/>
              <a:t>：多个 </a:t>
            </a:r>
            <a:r>
              <a:rPr lang="en-US" altLang="zh-CN" dirty="0"/>
              <a:t>PE </a:t>
            </a:r>
            <a:r>
              <a:rPr lang="zh-CN" altLang="en-US" dirty="0"/>
              <a:t>处理同一行，同一行的乘积结果需要合并（归约），因此必须进行加法运算。</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204215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mj-lt"/>
              <a:buAutoNum type="arabicPeriod"/>
            </a:pPr>
            <a:r>
              <a:rPr lang="zh-CN" altLang="en-US" b="1" dirty="0"/>
              <a:t>整体架构与数据传输</a:t>
            </a:r>
            <a:endParaRPr lang="zh-CN" altLang="en-US" dirty="0"/>
          </a:p>
          <a:p>
            <a:pPr marL="742950" lvl="1" indent="-285750">
              <a:buFont typeface="+mj-lt"/>
              <a:buAutoNum type="arabicPeriod"/>
            </a:pPr>
            <a:r>
              <a:rPr lang="zh-CN" altLang="en-US" dirty="0"/>
              <a:t>每个读取 </a:t>
            </a:r>
            <a:r>
              <a:rPr lang="en-US" altLang="zh-CN" dirty="0"/>
              <a:t>A </a:t>
            </a:r>
            <a:r>
              <a:rPr lang="zh-CN" altLang="en-US" dirty="0"/>
              <a:t>矩阵数据的通道宽度为 </a:t>
            </a:r>
            <a:r>
              <a:rPr lang="en-US" altLang="zh-CN" dirty="0"/>
              <a:t>512 </a:t>
            </a:r>
            <a:r>
              <a:rPr lang="zh-CN" altLang="en-US" dirty="0"/>
              <a:t>位，这意味着每个周期可以从该通道传输 </a:t>
            </a:r>
            <a:r>
              <a:rPr lang="en-US" altLang="zh-CN" dirty="0"/>
              <a:t>512 </a:t>
            </a:r>
            <a:r>
              <a:rPr lang="zh-CN" altLang="en-US" dirty="0"/>
              <a:t>位数据。</a:t>
            </a:r>
          </a:p>
          <a:p>
            <a:pPr marL="742950" lvl="1" indent="-285750">
              <a:buFont typeface="+mj-lt"/>
              <a:buAutoNum type="arabicPeriod"/>
            </a:pPr>
            <a:r>
              <a:rPr lang="zh-CN" altLang="en-US" dirty="0"/>
              <a:t>为了充分利用这个带宽，一个 </a:t>
            </a:r>
            <a:r>
              <a:rPr lang="en-US" altLang="zh-CN" dirty="0"/>
              <a:t>512 </a:t>
            </a:r>
            <a:r>
              <a:rPr lang="zh-CN" altLang="en-US" dirty="0"/>
              <a:t>位通道被分成多个子部分用于不同的处理组（</a:t>
            </a:r>
            <a:r>
              <a:rPr lang="en-US" altLang="zh-CN" dirty="0"/>
              <a:t>PEG</a:t>
            </a:r>
            <a:r>
              <a:rPr lang="zh-CN" altLang="en-US" dirty="0"/>
              <a:t>）。每个通道服务 </a:t>
            </a:r>
            <a:r>
              <a:rPr lang="en-US" altLang="zh-CN" dirty="0"/>
              <a:t>4 </a:t>
            </a:r>
            <a:r>
              <a:rPr lang="zh-CN" altLang="en-US" dirty="0"/>
              <a:t>个 </a:t>
            </a:r>
            <a:r>
              <a:rPr lang="en-US" altLang="zh-CN" dirty="0"/>
              <a:t>PEG</a:t>
            </a:r>
            <a:r>
              <a:rPr lang="zh-CN" altLang="en-US" dirty="0"/>
              <a:t>，因此每个 </a:t>
            </a:r>
            <a:r>
              <a:rPr lang="en-US" altLang="zh-CN" dirty="0"/>
              <a:t>PEG </a:t>
            </a:r>
            <a:r>
              <a:rPr lang="zh-CN" altLang="en-US" dirty="0"/>
              <a:t>每周期获得 </a:t>
            </a:r>
            <a:r>
              <a:rPr lang="en-US" altLang="zh-CN" dirty="0"/>
              <a:t>128 </a:t>
            </a:r>
            <a:r>
              <a:rPr lang="zh-CN" altLang="en-US" dirty="0"/>
              <a:t>位数据。</a:t>
            </a:r>
          </a:p>
          <a:p>
            <a:pPr marL="742950" lvl="1" indent="-285750">
              <a:buFont typeface="+mj-lt"/>
              <a:buAutoNum type="arabicPeriod"/>
            </a:pPr>
            <a:r>
              <a:rPr lang="zh-CN" altLang="en-US" dirty="0"/>
              <a:t>每个 </a:t>
            </a:r>
            <a:r>
              <a:rPr lang="en-US" altLang="zh-CN" dirty="0"/>
              <a:t>PEG </a:t>
            </a:r>
            <a:r>
              <a:rPr lang="zh-CN" altLang="en-US" dirty="0"/>
              <a:t>内又有 </a:t>
            </a:r>
            <a:r>
              <a:rPr lang="en-US" altLang="zh-CN" dirty="0"/>
              <a:t>2 </a:t>
            </a:r>
            <a:r>
              <a:rPr lang="zh-CN" altLang="en-US" dirty="0"/>
              <a:t>个处理单元（</a:t>
            </a:r>
            <a:r>
              <a:rPr lang="en-US" altLang="zh-CN" dirty="0"/>
              <a:t>PE</a:t>
            </a:r>
            <a:r>
              <a:rPr lang="zh-CN" altLang="en-US" dirty="0"/>
              <a:t>），因此每个 </a:t>
            </a:r>
            <a:r>
              <a:rPr lang="en-US" altLang="zh-CN" dirty="0"/>
              <a:t>PE </a:t>
            </a:r>
            <a:r>
              <a:rPr lang="zh-CN" altLang="en-US" dirty="0"/>
              <a:t>分得 </a:t>
            </a:r>
            <a:r>
              <a:rPr lang="en-US" altLang="zh-CN" dirty="0"/>
              <a:t>64 </a:t>
            </a:r>
            <a:r>
              <a:rPr lang="zh-CN" altLang="en-US" dirty="0"/>
              <a:t>位数据。</a:t>
            </a:r>
          </a:p>
          <a:p>
            <a:pPr marL="742950" lvl="1" indent="-285750">
              <a:buFont typeface="+mj-lt"/>
              <a:buAutoNum type="arabicPeriod"/>
            </a:pPr>
            <a:r>
              <a:rPr lang="zh-CN" altLang="en-US" dirty="0"/>
              <a:t>这 </a:t>
            </a:r>
            <a:r>
              <a:rPr lang="en-US" altLang="zh-CN" dirty="0"/>
              <a:t>64 </a:t>
            </a:r>
            <a:r>
              <a:rPr lang="zh-CN" altLang="en-US" dirty="0"/>
              <a:t>位数据由多个字段组成：行号（</a:t>
            </a:r>
            <a:r>
              <a:rPr lang="en-US" altLang="zh-CN" dirty="0"/>
              <a:t>16 </a:t>
            </a:r>
            <a:r>
              <a:rPr lang="zh-CN" altLang="en-US" dirty="0"/>
              <a:t>位）、列号（</a:t>
            </a:r>
            <a:r>
              <a:rPr lang="en-US" altLang="zh-CN" dirty="0"/>
              <a:t>13 </a:t>
            </a:r>
            <a:r>
              <a:rPr lang="zh-CN" altLang="en-US" dirty="0"/>
              <a:t>位）、非零值（</a:t>
            </a:r>
            <a:r>
              <a:rPr lang="en-US" altLang="zh-CN" dirty="0"/>
              <a:t>32 </a:t>
            </a:r>
            <a:r>
              <a:rPr lang="zh-CN" altLang="en-US" dirty="0"/>
              <a:t>位）和三个标志位（标识当前数据块的结束、行结束、是否需要拆分行等信息）。</a:t>
            </a:r>
          </a:p>
          <a:p>
            <a:pPr>
              <a:buFont typeface="+mj-lt"/>
              <a:buAutoNum type="arabicPeriod"/>
            </a:pPr>
            <a:r>
              <a:rPr lang="en-US" altLang="zh-CN" b="1" dirty="0"/>
              <a:t>PE </a:t>
            </a:r>
            <a:r>
              <a:rPr lang="zh-CN" altLang="en-US" b="1" dirty="0"/>
              <a:t>的操作过程</a:t>
            </a:r>
            <a:endParaRPr lang="zh-CN" altLang="en-US" dirty="0"/>
          </a:p>
          <a:p>
            <a:pPr marL="742950" lvl="1" indent="-285750">
              <a:buFont typeface="+mj-lt"/>
              <a:buAutoNum type="arabicPeriod"/>
            </a:pPr>
            <a:r>
              <a:rPr lang="zh-CN" altLang="en-US" dirty="0"/>
              <a:t>每个 </a:t>
            </a:r>
            <a:r>
              <a:rPr lang="en-US" altLang="zh-CN" dirty="0"/>
              <a:t>PE </a:t>
            </a:r>
            <a:r>
              <a:rPr lang="zh-CN" altLang="en-US" dirty="0"/>
              <a:t>利用所获得的 </a:t>
            </a:r>
            <a:r>
              <a:rPr lang="en-US" altLang="zh-CN" dirty="0"/>
              <a:t>64 </a:t>
            </a:r>
            <a:r>
              <a:rPr lang="zh-CN" altLang="en-US" dirty="0"/>
              <a:t>位数据中的列号 </a:t>
            </a:r>
            <a:r>
              <a:rPr lang="en-US" altLang="zh-CN" dirty="0"/>
              <a:t>c</a:t>
            </a:r>
            <a:r>
              <a:rPr lang="zh-CN" altLang="en-US" dirty="0"/>
              <a:t>，从输入向量 </a:t>
            </a:r>
            <a:r>
              <a:rPr lang="en-US" altLang="zh-CN" dirty="0"/>
              <a:t>x® </a:t>
            </a:r>
            <a:r>
              <a:rPr lang="zh-CN" altLang="en-US" dirty="0"/>
              <a:t>的片上缓冲区（</a:t>
            </a:r>
            <a:r>
              <a:rPr lang="en-US" altLang="zh-CN" dirty="0" err="1"/>
              <a:t>buf_x</a:t>
            </a:r>
            <a:r>
              <a:rPr lang="en-US" altLang="zh-CN" dirty="0"/>
              <a:t>[Ct]</a:t>
            </a:r>
            <a:r>
              <a:rPr lang="zh-CN" altLang="en-US" dirty="0"/>
              <a:t>）中取出对应的 </a:t>
            </a:r>
            <a:r>
              <a:rPr lang="en-US" altLang="zh-CN" dirty="0"/>
              <a:t>32 </a:t>
            </a:r>
            <a:r>
              <a:rPr lang="zh-CN" altLang="en-US" dirty="0"/>
              <a:t>位数值 </a:t>
            </a:r>
            <a:r>
              <a:rPr lang="en-US" altLang="zh-CN" dirty="0"/>
              <a:t>xc</a:t>
            </a:r>
            <a:r>
              <a:rPr lang="zh-CN" altLang="en-US" dirty="0"/>
              <a:t>。</a:t>
            </a:r>
          </a:p>
          <a:p>
            <a:pPr marL="742950" lvl="1" indent="-285750">
              <a:buFont typeface="+mj-lt"/>
              <a:buAutoNum type="arabicPeriod"/>
            </a:pPr>
            <a:r>
              <a:rPr lang="zh-CN" altLang="en-US" dirty="0"/>
              <a:t>然后，</a:t>
            </a:r>
            <a:r>
              <a:rPr lang="en-US" altLang="zh-CN" dirty="0"/>
              <a:t>PE </a:t>
            </a:r>
            <a:r>
              <a:rPr lang="zh-CN" altLang="en-US" dirty="0"/>
              <a:t>计算 </a:t>
            </a:r>
            <a:r>
              <a:rPr lang="en-US" altLang="zh-CN" dirty="0"/>
              <a:t>arc × xc </a:t>
            </a:r>
            <a:r>
              <a:rPr lang="zh-CN" altLang="en-US" dirty="0"/>
              <a:t>的乘积，并将该乘积连同相应的行索引和标志位发送给后续的处理模块（银行索引解码器）。</a:t>
            </a:r>
          </a:p>
          <a:p>
            <a:pPr>
              <a:buFont typeface="+mj-lt"/>
              <a:buAutoNum type="arabicPeriod"/>
            </a:pPr>
            <a:r>
              <a:rPr lang="en-US" altLang="zh-CN" b="1" dirty="0"/>
              <a:t>x® </a:t>
            </a:r>
            <a:r>
              <a:rPr lang="zh-CN" altLang="en-US" b="1" dirty="0"/>
              <a:t>缓冲区设置为 </a:t>
            </a:r>
            <a:r>
              <a:rPr lang="en-US" altLang="zh-CN" b="1" dirty="0"/>
              <a:t>512 </a:t>
            </a:r>
            <a:r>
              <a:rPr lang="zh-CN" altLang="en-US" b="1" dirty="0"/>
              <a:t>位宽的原因</a:t>
            </a:r>
            <a:endParaRPr lang="zh-CN" altLang="en-US" dirty="0"/>
          </a:p>
          <a:p>
            <a:pPr marL="742950" lvl="1" indent="-285750">
              <a:buFont typeface="+mj-lt"/>
              <a:buAutoNum type="arabicPeriod"/>
            </a:pPr>
            <a:r>
              <a:rPr lang="zh-CN" altLang="en-US" dirty="0"/>
              <a:t>一方面，</a:t>
            </a:r>
            <a:r>
              <a:rPr lang="en-US" altLang="zh-CN" dirty="0"/>
              <a:t>512 </a:t>
            </a:r>
            <a:r>
              <a:rPr lang="zh-CN" altLang="en-US" dirty="0"/>
              <a:t>位宽的缓冲区可以最大限度地发挥 </a:t>
            </a:r>
            <a:r>
              <a:rPr lang="en-US" altLang="zh-CN" dirty="0"/>
              <a:t>HBM </a:t>
            </a:r>
            <a:r>
              <a:rPr lang="zh-CN" altLang="en-US" dirty="0"/>
              <a:t>通道的带宽优势，提高数据加载效率。</a:t>
            </a:r>
          </a:p>
          <a:p>
            <a:pPr marL="742950" lvl="1" indent="-285750">
              <a:buFont typeface="+mj-lt"/>
              <a:buAutoNum type="arabicPeriod"/>
            </a:pPr>
            <a:r>
              <a:rPr lang="zh-CN" altLang="en-US" dirty="0"/>
              <a:t>另一方面，在 </a:t>
            </a:r>
            <a:r>
              <a:rPr lang="en-US" altLang="zh-CN" dirty="0"/>
              <a:t>ping-pong </a:t>
            </a:r>
            <a:r>
              <a:rPr lang="zh-CN" altLang="en-US" dirty="0"/>
              <a:t>缓冲模式下，当两个 </a:t>
            </a:r>
            <a:r>
              <a:rPr lang="en-US" altLang="zh-CN" dirty="0"/>
              <a:t>PE </a:t>
            </a:r>
            <a:r>
              <a:rPr lang="zh-CN" altLang="en-US" dirty="0"/>
              <a:t>共享数据时，一个 </a:t>
            </a:r>
            <a:r>
              <a:rPr lang="en-US" altLang="zh-CN" dirty="0"/>
              <a:t>512 </a:t>
            </a:r>
            <a:r>
              <a:rPr lang="zh-CN" altLang="en-US" dirty="0"/>
              <a:t>位的数据包内可以包含多个浮点数（通常 </a:t>
            </a:r>
            <a:r>
              <a:rPr lang="en-US" altLang="zh-CN" dirty="0"/>
              <a:t>16 </a:t>
            </a:r>
            <a:r>
              <a:rPr lang="zh-CN" altLang="en-US" dirty="0"/>
              <a:t>个 </a:t>
            </a:r>
            <a:r>
              <a:rPr lang="en-US" altLang="zh-CN" dirty="0"/>
              <a:t>32 </a:t>
            </a:r>
            <a:r>
              <a:rPr lang="zh-CN" altLang="en-US" dirty="0"/>
              <a:t>位浮点数），这样可以降低访问冲突的可能性，减少流水线停顿，从而提升整体并行性能。</a:t>
            </a:r>
          </a:p>
          <a:p>
            <a:pPr>
              <a:buFont typeface="+mj-lt"/>
              <a:buAutoNum type="arabicPeriod"/>
            </a:pPr>
            <a:r>
              <a:rPr lang="zh-CN" altLang="en-US" b="1" dirty="0"/>
              <a:t>银行索引解码器的功能</a:t>
            </a:r>
            <a:endParaRPr lang="zh-CN" altLang="en-US" dirty="0"/>
          </a:p>
          <a:p>
            <a:pPr marL="742950" lvl="1" indent="-285750">
              <a:buFont typeface="+mj-lt"/>
              <a:buAutoNum type="arabicPeriod"/>
            </a:pPr>
            <a:r>
              <a:rPr lang="zh-CN" altLang="en-US" dirty="0"/>
              <a:t>银行索引解码器负责决定每个乘积结果应该累加到哪个 </a:t>
            </a:r>
            <a:r>
              <a:rPr lang="en-US" altLang="zh-CN" dirty="0" err="1"/>
              <a:t>y_Ax</a:t>
            </a:r>
            <a:r>
              <a:rPr lang="en-US" altLang="zh-CN" dirty="0"/>
              <a:t> </a:t>
            </a:r>
            <a:r>
              <a:rPr lang="zh-CN" altLang="en-US" dirty="0"/>
              <a:t>处理器（累加单元）中。</a:t>
            </a:r>
          </a:p>
          <a:p>
            <a:pPr marL="742950" lvl="1" indent="-285750">
              <a:buFont typeface="+mj-lt"/>
              <a:buAutoNum type="arabicPeriod"/>
            </a:pPr>
            <a:r>
              <a:rPr lang="zh-CN" altLang="en-US" dirty="0"/>
              <a:t>在预处理阶段，根据矩阵的行间和行内分配策略，会将行号或其他信息进行编码，以便在计算时解码出目标银行索引。</a:t>
            </a:r>
          </a:p>
          <a:p>
            <a:pPr marL="742950" lvl="1" indent="-285750">
              <a:buFont typeface="+mj-lt"/>
              <a:buAutoNum type="arabicPeriod"/>
            </a:pPr>
            <a:r>
              <a:rPr lang="zh-CN" altLang="en-US" b="1" dirty="0"/>
              <a:t>行间分配</a:t>
            </a:r>
            <a:r>
              <a:rPr lang="zh-CN" altLang="en-US" dirty="0"/>
              <a:t>：当各个 </a:t>
            </a:r>
            <a:r>
              <a:rPr lang="en-US" altLang="zh-CN" dirty="0"/>
              <a:t>PE </a:t>
            </a:r>
            <a:r>
              <a:rPr lang="zh-CN" altLang="en-US" dirty="0"/>
              <a:t>独立处理不同的行时，乘积结果直接按照 </a:t>
            </a:r>
            <a:r>
              <a:rPr lang="en-US" altLang="zh-CN" dirty="0"/>
              <a:t>PE </a:t>
            </a:r>
            <a:r>
              <a:rPr lang="zh-CN" altLang="en-US" dirty="0"/>
              <a:t>编号路由到对应的 </a:t>
            </a:r>
            <a:r>
              <a:rPr lang="en-US" altLang="zh-CN" dirty="0" err="1"/>
              <a:t>y_Ax</a:t>
            </a:r>
            <a:r>
              <a:rPr lang="en-US" altLang="zh-CN" dirty="0"/>
              <a:t> </a:t>
            </a:r>
            <a:r>
              <a:rPr lang="zh-CN" altLang="en-US" dirty="0"/>
              <a:t>处理器，不需要额外编码。</a:t>
            </a:r>
          </a:p>
          <a:p>
            <a:pPr marL="742950" lvl="1" indent="-285750">
              <a:buFont typeface="+mj-lt"/>
              <a:buAutoNum type="arabicPeriod"/>
            </a:pPr>
            <a:r>
              <a:rPr lang="zh-CN" altLang="en-US" b="1" dirty="0"/>
              <a:t>行内分配</a:t>
            </a:r>
            <a:r>
              <a:rPr lang="zh-CN" altLang="en-US" dirty="0"/>
              <a:t>：当多个 </a:t>
            </a:r>
            <a:r>
              <a:rPr lang="en-US" altLang="zh-CN" dirty="0"/>
              <a:t>PE </a:t>
            </a:r>
            <a:r>
              <a:rPr lang="zh-CN" altLang="en-US" dirty="0"/>
              <a:t>协同处理同一行时，需要对相邻非零元素的银行索引和行号进行特殊编码。具体来说，对于一对相邻的非零元素，利用前一个元素的行号编码出目标银行索引，而后一个元素则使用另一个行号。这种方式可以将同一行的数据通过多个 </a:t>
            </a:r>
            <a:r>
              <a:rPr lang="en-US" altLang="zh-CN" dirty="0"/>
              <a:t>PE </a:t>
            </a:r>
            <a:r>
              <a:rPr lang="zh-CN" altLang="en-US" dirty="0"/>
              <a:t>分担，从而缓解单个 </a:t>
            </a:r>
            <a:r>
              <a:rPr lang="en-US" altLang="zh-CN" dirty="0"/>
              <a:t>PE </a:t>
            </a:r>
            <a:r>
              <a:rPr lang="zh-CN" altLang="en-US" dirty="0"/>
              <a:t>的负载压力。</a:t>
            </a:r>
            <a:br>
              <a:rPr lang="zh-CN" altLang="en-US" dirty="0"/>
            </a:br>
            <a:r>
              <a:rPr lang="en-US" altLang="zh-CN" dirty="0" err="1"/>
              <a:t>Row_idx</a:t>
            </a:r>
            <a:r>
              <a:rPr lang="en-US" altLang="zh-CN" dirty="0"/>
              <a:t> </a:t>
            </a:r>
            <a:r>
              <a:rPr lang="zh-CN" altLang="en-US" dirty="0"/>
              <a:t>告诉系统数据“来自哪一行”，而 </a:t>
            </a:r>
            <a:r>
              <a:rPr lang="en-US" altLang="zh-CN" dirty="0" err="1"/>
              <a:t>Bank_idx</a:t>
            </a:r>
            <a:r>
              <a:rPr lang="en-US" altLang="zh-CN" dirty="0"/>
              <a:t> </a:t>
            </a:r>
            <a:r>
              <a:rPr lang="zh-CN" altLang="en-US" dirty="0"/>
              <a:t>则决定数据应该“被哪个 </a:t>
            </a:r>
            <a:r>
              <a:rPr lang="en-US" altLang="zh-CN" dirty="0"/>
              <a:t>PE</a:t>
            </a:r>
            <a:r>
              <a:rPr lang="zh-CN" altLang="en-US" dirty="0"/>
              <a:t>（或累加单元）处理”，尤其在同一行数据需要分布到多个 </a:t>
            </a:r>
            <a:r>
              <a:rPr lang="en-US" altLang="zh-CN" dirty="0"/>
              <a:t>PE </a:t>
            </a:r>
            <a:r>
              <a:rPr lang="zh-CN" altLang="en-US" dirty="0"/>
              <a:t>上时，</a:t>
            </a:r>
            <a:r>
              <a:rPr lang="en-US" altLang="zh-CN" dirty="0" err="1"/>
              <a:t>Bank_idx</a:t>
            </a:r>
            <a:r>
              <a:rPr lang="en-US" altLang="zh-CN" dirty="0"/>
              <a:t> </a:t>
            </a:r>
            <a:r>
              <a:rPr lang="zh-CN" altLang="en-US" dirty="0"/>
              <a:t>起到关键作用。</a:t>
            </a:r>
          </a:p>
          <a:p>
            <a:pPr>
              <a:buFont typeface="+mj-lt"/>
              <a:buAutoNum type="arabicPeriod"/>
            </a:pPr>
            <a:r>
              <a:rPr lang="zh-CN" altLang="en-US" b="1" dirty="0"/>
              <a:t>标志位说明</a:t>
            </a:r>
            <a:endParaRPr lang="zh-CN" altLang="en-US" dirty="0"/>
          </a:p>
          <a:p>
            <a:pPr marL="742950" lvl="1" indent="-285750">
              <a:buFont typeface="+mj-lt"/>
              <a:buAutoNum type="arabicPeriod"/>
            </a:pPr>
            <a:r>
              <a:rPr lang="zh-CN" altLang="en-US" dirty="0"/>
              <a:t>除了银行索引，解码器还传递一些标志信息，如“</a:t>
            </a:r>
            <a:r>
              <a:rPr lang="en-US" altLang="zh-CN" dirty="0"/>
              <a:t>Tile End”</a:t>
            </a:r>
            <a:r>
              <a:rPr lang="zh-CN" altLang="en-US" dirty="0"/>
              <a:t>、“</a:t>
            </a:r>
            <a:r>
              <a:rPr lang="en-US" altLang="zh-CN" dirty="0"/>
              <a:t>Row End”</a:t>
            </a:r>
            <a:r>
              <a:rPr lang="zh-CN" altLang="en-US" dirty="0"/>
              <a:t>、“</a:t>
            </a:r>
            <a:r>
              <a:rPr lang="en-US" altLang="zh-CN" dirty="0"/>
              <a:t>Split Row”</a:t>
            </a:r>
            <a:r>
              <a:rPr lang="zh-CN" altLang="en-US" dirty="0"/>
              <a:t>以及“</a:t>
            </a:r>
            <a:r>
              <a:rPr lang="en-US" altLang="zh-CN" dirty="0"/>
              <a:t>Last”</a:t>
            </a:r>
            <a:r>
              <a:rPr lang="zh-CN" altLang="en-US" dirty="0"/>
              <a:t>。这些标志用于控制数据流和任务调度，例如指示当前数据块的结束、当前行结束、是否需要拆分行处理，以及整个任务的终止信号。</a:t>
            </a:r>
          </a:p>
          <a:p>
            <a:pPr marL="742950" lvl="1" indent="-285750">
              <a:buFont typeface="+mj-lt"/>
              <a:buAutoNum type="arabicPeriod"/>
            </a:pPr>
            <a:r>
              <a:rPr lang="zh-CN" altLang="en-US" dirty="0"/>
              <a:t>这些标志在具体实现中起到协调和控制流水线操作的作用，但它们并不是本文主要创新的核心，因此详细细节在此处略过。</a:t>
            </a:r>
          </a:p>
          <a:p>
            <a:endParaRPr lang="en-US" altLang="zh-CN" dirty="0"/>
          </a:p>
          <a:p>
            <a:endParaRPr lang="en-US" altLang="zh-CN" dirty="0"/>
          </a:p>
          <a:p>
            <a:r>
              <a:rPr lang="zh-CN" altLang="en-US" dirty="0"/>
              <a:t>本节主要讨论如何实现流水线化的浮点累加，从而消除因数据依赖（</a:t>
            </a:r>
            <a:r>
              <a:rPr lang="en-US" altLang="zh-CN" dirty="0"/>
              <a:t>RAW </a:t>
            </a:r>
            <a:r>
              <a:rPr lang="zh-CN" altLang="en-US" dirty="0"/>
              <a:t>依赖）而引起的流水线空泡。为此，设计上采用了两项关键技术：</a:t>
            </a:r>
          </a:p>
          <a:p>
            <a:pPr>
              <a:buFont typeface="+mj-lt"/>
              <a:buAutoNum type="arabicPeriod"/>
            </a:pPr>
            <a:r>
              <a:rPr lang="zh-CN" altLang="en-US" b="1" dirty="0"/>
              <a:t>循环缓冲器</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当多个非零乘积结果需要依次累加时，直接在大容量缓冲器（如 </a:t>
            </a:r>
            <a:r>
              <a:rPr lang="en-US" altLang="zh-CN" dirty="0"/>
              <a:t>BRAM </a:t>
            </a:r>
            <a:r>
              <a:rPr lang="zh-CN" altLang="en-US" dirty="0"/>
              <a:t>或 </a:t>
            </a:r>
            <a:r>
              <a:rPr lang="en-US" altLang="zh-CN" dirty="0"/>
              <a:t>URAM</a:t>
            </a:r>
            <a:r>
              <a:rPr lang="zh-CN" altLang="en-US" dirty="0"/>
              <a:t>）上进行累加会有较高的读写延迟，导致流水线中断。为了减少延迟，我们使用了基于寄存器的循环缓冲器。</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设依赖距离为 </a:t>
            </a:r>
            <a:r>
              <a:rPr lang="en-US" altLang="zh-CN" dirty="0"/>
              <a:t>dd</a:t>
            </a:r>
            <a:r>
              <a:rPr lang="zh-CN" altLang="en-US" dirty="0"/>
              <a:t>（在本文中 </a:t>
            </a:r>
            <a:r>
              <a:rPr lang="en-US" altLang="zh-CN" dirty="0"/>
              <a:t>dd = 5</a:t>
            </a:r>
            <a:r>
              <a:rPr lang="zh-CN" altLang="en-US" dirty="0"/>
              <a:t>，即每个浮点加法器操作需要 </a:t>
            </a:r>
            <a:r>
              <a:rPr lang="en-US" altLang="zh-CN" dirty="0"/>
              <a:t>5 </a:t>
            </a:r>
            <a:r>
              <a:rPr lang="zh-CN" altLang="en-US" dirty="0"/>
              <a:t>个周期完成，包括 </a:t>
            </a:r>
            <a:r>
              <a:rPr lang="en-US" altLang="zh-CN" dirty="0"/>
              <a:t>4 </a:t>
            </a:r>
            <a:r>
              <a:rPr lang="zh-CN" altLang="en-US" dirty="0"/>
              <a:t>个加法延迟和 </a:t>
            </a:r>
            <a:r>
              <a:rPr lang="en-US" altLang="zh-CN" dirty="0"/>
              <a:t>1 </a:t>
            </a:r>
            <a:r>
              <a:rPr lang="zh-CN" altLang="en-US" dirty="0"/>
              <a:t>个写延迟）。</a:t>
            </a:r>
          </a:p>
          <a:p>
            <a:pPr marL="1143000" lvl="2" indent="-228600">
              <a:buFont typeface="+mj-lt"/>
              <a:buAutoNum type="arabicPeriod"/>
            </a:pPr>
            <a:r>
              <a:rPr lang="zh-CN" altLang="en-US" dirty="0"/>
              <a:t>循环缓冲器大小设置为 </a:t>
            </a:r>
            <a:r>
              <a:rPr lang="en-US" altLang="zh-CN" dirty="0"/>
              <a:t>dd</a:t>
            </a:r>
            <a:r>
              <a:rPr lang="zh-CN" altLang="en-US" dirty="0"/>
              <a:t>，这样可以存储来自其他行的 </a:t>
            </a:r>
            <a:r>
              <a:rPr lang="en-US" altLang="zh-CN" dirty="0"/>
              <a:t>dd − 1 </a:t>
            </a:r>
            <a:r>
              <a:rPr lang="zh-CN" altLang="en-US" dirty="0"/>
              <a:t>个中间累加结果，以及当前行中启动于 </a:t>
            </a:r>
            <a:r>
              <a:rPr lang="en-US" altLang="zh-CN" dirty="0"/>
              <a:t>dd </a:t>
            </a:r>
            <a:r>
              <a:rPr lang="zh-CN" altLang="en-US" dirty="0"/>
              <a:t>个周期前的累加结果。</a:t>
            </a:r>
          </a:p>
          <a:p>
            <a:pPr marL="1143000" lvl="2" indent="-228600">
              <a:buFont typeface="+mj-lt"/>
              <a:buAutoNum type="arabicPeriod"/>
            </a:pPr>
            <a:r>
              <a:rPr lang="zh-CN" altLang="en-US" dirty="0"/>
              <a:t>当新的乘积到达时，系统只需检查循环缓冲器中一个位置（通过比较行索引）来判断该乘积是否属于同一行。如果是，则直接读取累加结果，与新乘积相加；否则，则认为是新行开始，初始化累加。</a:t>
            </a:r>
          </a:p>
          <a:p>
            <a:pPr marL="1143000" lvl="2" indent="-228600">
              <a:buFont typeface="+mj-lt"/>
              <a:buAutoNum type="arabicPeriod"/>
            </a:pPr>
            <a:r>
              <a:rPr lang="zh-CN" altLang="en-US" dirty="0"/>
              <a:t>这种设计的优点在于：寄存器读写速度非常快，能够大幅减少延迟，从而将依赖距离从 </a:t>
            </a:r>
            <a:r>
              <a:rPr lang="en-US" altLang="zh-CN" dirty="0"/>
              <a:t>10 </a:t>
            </a:r>
            <a:r>
              <a:rPr lang="zh-CN" altLang="en-US" dirty="0"/>
              <a:t>个周期降到 </a:t>
            </a:r>
            <a:r>
              <a:rPr lang="en-US" altLang="zh-CN" dirty="0"/>
              <a:t>5 </a:t>
            </a:r>
            <a:r>
              <a:rPr lang="zh-CN" altLang="en-US" dirty="0"/>
              <a:t>个周期。</a:t>
            </a:r>
          </a:p>
          <a:p>
            <a:pPr>
              <a:buFont typeface="+mj-lt"/>
              <a:buAutoNum type="arabicPeriod"/>
            </a:pPr>
            <a:r>
              <a:rPr lang="zh-CN" altLang="en-US" b="1" dirty="0"/>
              <a:t>加法链</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当同一行的多个乘积需要累加时，如果按顺序操作，会因为等待前一次操作完成而产生空泡。加法链的引入，旨在在等待期间提前将多个乘积进行部分加和，以填补流水线的空隙，从而实现连续操作。</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假设同一行中，按顺序有多个乘积结果需要累加，记为 </a:t>
            </a:r>
            <a:r>
              <a:rPr lang="en-US" altLang="zh-CN" dirty="0"/>
              <a:t>Prodi</a:t>
            </a:r>
            <a:r>
              <a:rPr lang="zh-CN" altLang="en-US" dirty="0"/>
              <a:t>，其中 </a:t>
            </a:r>
            <a:r>
              <a:rPr lang="en-US" altLang="zh-CN" dirty="0" err="1"/>
              <a:t>i</a:t>
            </a:r>
            <a:r>
              <a:rPr lang="en-US" altLang="zh-CN" dirty="0"/>
              <a:t> </a:t>
            </a:r>
            <a:r>
              <a:rPr lang="zh-CN" altLang="en-US" dirty="0"/>
              <a:t>表示当前的迭代次数。</a:t>
            </a:r>
          </a:p>
          <a:p>
            <a:pPr marL="1143000" lvl="2" indent="-228600">
              <a:buFont typeface="+mj-lt"/>
              <a:buAutoNum type="arabicPeriod"/>
            </a:pPr>
            <a:r>
              <a:rPr lang="zh-CN" altLang="en-US" dirty="0"/>
              <a:t>在等待位于 </a:t>
            </a:r>
            <a:r>
              <a:rPr lang="en-US" altLang="zh-CN" dirty="0"/>
              <a:t>dd </a:t>
            </a:r>
            <a:r>
              <a:rPr lang="zh-CN" altLang="en-US" dirty="0"/>
              <a:t>个周期前的累加结果（</a:t>
            </a:r>
            <a:r>
              <a:rPr lang="en-US" altLang="zh-CN" dirty="0" err="1"/>
              <a:t>yi</a:t>
            </a:r>
            <a:r>
              <a:rPr lang="en-US" altLang="zh-CN" dirty="0"/>
              <a:t>−dd</a:t>
            </a:r>
            <a:r>
              <a:rPr lang="zh-CN" altLang="en-US" dirty="0"/>
              <a:t>）完成的期间，利用加法链对过去 </a:t>
            </a:r>
            <a:r>
              <a:rPr lang="en-US" altLang="zh-CN" dirty="0"/>
              <a:t>dd − 1 </a:t>
            </a:r>
            <a:r>
              <a:rPr lang="zh-CN" altLang="en-US" dirty="0"/>
              <a:t>次（包括当前迭代）得到的乘积 </a:t>
            </a:r>
            <a:r>
              <a:rPr lang="en-US" altLang="zh-CN" dirty="0"/>
              <a:t>Prodi </a:t>
            </a:r>
            <a:r>
              <a:rPr lang="zh-CN" altLang="en-US" dirty="0"/>
              <a:t>进行预加和，得到一个预加结果 </a:t>
            </a:r>
            <a:r>
              <a:rPr lang="en-US" altLang="zh-CN" dirty="0"/>
              <a:t>Q</a:t>
            </a:r>
            <a:r>
              <a:rPr lang="zh-CN" altLang="en-US" dirty="0"/>
              <a:t>。</a:t>
            </a:r>
          </a:p>
          <a:p>
            <a:pPr marL="1143000" lvl="2" indent="-228600">
              <a:buFont typeface="+mj-lt"/>
              <a:buAutoNum type="arabicPeriod"/>
            </a:pPr>
            <a:r>
              <a:rPr lang="zh-CN" altLang="en-US" dirty="0"/>
              <a:t>在下一周期，从循环缓冲器中获取先前累加的 </a:t>
            </a:r>
            <a:r>
              <a:rPr lang="en-US" altLang="zh-CN" dirty="0" err="1"/>
              <a:t>yi</a:t>
            </a:r>
            <a:r>
              <a:rPr lang="en-US" altLang="zh-CN" dirty="0"/>
              <a:t>−dd</a:t>
            </a:r>
            <a:r>
              <a:rPr lang="zh-CN" altLang="en-US" dirty="0"/>
              <a:t>，与预加结果 </a:t>
            </a:r>
            <a:r>
              <a:rPr lang="en-US" altLang="zh-CN" dirty="0"/>
              <a:t>Q </a:t>
            </a:r>
            <a:r>
              <a:rPr lang="zh-CN" altLang="en-US" dirty="0"/>
              <a:t>相加，得到当前的累加结果 </a:t>
            </a:r>
            <a:r>
              <a:rPr lang="en-US" altLang="zh-CN" dirty="0" err="1"/>
              <a:t>yi</a:t>
            </a:r>
            <a:r>
              <a:rPr lang="zh-CN" altLang="en-US" dirty="0"/>
              <a:t>。</a:t>
            </a:r>
          </a:p>
          <a:p>
            <a:pPr marL="1143000" lvl="2" indent="-228600">
              <a:buFont typeface="+mj-lt"/>
              <a:buAutoNum type="arabicPeriod"/>
            </a:pPr>
            <a:r>
              <a:rPr lang="zh-CN" altLang="en-US" dirty="0"/>
              <a:t>为实现这一过程，硬件中设计了加法链模块，利用移位寄存器暂存过去 </a:t>
            </a:r>
            <a:r>
              <a:rPr lang="en-US" altLang="zh-CN" dirty="0"/>
              <a:t>dd − 1 </a:t>
            </a:r>
            <a:r>
              <a:rPr lang="zh-CN" altLang="en-US" dirty="0"/>
              <a:t>个乘积，并用加法器对这些乘积进行求和。</a:t>
            </a:r>
          </a:p>
          <a:p>
            <a:pPr marL="742950" lvl="1" indent="-285750">
              <a:buFont typeface="+mj-lt"/>
              <a:buAutoNum type="arabicPeriod"/>
            </a:pPr>
            <a:r>
              <a:rPr lang="zh-CN" altLang="en-US" b="1" dirty="0"/>
              <a:t>硬件实现</a:t>
            </a:r>
            <a:r>
              <a:rPr lang="zh-CN" altLang="en-US" dirty="0"/>
              <a:t>：</a:t>
            </a:r>
          </a:p>
          <a:p>
            <a:pPr marL="1143000" lvl="2" indent="-228600">
              <a:buFont typeface="+mj-lt"/>
              <a:buAutoNum type="arabicPeriod"/>
            </a:pPr>
            <a:r>
              <a:rPr lang="zh-CN" altLang="en-US" dirty="0"/>
              <a:t>使用 </a:t>
            </a:r>
            <a:r>
              <a:rPr lang="en-US" altLang="zh-CN" dirty="0"/>
              <a:t>dd − 1 </a:t>
            </a:r>
            <a:r>
              <a:rPr lang="zh-CN" altLang="en-US" dirty="0"/>
              <a:t>个（本文中为 </a:t>
            </a:r>
            <a:r>
              <a:rPr lang="en-US" altLang="zh-CN" dirty="0"/>
              <a:t>4 </a:t>
            </a:r>
            <a:r>
              <a:rPr lang="zh-CN" altLang="en-US" dirty="0"/>
              <a:t>个）移位寄存器存储先前的乘积数据。</a:t>
            </a:r>
          </a:p>
          <a:p>
            <a:pPr marL="1143000" lvl="2" indent="-228600">
              <a:buFont typeface="+mj-lt"/>
              <a:buAutoNum type="arabicPeriod"/>
            </a:pPr>
            <a:r>
              <a:rPr lang="zh-CN" altLang="en-US" dirty="0"/>
              <a:t>使用同样数量的加法器构成加法链，将这些寄存器中的数据加起来，形成预加结果 </a:t>
            </a:r>
            <a:r>
              <a:rPr lang="en-US" altLang="zh-CN" dirty="0"/>
              <a:t>Q</a:t>
            </a:r>
            <a:r>
              <a:rPr lang="zh-CN" altLang="en-US" dirty="0"/>
              <a:t>。</a:t>
            </a:r>
          </a:p>
          <a:p>
            <a:pPr marL="1143000" lvl="2" indent="-228600">
              <a:buFont typeface="+mj-lt"/>
              <a:buAutoNum type="arabicPeriod"/>
            </a:pPr>
            <a:r>
              <a:rPr lang="zh-CN" altLang="en-US" dirty="0"/>
              <a:t>同时，为确保只有同一行的数据被累加，加法链中还保存了每个乘积的行索引，只有匹配当前行的乘积才会被加到一起。</a:t>
            </a:r>
          </a:p>
          <a:p>
            <a:r>
              <a:rPr lang="zh-CN" altLang="en-US" b="1" dirty="0"/>
              <a:t>为什么这样设计能实现全流水线化？</a:t>
            </a:r>
            <a:endParaRPr lang="zh-CN" altLang="en-US" dirty="0"/>
          </a:p>
          <a:p>
            <a:pPr>
              <a:buFont typeface="Arial" panose="020B0604020202020204" pitchFamily="34" charset="0"/>
              <a:buChar char="•"/>
            </a:pPr>
            <a:r>
              <a:rPr lang="zh-CN" altLang="en-US" dirty="0"/>
              <a:t>通过循环缓冲器和加法链的结合，整个浮点累加过程不再因等待前一个操作完成而产生空泡。</a:t>
            </a:r>
          </a:p>
          <a:p>
            <a:pPr>
              <a:buFont typeface="Arial" panose="020B0604020202020204" pitchFamily="34" charset="0"/>
              <a:buChar char="•"/>
            </a:pPr>
            <a:r>
              <a:rPr lang="zh-CN" altLang="en-US" dirty="0"/>
              <a:t>循环缓冲器快速存取最近的中间结果，加法链则在等待期间预先计算部分加和，从而确保在下一周期时，累加结果可以立即得到更新。</a:t>
            </a:r>
          </a:p>
          <a:p>
            <a:pPr>
              <a:buFont typeface="Arial" panose="020B0604020202020204" pitchFamily="34" charset="0"/>
              <a:buChar char="•"/>
            </a:pPr>
            <a:r>
              <a:rPr lang="zh-CN" altLang="en-US" dirty="0"/>
              <a:t>这样整个累加过程可以以每个周期启动一个新的操作（即 </a:t>
            </a:r>
            <a:r>
              <a:rPr lang="en-US" altLang="zh-CN" dirty="0"/>
              <a:t>II=1</a:t>
            </a:r>
            <a:r>
              <a:rPr lang="zh-CN" altLang="en-US" dirty="0"/>
              <a:t>），实现了全流水线化，从而大大提高了计算吞吐率。</a:t>
            </a: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850664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通过这段伪代码可以看出，</a:t>
            </a:r>
            <a:r>
              <a:rPr lang="en-US" altLang="zh-CN" b="1" dirty="0"/>
              <a:t>ping-pong </a:t>
            </a:r>
            <a:r>
              <a:rPr lang="zh-CN" altLang="en-US" b="1" dirty="0"/>
              <a:t>模式</a:t>
            </a:r>
            <a:r>
              <a:rPr lang="zh-CN" altLang="en-US" dirty="0"/>
              <a:t>和</a:t>
            </a:r>
            <a:r>
              <a:rPr lang="zh-CN" altLang="en-US" b="1" dirty="0"/>
              <a:t>私有分区模式</a:t>
            </a:r>
            <a:r>
              <a:rPr lang="zh-CN" altLang="en-US" dirty="0"/>
              <a:t>共享同一个代码框架，都是通过 </a:t>
            </a:r>
            <a:r>
              <a:rPr lang="en-US" altLang="zh-CN" dirty="0"/>
              <a:t>acquire </a:t>
            </a:r>
            <a:r>
              <a:rPr lang="zh-CN" altLang="en-US" dirty="0"/>
              <a:t>和 </a:t>
            </a:r>
            <a:r>
              <a:rPr lang="en-US" altLang="zh-CN" dirty="0"/>
              <a:t>release </a:t>
            </a:r>
            <a:r>
              <a:rPr lang="zh-CN" altLang="en-US" dirty="0"/>
              <a:t>来控制对缓冲通道的访问，不同点在于：</a:t>
            </a:r>
          </a:p>
          <a:p>
            <a:pPr>
              <a:buFont typeface="Arial" panose="020B0604020202020204" pitchFamily="34" charset="0"/>
              <a:buChar char="•"/>
            </a:pPr>
            <a:r>
              <a:rPr lang="en-US" altLang="zh-CN" b="1" dirty="0"/>
              <a:t>ping-pong </a:t>
            </a:r>
            <a:r>
              <a:rPr lang="zh-CN" altLang="en-US" b="1" dirty="0"/>
              <a:t>模式</a:t>
            </a:r>
            <a:r>
              <a:rPr lang="zh-CN" altLang="en-US" dirty="0"/>
              <a:t>：加载和计算并行，两个任务分别占用不同的通道，并在后续循环中交替使用；</a:t>
            </a:r>
            <a:r>
              <a:rPr lang="en-US" altLang="zh-CN" dirty="0"/>
              <a:t>PE </a:t>
            </a:r>
            <a:r>
              <a:rPr lang="zh-CN" altLang="en-US" dirty="0"/>
              <a:t>需要共享缓冲通道。</a:t>
            </a:r>
          </a:p>
          <a:p>
            <a:pPr>
              <a:buFont typeface="Arial" panose="020B0604020202020204" pitchFamily="34" charset="0"/>
              <a:buChar char="•"/>
            </a:pPr>
            <a:r>
              <a:rPr lang="zh-CN" altLang="en-US" b="1" dirty="0"/>
              <a:t>私有分区模式</a:t>
            </a:r>
            <a:r>
              <a:rPr lang="zh-CN" altLang="en-US" dirty="0"/>
              <a:t>：加载和计算顺序执行，一次性加载到两个通道后再交给两个 </a:t>
            </a:r>
            <a:r>
              <a:rPr lang="en-US" altLang="zh-CN" dirty="0"/>
              <a:t>PE </a:t>
            </a:r>
            <a:r>
              <a:rPr lang="zh-CN" altLang="en-US" dirty="0"/>
              <a:t>读取，各自拥有独立的缓冲副本。</a:t>
            </a:r>
          </a:p>
          <a:p>
            <a:r>
              <a:rPr lang="zh-CN" altLang="en-US" dirty="0"/>
              <a:t>这种灵活的混合缓冲策略允许 </a:t>
            </a:r>
            <a:r>
              <a:rPr lang="en-US" altLang="zh-CN" dirty="0" err="1"/>
              <a:t>HiSpMV</a:t>
            </a:r>
            <a:r>
              <a:rPr lang="en-US" altLang="zh-CN" dirty="0"/>
              <a:t> </a:t>
            </a:r>
            <a:r>
              <a:rPr lang="zh-CN" altLang="en-US" dirty="0"/>
              <a:t>加速器根据不同矩阵的特性（例如密度、计算负载等）来动态选择合适的模式：</a:t>
            </a:r>
          </a:p>
          <a:p>
            <a:pPr>
              <a:buFont typeface="Arial" panose="020B0604020202020204" pitchFamily="34" charset="0"/>
              <a:buChar char="•"/>
            </a:pPr>
            <a:r>
              <a:rPr lang="zh-CN" altLang="en-US" b="1" dirty="0"/>
              <a:t>当输入加载是主要瓶颈时</a:t>
            </a:r>
            <a:r>
              <a:rPr lang="zh-CN" altLang="en-US" dirty="0"/>
              <a:t>，可使用 </a:t>
            </a:r>
            <a:r>
              <a:rPr lang="en-US" altLang="zh-CN" dirty="0"/>
              <a:t>ping-pong </a:t>
            </a:r>
            <a:r>
              <a:rPr lang="zh-CN" altLang="en-US" dirty="0"/>
              <a:t>模式并行加载与计算；</a:t>
            </a:r>
          </a:p>
          <a:p>
            <a:pPr>
              <a:buFont typeface="Arial" panose="020B0604020202020204" pitchFamily="34" charset="0"/>
              <a:buChar char="•"/>
            </a:pPr>
            <a:r>
              <a:rPr lang="zh-CN" altLang="en-US" b="1" dirty="0"/>
              <a:t>当计算是主要瓶颈时</a:t>
            </a:r>
            <a:r>
              <a:rPr lang="zh-CN" altLang="en-US" dirty="0"/>
              <a:t>，可使用私有分区模式让每个 </a:t>
            </a:r>
            <a:r>
              <a:rPr lang="en-US" altLang="zh-CN" dirty="0"/>
              <a:t>PE </a:t>
            </a:r>
            <a:r>
              <a:rPr lang="zh-CN" altLang="en-US" dirty="0"/>
              <a:t>独享缓冲数据，从而提升计算效率。</a:t>
            </a:r>
          </a:p>
          <a:p>
            <a:r>
              <a:rPr lang="zh-CN" altLang="en-US" dirty="0"/>
              <a:t>计算时间为 </a:t>
            </a:r>
            <a:r>
              <a:rPr lang="en-US" altLang="zh-CN" dirty="0" err="1"/>
              <a:t>tc</a:t>
            </a:r>
            <a:r>
              <a:rPr lang="zh-CN" altLang="en-US" dirty="0"/>
              <a:t>，加载缓冲时间 </a:t>
            </a:r>
            <a:r>
              <a:rPr lang="en-US" altLang="zh-CN" dirty="0"/>
              <a:t>tb</a:t>
            </a:r>
            <a:r>
              <a:rPr lang="zh-CN" altLang="en-US" dirty="0"/>
              <a:t>。简言之，当加载时间较长（</a:t>
            </a:r>
            <a:r>
              <a:rPr lang="en-US" altLang="zh-CN" dirty="0" err="1"/>
              <a:t>tc</a:t>
            </a:r>
            <a:r>
              <a:rPr lang="en-US" altLang="zh-CN" dirty="0"/>
              <a:t> ≤ tb</a:t>
            </a:r>
            <a:r>
              <a:rPr lang="zh-CN" altLang="en-US" dirty="0"/>
              <a:t>）时，可以利用 </a:t>
            </a:r>
            <a:r>
              <a:rPr lang="en-US" altLang="zh-CN" dirty="0"/>
              <a:t>ping-pong </a:t>
            </a:r>
            <a:r>
              <a:rPr lang="zh-CN" altLang="en-US" dirty="0"/>
              <a:t>模式来隐藏加载延迟；而当计算任务较重（</a:t>
            </a:r>
            <a:r>
              <a:rPr lang="en-US" altLang="zh-CN" dirty="0" err="1"/>
              <a:t>tc</a:t>
            </a:r>
            <a:r>
              <a:rPr lang="en-US" altLang="zh-CN" dirty="0"/>
              <a:t> &gt; tb</a:t>
            </a:r>
            <a:r>
              <a:rPr lang="zh-CN" altLang="en-US" dirty="0"/>
              <a:t>）时，采用私有缓冲模式更稳妥，因为共享缓冲可能会引入额外的停顿。</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964708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443098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但现有</a:t>
            </a:r>
            <a:r>
              <a:rPr lang="en-US" altLang="zh-CN" dirty="0"/>
              <a:t>GPU</a:t>
            </a:r>
            <a:r>
              <a:rPr lang="zh-CN" altLang="en-US" dirty="0"/>
              <a:t>及基于</a:t>
            </a:r>
            <a:r>
              <a:rPr lang="en-US" altLang="zh-CN" dirty="0"/>
              <a:t>Transformer</a:t>
            </a:r>
            <a:r>
              <a:rPr lang="zh-CN" altLang="en-US" dirty="0"/>
              <a:t>的加速器无法高效处理压缩后的</a:t>
            </a:r>
            <a:r>
              <a:rPr lang="en-US" altLang="zh-CN" dirty="0"/>
              <a:t>LLM</a:t>
            </a:r>
            <a:r>
              <a:rPr lang="zh-CN" altLang="en-US" dirty="0"/>
              <a:t>，原因在于以下未解决的挑战：</a:t>
            </a:r>
          </a:p>
          <a:p>
            <a:pPr>
              <a:buFont typeface="+mj-lt"/>
              <a:buAutoNum type="arabicPeriod"/>
            </a:pPr>
            <a:r>
              <a:rPr lang="zh-CN" altLang="en-US" dirty="0"/>
              <a:t>计算效率低下</a:t>
            </a:r>
          </a:p>
          <a:p>
            <a:pPr>
              <a:buFont typeface="+mj-lt"/>
              <a:buAutoNum type="arabicPeriod"/>
            </a:pPr>
            <a:r>
              <a:rPr lang="zh-CN" altLang="en-US" dirty="0"/>
              <a:t>内存带宽利用率不足</a:t>
            </a:r>
          </a:p>
          <a:p>
            <a:pPr>
              <a:buFont typeface="+mj-lt"/>
              <a:buAutoNum type="arabicPeriod"/>
            </a:pPr>
            <a:r>
              <a:rPr lang="zh-CN" altLang="en-US" dirty="0"/>
              <a:t>高昂的编译开销</a:t>
            </a:r>
          </a:p>
          <a:p>
            <a:endParaRPr lang="en-US" altLang="zh-CN" dirty="0"/>
          </a:p>
          <a:p>
            <a:r>
              <a:rPr lang="zh-CN" altLang="en-US" b="1" dirty="0"/>
              <a:t>创新点</a:t>
            </a:r>
          </a:p>
          <a:p>
            <a:pPr>
              <a:buFont typeface="+mj-lt"/>
              <a:buAutoNum type="arabicPeriod"/>
            </a:pPr>
            <a:r>
              <a:rPr lang="zh-CN" altLang="en-US" dirty="0"/>
              <a:t>设计可配置稀疏</a:t>
            </a:r>
            <a:r>
              <a:rPr lang="en-US" altLang="zh-CN" dirty="0"/>
              <a:t>DSP</a:t>
            </a:r>
            <a:r>
              <a:rPr lang="zh-CN" altLang="en-US" dirty="0"/>
              <a:t>链以高计算效率支持不同稀疏模式</a:t>
            </a:r>
          </a:p>
          <a:p>
            <a:pPr>
              <a:buFont typeface="+mj-lt"/>
              <a:buAutoNum type="arabicPeriod"/>
            </a:pPr>
            <a:r>
              <a:rPr lang="zh-CN" altLang="en-US" dirty="0"/>
              <a:t>提出具备混合精度支持的片上解码方案以提升内存带宽</a:t>
            </a:r>
          </a:p>
          <a:p>
            <a:pPr>
              <a:buFont typeface="+mj-lt"/>
              <a:buAutoNum type="arabicPeriod"/>
            </a:pPr>
            <a:r>
              <a:rPr lang="zh-CN" altLang="en-US" dirty="0"/>
              <a:t>为使</a:t>
            </a:r>
            <a:r>
              <a:rPr lang="en-US" altLang="zh-CN" dirty="0" err="1"/>
              <a:t>FlightLLM</a:t>
            </a:r>
            <a:r>
              <a:rPr lang="zh-CN" altLang="en-US" dirty="0"/>
              <a:t>适配实际</a:t>
            </a:r>
            <a:r>
              <a:rPr lang="en-US" altLang="zh-CN" dirty="0"/>
              <a:t>LLM</a:t>
            </a:r>
            <a:r>
              <a:rPr lang="zh-CN" altLang="en-US" dirty="0"/>
              <a:t>应用，我们开发了长度自适应编译方法</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4190932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整体架构与目标</a:t>
            </a:r>
            <a:br>
              <a:rPr lang="zh-CN" altLang="en-US" dirty="0"/>
            </a:br>
            <a:r>
              <a:rPr lang="zh-CN" altLang="en-US" dirty="0"/>
              <a:t>论文提出的统一 </a:t>
            </a:r>
            <a:r>
              <a:rPr lang="en-US" altLang="zh-CN" dirty="0"/>
              <a:t>MPE </a:t>
            </a:r>
            <a:r>
              <a:rPr lang="zh-CN" altLang="en-US" dirty="0"/>
              <a:t>旨在支持多种矩阵运算类型，包括常见的密集运算（</a:t>
            </a:r>
            <a:r>
              <a:rPr lang="en-US" altLang="zh-CN" dirty="0"/>
              <a:t>GEMM</a:t>
            </a:r>
            <a:r>
              <a:rPr lang="zh-CN" altLang="en-US" dirty="0"/>
              <a:t>、</a:t>
            </a:r>
            <a:r>
              <a:rPr lang="en-US" altLang="zh-CN" dirty="0"/>
              <a:t>GEMV</a:t>
            </a:r>
            <a:r>
              <a:rPr lang="zh-CN" altLang="en-US" dirty="0"/>
              <a:t>）和稀疏运算（</a:t>
            </a:r>
            <a:r>
              <a:rPr lang="en-US" altLang="zh-CN" dirty="0" err="1"/>
              <a:t>SpMM</a:t>
            </a:r>
            <a:r>
              <a:rPr lang="zh-CN" altLang="en-US" dirty="0"/>
              <a:t>、</a:t>
            </a:r>
            <a:r>
              <a:rPr lang="en-US" altLang="zh-CN" dirty="0" err="1"/>
              <a:t>SpMV</a:t>
            </a:r>
            <a:r>
              <a:rPr lang="zh-CN" altLang="en-US" dirty="0"/>
              <a:t>、</a:t>
            </a:r>
            <a:r>
              <a:rPr lang="en-US" altLang="zh-CN" dirty="0"/>
              <a:t>SDDMM</a:t>
            </a:r>
            <a:r>
              <a:rPr lang="zh-CN" altLang="en-US" dirty="0"/>
              <a:t>）。通过统一硬件设计，使得同一硬件平台可以灵活适应不同运算需求，从而最大化利用稀疏化带来的理论加速优势。</a:t>
            </a:r>
          </a:p>
          <a:p>
            <a:r>
              <a:rPr lang="en-US" altLang="zh-CN" b="1" dirty="0"/>
              <a:t>1. MPU </a:t>
            </a:r>
            <a:r>
              <a:rPr lang="zh-CN" altLang="en-US" b="1" dirty="0"/>
              <a:t>设计与可配置稀疏 </a:t>
            </a:r>
            <a:r>
              <a:rPr lang="en-US" altLang="zh-CN" b="1" dirty="0"/>
              <a:t>DSP </a:t>
            </a:r>
            <a:r>
              <a:rPr lang="zh-CN" altLang="en-US" b="1" dirty="0"/>
              <a:t>链</a:t>
            </a:r>
            <a:endParaRPr lang="zh-CN" altLang="en-US" dirty="0"/>
          </a:p>
          <a:p>
            <a:pPr>
              <a:buFont typeface="Arial" panose="020B0604020202020204" pitchFamily="34" charset="0"/>
              <a:buChar char="•"/>
            </a:pPr>
            <a:r>
              <a:rPr lang="zh-CN" altLang="en-US" b="1" dirty="0"/>
              <a:t>背景问题</a:t>
            </a:r>
            <a:r>
              <a:rPr lang="zh-CN" altLang="en-US" dirty="0"/>
              <a:t>：</a:t>
            </a:r>
            <a:br>
              <a:rPr lang="zh-CN" altLang="en-US" dirty="0"/>
            </a:br>
            <a:r>
              <a:rPr lang="en-US" altLang="zh-CN" dirty="0"/>
              <a:t>Transformer </a:t>
            </a:r>
            <a:r>
              <a:rPr lang="zh-CN" altLang="en-US" dirty="0"/>
              <a:t>模型中广泛应用稀疏化方法（如稀疏注意力、权重剪枝），但这些方法生成的稀疏矩阵密度和稀疏模式往往不确定，使得传统 </a:t>
            </a:r>
            <a:r>
              <a:rPr lang="en-US" altLang="zh-CN" dirty="0"/>
              <a:t>FPGA </a:t>
            </a:r>
            <a:r>
              <a:rPr lang="zh-CN" altLang="en-US" dirty="0"/>
              <a:t>架构（基于固定 </a:t>
            </a:r>
            <a:r>
              <a:rPr lang="en-US" altLang="zh-CN" dirty="0"/>
              <a:t>DSP48</a:t>
            </a:r>
            <a:r>
              <a:rPr lang="zh-CN" altLang="en-US" dirty="0"/>
              <a:t>）难以高效支持，往往需要额外硬件，资源开销可能增加数倍。</a:t>
            </a:r>
          </a:p>
          <a:p>
            <a:pPr>
              <a:buFont typeface="Arial" panose="020B0604020202020204" pitchFamily="34" charset="0"/>
              <a:buChar char="•"/>
            </a:pPr>
            <a:r>
              <a:rPr lang="zh-CN" altLang="en-US" b="1" dirty="0"/>
              <a:t>解决方案</a:t>
            </a:r>
            <a:r>
              <a:rPr lang="zh-CN" altLang="en-US" dirty="0"/>
              <a:t>：</a:t>
            </a:r>
          </a:p>
          <a:p>
            <a:pPr marL="742950" lvl="1" indent="-285750">
              <a:buFont typeface="Arial" panose="020B0604020202020204" pitchFamily="34" charset="0"/>
              <a:buChar char="•"/>
            </a:pPr>
            <a:r>
              <a:rPr lang="zh-CN" altLang="en-US" dirty="0"/>
              <a:t>利用 </a:t>
            </a:r>
            <a:r>
              <a:rPr lang="en-US" altLang="zh-CN" dirty="0"/>
              <a:t>FPGA </a:t>
            </a:r>
            <a:r>
              <a:rPr lang="zh-CN" altLang="en-US" dirty="0"/>
              <a:t>上的 </a:t>
            </a:r>
            <a:r>
              <a:rPr lang="en-US" altLang="zh-CN" dirty="0"/>
              <a:t>DSP48</a:t>
            </a:r>
            <a:r>
              <a:rPr lang="zh-CN" altLang="en-US" dirty="0"/>
              <a:t>，但采用 </a:t>
            </a:r>
            <a:r>
              <a:rPr lang="en-US" altLang="zh-CN" dirty="0"/>
              <a:t>DSP </a:t>
            </a:r>
            <a:r>
              <a:rPr lang="zh-CN" altLang="en-US" dirty="0"/>
              <a:t>级联技术将多个 </a:t>
            </a:r>
            <a:r>
              <a:rPr lang="en-US" altLang="zh-CN" dirty="0"/>
              <a:t>DSP48 </a:t>
            </a:r>
            <a:r>
              <a:rPr lang="zh-CN" altLang="en-US" dirty="0"/>
              <a:t>充分利用。</a:t>
            </a:r>
          </a:p>
          <a:p>
            <a:pPr marL="742950" lvl="1" indent="-285750">
              <a:buFont typeface="Arial" panose="020B0604020202020204" pitchFamily="34" charset="0"/>
              <a:buChar char="•"/>
            </a:pPr>
            <a:r>
              <a:rPr lang="zh-CN" altLang="en-US" dirty="0"/>
              <a:t>为解决固定级联链对稀疏运算的不适应问题，设计了可配置稀疏 </a:t>
            </a:r>
            <a:r>
              <a:rPr lang="en-US" altLang="zh-CN" dirty="0"/>
              <a:t>DSP </a:t>
            </a:r>
            <a:r>
              <a:rPr lang="zh-CN" altLang="en-US" dirty="0"/>
              <a:t>链（</a:t>
            </a:r>
            <a:r>
              <a:rPr lang="en-US" altLang="zh-CN" dirty="0"/>
              <a:t>CSD-Chain</a:t>
            </a:r>
            <a:r>
              <a:rPr lang="zh-CN" altLang="en-US" dirty="0"/>
              <a:t>）：将长 </a:t>
            </a:r>
            <a:r>
              <a:rPr lang="en-US" altLang="zh-CN" dirty="0"/>
              <a:t>DSP </a:t>
            </a:r>
            <a:r>
              <a:rPr lang="zh-CN" altLang="en-US" dirty="0"/>
              <a:t>链划分为多个 </a:t>
            </a:r>
            <a:r>
              <a:rPr lang="en-US" altLang="zh-CN" dirty="0"/>
              <a:t>DSP </a:t>
            </a:r>
            <a:r>
              <a:rPr lang="zh-CN" altLang="en-US" dirty="0"/>
              <a:t>组，每个组内部 </a:t>
            </a:r>
            <a:r>
              <a:rPr lang="en-US" altLang="zh-CN" dirty="0"/>
              <a:t>DSP48 </a:t>
            </a:r>
            <a:r>
              <a:rPr lang="zh-CN" altLang="en-US" dirty="0"/>
              <a:t>固定级联，但不同组之间通过可配置路径灵活连接，从而更好地适应不同的稀疏模式。</a:t>
            </a:r>
          </a:p>
          <a:p>
            <a:pPr marL="742950" lvl="1" indent="-285750">
              <a:buFont typeface="Arial" panose="020B0604020202020204" pitchFamily="34" charset="0"/>
              <a:buChar char="•"/>
            </a:pPr>
            <a:r>
              <a:rPr lang="zh-CN" altLang="en-US" dirty="0"/>
              <a:t>引入稀疏 </a:t>
            </a:r>
            <a:r>
              <a:rPr lang="en-US" altLang="zh-CN" dirty="0"/>
              <a:t>MUX </a:t>
            </a:r>
            <a:r>
              <a:rPr lang="zh-CN" altLang="en-US" dirty="0"/>
              <a:t>单元，使得只有非零输入送入 </a:t>
            </a:r>
            <a:r>
              <a:rPr lang="en-US" altLang="zh-CN" dirty="0"/>
              <a:t>DSP48</a:t>
            </a:r>
            <a:r>
              <a:rPr lang="zh-CN" altLang="en-US" dirty="0"/>
              <a:t>，避免无效计算。</a:t>
            </a:r>
          </a:p>
          <a:p>
            <a:pPr marL="742950" lvl="1" indent="-285750">
              <a:buFont typeface="Arial" panose="020B0604020202020204" pitchFamily="34" charset="0"/>
              <a:buChar char="•"/>
            </a:pPr>
            <a:r>
              <a:rPr lang="zh-CN" altLang="en-US" dirty="0"/>
              <a:t>利用归约节点（</a:t>
            </a:r>
            <a:r>
              <a:rPr lang="en-US" altLang="zh-CN" dirty="0"/>
              <a:t>RN</a:t>
            </a:r>
            <a:r>
              <a:rPr lang="zh-CN" altLang="en-US" dirty="0"/>
              <a:t>）在稀疏运算中处理可能产生多个输出的情况，并通过溢出调整单元（</a:t>
            </a:r>
            <a:r>
              <a:rPr lang="en-US" altLang="zh-CN" dirty="0"/>
              <a:t>OAU</a:t>
            </a:r>
            <a:r>
              <a:rPr lang="zh-CN" altLang="en-US" dirty="0"/>
              <a:t>）解决累加溢出问题，确保各 </a:t>
            </a:r>
            <a:r>
              <a:rPr lang="en-US" altLang="zh-CN" dirty="0"/>
              <a:t>DSP48 </a:t>
            </a:r>
            <a:r>
              <a:rPr lang="zh-CN" altLang="en-US" dirty="0"/>
              <a:t>累加器能够被充分利用。</a:t>
            </a:r>
          </a:p>
          <a:p>
            <a:pPr marL="742950" lvl="1" indent="-285750">
              <a:buFont typeface="Arial" panose="020B0604020202020204" pitchFamily="34" charset="0"/>
              <a:buChar char="•"/>
            </a:pPr>
            <a:r>
              <a:rPr lang="zh-CN" altLang="en-US" dirty="0"/>
              <a:t>针对 </a:t>
            </a:r>
            <a:r>
              <a:rPr lang="en-US" altLang="zh-CN" dirty="0"/>
              <a:t>N:M </a:t>
            </a:r>
            <a:r>
              <a:rPr lang="zh-CN" altLang="en-US" dirty="0"/>
              <a:t>稀疏模式，</a:t>
            </a:r>
            <a:r>
              <a:rPr lang="en-US" altLang="zh-CN" dirty="0"/>
              <a:t>CSD-Chain </a:t>
            </a:r>
            <a:r>
              <a:rPr lang="zh-CN" altLang="en-US" dirty="0"/>
              <a:t>能够高效映射：例如在 </a:t>
            </a:r>
            <a:r>
              <a:rPr lang="en-US" altLang="zh-CN" dirty="0"/>
              <a:t>2:4 </a:t>
            </a:r>
            <a:r>
              <a:rPr lang="zh-CN" altLang="en-US" dirty="0"/>
              <a:t>模式下，每个 </a:t>
            </a:r>
            <a:r>
              <a:rPr lang="en-US" altLang="zh-CN" dirty="0"/>
              <a:t>DSP </a:t>
            </a:r>
            <a:r>
              <a:rPr lang="zh-CN" altLang="en-US" dirty="0"/>
              <a:t>从 </a:t>
            </a:r>
            <a:r>
              <a:rPr lang="en-US" altLang="zh-CN" dirty="0"/>
              <a:t>4 </a:t>
            </a:r>
            <a:r>
              <a:rPr lang="zh-CN" altLang="en-US" dirty="0"/>
              <a:t>个输入中选出 </a:t>
            </a:r>
            <a:r>
              <a:rPr lang="en-US" altLang="zh-CN" dirty="0"/>
              <a:t>2 </a:t>
            </a:r>
            <a:r>
              <a:rPr lang="zh-CN" altLang="en-US" dirty="0"/>
              <a:t>个非零进行乘法，从而在每个周期内获得 </a:t>
            </a:r>
            <a:r>
              <a:rPr lang="en-US" altLang="zh-CN" dirty="0"/>
              <a:t>2 </a:t>
            </a:r>
            <a:r>
              <a:rPr lang="zh-CN" altLang="en-US" dirty="0"/>
              <a:t>个 </a:t>
            </a:r>
            <a:r>
              <a:rPr lang="en-US" altLang="zh-CN" dirty="0"/>
              <a:t>MAC </a:t>
            </a:r>
            <a:r>
              <a:rPr lang="zh-CN" altLang="en-US" dirty="0"/>
              <a:t>输出。</a:t>
            </a:r>
          </a:p>
          <a:p>
            <a:r>
              <a:rPr lang="en-US" altLang="zh-CN" b="1" dirty="0"/>
              <a:t>2. </a:t>
            </a:r>
            <a:r>
              <a:rPr lang="zh-CN" altLang="en-US" b="1" dirty="0"/>
              <a:t>矩阵</a:t>
            </a:r>
            <a:r>
              <a:rPr lang="en-US" altLang="zh-CN" b="1" dirty="0"/>
              <a:t>-</a:t>
            </a:r>
            <a:r>
              <a:rPr lang="zh-CN" altLang="en-US" b="1" dirty="0"/>
              <a:t>向量乘法分析</a:t>
            </a:r>
            <a:endParaRPr lang="zh-CN" altLang="en-US" dirty="0"/>
          </a:p>
          <a:p>
            <a:pPr>
              <a:buFont typeface="Arial" panose="020B0604020202020204" pitchFamily="34" charset="0"/>
              <a:buChar char="•"/>
            </a:pPr>
            <a:r>
              <a:rPr lang="zh-CN" altLang="en-US" dirty="0"/>
              <a:t>为了充分利用片外内存带宽，设计者需要在计算分块（</a:t>
            </a:r>
            <a:r>
              <a:rPr lang="en-US" altLang="zh-CN" dirty="0"/>
              <a:t>tiling</a:t>
            </a:r>
            <a:r>
              <a:rPr lang="zh-CN" altLang="en-US" dirty="0"/>
              <a:t>）上进行参数调优。通过建立内存访问时间 </a:t>
            </a:r>
            <a:r>
              <a:rPr lang="en-US" altLang="zh-CN" dirty="0"/>
              <a:t>T_{mem} </a:t>
            </a:r>
            <a:r>
              <a:rPr lang="zh-CN" altLang="en-US" dirty="0"/>
              <a:t>和计算时间 </a:t>
            </a:r>
            <a:r>
              <a:rPr lang="en-US" altLang="zh-CN" dirty="0"/>
              <a:t>T_{</a:t>
            </a:r>
            <a:r>
              <a:rPr lang="en-US" altLang="zh-CN" dirty="0" err="1"/>
              <a:t>cmp</a:t>
            </a:r>
            <a:r>
              <a:rPr lang="en-US" altLang="zh-CN" dirty="0"/>
              <a:t>} </a:t>
            </a:r>
            <a:r>
              <a:rPr lang="zh-CN" altLang="en-US" dirty="0"/>
              <a:t>的模型，确保通过双缓冲技术实现计算与数据传输的重叠。</a:t>
            </a:r>
          </a:p>
          <a:p>
            <a:pPr>
              <a:buFont typeface="Arial" panose="020B0604020202020204" pitchFamily="34" charset="0"/>
              <a:buChar char="•"/>
            </a:pPr>
            <a:r>
              <a:rPr lang="zh-CN" altLang="en-US" dirty="0"/>
              <a:t>在 </a:t>
            </a:r>
            <a:r>
              <a:rPr lang="en-US" altLang="zh-CN" dirty="0"/>
              <a:t>MV </a:t>
            </a:r>
            <a:r>
              <a:rPr lang="zh-CN" altLang="en-US" dirty="0"/>
              <a:t>模式下，由于 </a:t>
            </a:r>
            <a:r>
              <a:rPr lang="en-US" altLang="zh-CN" dirty="0"/>
              <a:t>M=1</a:t>
            </a:r>
            <a:r>
              <a:rPr lang="zh-CN" altLang="en-US" dirty="0"/>
              <a:t>，计算规模较小，部分计算资源可能处于闲置状态，但只要选择合适的并行参数（如 </a:t>
            </a:r>
            <a:r>
              <a:rPr lang="en-US" altLang="zh-CN" dirty="0"/>
              <a:t>pK′p'_</a:t>
            </a:r>
            <a:r>
              <a:rPr lang="en-US" altLang="zh-CN" dirty="0" err="1"/>
              <a:t>KpK</a:t>
            </a:r>
            <a:r>
              <a:rPr lang="en-US" altLang="zh-CN" dirty="0"/>
              <a:t>′​ </a:t>
            </a:r>
            <a:r>
              <a:rPr lang="zh-CN" altLang="en-US" dirty="0"/>
              <a:t>和 </a:t>
            </a:r>
            <a:r>
              <a:rPr lang="en-US" altLang="zh-CN" dirty="0"/>
              <a:t>pN′p'_</a:t>
            </a:r>
            <a:r>
              <a:rPr lang="en-US" altLang="zh-CN" dirty="0" err="1"/>
              <a:t>NpN</a:t>
            </a:r>
            <a:r>
              <a:rPr lang="en-US" altLang="zh-CN" dirty="0"/>
              <a:t>′​</a:t>
            </a:r>
            <a:r>
              <a:rPr lang="zh-CN" altLang="en-US" dirty="0"/>
              <a:t>），依然能保持对片外内存带宽的充分利用，保证整体性能。</a:t>
            </a:r>
          </a:p>
          <a:p>
            <a:r>
              <a:rPr lang="en-US" altLang="zh-CN" b="1" dirty="0"/>
              <a:t>3. SDDMM </a:t>
            </a:r>
            <a:r>
              <a:rPr lang="zh-CN" altLang="en-US" b="1" dirty="0"/>
              <a:t>支持</a:t>
            </a:r>
            <a:endParaRPr lang="zh-CN" altLang="en-US" dirty="0"/>
          </a:p>
          <a:p>
            <a:pPr>
              <a:buFont typeface="Arial" panose="020B0604020202020204" pitchFamily="34" charset="0"/>
              <a:buChar char="•"/>
            </a:pPr>
            <a:r>
              <a:rPr lang="en-US" altLang="zh-CN" dirty="0"/>
              <a:t>SDDMM </a:t>
            </a:r>
            <a:r>
              <a:rPr lang="zh-CN" altLang="en-US" dirty="0"/>
              <a:t>是稀疏自注意力层中的一个关键操作，利用块状稀疏性能够显著减少计算量。</a:t>
            </a:r>
          </a:p>
          <a:p>
            <a:pPr>
              <a:buFont typeface="Arial" panose="020B0604020202020204" pitchFamily="34" charset="0"/>
              <a:buChar char="•"/>
            </a:pPr>
            <a:r>
              <a:rPr lang="zh-CN" altLang="en-US" dirty="0"/>
              <a:t>在硬件上，</a:t>
            </a:r>
            <a:r>
              <a:rPr lang="en-US" altLang="zh-CN" dirty="0"/>
              <a:t>SDDMM </a:t>
            </a:r>
            <a:r>
              <a:rPr lang="zh-CN" altLang="en-US" dirty="0"/>
              <a:t>可以被看作多个块状 </a:t>
            </a:r>
            <a:r>
              <a:rPr lang="en-US" altLang="zh-CN" dirty="0"/>
              <a:t>GEMM </a:t>
            </a:r>
            <a:r>
              <a:rPr lang="zh-CN" altLang="en-US" dirty="0"/>
              <a:t>运算，通过指令调度器进行轻量级调度，就能高效完成这一操作，从而进一步提升能效。</a:t>
            </a:r>
          </a:p>
          <a:p>
            <a:r>
              <a:rPr lang="zh-CN" altLang="en-US" b="1" dirty="0"/>
              <a:t>总结</a:t>
            </a:r>
            <a:br>
              <a:rPr lang="zh-CN" altLang="en-US" dirty="0"/>
            </a:br>
            <a:r>
              <a:rPr lang="zh-CN" altLang="en-US" dirty="0"/>
              <a:t>本文通过软硬件协同设计构建了统一的 </a:t>
            </a:r>
            <a:r>
              <a:rPr lang="en-US" altLang="zh-CN" dirty="0"/>
              <a:t>MPE</a:t>
            </a:r>
            <a:r>
              <a:rPr lang="zh-CN" altLang="en-US" dirty="0"/>
              <a:t>，使得 </a:t>
            </a:r>
            <a:r>
              <a:rPr lang="en-US" altLang="zh-CN" dirty="0"/>
              <a:t>FPGA </a:t>
            </a:r>
            <a:r>
              <a:rPr lang="zh-CN" altLang="en-US" dirty="0"/>
              <a:t>能够在同一硬件架构上灵活支持密集和稀疏矩阵运算。核心创新在于设计了可配置的稀疏 </a:t>
            </a:r>
            <a:r>
              <a:rPr lang="en-US" altLang="zh-CN" dirty="0"/>
              <a:t>DSP </a:t>
            </a:r>
            <a:r>
              <a:rPr lang="zh-CN" altLang="en-US" dirty="0"/>
              <a:t>链，利用稀疏 </a:t>
            </a:r>
            <a:r>
              <a:rPr lang="en-US" altLang="zh-CN" dirty="0"/>
              <a:t>MUX</a:t>
            </a:r>
            <a:r>
              <a:rPr lang="zh-CN" altLang="en-US" dirty="0"/>
              <a:t>、归约节点、溢出调整等技术，充分利用 </a:t>
            </a:r>
            <a:r>
              <a:rPr lang="en-US" altLang="zh-CN" dirty="0"/>
              <a:t>DSP48 </a:t>
            </a:r>
            <a:r>
              <a:rPr lang="zh-CN" altLang="en-US" dirty="0"/>
              <a:t>资源，同时通过参数调优和指令调度支持不同运算模式（</a:t>
            </a:r>
            <a:r>
              <a:rPr lang="en-US" altLang="zh-CN" dirty="0"/>
              <a:t>GEMM</a:t>
            </a:r>
            <a:r>
              <a:rPr lang="zh-CN" altLang="en-US" dirty="0"/>
              <a:t>、</a:t>
            </a:r>
            <a:r>
              <a:rPr lang="en-US" altLang="zh-CN" dirty="0"/>
              <a:t>GEMV</a:t>
            </a:r>
            <a:r>
              <a:rPr lang="zh-CN" altLang="en-US" dirty="0"/>
              <a:t>、</a:t>
            </a:r>
            <a:r>
              <a:rPr lang="en-US" altLang="zh-CN" dirty="0"/>
              <a:t>SDDMM </a:t>
            </a:r>
            <a:r>
              <a:rPr lang="zh-CN" altLang="en-US" dirty="0"/>
              <a:t>等）。这种设计不仅解决了传统硬件在稀疏化场景下的低效问题，还为大语言模型的高效推理提供了硬件基础。</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423734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详细解释</a:t>
            </a:r>
          </a:p>
          <a:p>
            <a:pPr>
              <a:buFont typeface="+mj-lt"/>
              <a:buAutoNum type="arabicPeriod"/>
            </a:pPr>
            <a:r>
              <a:rPr lang="zh-CN" altLang="en-US" b="1" dirty="0"/>
              <a:t>片上解码数据流（</a:t>
            </a:r>
            <a:r>
              <a:rPr lang="en-US" altLang="zh-CN" b="1" dirty="0"/>
              <a:t>On-chip Decode Dataflow</a:t>
            </a:r>
            <a:r>
              <a:rPr lang="zh-CN" altLang="en-US" b="1" dirty="0"/>
              <a:t>）</a:t>
            </a:r>
            <a:endParaRPr lang="zh-CN" altLang="en-US" dirty="0"/>
          </a:p>
          <a:p>
            <a:pPr marL="742950" lvl="1" indent="-285750">
              <a:buFont typeface="+mj-lt"/>
              <a:buAutoNum type="arabicPeriod"/>
            </a:pPr>
            <a:r>
              <a:rPr lang="zh-CN" altLang="en-US" b="1" dirty="0"/>
              <a:t>问题背景</a:t>
            </a:r>
            <a:r>
              <a:rPr lang="zh-CN" altLang="en-US" dirty="0"/>
              <a:t>：在解码阶段，生成每个新 </a:t>
            </a:r>
            <a:r>
              <a:rPr lang="en-US" altLang="zh-CN" dirty="0"/>
              <a:t>token </a:t>
            </a:r>
            <a:r>
              <a:rPr lang="zh-CN" altLang="en-US" dirty="0"/>
              <a:t>时，激活向量的数据量较小，若频繁访问片外内存，效率会大幅降低。</a:t>
            </a:r>
          </a:p>
          <a:p>
            <a:pPr marL="742950" lvl="1" indent="-285750">
              <a:buFont typeface="+mj-lt"/>
              <a:buAutoNum type="arabicPeriod"/>
            </a:pPr>
            <a:r>
              <a:rPr lang="zh-CN" altLang="en-US" b="1" dirty="0"/>
              <a:t>解决方案</a:t>
            </a:r>
            <a:r>
              <a:rPr lang="zh-CN" altLang="en-US" dirty="0"/>
              <a:t>：</a:t>
            </a:r>
          </a:p>
          <a:p>
            <a:pPr marL="1143000" lvl="2" indent="-228600">
              <a:buFont typeface="+mj-lt"/>
              <a:buAutoNum type="arabicPeriod"/>
            </a:pPr>
            <a:r>
              <a:rPr lang="zh-CN" altLang="en-US" dirty="0"/>
              <a:t>采用算子融合技术，将解码阶段各层的计算在片上进行融合。这样，多个算子的输出可以直接在片上传递，不必每次都写回片外内存。</a:t>
            </a:r>
          </a:p>
          <a:p>
            <a:pPr marL="1143000" lvl="2" indent="-228600">
              <a:buFont typeface="+mj-lt"/>
              <a:buAutoNum type="arabicPeriod"/>
            </a:pPr>
            <a:r>
              <a:rPr lang="zh-CN" altLang="en-US" dirty="0"/>
              <a:t>通过这种方式，减少了对片外内存的读写，从而显著提高了 </a:t>
            </a:r>
            <a:r>
              <a:rPr lang="en-US" altLang="zh-CN" dirty="0"/>
              <a:t>HBM </a:t>
            </a:r>
            <a:r>
              <a:rPr lang="zh-CN" altLang="en-US" dirty="0"/>
              <a:t>的带宽利用率（从 </a:t>
            </a:r>
            <a:r>
              <a:rPr lang="en-US" altLang="zh-CN" dirty="0"/>
              <a:t>35.6% </a:t>
            </a:r>
            <a:r>
              <a:rPr lang="zh-CN" altLang="en-US" dirty="0"/>
              <a:t>提升到 </a:t>
            </a:r>
            <a:r>
              <a:rPr lang="en-US" altLang="zh-CN" dirty="0"/>
              <a:t>65.9%</a:t>
            </a:r>
            <a:r>
              <a:rPr lang="zh-CN" altLang="en-US" dirty="0"/>
              <a:t>）。</a:t>
            </a:r>
          </a:p>
          <a:p>
            <a:pPr marL="1143000" lvl="2" indent="-228600">
              <a:buFont typeface="+mj-lt"/>
              <a:buAutoNum type="arabicPeriod"/>
            </a:pPr>
            <a:r>
              <a:rPr lang="zh-CN" altLang="en-US" dirty="0"/>
              <a:t>由于激活向量数据量较小，可以完全存储在 </a:t>
            </a:r>
            <a:r>
              <a:rPr lang="en-US" altLang="zh-CN" dirty="0"/>
              <a:t>FPGA </a:t>
            </a:r>
            <a:r>
              <a:rPr lang="zh-CN" altLang="en-US" dirty="0"/>
              <a:t>的片上缓冲区中；而整个推理过程结束后，再一次性写回片外内存。</a:t>
            </a:r>
          </a:p>
          <a:p>
            <a:pPr>
              <a:buFont typeface="+mj-lt"/>
              <a:buAutoNum type="arabicPeriod"/>
            </a:pPr>
            <a:r>
              <a:rPr lang="zh-CN" altLang="en-US" b="1" dirty="0"/>
              <a:t>融合 </a:t>
            </a:r>
            <a:r>
              <a:rPr lang="en-US" altLang="zh-CN" b="1" dirty="0"/>
              <a:t>SFU </a:t>
            </a:r>
            <a:r>
              <a:rPr lang="zh-CN" altLang="en-US" b="1" dirty="0"/>
              <a:t>和 </a:t>
            </a:r>
            <a:r>
              <a:rPr lang="en-US" altLang="zh-CN" b="1" dirty="0"/>
              <a:t>MPE </a:t>
            </a:r>
            <a:r>
              <a:rPr lang="zh-CN" altLang="en-US" b="1" dirty="0"/>
              <a:t>计算</a:t>
            </a:r>
            <a:endParaRPr lang="zh-CN" altLang="en-US" dirty="0"/>
          </a:p>
          <a:p>
            <a:pPr marL="742950" lvl="1" indent="-285750">
              <a:buFont typeface="+mj-lt"/>
              <a:buAutoNum type="arabicPeriod"/>
            </a:pPr>
            <a:r>
              <a:rPr lang="en-US" altLang="zh-CN" dirty="0"/>
              <a:t>SFU</a:t>
            </a:r>
            <a:r>
              <a:rPr lang="zh-CN" altLang="en-US" dirty="0"/>
              <a:t>（专用功能单元）与 </a:t>
            </a:r>
            <a:r>
              <a:rPr lang="en-US" altLang="zh-CN" dirty="0"/>
              <a:t>MPE</a:t>
            </a:r>
            <a:r>
              <a:rPr lang="zh-CN" altLang="en-US" dirty="0"/>
              <a:t>（矩阵处理引擎）的计算资源没有冲突，因此可以将两者的计算融合，从而减少中间数据的片外内存访问。</a:t>
            </a:r>
          </a:p>
          <a:p>
            <a:pPr marL="742950" lvl="1" indent="-285750">
              <a:buFont typeface="+mj-lt"/>
              <a:buAutoNum type="arabicPeriod"/>
            </a:pPr>
            <a:r>
              <a:rPr lang="zh-CN" altLang="en-US" dirty="0"/>
              <a:t>对于需要完整激活向量的操作（例如 </a:t>
            </a:r>
            <a:r>
              <a:rPr lang="en-US" altLang="zh-CN" dirty="0" err="1"/>
              <a:t>Softmax</a:t>
            </a:r>
            <a:r>
              <a:rPr lang="zh-CN" altLang="en-US" dirty="0"/>
              <a:t>、</a:t>
            </a:r>
            <a:r>
              <a:rPr lang="en-US" altLang="zh-CN" dirty="0" err="1"/>
              <a:t>LayerNorm</a:t>
            </a:r>
            <a:r>
              <a:rPr lang="zh-CN" altLang="en-US" dirty="0"/>
              <a:t>），需要先由 </a:t>
            </a:r>
            <a:r>
              <a:rPr lang="en-US" altLang="zh-CN" dirty="0"/>
              <a:t>MPE </a:t>
            </a:r>
            <a:r>
              <a:rPr lang="zh-CN" altLang="en-US" dirty="0"/>
              <a:t>的 </a:t>
            </a:r>
            <a:r>
              <a:rPr lang="en-US" altLang="zh-CN" dirty="0"/>
              <a:t>MV </a:t>
            </a:r>
            <a:r>
              <a:rPr lang="zh-CN" altLang="en-US" dirty="0"/>
              <a:t>运算计算出激活向量，然后由 </a:t>
            </a:r>
            <a:r>
              <a:rPr lang="en-US" altLang="zh-CN" dirty="0"/>
              <a:t>SFU </a:t>
            </a:r>
            <a:r>
              <a:rPr lang="zh-CN" altLang="en-US" dirty="0"/>
              <a:t>进行处理；而对于一些立即可计算的逐元素操作（例如 </a:t>
            </a:r>
            <a:r>
              <a:rPr lang="en-US" altLang="zh-CN" dirty="0" err="1"/>
              <a:t>SiLU</a:t>
            </a:r>
            <a:r>
              <a:rPr lang="zh-CN" altLang="en-US" dirty="0"/>
              <a:t>、</a:t>
            </a:r>
            <a:r>
              <a:rPr lang="en-US" altLang="zh-CN" dirty="0" err="1"/>
              <a:t>Eltwise</a:t>
            </a:r>
            <a:r>
              <a:rPr lang="zh-CN" altLang="en-US" dirty="0"/>
              <a:t>），则可以在 </a:t>
            </a:r>
            <a:r>
              <a:rPr lang="en-US" altLang="zh-CN" dirty="0"/>
              <a:t>MPE </a:t>
            </a:r>
            <a:r>
              <a:rPr lang="zh-CN" altLang="en-US" dirty="0"/>
              <a:t>运算后直接在 </a:t>
            </a:r>
            <a:r>
              <a:rPr lang="en-US" altLang="zh-CN" dirty="0"/>
              <a:t>SFU </a:t>
            </a:r>
            <a:r>
              <a:rPr lang="zh-CN" altLang="en-US" dirty="0"/>
              <a:t>中计算。</a:t>
            </a:r>
          </a:p>
          <a:p>
            <a:pPr>
              <a:buFont typeface="+mj-lt"/>
              <a:buAutoNum type="arabicPeriod"/>
            </a:pPr>
            <a:r>
              <a:rPr lang="zh-CN" altLang="en-US" b="1" dirty="0"/>
              <a:t>预填充阶段与解码阶段的融合对比</a:t>
            </a:r>
            <a:endParaRPr lang="zh-CN" altLang="en-US" dirty="0"/>
          </a:p>
          <a:p>
            <a:pPr marL="742950" lvl="1" indent="-285750">
              <a:buFont typeface="+mj-lt"/>
              <a:buAutoNum type="arabicPeriod"/>
            </a:pPr>
            <a:r>
              <a:rPr lang="zh-CN" altLang="en-US" dirty="0"/>
              <a:t>虽然预填充阶段和解码阶段都可进行算子融合，但两者的计算模式不同：</a:t>
            </a:r>
          </a:p>
          <a:p>
            <a:pPr marL="1143000" lvl="2" indent="-228600">
              <a:buFont typeface="+mj-lt"/>
              <a:buAutoNum type="arabicPeriod"/>
            </a:pPr>
            <a:r>
              <a:rPr lang="zh-CN" altLang="en-US" dirty="0"/>
              <a:t>预填充阶段使用矩阵</a:t>
            </a:r>
            <a:r>
              <a:rPr lang="en-US" altLang="zh-CN" dirty="0"/>
              <a:t>-</a:t>
            </a:r>
            <a:r>
              <a:rPr lang="zh-CN" altLang="en-US" dirty="0"/>
              <a:t>矩阵乘法（</a:t>
            </a:r>
            <a:r>
              <a:rPr lang="en-US" altLang="zh-CN" dirty="0"/>
              <a:t>MM</a:t>
            </a:r>
            <a:r>
              <a:rPr lang="zh-CN" altLang="en-US" dirty="0"/>
              <a:t>），能一次性处理多个 </a:t>
            </a:r>
            <a:r>
              <a:rPr lang="en-US" altLang="zh-CN" dirty="0"/>
              <a:t>token</a:t>
            </a:r>
            <a:r>
              <a:rPr lang="zh-CN" altLang="en-US" dirty="0"/>
              <a:t>。</a:t>
            </a:r>
          </a:p>
          <a:p>
            <a:pPr marL="1143000" lvl="2" indent="-228600">
              <a:buFont typeface="+mj-lt"/>
              <a:buAutoNum type="arabicPeriod"/>
            </a:pPr>
            <a:r>
              <a:rPr lang="zh-CN" altLang="en-US" dirty="0"/>
              <a:t>解码阶段使用矩阵</a:t>
            </a:r>
            <a:r>
              <a:rPr lang="en-US" altLang="zh-CN" dirty="0"/>
              <a:t>-</a:t>
            </a:r>
            <a:r>
              <a:rPr lang="zh-CN" altLang="en-US" dirty="0"/>
              <a:t>向量乘法（</a:t>
            </a:r>
            <a:r>
              <a:rPr lang="en-US" altLang="zh-CN" dirty="0"/>
              <a:t>MV</a:t>
            </a:r>
            <a:r>
              <a:rPr lang="zh-CN" altLang="en-US" dirty="0"/>
              <a:t>），每次只处理一个 </a:t>
            </a:r>
            <a:r>
              <a:rPr lang="en-US" altLang="zh-CN" dirty="0"/>
              <a:t>token</a:t>
            </a:r>
            <a:r>
              <a:rPr lang="zh-CN" altLang="en-US" dirty="0"/>
              <a:t>。</a:t>
            </a:r>
          </a:p>
          <a:p>
            <a:pPr marL="742950" lvl="1" indent="-285750">
              <a:buFont typeface="+mj-lt"/>
              <a:buAutoNum type="arabicPeriod"/>
            </a:pPr>
            <a:r>
              <a:rPr lang="zh-CN" altLang="en-US" dirty="0"/>
              <a:t>在预填充阶段，由于 </a:t>
            </a:r>
            <a:r>
              <a:rPr lang="en-US" altLang="zh-CN" dirty="0"/>
              <a:t>MM </a:t>
            </a:r>
            <a:r>
              <a:rPr lang="zh-CN" altLang="en-US" dirty="0"/>
              <a:t>运算处理的是完整的激活向量，</a:t>
            </a:r>
            <a:r>
              <a:rPr lang="en-US" altLang="zh-CN" dirty="0" err="1"/>
              <a:t>Softmax</a:t>
            </a:r>
            <a:r>
              <a:rPr lang="en-US" altLang="zh-CN" dirty="0"/>
              <a:t> </a:t>
            </a:r>
            <a:r>
              <a:rPr lang="zh-CN" altLang="en-US" dirty="0"/>
              <a:t>和 </a:t>
            </a:r>
            <a:r>
              <a:rPr lang="en-US" altLang="zh-CN" dirty="0" err="1"/>
              <a:t>LayerNorm</a:t>
            </a:r>
            <a:r>
              <a:rPr lang="en-US" altLang="zh-CN" dirty="0"/>
              <a:t> </a:t>
            </a:r>
            <a:r>
              <a:rPr lang="zh-CN" altLang="en-US" dirty="0"/>
              <a:t>可在一个激活向量处理完后启动，而 </a:t>
            </a:r>
            <a:r>
              <a:rPr lang="en-US" altLang="zh-CN" dirty="0" err="1"/>
              <a:t>Eltwise</a:t>
            </a:r>
            <a:r>
              <a:rPr lang="en-US" altLang="zh-CN" dirty="0"/>
              <a:t> </a:t>
            </a:r>
            <a:r>
              <a:rPr lang="zh-CN" altLang="en-US" dirty="0"/>
              <a:t>和 </a:t>
            </a:r>
            <a:r>
              <a:rPr lang="en-US" altLang="zh-CN" dirty="0" err="1"/>
              <a:t>SiLU</a:t>
            </a:r>
            <a:r>
              <a:rPr lang="en-US" altLang="zh-CN" dirty="0"/>
              <a:t> </a:t>
            </a:r>
            <a:r>
              <a:rPr lang="zh-CN" altLang="en-US" dirty="0"/>
              <a:t>可在每次 </a:t>
            </a:r>
            <a:r>
              <a:rPr lang="en-US" altLang="zh-CN" dirty="0"/>
              <a:t>MM </a:t>
            </a:r>
            <a:r>
              <a:rPr lang="zh-CN" altLang="en-US" dirty="0"/>
              <a:t>运算后立即计算。</a:t>
            </a:r>
          </a:p>
          <a:p>
            <a:pPr marL="742950" lvl="1" indent="-285750">
              <a:buFont typeface="+mj-lt"/>
              <a:buAutoNum type="arabicPeriod"/>
            </a:pPr>
            <a:r>
              <a:rPr lang="zh-CN" altLang="en-US" dirty="0"/>
              <a:t>在注意力计算中（预填充阶段），通过分步计算（</a:t>
            </a:r>
            <a:r>
              <a:rPr lang="en-US" altLang="zh-CN" dirty="0"/>
              <a:t>QKT</a:t>
            </a:r>
            <a:r>
              <a:rPr lang="zh-CN" altLang="en-US" dirty="0"/>
              <a:t>、</a:t>
            </a:r>
            <a:r>
              <a:rPr lang="en-US" altLang="zh-CN" dirty="0" err="1"/>
              <a:t>Softmax</a:t>
            </a:r>
            <a:r>
              <a:rPr lang="zh-CN" altLang="en-US" dirty="0"/>
              <a:t>、</a:t>
            </a:r>
            <a:r>
              <a:rPr lang="en-US" altLang="zh-CN" dirty="0"/>
              <a:t>SV</a:t>
            </a:r>
            <a:r>
              <a:rPr lang="zh-CN" altLang="en-US" dirty="0"/>
              <a:t>）并利用稀疏注意力掩码，可以避免不必要的运算，进一步提升效率。</a:t>
            </a:r>
          </a:p>
          <a:p>
            <a:pPr>
              <a:buFont typeface="+mj-lt"/>
              <a:buAutoNum type="arabicPeriod"/>
            </a:pPr>
            <a:r>
              <a:rPr lang="zh-CN" altLang="en-US" b="1" dirty="0"/>
              <a:t>混合精度支持</a:t>
            </a:r>
            <a:endParaRPr lang="zh-CN" altLang="en-US" dirty="0"/>
          </a:p>
          <a:p>
            <a:pPr marL="742950" lvl="1" indent="-285750">
              <a:buFont typeface="+mj-lt"/>
              <a:buAutoNum type="arabicPeriod"/>
            </a:pPr>
            <a:r>
              <a:rPr lang="zh-CN" altLang="en-US" dirty="0"/>
              <a:t>混合精度去量化单元解决了 </a:t>
            </a:r>
            <a:r>
              <a:rPr lang="en-US" altLang="zh-CN" dirty="0"/>
              <a:t>GPU </a:t>
            </a:r>
            <a:r>
              <a:rPr lang="zh-CN" altLang="en-US" dirty="0"/>
              <a:t>在处理低位混合精度时内存访问效率低的问题。</a:t>
            </a:r>
          </a:p>
          <a:p>
            <a:pPr marL="742950" lvl="1" indent="-285750">
              <a:buFont typeface="+mj-lt"/>
              <a:buAutoNum type="arabicPeriod"/>
            </a:pPr>
            <a:r>
              <a:rPr lang="en-US" altLang="zh-CN" dirty="0"/>
              <a:t>FPGA </a:t>
            </a:r>
            <a:r>
              <a:rPr lang="zh-CN" altLang="en-US" dirty="0"/>
              <a:t>上专用的去量化单元可以将不同位宽的乘法操作（</a:t>
            </a:r>
            <a:r>
              <a:rPr lang="en-US" altLang="zh-CN" dirty="0"/>
              <a:t>2/3/4 </a:t>
            </a:r>
            <a:r>
              <a:rPr lang="zh-CN" altLang="en-US" dirty="0"/>
              <a:t>位）统一转换为 </a:t>
            </a:r>
            <a:r>
              <a:rPr lang="en-US" altLang="zh-CN" dirty="0"/>
              <a:t>INT8 </a:t>
            </a:r>
            <a:r>
              <a:rPr lang="zh-CN" altLang="en-US" dirty="0"/>
              <a:t>乘法，从而既节省硬件资源，又保持较高的运算效率</a:t>
            </a:r>
            <a:r>
              <a:rPr lang="en-US" altLang="zh-CN" dirty="0"/>
              <a:t>(</a:t>
            </a:r>
            <a:r>
              <a:rPr lang="zh-CN" altLang="en-US" dirty="0"/>
              <a:t>因为 </a:t>
            </a:r>
            <a:r>
              <a:rPr lang="en-US" altLang="zh-CN" dirty="0"/>
              <a:t>INT8 </a:t>
            </a:r>
            <a:r>
              <a:rPr lang="zh-CN" altLang="en-US" dirty="0"/>
              <a:t>运算在 </a:t>
            </a:r>
            <a:r>
              <a:rPr lang="en-US" altLang="zh-CN" dirty="0"/>
              <a:t>FPGA </a:t>
            </a:r>
            <a:r>
              <a:rPr lang="zh-CN" altLang="en-US" dirty="0"/>
              <a:t>上更容易高效实现，而且可以避免使用过多的查找表（</a:t>
            </a:r>
            <a:r>
              <a:rPr lang="en-US" altLang="zh-CN" dirty="0"/>
              <a:t>LUT</a:t>
            </a:r>
            <a:r>
              <a:rPr lang="zh-CN" altLang="en-US" dirty="0"/>
              <a:t>）资源。</a:t>
            </a:r>
            <a:r>
              <a:rPr lang="en-US" altLang="zh-CN" dirty="0"/>
              <a:t>)</a:t>
            </a:r>
            <a:r>
              <a:rPr lang="zh-CN" altLang="en-US" dirty="0"/>
              <a:t>。</a:t>
            </a:r>
          </a:p>
          <a:p>
            <a:pPr>
              <a:buFont typeface="+mj-lt"/>
              <a:buAutoNum type="arabicPeriod"/>
            </a:pPr>
            <a:r>
              <a:rPr lang="zh-CN" altLang="en-US" b="1" dirty="0"/>
              <a:t>内存延迟优化</a:t>
            </a:r>
            <a:endParaRPr lang="zh-CN" altLang="en-US" dirty="0"/>
          </a:p>
          <a:p>
            <a:pPr marL="742950" lvl="1" indent="-285750">
              <a:buFont typeface="+mj-lt"/>
              <a:buAutoNum type="arabicPeriod"/>
            </a:pPr>
            <a:r>
              <a:rPr lang="en-US" altLang="zh-CN" dirty="0"/>
              <a:t>FPGA </a:t>
            </a:r>
            <a:r>
              <a:rPr lang="zh-CN" altLang="en-US" dirty="0"/>
              <a:t>上的 </a:t>
            </a:r>
            <a:r>
              <a:rPr lang="en-US" altLang="zh-CN" dirty="0"/>
              <a:t>HBM+DDR </a:t>
            </a:r>
            <a:r>
              <a:rPr lang="zh-CN" altLang="en-US" dirty="0"/>
              <a:t>混合内存系统充分利用了两者的优势：</a:t>
            </a:r>
          </a:p>
          <a:p>
            <a:pPr marL="1143000" lvl="2" indent="-228600">
              <a:buFont typeface="+mj-lt"/>
              <a:buAutoNum type="arabicPeriod"/>
            </a:pPr>
            <a:r>
              <a:rPr lang="zh-CN" altLang="en-US" dirty="0"/>
              <a:t>对于大数据量的连续访问（例如 </a:t>
            </a:r>
            <a:r>
              <a:rPr lang="en-US" altLang="zh-CN" dirty="0"/>
              <a:t>MPE </a:t>
            </a:r>
            <a:r>
              <a:rPr lang="zh-CN" altLang="en-US" dirty="0"/>
              <a:t>中的矩阵乘法），使用高带宽的 </a:t>
            </a:r>
            <a:r>
              <a:rPr lang="en-US" altLang="zh-CN" dirty="0"/>
              <a:t>HBM</a:t>
            </a:r>
            <a:r>
              <a:rPr lang="zh-CN" altLang="en-US" dirty="0"/>
              <a:t>；</a:t>
            </a:r>
          </a:p>
          <a:p>
            <a:pPr marL="1143000" lvl="2" indent="-228600">
              <a:buFont typeface="+mj-lt"/>
              <a:buAutoNum type="arabicPeriod"/>
            </a:pPr>
            <a:r>
              <a:rPr lang="zh-CN" altLang="en-US" dirty="0"/>
              <a:t>对于小数据量的随机访问（例如 </a:t>
            </a:r>
            <a:r>
              <a:rPr lang="en-US" altLang="zh-CN" dirty="0"/>
              <a:t>SFU </a:t>
            </a:r>
            <a:r>
              <a:rPr lang="zh-CN" altLang="en-US" dirty="0"/>
              <a:t>中的查找表操作），使用访问延迟较低的 </a:t>
            </a:r>
            <a:r>
              <a:rPr lang="en-US" altLang="zh-CN" dirty="0"/>
              <a:t>DDR</a:t>
            </a:r>
            <a:r>
              <a:rPr lang="zh-CN" altLang="en-US" dirty="0"/>
              <a:t>。</a:t>
            </a:r>
          </a:p>
          <a:p>
            <a:pPr marL="742950" lvl="1" indent="-285750">
              <a:buFont typeface="+mj-lt"/>
              <a:buAutoNum type="arabicPeriod"/>
            </a:pPr>
            <a:r>
              <a:rPr lang="zh-CN" altLang="en-US" dirty="0"/>
              <a:t>这种存储策略可以有效降低内存访问延迟，提高整体推理效率。</a:t>
            </a:r>
          </a:p>
          <a:p>
            <a:r>
              <a:rPr lang="zh-CN" altLang="en-US" b="1" dirty="0"/>
              <a:t>总结</a:t>
            </a:r>
          </a:p>
          <a:p>
            <a:r>
              <a:rPr lang="zh-CN" altLang="en-US" dirty="0"/>
              <a:t>这一部分描述了在解码阶段如何通过算子融合、混合精度支持以及内存层次优化来解决频繁的片外内存访问问题，从而提高生成式大语言模型的推理效率。</a:t>
            </a:r>
          </a:p>
          <a:p>
            <a:pPr>
              <a:buFont typeface="Arial" panose="020B0604020202020204" pitchFamily="34" charset="0"/>
              <a:buChar char="•"/>
            </a:pPr>
            <a:r>
              <a:rPr lang="zh-CN" altLang="en-US" dirty="0"/>
              <a:t>通过将各层计算融合在片上执行，减少了中间数据的读写；</a:t>
            </a:r>
          </a:p>
          <a:p>
            <a:pPr>
              <a:buFont typeface="Arial" panose="020B0604020202020204" pitchFamily="34" charset="0"/>
              <a:buChar char="•"/>
            </a:pPr>
            <a:r>
              <a:rPr lang="zh-CN" altLang="en-US" dirty="0"/>
              <a:t>通过专用的混合精度去量化单元，实现了不同位宽数据的统一处理；</a:t>
            </a:r>
          </a:p>
          <a:p>
            <a:pPr>
              <a:buFont typeface="Arial" panose="020B0604020202020204" pitchFamily="34" charset="0"/>
              <a:buChar char="•"/>
            </a:pPr>
            <a:r>
              <a:rPr lang="zh-CN" altLang="en-US" dirty="0"/>
              <a:t>同时利用 </a:t>
            </a:r>
            <a:r>
              <a:rPr lang="en-US" altLang="zh-CN" dirty="0"/>
              <a:t>HBM </a:t>
            </a:r>
            <a:r>
              <a:rPr lang="zh-CN" altLang="en-US" dirty="0"/>
              <a:t>和 </a:t>
            </a:r>
            <a:r>
              <a:rPr lang="en-US" altLang="zh-CN" dirty="0"/>
              <a:t>DDR </a:t>
            </a:r>
            <a:r>
              <a:rPr lang="zh-CN" altLang="en-US" dirty="0"/>
              <a:t>混合内存系统，将大数据量和小数据量分别存储在最合适的内存上，从而降低延迟。</a:t>
            </a:r>
            <a:br>
              <a:rPr lang="zh-CN" altLang="en-US" dirty="0"/>
            </a:br>
            <a:r>
              <a:rPr lang="zh-CN" altLang="en-US" dirty="0"/>
              <a:t>这些设计共同提升了整体推理性能和硬件资源利用率。</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81996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解决方案：指令复用与优化</a:t>
            </a:r>
          </a:p>
          <a:p>
            <a:pPr>
              <a:buFont typeface="Arial" panose="020B0604020202020204" pitchFamily="34" charset="0"/>
              <a:buChar char="•"/>
            </a:pPr>
            <a:r>
              <a:rPr lang="zh-CN" altLang="en-US" b="1" dirty="0"/>
              <a:t>复用思路</a:t>
            </a:r>
            <a:r>
              <a:rPr lang="zh-CN" altLang="en-US" dirty="0"/>
              <a:t>：</a:t>
            </a:r>
          </a:p>
          <a:p>
            <a:pPr marL="742950" lvl="1" indent="-285750">
              <a:buFont typeface="Arial" panose="020B0604020202020204" pitchFamily="34" charset="0"/>
              <a:buChar char="•"/>
            </a:pPr>
            <a:r>
              <a:rPr lang="zh-CN" altLang="en-US" dirty="0"/>
              <a:t>不必为每种 </a:t>
            </a:r>
            <a:r>
              <a:rPr lang="en-US" altLang="zh-CN" dirty="0"/>
              <a:t>token </a:t>
            </a:r>
            <a:r>
              <a:rPr lang="zh-CN" altLang="en-US" dirty="0"/>
              <a:t>长度都生成一套独立指令，而是定义一个“阈值范围”，在这个范围内都使用同一套指令。例如，</a:t>
            </a:r>
            <a:r>
              <a:rPr lang="en-US" altLang="zh-CN" dirty="0"/>
              <a:t>1 </a:t>
            </a:r>
            <a:r>
              <a:rPr lang="zh-CN" altLang="en-US" dirty="0"/>
              <a:t>到 </a:t>
            </a:r>
            <a:r>
              <a:rPr lang="en-US" altLang="zh-CN" dirty="0"/>
              <a:t>16 </a:t>
            </a:r>
            <a:r>
              <a:rPr lang="zh-CN" altLang="en-US" dirty="0"/>
              <a:t>个 </a:t>
            </a:r>
            <a:r>
              <a:rPr lang="en-US" altLang="zh-CN" dirty="0"/>
              <a:t>token </a:t>
            </a:r>
            <a:r>
              <a:rPr lang="zh-CN" altLang="en-US" dirty="0"/>
              <a:t>统一用处理 </a:t>
            </a:r>
            <a:r>
              <a:rPr lang="en-US" altLang="zh-CN" dirty="0"/>
              <a:t>16 </a:t>
            </a:r>
            <a:r>
              <a:rPr lang="zh-CN" altLang="en-US" dirty="0"/>
              <a:t>个 </a:t>
            </a:r>
            <a:r>
              <a:rPr lang="en-US" altLang="zh-CN" dirty="0"/>
              <a:t>token </a:t>
            </a:r>
            <a:r>
              <a:rPr lang="zh-CN" altLang="en-US" dirty="0"/>
              <a:t>的指令，这样可以大大减少指令数量。</a:t>
            </a:r>
          </a:p>
          <a:p>
            <a:pPr marL="742950" lvl="1" indent="-285750">
              <a:buFont typeface="Arial" panose="020B0604020202020204" pitchFamily="34" charset="0"/>
              <a:buChar char="•"/>
            </a:pPr>
            <a:r>
              <a:rPr lang="zh-CN" altLang="en-US" dirty="0"/>
              <a:t>这种复用不会显著影响性能，因为硬件内部的计算单元（例如固定尺寸的稀疏块 </a:t>
            </a:r>
            <a:r>
              <a:rPr lang="en-US" altLang="zh-CN" dirty="0"/>
              <a:t>16×16</a:t>
            </a:r>
            <a:r>
              <a:rPr lang="zh-CN" altLang="en-US" dirty="0"/>
              <a:t>、</a:t>
            </a:r>
            <a:r>
              <a:rPr lang="en-US" altLang="zh-CN" dirty="0"/>
              <a:t>64×64</a:t>
            </a:r>
            <a:r>
              <a:rPr lang="zh-CN" altLang="en-US" dirty="0"/>
              <a:t>）是固定的，不会因 </a:t>
            </a:r>
            <a:r>
              <a:rPr lang="en-US" altLang="zh-CN" dirty="0"/>
              <a:t>token </a:t>
            </a:r>
            <a:r>
              <a:rPr lang="zh-CN" altLang="en-US" dirty="0"/>
              <a:t>数略有不同而改变计算流程。</a:t>
            </a:r>
          </a:p>
          <a:p>
            <a:pPr>
              <a:buFont typeface="Arial" panose="020B0604020202020204" pitchFamily="34" charset="0"/>
              <a:buChar char="•"/>
            </a:pPr>
            <a:r>
              <a:rPr lang="zh-CN" altLang="en-US" b="1" dirty="0"/>
              <a:t>细化解码阶段</a:t>
            </a:r>
            <a:r>
              <a:rPr lang="zh-CN" altLang="en-US" dirty="0"/>
              <a:t>：</a:t>
            </a:r>
          </a:p>
          <a:p>
            <a:pPr marL="742950" lvl="1" indent="-285750">
              <a:buFont typeface="Arial" panose="020B0604020202020204" pitchFamily="34" charset="0"/>
              <a:buChar char="•"/>
            </a:pPr>
            <a:r>
              <a:rPr lang="zh-CN" altLang="en-US" dirty="0"/>
              <a:t>我们发现，指令在解码阶段的执行频率高于预填充阶段。解码阶段的瓶颈在于内存访问，这与令牌长度成正比。因此，我们在解码阶段采用更精细的阈值以避免过多冗余计算。</a:t>
            </a:r>
          </a:p>
          <a:p>
            <a:pPr>
              <a:buFont typeface="Arial" panose="020B0604020202020204" pitchFamily="34" charset="0"/>
              <a:buChar char="•"/>
            </a:pPr>
            <a:r>
              <a:rPr lang="zh-CN" altLang="en-US" b="1" dirty="0"/>
              <a:t>多区域复用</a:t>
            </a:r>
            <a:r>
              <a:rPr lang="zh-CN" altLang="en-US" dirty="0"/>
              <a:t>：</a:t>
            </a:r>
          </a:p>
          <a:p>
            <a:pPr marL="742950" lvl="1" indent="-285750">
              <a:buFont typeface="Arial" panose="020B0604020202020204" pitchFamily="34" charset="0"/>
              <a:buChar char="•"/>
            </a:pPr>
            <a:r>
              <a:rPr lang="zh-CN" altLang="en-US" dirty="0"/>
              <a:t>通过寄存器配置，使得不同 </a:t>
            </a:r>
            <a:r>
              <a:rPr lang="en-US" altLang="zh-CN" dirty="0"/>
              <a:t>SLR</a:t>
            </a:r>
            <a:r>
              <a:rPr lang="zh-CN" altLang="en-US" dirty="0"/>
              <a:t>（超级逻辑区域）中的处理单元使用同一份指令文件，可以在多个区域间共享指令，进一步减少存储需求。</a:t>
            </a:r>
          </a:p>
          <a:p>
            <a:pPr>
              <a:buFont typeface="Arial" panose="020B0604020202020204" pitchFamily="34" charset="0"/>
              <a:buChar char="•"/>
            </a:pPr>
            <a:r>
              <a:rPr lang="zh-CN" altLang="en-US" b="1" dirty="0"/>
              <a:t>合并 </a:t>
            </a:r>
            <a:r>
              <a:rPr lang="en-US" altLang="zh-CN" b="1" dirty="0"/>
              <a:t>HBM </a:t>
            </a:r>
            <a:r>
              <a:rPr lang="zh-CN" altLang="en-US" b="1" dirty="0"/>
              <a:t>通道指令</a:t>
            </a:r>
            <a:r>
              <a:rPr lang="zh-CN" altLang="en-US" dirty="0"/>
              <a:t>：</a:t>
            </a:r>
          </a:p>
          <a:p>
            <a:pPr marL="742950" lvl="1" indent="-285750">
              <a:buFont typeface="Arial" panose="020B0604020202020204" pitchFamily="34" charset="0"/>
              <a:buChar char="•"/>
            </a:pPr>
            <a:r>
              <a:rPr lang="zh-CN" altLang="en-US" dirty="0"/>
              <a:t>每个处理单元中，数据从片外内存（</a:t>
            </a:r>
            <a:r>
              <a:rPr lang="en-US" altLang="zh-CN" dirty="0"/>
              <a:t>HBM</a:t>
            </a:r>
            <a:r>
              <a:rPr lang="zh-CN" altLang="en-US" dirty="0"/>
              <a:t>）到片上缓冲区需要发出 </a:t>
            </a:r>
            <a:r>
              <a:rPr lang="en-US" altLang="zh-CN" dirty="0"/>
              <a:t>LD/ST </a:t>
            </a:r>
            <a:r>
              <a:rPr lang="zh-CN" altLang="en-US" dirty="0"/>
              <a:t>指令。由于每个 </a:t>
            </a:r>
            <a:r>
              <a:rPr lang="en-US" altLang="zh-CN" dirty="0"/>
              <a:t>PE</a:t>
            </a:r>
            <a:r>
              <a:rPr lang="zh-CN" altLang="en-US" dirty="0"/>
              <a:t>（处理单元）有 </a:t>
            </a:r>
            <a:r>
              <a:rPr lang="en-US" altLang="zh-CN" dirty="0"/>
              <a:t>8 </a:t>
            </a:r>
            <a:r>
              <a:rPr lang="zh-CN" altLang="en-US" dirty="0"/>
              <a:t>个 </a:t>
            </a:r>
            <a:r>
              <a:rPr lang="en-US" altLang="zh-CN" dirty="0"/>
              <a:t>HBM </a:t>
            </a:r>
            <a:r>
              <a:rPr lang="zh-CN" altLang="en-US" dirty="0"/>
              <a:t>通道，原本需要 </a:t>
            </a:r>
            <a:r>
              <a:rPr lang="en-US" altLang="zh-CN" dirty="0"/>
              <a:t>8 </a:t>
            </a:r>
            <a:r>
              <a:rPr lang="zh-CN" altLang="en-US" dirty="0"/>
              <a:t>条相似的指令。</a:t>
            </a:r>
          </a:p>
          <a:p>
            <a:pPr marL="742950" lvl="1" indent="-285750">
              <a:buFont typeface="Arial" panose="020B0604020202020204" pitchFamily="34" charset="0"/>
              <a:buChar char="•"/>
            </a:pPr>
            <a:r>
              <a:rPr lang="zh-CN" altLang="en-US" dirty="0"/>
              <a:t>将这些指令合并成一条，并由硬件解码器分解成 </a:t>
            </a:r>
            <a:r>
              <a:rPr lang="en-US" altLang="zh-CN" dirty="0"/>
              <a:t>8 </a:t>
            </a:r>
            <a:r>
              <a:rPr lang="zh-CN" altLang="en-US" dirty="0"/>
              <a:t>条同时发射，可以更高效地利用内存带宽，同时减少指令存储量。</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439350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963214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把 </a:t>
            </a:r>
            <a:r>
              <a:rPr lang="en-US" altLang="zh-CN" dirty="0"/>
              <a:t>U‑Net </a:t>
            </a:r>
            <a:r>
              <a:rPr lang="zh-CN" altLang="en-US" dirty="0"/>
              <a:t>换成 </a:t>
            </a:r>
            <a:r>
              <a:rPr lang="en-US" altLang="zh-CN" dirty="0"/>
              <a:t>Transformer</a:t>
            </a:r>
            <a:r>
              <a:rPr lang="zh-CN" altLang="en-US" dirty="0"/>
              <a:t>，核心就是利用自注意力的全局建模能力</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83163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21626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挑战</a:t>
            </a:r>
            <a:r>
              <a:rPr lang="en-US" altLang="zh-CN" b="1" dirty="0"/>
              <a:t>1</a:t>
            </a:r>
            <a:r>
              <a:rPr lang="zh-CN" altLang="en-US" b="1" dirty="0"/>
              <a:t>：</a:t>
            </a:r>
            <a:r>
              <a:rPr lang="zh-CN" altLang="en-US" dirty="0"/>
              <a:t>激活冗余过大（</a:t>
            </a:r>
            <a:r>
              <a:rPr lang="en-US" altLang="zh-CN" dirty="0" err="1"/>
              <a:t>FlightVGM</a:t>
            </a:r>
            <a:r>
              <a:rPr lang="en-US" altLang="zh-CN" dirty="0"/>
              <a:t> </a:t>
            </a:r>
            <a:r>
              <a:rPr lang="zh-CN" altLang="en-US" dirty="0"/>
              <a:t>的设计考虑如何充分利用视频帧在时间和空间上的相似性，以减少不必要的重复计算）</a:t>
            </a:r>
            <a:br>
              <a:rPr lang="zh-CN" altLang="en-US" dirty="0"/>
            </a:br>
            <a:r>
              <a:rPr lang="zh-CN" altLang="en-US" dirty="0"/>
              <a:t>视频生成模型（</a:t>
            </a:r>
            <a:r>
              <a:rPr lang="en-US" altLang="zh-CN" dirty="0"/>
              <a:t>VGM</a:t>
            </a:r>
            <a:r>
              <a:rPr lang="zh-CN" altLang="en-US" dirty="0"/>
              <a:t>）中存在大量未被充分利用的冗余计算。这些激活在时域和空域上同时存在相似性。然而，现有最先进的基于 </a:t>
            </a:r>
            <a:r>
              <a:rPr lang="en-US" altLang="zh-CN" dirty="0" err="1"/>
              <a:t>DiT</a:t>
            </a:r>
            <a:r>
              <a:rPr lang="en-US" altLang="zh-CN" dirty="0"/>
              <a:t> </a:t>
            </a:r>
            <a:r>
              <a:rPr lang="zh-CN" altLang="en-US" dirty="0"/>
              <a:t>的加速器 </a:t>
            </a:r>
            <a:r>
              <a:rPr lang="en-US" altLang="zh-CN" dirty="0"/>
              <a:t>[53, 59] </a:t>
            </a:r>
            <a:r>
              <a:rPr lang="zh-CN" altLang="en-US" dirty="0"/>
              <a:t>仅利用了部分相似性（即只利用时域或空域的相似性），导致稀疏率不足 </a:t>
            </a:r>
            <a:r>
              <a:rPr lang="en-US" altLang="zh-CN" dirty="0"/>
              <a:t>46.44%</a:t>
            </a:r>
            <a:r>
              <a:rPr lang="zh-CN" altLang="en-US" dirty="0"/>
              <a:t>。</a:t>
            </a:r>
            <a:r>
              <a:rPr lang="zh-CN" altLang="en-US" b="1" dirty="0"/>
              <a:t>图 </a:t>
            </a:r>
            <a:r>
              <a:rPr lang="en-US" altLang="zh-CN" b="1" dirty="0"/>
              <a:t>1(b)</a:t>
            </a:r>
            <a:r>
              <a:rPr lang="zh-CN" altLang="en-US" dirty="0"/>
              <a:t> 显示，当稀疏率如此之低时，在 </a:t>
            </a:r>
            <a:r>
              <a:rPr lang="en-US" altLang="zh-CN" dirty="0"/>
              <a:t>GPU </a:t>
            </a:r>
            <a:r>
              <a:rPr lang="zh-CN" altLang="en-US" dirty="0"/>
              <a:t>上运行的稀疏 </a:t>
            </a:r>
            <a:r>
              <a:rPr lang="en-US" altLang="zh-CN" dirty="0"/>
              <a:t>VGM </a:t>
            </a:r>
            <a:r>
              <a:rPr lang="zh-CN" altLang="en-US" dirty="0"/>
              <a:t>的吞吐量甚至比密集 </a:t>
            </a:r>
            <a:r>
              <a:rPr lang="en-US" altLang="zh-CN" dirty="0"/>
              <a:t>VGM </a:t>
            </a:r>
            <a:r>
              <a:rPr lang="zh-CN" altLang="en-US" dirty="0"/>
              <a:t>的还要低。这说明稀疏化方法在 </a:t>
            </a:r>
            <a:r>
              <a:rPr lang="en-US" altLang="zh-CN" dirty="0"/>
              <a:t>GPU </a:t>
            </a:r>
            <a:r>
              <a:rPr lang="zh-CN" altLang="en-US" dirty="0"/>
              <a:t>上带来的额外不规则内存访问和同步开销已经抵消甚至超过了减少计算量所带来的收益。</a:t>
            </a:r>
          </a:p>
          <a:p>
            <a:r>
              <a:rPr lang="zh-CN" altLang="en-US" b="1" dirty="0"/>
              <a:t>挑战</a:t>
            </a:r>
            <a:r>
              <a:rPr lang="en-US" altLang="zh-CN" b="1" dirty="0"/>
              <a:t>2</a:t>
            </a:r>
            <a:r>
              <a:rPr lang="zh-CN" altLang="en-US" b="1" dirty="0"/>
              <a:t>：</a:t>
            </a:r>
            <a:r>
              <a:rPr lang="zh-CN" altLang="en-US" dirty="0"/>
              <a:t>在混合精度下 </a:t>
            </a:r>
            <a:r>
              <a:rPr lang="en-US" altLang="zh-CN" dirty="0"/>
              <a:t>DSP </a:t>
            </a:r>
            <a:r>
              <a:rPr lang="zh-CN" altLang="en-US" dirty="0"/>
              <a:t>性能较低</a:t>
            </a:r>
            <a:br>
              <a:rPr lang="zh-CN" altLang="en-US" dirty="0"/>
            </a:br>
            <a:r>
              <a:rPr lang="zh-CN" altLang="en-US" dirty="0"/>
              <a:t>基于 </a:t>
            </a:r>
            <a:r>
              <a:rPr lang="en-US" altLang="zh-CN" dirty="0"/>
              <a:t>DSP </a:t>
            </a:r>
            <a:r>
              <a:rPr lang="zh-CN" altLang="en-US" dirty="0"/>
              <a:t>的处理引擎在混合精度下无法提供全额的计算性能。不同层的 </a:t>
            </a:r>
            <a:r>
              <a:rPr lang="en-US" altLang="zh-CN" dirty="0"/>
              <a:t>VGM </a:t>
            </a:r>
            <a:r>
              <a:rPr lang="zh-CN" altLang="en-US" dirty="0"/>
              <a:t>对计算精度的敏感度不同 </a:t>
            </a:r>
            <a:r>
              <a:rPr lang="en-US" altLang="zh-CN" dirty="0"/>
              <a:t>[40, 70]</a:t>
            </a:r>
            <a:r>
              <a:rPr lang="zh-CN" altLang="en-US" dirty="0"/>
              <a:t>。例如，</a:t>
            </a:r>
            <a:r>
              <a:rPr lang="en-US" altLang="zh-CN" dirty="0"/>
              <a:t>VGM </a:t>
            </a:r>
            <a:r>
              <a:rPr lang="zh-CN" altLang="en-US" dirty="0"/>
              <a:t>在线性操作上更倾向于使用 </a:t>
            </a:r>
            <a:r>
              <a:rPr lang="en-US" altLang="zh-CN" dirty="0"/>
              <a:t>INT8</a:t>
            </a:r>
            <a:r>
              <a:rPr lang="zh-CN" altLang="en-US" dirty="0"/>
              <a:t>，而在注意力图操作上则需要 </a:t>
            </a:r>
            <a:r>
              <a:rPr lang="en-US" altLang="zh-CN" dirty="0"/>
              <a:t>FP16</a:t>
            </a:r>
            <a:r>
              <a:rPr lang="zh-CN" altLang="en-US" dirty="0"/>
              <a:t>。然而，</a:t>
            </a:r>
            <a:r>
              <a:rPr lang="en-US" altLang="zh-CN" dirty="0"/>
              <a:t>AMD V80 FPGA </a:t>
            </a:r>
            <a:r>
              <a:rPr lang="zh-CN" altLang="en-US" dirty="0"/>
              <a:t>上的 </a:t>
            </a:r>
            <a:r>
              <a:rPr lang="en-US" altLang="zh-CN" dirty="0"/>
              <a:t>DSP58 </a:t>
            </a:r>
            <a:r>
              <a:rPr lang="zh-CN" altLang="en-US" dirty="0"/>
              <a:t>只能配置为 </a:t>
            </a:r>
            <a:r>
              <a:rPr lang="en-US" altLang="zh-CN" dirty="0"/>
              <a:t>FP16 </a:t>
            </a:r>
            <a:r>
              <a:rPr lang="zh-CN" altLang="en-US" dirty="0"/>
              <a:t>模式或 </a:t>
            </a:r>
            <a:r>
              <a:rPr lang="en-US" altLang="zh-CN" dirty="0"/>
              <a:t>INT8 </a:t>
            </a:r>
            <a:r>
              <a:rPr lang="zh-CN" altLang="en-US" dirty="0"/>
              <a:t>模式 </a:t>
            </a:r>
            <a:r>
              <a:rPr lang="en-US" altLang="zh-CN" dirty="0"/>
              <a:t>[6]</a:t>
            </a:r>
            <a:r>
              <a:rPr lang="zh-CN" altLang="en-US" dirty="0"/>
              <a:t>，这导致了一个固定浮点和定点分离的处理引擎（</a:t>
            </a:r>
            <a:r>
              <a:rPr lang="en-US" altLang="zh-CN" dirty="0"/>
              <a:t>PE</a:t>
            </a:r>
            <a:r>
              <a:rPr lang="zh-CN" altLang="en-US" dirty="0"/>
              <a:t>）设计，严重造成了资源利用率不足。</a:t>
            </a:r>
          </a:p>
          <a:p>
            <a:r>
              <a:rPr lang="zh-CN" altLang="en-US" b="1" dirty="0"/>
              <a:t>挑战</a:t>
            </a:r>
            <a:r>
              <a:rPr lang="en-US" altLang="zh-CN" b="1" dirty="0"/>
              <a:t>3</a:t>
            </a:r>
            <a:r>
              <a:rPr lang="zh-CN" altLang="en-US" b="1" dirty="0"/>
              <a:t>：</a:t>
            </a:r>
            <a:r>
              <a:rPr lang="zh-CN" altLang="en-US" dirty="0"/>
              <a:t>静态编译在在线压缩时的资源利用率低</a:t>
            </a:r>
            <a:br>
              <a:rPr lang="zh-CN" altLang="en-US" dirty="0"/>
            </a:br>
            <a:r>
              <a:rPr lang="zh-CN" altLang="en-US" dirty="0"/>
              <a:t>现有的调度方法在在线稀疏化的场景下面临计算利用率低的问题。现有的调度方法包括静态调度 </a:t>
            </a:r>
            <a:r>
              <a:rPr lang="en-US" altLang="zh-CN" dirty="0"/>
              <a:t>[31, 44, 68, 69] </a:t>
            </a:r>
            <a:r>
              <a:rPr lang="zh-CN" altLang="en-US" dirty="0"/>
              <a:t>和动态调度 </a:t>
            </a:r>
            <a:r>
              <a:rPr lang="en-US" altLang="zh-CN" dirty="0"/>
              <a:t>[22, 45, 57]</a:t>
            </a:r>
            <a:r>
              <a:rPr lang="zh-CN" altLang="en-US" dirty="0"/>
              <a:t>。静态调度方法依赖于离线算子延迟预测，但在线稀疏化时无法获得这种预测信息。动态调度方法由于 </a:t>
            </a:r>
            <a:r>
              <a:rPr lang="en-US" altLang="zh-CN" dirty="0"/>
              <a:t>FPGA </a:t>
            </a:r>
            <a:r>
              <a:rPr lang="zh-CN" altLang="en-US" dirty="0"/>
              <a:t>上嵌入式 </a:t>
            </a:r>
            <a:r>
              <a:rPr lang="en-US" altLang="zh-CN" dirty="0"/>
              <a:t>CPU </a:t>
            </a:r>
            <a:r>
              <a:rPr lang="zh-CN" altLang="en-US" dirty="0"/>
              <a:t>性能有限以及稀疏 </a:t>
            </a:r>
            <a:r>
              <a:rPr lang="en-US" altLang="zh-CN" dirty="0" err="1"/>
              <a:t>DiT</a:t>
            </a:r>
            <a:r>
              <a:rPr lang="en-US" altLang="zh-CN" dirty="0"/>
              <a:t> </a:t>
            </a:r>
            <a:r>
              <a:rPr lang="zh-CN" altLang="en-US" dirty="0"/>
              <a:t>结构的复杂性，会引入不可接受的额外开销。由于 </a:t>
            </a:r>
            <a:r>
              <a:rPr lang="en-US" altLang="zh-CN" dirty="0"/>
              <a:t>VGM </a:t>
            </a:r>
            <a:r>
              <a:rPr lang="zh-CN" altLang="en-US" dirty="0"/>
              <a:t>中的冗余在不断变化的视频中持续存在，现有的调度方法无法高效地处理运行时动态变化的稀疏激活，导致稀疏 </a:t>
            </a:r>
            <a:r>
              <a:rPr lang="en-US" altLang="zh-CN" dirty="0"/>
              <a:t>VGM </a:t>
            </a:r>
            <a:r>
              <a:rPr lang="zh-CN" altLang="en-US" dirty="0"/>
              <a:t>的计算利用率低。</a:t>
            </a: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55385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449450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FlightVGM</a:t>
            </a:r>
            <a:r>
              <a:rPr lang="en-US" altLang="zh-CN" dirty="0"/>
              <a:t> </a:t>
            </a:r>
            <a:r>
              <a:rPr lang="zh-CN" altLang="en-US" dirty="0"/>
              <a:t>的设计目标是提升整体吞吐量，这需要从三个方面入手，对应公式中的各项指标：</a:t>
            </a:r>
          </a:p>
          <a:p>
            <a:pPr>
              <a:buFont typeface="+mj-lt"/>
              <a:buAutoNum type="arabicPeriod"/>
            </a:pPr>
            <a:r>
              <a:rPr lang="zh-CN" altLang="en-US" b="1" dirty="0"/>
              <a:t>降低计算成本（</a:t>
            </a:r>
            <a:r>
              <a:rPr lang="en-US" altLang="zh-CN" b="1" dirty="0"/>
              <a:t>Computation Reduction, CR</a:t>
            </a:r>
            <a:r>
              <a:rPr lang="zh-CN" altLang="en-US" b="1" dirty="0"/>
              <a:t>）</a:t>
            </a:r>
            <a:r>
              <a:rPr lang="en-US" altLang="zh-CN" b="1" dirty="0"/>
              <a:t>[</a:t>
            </a:r>
            <a:r>
              <a:rPr lang="zh-CN" altLang="en-US" b="1" dirty="0"/>
              <a:t>紫色</a:t>
            </a:r>
            <a:r>
              <a:rPr lang="en-US" altLang="zh-CN" b="1" dirty="0"/>
              <a:t>]</a:t>
            </a:r>
            <a:endParaRPr lang="zh-CN" altLang="en-US" dirty="0"/>
          </a:p>
          <a:p>
            <a:pPr marL="742950" lvl="1" indent="-285750">
              <a:buFont typeface="+mj-lt"/>
              <a:buAutoNum type="arabicPeriod"/>
            </a:pPr>
            <a:r>
              <a:rPr lang="zh-CN" altLang="en-US" b="1" dirty="0"/>
              <a:t>思路</a:t>
            </a:r>
            <a:r>
              <a:rPr lang="zh-CN" altLang="en-US" dirty="0"/>
              <a:t>：通过利用视频数据在时空两个维度上的相似性，对激活进行动态剪枝，减少不必要的计算。</a:t>
            </a:r>
          </a:p>
          <a:p>
            <a:pPr marL="742950" lvl="1" indent="-285750">
              <a:buFont typeface="+mj-lt"/>
              <a:buAutoNum type="arabicPeriod"/>
            </a:pPr>
            <a:r>
              <a:rPr lang="zh-CN" altLang="en-US" b="1" dirty="0"/>
              <a:t>实现</a:t>
            </a:r>
            <a:r>
              <a:rPr lang="zh-CN" altLang="en-US" dirty="0"/>
              <a:t>：定制的稀疏化单元和恢复单元在运行时检查激活的相似性，动态丢弃冗余计算。</a:t>
            </a:r>
          </a:p>
          <a:p>
            <a:pPr>
              <a:buFont typeface="+mj-lt"/>
              <a:buAutoNum type="arabicPeriod"/>
            </a:pPr>
            <a:r>
              <a:rPr lang="zh-CN" altLang="en-US" b="1" dirty="0"/>
              <a:t>提升峰值计算性能（</a:t>
            </a:r>
            <a:r>
              <a:rPr lang="en-US" altLang="zh-CN" b="1" dirty="0"/>
              <a:t>PCP</a:t>
            </a:r>
            <a:r>
              <a:rPr lang="zh-CN" altLang="en-US" b="1" dirty="0"/>
              <a:t>）</a:t>
            </a:r>
            <a:r>
              <a:rPr lang="en-US" altLang="zh-CN" b="1" dirty="0"/>
              <a:t>[</a:t>
            </a:r>
            <a:r>
              <a:rPr lang="zh-CN" altLang="en-US" b="1" dirty="0"/>
              <a:t>橙色</a:t>
            </a:r>
            <a:r>
              <a:rPr lang="en-US" altLang="zh-CN" b="1" dirty="0"/>
              <a:t>]</a:t>
            </a:r>
            <a:endParaRPr lang="zh-CN" altLang="en-US" dirty="0"/>
          </a:p>
          <a:p>
            <a:pPr marL="742950" lvl="1" indent="-285750">
              <a:buFont typeface="+mj-lt"/>
              <a:buAutoNum type="arabicPeriod"/>
            </a:pPr>
            <a:r>
              <a:rPr lang="zh-CN" altLang="en-US" b="1" dirty="0"/>
              <a:t>思路</a:t>
            </a:r>
            <a:r>
              <a:rPr lang="zh-CN" altLang="en-US" dirty="0"/>
              <a:t>：采用混合精度技术，利用 </a:t>
            </a:r>
            <a:r>
              <a:rPr lang="en-US" altLang="zh-CN" dirty="0"/>
              <a:t>INT8 </a:t>
            </a:r>
            <a:r>
              <a:rPr lang="zh-CN" altLang="en-US" dirty="0"/>
              <a:t>的高并行度与 </a:t>
            </a:r>
            <a:r>
              <a:rPr lang="en-US" altLang="zh-CN" dirty="0"/>
              <a:t>FP16 </a:t>
            </a:r>
            <a:r>
              <a:rPr lang="zh-CN" altLang="en-US" dirty="0"/>
              <a:t>的高精度，实现两种运算模式的优势互补。</a:t>
            </a:r>
          </a:p>
          <a:p>
            <a:pPr marL="742950" lvl="1" indent="-285750">
              <a:buFont typeface="+mj-lt"/>
              <a:buAutoNum type="arabicPeriod"/>
            </a:pPr>
            <a:r>
              <a:rPr lang="zh-CN" altLang="en-US" b="1" dirty="0"/>
              <a:t>实现</a:t>
            </a:r>
            <a:r>
              <a:rPr lang="zh-CN" altLang="en-US" dirty="0"/>
              <a:t>：在矩阵处理引擎中构建浮点与定点混合的 </a:t>
            </a:r>
            <a:r>
              <a:rPr lang="en-US" altLang="zh-CN" b="1" dirty="0"/>
              <a:t>DSP58 </a:t>
            </a:r>
            <a:r>
              <a:rPr lang="zh-CN" altLang="en-US" b="1" dirty="0"/>
              <a:t>扩展架构</a:t>
            </a:r>
            <a:r>
              <a:rPr lang="zh-CN" altLang="en-US" dirty="0"/>
              <a:t>，这样就可以在同一硬件资源下同时支持 </a:t>
            </a:r>
            <a:r>
              <a:rPr lang="en-US" altLang="zh-CN" dirty="0"/>
              <a:t>INT8 </a:t>
            </a:r>
            <a:r>
              <a:rPr lang="zh-CN" altLang="en-US" dirty="0"/>
              <a:t>和 </a:t>
            </a:r>
            <a:r>
              <a:rPr lang="en-US" altLang="zh-CN" dirty="0"/>
              <a:t>FP16 </a:t>
            </a:r>
            <a:r>
              <a:rPr lang="zh-CN" altLang="en-US" dirty="0"/>
              <a:t>运算。</a:t>
            </a:r>
          </a:p>
          <a:p>
            <a:pPr>
              <a:buFont typeface="+mj-lt"/>
              <a:buAutoNum type="arabicPeriod"/>
            </a:pPr>
            <a:r>
              <a:rPr lang="zh-CN" altLang="en-US" b="1" dirty="0"/>
              <a:t>提高计算利用率（</a:t>
            </a:r>
            <a:r>
              <a:rPr lang="en-US" altLang="zh-CN" b="1" dirty="0"/>
              <a:t>Utilization, Util</a:t>
            </a:r>
            <a:r>
              <a:rPr lang="zh-CN" altLang="en-US" b="1" dirty="0"/>
              <a:t>）</a:t>
            </a:r>
            <a:r>
              <a:rPr lang="en-US" altLang="zh-CN" b="1" dirty="0"/>
              <a:t>[</a:t>
            </a:r>
            <a:r>
              <a:rPr lang="zh-CN" altLang="en-US" b="1" dirty="0"/>
              <a:t>蓝色</a:t>
            </a:r>
            <a:r>
              <a:rPr lang="en-US" altLang="zh-CN" b="1" dirty="0"/>
              <a:t>]</a:t>
            </a:r>
            <a:endParaRPr lang="zh-CN" altLang="en-US" dirty="0"/>
          </a:p>
          <a:p>
            <a:pPr marL="742950" lvl="1" indent="-285750">
              <a:buFont typeface="+mj-lt"/>
              <a:buAutoNum type="arabicPeriod"/>
            </a:pPr>
            <a:r>
              <a:rPr lang="zh-CN" altLang="en-US" b="1" dirty="0"/>
              <a:t>思路</a:t>
            </a:r>
            <a:r>
              <a:rPr lang="zh-CN" altLang="en-US" dirty="0"/>
              <a:t>：由于激活稀疏化会导致部分计算单元闲置，因此需要有效的调度策略来平衡负载，确保所有资源得到充分利用。</a:t>
            </a:r>
          </a:p>
          <a:p>
            <a:pPr marL="742950" lvl="1" indent="-285750">
              <a:buFont typeface="+mj-lt"/>
              <a:buAutoNum type="arabicPeriod"/>
            </a:pPr>
            <a:r>
              <a:rPr lang="zh-CN" altLang="en-US" b="1" dirty="0"/>
              <a:t>实现</a:t>
            </a:r>
            <a:r>
              <a:rPr lang="zh-CN" altLang="en-US" dirty="0"/>
              <a:t>：采用两阶段调度方法</a:t>
            </a:r>
            <a:r>
              <a:rPr lang="en-US" altLang="zh-CN" dirty="0"/>
              <a:t>——</a:t>
            </a:r>
            <a:r>
              <a:rPr lang="zh-CN" altLang="en-US" dirty="0"/>
              <a:t>静态编译阶段进行</a:t>
            </a:r>
            <a:r>
              <a:rPr lang="zh-CN" altLang="en-US" b="1" dirty="0"/>
              <a:t>算子融合和权重量化预处理</a:t>
            </a:r>
            <a:r>
              <a:rPr lang="zh-CN" altLang="en-US" dirty="0"/>
              <a:t>；动态调度阶段实时调整</a:t>
            </a:r>
            <a:r>
              <a:rPr lang="zh-CN" altLang="en-US" b="1" dirty="0"/>
              <a:t>算子执行顺序</a:t>
            </a:r>
            <a:r>
              <a:rPr lang="zh-CN" altLang="en-US" dirty="0"/>
              <a:t>，通过</a:t>
            </a:r>
            <a:r>
              <a:rPr lang="zh-CN" altLang="en-US" b="1" dirty="0"/>
              <a:t>权重预加载和基于优先级的调度</a:t>
            </a:r>
            <a:r>
              <a:rPr lang="zh-CN" altLang="en-US" dirty="0"/>
              <a:t>，最大限度地提高利用率。</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656743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FlightVGM</a:t>
            </a:r>
            <a:r>
              <a:rPr lang="en-US" altLang="zh-CN" dirty="0"/>
              <a:t> </a:t>
            </a:r>
            <a:r>
              <a:rPr lang="zh-CN" altLang="en-US" dirty="0"/>
              <a:t>的设计目标是提升整体吞吐量，这需要从三个方面入手，对应公式中的各项指标：</a:t>
            </a:r>
          </a:p>
          <a:p>
            <a:pPr>
              <a:buFont typeface="+mj-lt"/>
              <a:buAutoNum type="arabicPeriod"/>
            </a:pPr>
            <a:r>
              <a:rPr lang="zh-CN" altLang="en-US" b="1" dirty="0"/>
              <a:t>降低计算成本（</a:t>
            </a:r>
            <a:r>
              <a:rPr lang="en-US" altLang="zh-CN" b="1" dirty="0"/>
              <a:t>Computation Reduction, CR</a:t>
            </a:r>
            <a:r>
              <a:rPr lang="zh-CN" altLang="en-US" b="1" dirty="0"/>
              <a:t>）</a:t>
            </a:r>
            <a:r>
              <a:rPr lang="en-US" altLang="zh-CN" b="1" dirty="0"/>
              <a:t>[</a:t>
            </a:r>
            <a:r>
              <a:rPr lang="zh-CN" altLang="en-US" b="1" dirty="0"/>
              <a:t>紫色</a:t>
            </a:r>
            <a:r>
              <a:rPr lang="en-US" altLang="zh-CN" b="1" dirty="0"/>
              <a:t>]</a:t>
            </a:r>
            <a:endParaRPr lang="zh-CN" altLang="en-US" dirty="0"/>
          </a:p>
          <a:p>
            <a:pPr marL="742950" lvl="1" indent="-285750">
              <a:buFont typeface="+mj-lt"/>
              <a:buAutoNum type="arabicPeriod"/>
            </a:pPr>
            <a:r>
              <a:rPr lang="zh-CN" altLang="en-US" b="1" dirty="0"/>
              <a:t>思路</a:t>
            </a:r>
            <a:r>
              <a:rPr lang="zh-CN" altLang="en-US" dirty="0"/>
              <a:t>：通过利用视频数据在时空两个维度上的相似性，对激活进行动态剪枝，减少不必要的计算。</a:t>
            </a:r>
          </a:p>
          <a:p>
            <a:pPr marL="742950" lvl="1" indent="-285750">
              <a:buFont typeface="+mj-lt"/>
              <a:buAutoNum type="arabicPeriod"/>
            </a:pPr>
            <a:r>
              <a:rPr lang="zh-CN" altLang="en-US" b="1" dirty="0"/>
              <a:t>实现</a:t>
            </a:r>
            <a:r>
              <a:rPr lang="zh-CN" altLang="en-US" dirty="0"/>
              <a:t>：定制的稀疏化单元和恢复单元在运行时检查激活的相似性，动态丢弃冗余计算。</a:t>
            </a:r>
          </a:p>
          <a:p>
            <a:pPr>
              <a:buFont typeface="+mj-lt"/>
              <a:buAutoNum type="arabicPeriod"/>
            </a:pPr>
            <a:r>
              <a:rPr lang="zh-CN" altLang="en-US" b="1" dirty="0"/>
              <a:t>提升峰值计算性能（</a:t>
            </a:r>
            <a:r>
              <a:rPr lang="en-US" altLang="zh-CN" b="1" dirty="0"/>
              <a:t>PCP</a:t>
            </a:r>
            <a:r>
              <a:rPr lang="zh-CN" altLang="en-US" b="1" dirty="0"/>
              <a:t>）</a:t>
            </a:r>
            <a:r>
              <a:rPr lang="en-US" altLang="zh-CN" b="1" dirty="0"/>
              <a:t>[</a:t>
            </a:r>
            <a:r>
              <a:rPr lang="zh-CN" altLang="en-US" b="1" dirty="0"/>
              <a:t>橙色</a:t>
            </a:r>
            <a:r>
              <a:rPr lang="en-US" altLang="zh-CN" b="1" dirty="0"/>
              <a:t>]</a:t>
            </a:r>
            <a:endParaRPr lang="zh-CN" altLang="en-US" dirty="0"/>
          </a:p>
          <a:p>
            <a:pPr marL="742950" lvl="1" indent="-285750">
              <a:buFont typeface="+mj-lt"/>
              <a:buAutoNum type="arabicPeriod"/>
            </a:pPr>
            <a:r>
              <a:rPr lang="zh-CN" altLang="en-US" b="1" dirty="0"/>
              <a:t>思路</a:t>
            </a:r>
            <a:r>
              <a:rPr lang="zh-CN" altLang="en-US" dirty="0"/>
              <a:t>：采用混合精度技术，利用 </a:t>
            </a:r>
            <a:r>
              <a:rPr lang="en-US" altLang="zh-CN" dirty="0"/>
              <a:t>INT8 </a:t>
            </a:r>
            <a:r>
              <a:rPr lang="zh-CN" altLang="en-US" dirty="0"/>
              <a:t>的高并行度与 </a:t>
            </a:r>
            <a:r>
              <a:rPr lang="en-US" altLang="zh-CN" dirty="0"/>
              <a:t>FP16 </a:t>
            </a:r>
            <a:r>
              <a:rPr lang="zh-CN" altLang="en-US" dirty="0"/>
              <a:t>的高精度，实现两种运算模式的优势互补。</a:t>
            </a:r>
          </a:p>
          <a:p>
            <a:pPr marL="742950" lvl="1" indent="-285750">
              <a:buFont typeface="+mj-lt"/>
              <a:buAutoNum type="arabicPeriod"/>
            </a:pPr>
            <a:r>
              <a:rPr lang="zh-CN" altLang="en-US" b="1" dirty="0"/>
              <a:t>实现</a:t>
            </a:r>
            <a:r>
              <a:rPr lang="zh-CN" altLang="en-US" dirty="0"/>
              <a:t>：在矩阵处理引擎中构建浮点与定点混合的 </a:t>
            </a:r>
            <a:r>
              <a:rPr lang="en-US" altLang="zh-CN" b="1" dirty="0"/>
              <a:t>DSP58 </a:t>
            </a:r>
            <a:r>
              <a:rPr lang="zh-CN" altLang="en-US" b="1" dirty="0"/>
              <a:t>扩展架构</a:t>
            </a:r>
            <a:r>
              <a:rPr lang="zh-CN" altLang="en-US" dirty="0"/>
              <a:t>，这样就可以在同一硬件资源下同时支持 </a:t>
            </a:r>
            <a:r>
              <a:rPr lang="en-US" altLang="zh-CN" dirty="0"/>
              <a:t>INT8 </a:t>
            </a:r>
            <a:r>
              <a:rPr lang="zh-CN" altLang="en-US" dirty="0"/>
              <a:t>和 </a:t>
            </a:r>
            <a:r>
              <a:rPr lang="en-US" altLang="zh-CN" dirty="0"/>
              <a:t>FP16 </a:t>
            </a:r>
            <a:r>
              <a:rPr lang="zh-CN" altLang="en-US" dirty="0"/>
              <a:t>运算。</a:t>
            </a:r>
          </a:p>
          <a:p>
            <a:pPr>
              <a:buFont typeface="+mj-lt"/>
              <a:buAutoNum type="arabicPeriod"/>
            </a:pPr>
            <a:r>
              <a:rPr lang="zh-CN" altLang="en-US" b="1" dirty="0"/>
              <a:t>提高计算利用率（</a:t>
            </a:r>
            <a:r>
              <a:rPr lang="en-US" altLang="zh-CN" b="1" dirty="0"/>
              <a:t>Utilization, Util</a:t>
            </a:r>
            <a:r>
              <a:rPr lang="zh-CN" altLang="en-US" b="1" dirty="0"/>
              <a:t>）</a:t>
            </a:r>
            <a:r>
              <a:rPr lang="en-US" altLang="zh-CN" b="1" dirty="0"/>
              <a:t>[</a:t>
            </a:r>
            <a:r>
              <a:rPr lang="zh-CN" altLang="en-US" b="1" dirty="0"/>
              <a:t>蓝色</a:t>
            </a:r>
            <a:r>
              <a:rPr lang="en-US" altLang="zh-CN" b="1" dirty="0"/>
              <a:t>]</a:t>
            </a:r>
            <a:endParaRPr lang="zh-CN" altLang="en-US" dirty="0"/>
          </a:p>
          <a:p>
            <a:pPr marL="742950" lvl="1" indent="-285750">
              <a:buFont typeface="+mj-lt"/>
              <a:buAutoNum type="arabicPeriod"/>
            </a:pPr>
            <a:r>
              <a:rPr lang="zh-CN" altLang="en-US" b="1" dirty="0"/>
              <a:t>思路</a:t>
            </a:r>
            <a:r>
              <a:rPr lang="zh-CN" altLang="en-US" dirty="0"/>
              <a:t>：由于激活稀疏化会导致部分计算单元闲置，因此需要有效的调度策略来平衡负载，确保所有资源得到充分利用。</a:t>
            </a:r>
          </a:p>
          <a:p>
            <a:pPr marL="742950" lvl="1" indent="-285750">
              <a:buFont typeface="+mj-lt"/>
              <a:buAutoNum type="arabicPeriod"/>
            </a:pPr>
            <a:r>
              <a:rPr lang="zh-CN" altLang="en-US" b="1" dirty="0"/>
              <a:t>实现</a:t>
            </a:r>
            <a:r>
              <a:rPr lang="zh-CN" altLang="en-US" dirty="0"/>
              <a:t>：采用两阶段调度方法</a:t>
            </a:r>
            <a:r>
              <a:rPr lang="en-US" altLang="zh-CN" dirty="0"/>
              <a:t>——</a:t>
            </a:r>
            <a:r>
              <a:rPr lang="zh-CN" altLang="en-US" dirty="0"/>
              <a:t>静态编译阶段进行</a:t>
            </a:r>
            <a:r>
              <a:rPr lang="zh-CN" altLang="en-US" b="1" dirty="0"/>
              <a:t>算子融合和权重量化预处理</a:t>
            </a:r>
            <a:r>
              <a:rPr lang="zh-CN" altLang="en-US" dirty="0"/>
              <a:t>；动态调度阶段实时调整</a:t>
            </a:r>
            <a:r>
              <a:rPr lang="zh-CN" altLang="en-US" b="1" dirty="0"/>
              <a:t>算子执行顺序</a:t>
            </a:r>
            <a:r>
              <a:rPr lang="zh-CN" altLang="en-US" dirty="0"/>
              <a:t>，通过</a:t>
            </a:r>
            <a:r>
              <a:rPr lang="zh-CN" altLang="en-US" b="1" dirty="0"/>
              <a:t>权重预加载和基于优先级的调度</a:t>
            </a:r>
            <a:r>
              <a:rPr lang="zh-CN" altLang="en-US" dirty="0"/>
              <a:t>，最大限度地提高利用率。</a:t>
            </a:r>
          </a:p>
          <a:p>
            <a:endParaRPr lang="zh-CN" altLang="en-US" dirty="0"/>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636024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58037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稀疏化</a:t>
            </a:r>
          </a:p>
          <a:p>
            <a:pPr>
              <a:buFont typeface="+mj-lt"/>
              <a:buAutoNum type="arabicPeriod"/>
            </a:pPr>
            <a:r>
              <a:rPr lang="zh-CN" altLang="en-US" b="1" dirty="0"/>
              <a:t>帧间稀疏化</a:t>
            </a:r>
            <a:r>
              <a:rPr lang="zh-CN" altLang="en-US" dirty="0"/>
              <a:t>：在组内选定参考帧，其它帧与参考帧的对应 </a:t>
            </a:r>
            <a:r>
              <a:rPr lang="en-US" altLang="zh-CN" dirty="0"/>
              <a:t>token </a:t>
            </a:r>
            <a:r>
              <a:rPr lang="zh-CN" altLang="en-US" dirty="0"/>
              <a:t>若相似度高，则无需重复计算。</a:t>
            </a:r>
          </a:p>
          <a:p>
            <a:pPr>
              <a:buFont typeface="+mj-lt"/>
              <a:buAutoNum type="arabicPeriod"/>
            </a:pPr>
            <a:r>
              <a:rPr lang="zh-CN" altLang="en-US" b="1" dirty="0"/>
              <a:t>帧内稀疏化</a:t>
            </a:r>
            <a:r>
              <a:rPr lang="zh-CN" altLang="en-US" dirty="0"/>
              <a:t>：在单帧中划分 </a:t>
            </a:r>
            <a:r>
              <a:rPr lang="en-US" altLang="zh-CN" dirty="0"/>
              <a:t>chunk</a:t>
            </a:r>
            <a:r>
              <a:rPr lang="zh-CN" altLang="en-US" dirty="0"/>
              <a:t>，选定参考 </a:t>
            </a:r>
            <a:r>
              <a:rPr lang="en-US" altLang="zh-CN" dirty="0"/>
              <a:t>token</a:t>
            </a:r>
            <a:r>
              <a:rPr lang="zh-CN" altLang="en-US" dirty="0"/>
              <a:t>，其它 </a:t>
            </a:r>
            <a:r>
              <a:rPr lang="en-US" altLang="zh-CN" dirty="0"/>
              <a:t>token </a:t>
            </a:r>
            <a:r>
              <a:rPr lang="zh-CN" altLang="en-US" dirty="0"/>
              <a:t>若相似度高，也无需再次计算。如果某个 </a:t>
            </a:r>
            <a:r>
              <a:rPr lang="en-US" altLang="zh-CN" dirty="0"/>
              <a:t>token </a:t>
            </a:r>
            <a:r>
              <a:rPr lang="zh-CN" altLang="en-US" dirty="0"/>
              <a:t>在帧间稀疏化阶段已经被剪枝，那么它的相似度视为 </a:t>
            </a:r>
            <a:r>
              <a:rPr lang="en-US" altLang="zh-CN" dirty="0"/>
              <a:t>0</a:t>
            </a:r>
            <a:r>
              <a:rPr lang="zh-CN" altLang="en-US" dirty="0"/>
              <a:t>。</a:t>
            </a:r>
            <a:endParaRPr lang="en-US" altLang="zh-CN" dirty="0"/>
          </a:p>
          <a:p>
            <a:pPr>
              <a:buFont typeface="+mj-lt"/>
              <a:buNone/>
            </a:pPr>
            <a:endParaRPr lang="zh-CN" altLang="en-US" dirty="0"/>
          </a:p>
          <a:p>
            <a:r>
              <a:rPr lang="zh-CN" altLang="en-US" dirty="0"/>
              <a:t>稀疏化恢复</a:t>
            </a:r>
          </a:p>
          <a:p>
            <a:pPr>
              <a:buFont typeface="+mj-lt"/>
              <a:buNone/>
            </a:pPr>
            <a:r>
              <a:rPr lang="zh-CN" altLang="en-US" dirty="0"/>
              <a:t>激活恢复就是在剪枝操作后，通过利用事先生成的索引表，将参考 </a:t>
            </a:r>
            <a:r>
              <a:rPr lang="en-US" altLang="zh-CN" dirty="0"/>
              <a:t>token </a:t>
            </a:r>
            <a:r>
              <a:rPr lang="zh-CN" altLang="en-US" dirty="0"/>
              <a:t>的计算结果复制到被剪枝 </a:t>
            </a:r>
            <a:r>
              <a:rPr lang="en-US" altLang="zh-CN" dirty="0"/>
              <a:t>token </a:t>
            </a:r>
            <a:r>
              <a:rPr lang="zh-CN" altLang="en-US" dirty="0"/>
              <a:t>的位置，以恢复完整的激活。这对于需要完整输入数据的非线性操作和矩阵运算（如 </a:t>
            </a:r>
            <a:r>
              <a:rPr lang="en-US" altLang="zh-CN" dirty="0"/>
              <a:t>Q×KT</a:t>
            </a:r>
            <a:r>
              <a:rPr lang="zh-CN" altLang="en-US" dirty="0"/>
              <a:t>，</a:t>
            </a:r>
            <a:r>
              <a:rPr lang="en-US" altLang="zh-CN" dirty="0"/>
              <a:t>S×V</a:t>
            </a:r>
            <a:r>
              <a:rPr lang="zh-CN" altLang="en-US" dirty="0"/>
              <a:t>）尤其重要，保证了整个系统在降低计算量的同时，依然能正确地进行后续的计算。</a:t>
            </a:r>
            <a:endParaRPr lang="en-US" altLang="zh-CN" dirty="0"/>
          </a:p>
          <a:p>
            <a:pPr>
              <a:buFont typeface="+mj-lt"/>
              <a:buAutoNum type="arabicPeriod"/>
            </a:pPr>
            <a:endParaRPr lang="en-US" altLang="zh-CN" dirty="0"/>
          </a:p>
          <a:p>
            <a:pPr>
              <a:buFont typeface="+mj-lt"/>
              <a:buAutoNum type="arabicPeriod"/>
            </a:pPr>
            <a:r>
              <a:rPr lang="zh-CN" altLang="en-US" b="1" dirty="0"/>
              <a:t>原始算子计算量：</a:t>
            </a:r>
            <a:r>
              <a:rPr lang="en-US" altLang="zh-CN" b="1" dirty="0"/>
              <a:t>(F T d^2)</a:t>
            </a:r>
            <a:endParaRPr lang="zh-CN" altLang="en-US" dirty="0"/>
          </a:p>
          <a:p>
            <a:pPr marL="742950" lvl="1" indent="-285750">
              <a:buFont typeface="+mj-lt"/>
              <a:buAutoNum type="arabicPeriod"/>
            </a:pPr>
            <a:r>
              <a:rPr lang="zh-CN" altLang="en-US" dirty="0"/>
              <a:t>对一个线性算子（如矩阵乘法）而言，若输入激活尺寸为 </a:t>
            </a:r>
            <a:r>
              <a:rPr lang="en-US" altLang="zh-CN" dirty="0"/>
              <a:t>((F \times T \times d))</a:t>
            </a:r>
            <a:r>
              <a:rPr lang="zh-CN" altLang="en-US" dirty="0"/>
              <a:t>，权重矩阵尺寸为 </a:t>
            </a:r>
            <a:r>
              <a:rPr lang="en-US" altLang="zh-CN" dirty="0"/>
              <a:t>((d \times d))</a:t>
            </a:r>
            <a:r>
              <a:rPr lang="zh-CN" altLang="en-US" dirty="0"/>
              <a:t>，则乘法</a:t>
            </a:r>
            <a:r>
              <a:rPr lang="en-US" altLang="zh-CN" dirty="0"/>
              <a:t>-</a:t>
            </a:r>
            <a:r>
              <a:rPr lang="zh-CN" altLang="en-US" dirty="0"/>
              <a:t>累加的总次数是 </a:t>
            </a:r>
            <a:r>
              <a:rPr lang="en-US" altLang="zh-CN" dirty="0"/>
              <a:t>(F T d^2)</a:t>
            </a:r>
            <a:r>
              <a:rPr lang="zh-CN" altLang="en-US" dirty="0"/>
              <a:t>。这是一个与 </a:t>
            </a:r>
            <a:r>
              <a:rPr lang="en-US" altLang="zh-CN" dirty="0"/>
              <a:t>(d) </a:t>
            </a:r>
            <a:r>
              <a:rPr lang="zh-CN" altLang="en-US" dirty="0"/>
              <a:t>的平方成正比的二次量。</a:t>
            </a:r>
          </a:p>
          <a:p>
            <a:pPr>
              <a:buFont typeface="+mj-lt"/>
              <a:buAutoNum type="arabicPeriod"/>
            </a:pPr>
            <a:r>
              <a:rPr lang="zh-CN" altLang="en-US" b="1" dirty="0"/>
              <a:t>稀疏化引入的额外开销</a:t>
            </a:r>
            <a:endParaRPr lang="zh-CN" altLang="en-US" dirty="0"/>
          </a:p>
          <a:p>
            <a:pPr marL="742950" lvl="1" indent="-285750">
              <a:buFont typeface="+mj-lt"/>
              <a:buAutoNum type="arabicPeriod"/>
            </a:pPr>
            <a:r>
              <a:rPr lang="zh-CN" altLang="en-US" dirty="0"/>
              <a:t>在稀疏化过程中，需要对 </a:t>
            </a:r>
            <a:r>
              <a:rPr lang="en-US" altLang="zh-CN" dirty="0"/>
              <a:t>token </a:t>
            </a:r>
            <a:r>
              <a:rPr lang="zh-CN" altLang="en-US" dirty="0"/>
              <a:t>进行相似度计算。一个相似度计算包含一次内积（</a:t>
            </a:r>
            <a:r>
              <a:rPr lang="en-US" altLang="zh-CN" dirty="0"/>
              <a:t>(d) </a:t>
            </a:r>
            <a:r>
              <a:rPr lang="zh-CN" altLang="en-US" dirty="0"/>
              <a:t>次乘加）和两次求模（各 </a:t>
            </a:r>
            <a:r>
              <a:rPr lang="en-US" altLang="zh-CN" dirty="0"/>
              <a:t>(d) </a:t>
            </a:r>
            <a:r>
              <a:rPr lang="zh-CN" altLang="en-US" dirty="0"/>
              <a:t>次乘加），合计约 </a:t>
            </a:r>
            <a:r>
              <a:rPr lang="en-US" altLang="zh-CN" dirty="0"/>
              <a:t>(3d)</a:t>
            </a:r>
            <a:r>
              <a:rPr lang="zh-CN" altLang="en-US" dirty="0"/>
              <a:t>。</a:t>
            </a:r>
          </a:p>
          <a:p>
            <a:pPr marL="742950" lvl="1" indent="-285750">
              <a:buFont typeface="+mj-lt"/>
              <a:buAutoNum type="arabicPeriod"/>
            </a:pPr>
            <a:r>
              <a:rPr lang="zh-CN" altLang="en-US" dirty="0"/>
              <a:t>帧间稀疏化要对同一组内的帧之间的 </a:t>
            </a:r>
            <a:r>
              <a:rPr lang="en-US" altLang="zh-CN" dirty="0"/>
              <a:t>token </a:t>
            </a:r>
            <a:r>
              <a:rPr lang="zh-CN" altLang="en-US" dirty="0"/>
              <a:t>进行比较；帧内稀疏化要对同一帧的 </a:t>
            </a:r>
            <a:r>
              <a:rPr lang="en-US" altLang="zh-CN" dirty="0"/>
              <a:t>chunk </a:t>
            </a:r>
            <a:r>
              <a:rPr lang="zh-CN" altLang="en-US" dirty="0"/>
              <a:t>内 </a:t>
            </a:r>
            <a:r>
              <a:rPr lang="en-US" altLang="zh-CN" dirty="0"/>
              <a:t>token </a:t>
            </a:r>
            <a:r>
              <a:rPr lang="zh-CN" altLang="en-US" dirty="0"/>
              <a:t>进行比较。最终得到一个额外的线性开销：</a:t>
            </a:r>
            <a:r>
              <a:rPr lang="en-US" altLang="zh-CN" dirty="0"/>
              <a:t>(\</a:t>
            </a:r>
            <a:r>
              <a:rPr lang="en-US" altLang="zh-CN" dirty="0" err="1"/>
              <a:t>mathcal</a:t>
            </a:r>
            <a:r>
              <a:rPr lang="en-US" altLang="zh-CN" dirty="0"/>
              <a:t>{O}(F T d))</a:t>
            </a:r>
            <a:r>
              <a:rPr lang="zh-CN" altLang="en-US" dirty="0"/>
              <a:t>。</a:t>
            </a:r>
          </a:p>
          <a:p>
            <a:pPr>
              <a:buFont typeface="+mj-lt"/>
              <a:buAutoNum type="arabicPeriod"/>
            </a:pPr>
            <a:r>
              <a:rPr lang="zh-CN" altLang="en-US" b="1" dirty="0"/>
              <a:t>线性项 </a:t>
            </a:r>
            <a:r>
              <a:rPr lang="en-US" altLang="zh-CN" b="1" dirty="0"/>
              <a:t>vs. </a:t>
            </a:r>
            <a:r>
              <a:rPr lang="zh-CN" altLang="en-US" b="1" dirty="0"/>
              <a:t>二次项</a:t>
            </a:r>
            <a:endParaRPr lang="zh-CN" altLang="en-US" dirty="0"/>
          </a:p>
          <a:p>
            <a:pPr marL="742950" lvl="1" indent="-285750">
              <a:buFont typeface="+mj-lt"/>
              <a:buAutoNum type="arabicPeriod"/>
            </a:pPr>
            <a:r>
              <a:rPr lang="zh-CN" altLang="en-US" dirty="0"/>
              <a:t>原始计算量是 </a:t>
            </a:r>
            <a:r>
              <a:rPr lang="en-US" altLang="zh-CN" dirty="0"/>
              <a:t>(\</a:t>
            </a:r>
            <a:r>
              <a:rPr lang="en-US" altLang="zh-CN" dirty="0" err="1"/>
              <a:t>mathcal</a:t>
            </a:r>
            <a:r>
              <a:rPr lang="en-US" altLang="zh-CN" dirty="0"/>
              <a:t>{O}(d^2))</a:t>
            </a:r>
            <a:r>
              <a:rPr lang="zh-CN" altLang="en-US" dirty="0"/>
              <a:t>。</a:t>
            </a:r>
          </a:p>
          <a:p>
            <a:pPr marL="742950" lvl="1" indent="-285750">
              <a:buFont typeface="+mj-lt"/>
              <a:buAutoNum type="arabicPeriod"/>
            </a:pPr>
            <a:r>
              <a:rPr lang="zh-CN" altLang="en-US" dirty="0"/>
              <a:t>稀疏化带来的额外相似度计算量是 </a:t>
            </a:r>
            <a:r>
              <a:rPr lang="en-US" altLang="zh-CN" dirty="0"/>
              <a:t>(\</a:t>
            </a:r>
            <a:r>
              <a:rPr lang="en-US" altLang="zh-CN" dirty="0" err="1"/>
              <a:t>mathcal</a:t>
            </a:r>
            <a:r>
              <a:rPr lang="en-US" altLang="zh-CN" dirty="0"/>
              <a:t>{O}(d))</a:t>
            </a:r>
            <a:r>
              <a:rPr lang="zh-CN" altLang="en-US" dirty="0"/>
              <a:t>。</a:t>
            </a:r>
          </a:p>
          <a:p>
            <a:pPr marL="742950" lvl="1" indent="-285750">
              <a:buFont typeface="+mj-lt"/>
              <a:buAutoNum type="arabicPeriod"/>
            </a:pPr>
            <a:r>
              <a:rPr lang="zh-CN" altLang="en-US" dirty="0"/>
              <a:t>当 </a:t>
            </a:r>
            <a:r>
              <a:rPr lang="en-US" altLang="zh-CN" dirty="0"/>
              <a:t>(d) </a:t>
            </a:r>
            <a:r>
              <a:rPr lang="zh-CN" altLang="en-US" dirty="0"/>
              <a:t>很大（例如上千），</a:t>
            </a:r>
            <a:r>
              <a:rPr lang="en-US" altLang="zh-CN" dirty="0"/>
              <a:t>(\</a:t>
            </a:r>
            <a:r>
              <a:rPr lang="en-US" altLang="zh-CN" dirty="0" err="1"/>
              <a:t>mathcal</a:t>
            </a:r>
            <a:r>
              <a:rPr lang="en-US" altLang="zh-CN" dirty="0"/>
              <a:t>{O}(d^2)) </a:t>
            </a:r>
            <a:r>
              <a:rPr lang="zh-CN" altLang="en-US" dirty="0"/>
              <a:t>相比之下要远大于 </a:t>
            </a:r>
            <a:r>
              <a:rPr lang="en-US" altLang="zh-CN" dirty="0"/>
              <a:t>(\</a:t>
            </a:r>
            <a:r>
              <a:rPr lang="en-US" altLang="zh-CN" dirty="0" err="1"/>
              <a:t>mathcal</a:t>
            </a:r>
            <a:r>
              <a:rPr lang="en-US" altLang="zh-CN" dirty="0"/>
              <a:t>{O}(d))</a:t>
            </a:r>
            <a:r>
              <a:rPr lang="zh-CN" altLang="en-US" dirty="0"/>
              <a:t>，因此线性项在整体计算中可以被视为“可忽略不计”。</a:t>
            </a:r>
          </a:p>
          <a:p>
            <a:pPr>
              <a:buFont typeface="+mj-lt"/>
              <a:buAutoNum type="arabicPeriod"/>
            </a:pPr>
            <a:r>
              <a:rPr lang="zh-CN" altLang="en-US" b="1" dirty="0"/>
              <a:t>稀疏度（</a:t>
            </a:r>
            <a:r>
              <a:rPr lang="en-US" altLang="zh-CN" b="1" dirty="0"/>
              <a:t>(s)</a:t>
            </a:r>
            <a:r>
              <a:rPr lang="zh-CN" altLang="en-US" b="1" dirty="0"/>
              <a:t>）</a:t>
            </a:r>
            <a:endParaRPr lang="zh-CN" altLang="en-US" dirty="0"/>
          </a:p>
          <a:p>
            <a:pPr marL="742950" lvl="1" indent="-285750">
              <a:buFont typeface="+mj-lt"/>
              <a:buAutoNum type="arabicPeriod"/>
            </a:pPr>
            <a:r>
              <a:rPr lang="zh-CN" altLang="en-US" dirty="0"/>
              <a:t>稀疏度 </a:t>
            </a:r>
            <a:r>
              <a:rPr lang="en-US" altLang="zh-CN" dirty="0"/>
              <a:t>(s) </a:t>
            </a:r>
            <a:r>
              <a:rPr lang="zh-CN" altLang="en-US" dirty="0"/>
              <a:t>表示在激活稀疏化后，剩余需要计算的比例。若 </a:t>
            </a:r>
            <a:r>
              <a:rPr lang="en-US" altLang="zh-CN" dirty="0"/>
              <a:t>(s=0.3)</a:t>
            </a:r>
            <a:r>
              <a:rPr lang="zh-CN" altLang="en-US" dirty="0"/>
              <a:t>，意味着仅 </a:t>
            </a:r>
            <a:r>
              <a:rPr lang="en-US" altLang="zh-CN" dirty="0"/>
              <a:t>30% </a:t>
            </a:r>
            <a:r>
              <a:rPr lang="zh-CN" altLang="en-US" dirty="0"/>
              <a:t>的 </a:t>
            </a:r>
            <a:r>
              <a:rPr lang="en-US" altLang="zh-CN" dirty="0"/>
              <a:t>token </a:t>
            </a:r>
            <a:r>
              <a:rPr lang="zh-CN" altLang="en-US" dirty="0"/>
              <a:t>需要实际进行后续计算。</a:t>
            </a:r>
          </a:p>
          <a:p>
            <a:pPr marL="742950" lvl="1" indent="-285750">
              <a:buFont typeface="+mj-lt"/>
              <a:buAutoNum type="arabicPeriod"/>
            </a:pPr>
            <a:r>
              <a:rPr lang="zh-CN" altLang="en-US" dirty="0"/>
              <a:t>这样一来，原本的二次项 </a:t>
            </a:r>
            <a:r>
              <a:rPr lang="en-US" altLang="zh-CN" dirty="0"/>
              <a:t>(F T d^2) </a:t>
            </a:r>
            <a:r>
              <a:rPr lang="zh-CN" altLang="en-US" dirty="0"/>
              <a:t>会被乘以 </a:t>
            </a:r>
            <a:r>
              <a:rPr lang="en-US" altLang="zh-CN" dirty="0"/>
              <a:t>(s)</a:t>
            </a:r>
            <a:r>
              <a:rPr lang="zh-CN" altLang="en-US" dirty="0"/>
              <a:t>，进一步减少总计算量。</a:t>
            </a:r>
          </a:p>
          <a:p>
            <a:r>
              <a:rPr lang="zh-CN" altLang="en-US" dirty="0"/>
              <a:t>整体而言，</a:t>
            </a:r>
            <a:r>
              <a:rPr lang="zh-CN" altLang="en-US" b="1" dirty="0"/>
              <a:t>该部分内容分析了在考虑帧间与帧内稀疏化后，算子（如线性运算）的总计算量变化</a:t>
            </a:r>
            <a:r>
              <a:rPr lang="zh-CN" altLang="en-US" dirty="0"/>
              <a:t>，并指出了稀疏化带来的额外开销只是一条线性项，而原始运算有一个二次项 </a:t>
            </a:r>
            <a:r>
              <a:rPr lang="en-US" altLang="zh-CN" dirty="0"/>
              <a:t>(d^2)</a:t>
            </a:r>
            <a:r>
              <a:rPr lang="zh-CN" altLang="en-US" dirty="0"/>
              <a:t>，所以当隐藏维度 </a:t>
            </a:r>
            <a:r>
              <a:rPr lang="en-US" altLang="zh-CN" dirty="0"/>
              <a:t>(d) </a:t>
            </a:r>
            <a:r>
              <a:rPr lang="zh-CN" altLang="en-US" dirty="0"/>
              <a:t>很大时，线性项相对二次项而言几乎可以忽略不计，从而证明了稀疏化在大型 </a:t>
            </a:r>
            <a:r>
              <a:rPr lang="en-US" altLang="zh-CN" dirty="0"/>
              <a:t>VGM </a:t>
            </a:r>
            <a:r>
              <a:rPr lang="zh-CN" altLang="en-US" dirty="0"/>
              <a:t>中的可行性和高效性。</a:t>
            </a:r>
          </a:p>
          <a:p>
            <a:pPr>
              <a:buFont typeface="+mj-lt"/>
              <a:buNone/>
            </a:pPr>
            <a:endParaRPr lang="zh-CN" altLang="en-US" dirty="0"/>
          </a:p>
          <a:p>
            <a:endParaRPr lang="zh-CN" altLang="en-US" dirty="0"/>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352952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1.</a:t>
            </a:r>
            <a:r>
              <a:rPr lang="zh-CN" altLang="en-US" b="1" dirty="0"/>
              <a:t>矩阵处理引擎（</a:t>
            </a:r>
            <a:r>
              <a:rPr lang="en-US" altLang="zh-CN" b="1" dirty="0"/>
              <a:t>Matrix Processing Engine, MPE</a:t>
            </a:r>
            <a:r>
              <a:rPr lang="zh-CN" altLang="en-US" b="1" dirty="0"/>
              <a:t>）</a:t>
            </a:r>
            <a:endParaRPr lang="zh-CN" altLang="en-US" dirty="0"/>
          </a:p>
          <a:p>
            <a:r>
              <a:rPr lang="zh-CN" altLang="en-US" dirty="0"/>
              <a:t>主要执行算术运算的核心模块，通过以下手段实现高效加速：</a:t>
            </a:r>
          </a:p>
          <a:p>
            <a:pPr>
              <a:buFont typeface="Arial" panose="020B0604020202020204" pitchFamily="34" charset="0"/>
              <a:buChar char="•"/>
            </a:pPr>
            <a:r>
              <a:rPr lang="zh-CN" altLang="en-US" dirty="0"/>
              <a:t>采用 </a:t>
            </a:r>
            <a:r>
              <a:rPr lang="en-US" altLang="zh-CN" b="1" dirty="0"/>
              <a:t>DSP-N</a:t>
            </a:r>
            <a:r>
              <a:rPr lang="zh-CN" altLang="en-US" dirty="0"/>
              <a:t>（原生 </a:t>
            </a:r>
            <a:r>
              <a:rPr lang="en-US" altLang="zh-CN" dirty="0"/>
              <a:t>DSP</a:t>
            </a:r>
            <a:r>
              <a:rPr lang="zh-CN" altLang="en-US" dirty="0"/>
              <a:t>）与 </a:t>
            </a:r>
            <a:r>
              <a:rPr lang="en-US" altLang="zh-CN" b="1" dirty="0"/>
              <a:t>DSP-E</a:t>
            </a:r>
            <a:r>
              <a:rPr lang="zh-CN" altLang="en-US" dirty="0"/>
              <a:t>（可切换 </a:t>
            </a:r>
            <a:r>
              <a:rPr lang="en-US" altLang="zh-CN" dirty="0"/>
              <a:t>INT8/FP16 </a:t>
            </a:r>
            <a:r>
              <a:rPr lang="zh-CN" altLang="en-US" dirty="0"/>
              <a:t>模式）的组合来支持混合精度运算；</a:t>
            </a:r>
          </a:p>
          <a:p>
            <a:pPr>
              <a:buFont typeface="Arial" panose="020B0604020202020204" pitchFamily="34" charset="0"/>
              <a:buChar char="•"/>
            </a:pPr>
            <a:r>
              <a:rPr lang="zh-CN" altLang="en-US" dirty="0"/>
              <a:t>由 </a:t>
            </a:r>
            <a:r>
              <a:rPr lang="en-US" altLang="zh-CN" b="1" dirty="0"/>
              <a:t>MPE </a:t>
            </a:r>
            <a:r>
              <a:rPr lang="zh-CN" altLang="en-US" b="1" dirty="0"/>
              <a:t>控制器</a:t>
            </a:r>
            <a:r>
              <a:rPr lang="zh-CN" altLang="en-US" dirty="0"/>
              <a:t> 和 </a:t>
            </a:r>
            <a:r>
              <a:rPr lang="zh-CN" altLang="en-US" b="1" dirty="0"/>
              <a:t>本地缓冲器</a:t>
            </a:r>
            <a:r>
              <a:rPr lang="zh-CN" altLang="en-US" dirty="0"/>
              <a:t> 管理数据流和并行计算；</a:t>
            </a:r>
          </a:p>
          <a:p>
            <a:pPr>
              <a:buFont typeface="Arial" panose="020B0604020202020204" pitchFamily="34" charset="0"/>
              <a:buChar char="•"/>
            </a:pPr>
            <a:r>
              <a:rPr lang="zh-CN" altLang="en-US" dirty="0"/>
              <a:t>在满足模型精度需求的同时，充分利用硬件资源，实现高吞吐量的矩阵乘法及其他线性操作。</a:t>
            </a:r>
          </a:p>
          <a:p>
            <a:r>
              <a:rPr lang="en-US" altLang="zh-CN" b="1" dirty="0"/>
              <a:t>2.</a:t>
            </a:r>
            <a:r>
              <a:rPr lang="zh-CN" altLang="en-US" b="1" dirty="0"/>
              <a:t>稀疏化单元（</a:t>
            </a:r>
            <a:r>
              <a:rPr lang="en-US" altLang="zh-CN" b="1" dirty="0" err="1"/>
              <a:t>Sparsification</a:t>
            </a:r>
            <a:r>
              <a:rPr lang="en-US" altLang="zh-CN" b="1" dirty="0"/>
              <a:t> Unit, SU</a:t>
            </a:r>
            <a:r>
              <a:rPr lang="zh-CN" altLang="en-US" b="1" dirty="0"/>
              <a:t>）</a:t>
            </a:r>
            <a:endParaRPr lang="zh-CN" altLang="en-US" dirty="0"/>
          </a:p>
          <a:p>
            <a:pPr>
              <a:buFont typeface="Arial" panose="020B0604020202020204" pitchFamily="34" charset="0"/>
              <a:buChar char="•"/>
            </a:pPr>
            <a:r>
              <a:rPr lang="zh-CN" altLang="en-US" b="1" dirty="0"/>
              <a:t>稀疏化单元（</a:t>
            </a:r>
            <a:r>
              <a:rPr lang="en-US" altLang="zh-CN" b="1" dirty="0"/>
              <a:t>SU</a:t>
            </a:r>
            <a:r>
              <a:rPr lang="zh-CN" altLang="en-US" b="1" dirty="0"/>
              <a:t>）</a:t>
            </a:r>
            <a:r>
              <a:rPr lang="zh-CN" altLang="en-US" dirty="0"/>
              <a:t>：通过计算输入向量与参考向量的相似度，动态决定是否需要计算某个 </a:t>
            </a:r>
            <a:r>
              <a:rPr lang="en-US" altLang="zh-CN" dirty="0"/>
              <a:t>token</a:t>
            </a:r>
            <a:r>
              <a:rPr lang="zh-CN" altLang="en-US" dirty="0"/>
              <a:t>。</a:t>
            </a:r>
          </a:p>
          <a:p>
            <a:pPr>
              <a:buFont typeface="Arial" panose="020B0604020202020204" pitchFamily="34" charset="0"/>
              <a:buChar char="•"/>
            </a:pPr>
            <a:r>
              <a:rPr lang="zh-CN" altLang="en-US" b="1" dirty="0"/>
              <a:t>硬件实现</a:t>
            </a:r>
            <a:r>
              <a:rPr lang="zh-CN" altLang="en-US" dirty="0"/>
              <a:t>：采用两个点积单元（</a:t>
            </a:r>
            <a:r>
              <a:rPr lang="en-US" altLang="zh-CN" dirty="0"/>
              <a:t>DP-0</a:t>
            </a:r>
            <a:r>
              <a:rPr lang="zh-CN" altLang="en-US" dirty="0"/>
              <a:t>、</a:t>
            </a:r>
            <a:r>
              <a:rPr lang="en-US" altLang="zh-CN" dirty="0"/>
              <a:t>DP-1</a:t>
            </a:r>
            <a:r>
              <a:rPr lang="zh-CN" altLang="en-US" dirty="0"/>
              <a:t>）和一系列除法、开方模块，并配合 </a:t>
            </a:r>
            <a:r>
              <a:rPr lang="en-US" altLang="zh-CN" dirty="0" err="1"/>
              <a:t>VReg</a:t>
            </a:r>
            <a:r>
              <a:rPr lang="zh-CN" altLang="en-US" dirty="0"/>
              <a:t>、</a:t>
            </a:r>
            <a:r>
              <a:rPr lang="en-US" altLang="zh-CN" dirty="0" err="1"/>
              <a:t>MReg</a:t>
            </a:r>
            <a:r>
              <a:rPr lang="zh-CN" altLang="en-US" dirty="0"/>
              <a:t>、</a:t>
            </a:r>
            <a:r>
              <a:rPr lang="en-US" altLang="zh-CN" dirty="0"/>
              <a:t>Index Table </a:t>
            </a:r>
            <a:r>
              <a:rPr lang="zh-CN" altLang="en-US" dirty="0"/>
              <a:t>等寄存器与存储器，实现了高效的在线稀疏化过程。</a:t>
            </a:r>
          </a:p>
          <a:p>
            <a:pPr>
              <a:buFont typeface="Arial" panose="020B0604020202020204" pitchFamily="34" charset="0"/>
              <a:buChar char="•"/>
            </a:pPr>
            <a:r>
              <a:rPr lang="zh-CN" altLang="en-US" b="1" dirty="0"/>
              <a:t>阈值控制</a:t>
            </a:r>
            <a:r>
              <a:rPr lang="zh-CN" altLang="en-US" dirty="0"/>
              <a:t>：在稀疏度和模型精度之间做权衡，通过离线实验来选择合适阈值。</a:t>
            </a:r>
          </a:p>
          <a:p>
            <a:r>
              <a:rPr lang="en-US" altLang="zh-CN" b="1" dirty="0"/>
              <a:t>3.</a:t>
            </a:r>
            <a:r>
              <a:rPr lang="zh-CN" altLang="en-US" b="1" dirty="0"/>
              <a:t>恢复单元（</a:t>
            </a:r>
            <a:r>
              <a:rPr lang="en-US" altLang="zh-CN" b="1" dirty="0"/>
              <a:t>Recovery Unit</a:t>
            </a:r>
            <a:r>
              <a:rPr lang="zh-CN" altLang="en-US" b="1" dirty="0"/>
              <a:t>，</a:t>
            </a:r>
            <a:r>
              <a:rPr lang="en-US" altLang="zh-CN" b="1" dirty="0"/>
              <a:t>RU</a:t>
            </a:r>
            <a:r>
              <a:rPr lang="zh-CN" altLang="en-US" b="1" dirty="0"/>
              <a:t>）</a:t>
            </a:r>
            <a:endParaRPr lang="zh-CN" altLang="en-US" dirty="0"/>
          </a:p>
          <a:p>
            <a:pPr>
              <a:buFont typeface="Arial" panose="020B0604020202020204" pitchFamily="34" charset="0"/>
              <a:buChar char="•"/>
            </a:pPr>
            <a:r>
              <a:rPr lang="en-US" altLang="zh-CN" b="1" dirty="0"/>
              <a:t>Recovery Unit</a:t>
            </a:r>
            <a:r>
              <a:rPr lang="zh-CN" altLang="en-US" b="1" dirty="0"/>
              <a:t>（</a:t>
            </a:r>
            <a:r>
              <a:rPr lang="en-US" altLang="zh-CN" b="1" dirty="0"/>
              <a:t>RU</a:t>
            </a:r>
            <a:r>
              <a:rPr lang="zh-CN" altLang="en-US" b="1" dirty="0"/>
              <a:t>）</a:t>
            </a:r>
            <a:r>
              <a:rPr lang="zh-CN" altLang="en-US" dirty="0"/>
              <a:t> 通过帧内恢复和帧间恢复两种机制，将在稀疏化阶段被“剪枝”或“跳过”的 </a:t>
            </a:r>
            <a:r>
              <a:rPr lang="en-US" altLang="zh-CN" dirty="0"/>
              <a:t>token </a:t>
            </a:r>
            <a:r>
              <a:rPr lang="zh-CN" altLang="en-US" dirty="0"/>
              <a:t>恢复到正确位置：</a:t>
            </a:r>
          </a:p>
          <a:p>
            <a:pPr marL="742950" lvl="1" indent="-285750">
              <a:buFont typeface="Arial" panose="020B0604020202020204" pitchFamily="34" charset="0"/>
              <a:buChar char="•"/>
            </a:pPr>
            <a:r>
              <a:rPr lang="zh-CN" altLang="en-US" b="1" dirty="0"/>
              <a:t>帧内恢复</a:t>
            </a:r>
            <a:r>
              <a:rPr lang="zh-CN" altLang="en-US" dirty="0"/>
              <a:t>：在同一帧内对被剪枝 </a:t>
            </a:r>
            <a:r>
              <a:rPr lang="en-US" altLang="zh-CN" dirty="0"/>
              <a:t>token </a:t>
            </a:r>
            <a:r>
              <a:rPr lang="zh-CN" altLang="en-US" dirty="0"/>
              <a:t>进行补全；</a:t>
            </a:r>
          </a:p>
          <a:p>
            <a:pPr marL="742950" lvl="1" indent="-285750">
              <a:buFont typeface="Arial" panose="020B0604020202020204" pitchFamily="34" charset="0"/>
              <a:buChar char="•"/>
            </a:pPr>
            <a:r>
              <a:rPr lang="zh-CN" altLang="en-US" b="1" dirty="0"/>
              <a:t>帧间恢复</a:t>
            </a:r>
            <a:r>
              <a:rPr lang="zh-CN" altLang="en-US" dirty="0"/>
              <a:t>：在不同帧之间对被剪枝 </a:t>
            </a:r>
            <a:r>
              <a:rPr lang="en-US" altLang="zh-CN" dirty="0"/>
              <a:t>token </a:t>
            </a:r>
            <a:r>
              <a:rPr lang="zh-CN" altLang="en-US" dirty="0"/>
              <a:t>进行补全。</a:t>
            </a:r>
          </a:p>
          <a:p>
            <a:pPr>
              <a:buFont typeface="Arial" panose="020B0604020202020204" pitchFamily="34" charset="0"/>
              <a:buChar char="•"/>
            </a:pPr>
            <a:r>
              <a:rPr lang="zh-CN" altLang="en-US" b="1" dirty="0"/>
              <a:t>参考帧激活（</a:t>
            </a:r>
            <a:r>
              <a:rPr lang="en-US" altLang="zh-CN" b="1" dirty="0" err="1"/>
              <a:t>RReg</a:t>
            </a:r>
            <a:r>
              <a:rPr lang="zh-CN" altLang="en-US" b="1" dirty="0"/>
              <a:t>）</a:t>
            </a:r>
            <a:r>
              <a:rPr lang="zh-CN" altLang="en-US" dirty="0"/>
              <a:t>：先用参考帧填充整帧，然后再根据索引表对不需要被替换的 </a:t>
            </a:r>
            <a:r>
              <a:rPr lang="en-US" altLang="zh-CN" dirty="0"/>
              <a:t>token </a:t>
            </a:r>
            <a:r>
              <a:rPr lang="zh-CN" altLang="en-US" dirty="0"/>
              <a:t>进行保留，对需要被替换的 </a:t>
            </a:r>
            <a:r>
              <a:rPr lang="en-US" altLang="zh-CN" dirty="0"/>
              <a:t>token </a:t>
            </a:r>
            <a:r>
              <a:rPr lang="zh-CN" altLang="en-US" dirty="0"/>
              <a:t>进行恢复或多播。</a:t>
            </a:r>
          </a:p>
          <a:p>
            <a:pPr>
              <a:buFont typeface="Arial" panose="020B0604020202020204" pitchFamily="34" charset="0"/>
              <a:buChar char="•"/>
            </a:pPr>
            <a:r>
              <a:rPr lang="zh-CN" altLang="en-US" b="1" dirty="0"/>
              <a:t>索引表（</a:t>
            </a:r>
            <a:r>
              <a:rPr lang="en-US" altLang="zh-CN" b="1" dirty="0"/>
              <a:t>Index Tables</a:t>
            </a:r>
            <a:r>
              <a:rPr lang="zh-CN" altLang="en-US" b="1" dirty="0"/>
              <a:t>）</a:t>
            </a:r>
            <a:r>
              <a:rPr lang="zh-CN" altLang="en-US" dirty="0"/>
              <a:t>：记录了每个被剪枝 </a:t>
            </a:r>
            <a:r>
              <a:rPr lang="en-US" altLang="zh-CN" dirty="0"/>
              <a:t>token </a:t>
            </a:r>
            <a:r>
              <a:rPr lang="zh-CN" altLang="en-US" dirty="0"/>
              <a:t>对应的参考位置，供 </a:t>
            </a:r>
            <a:r>
              <a:rPr lang="en-US" altLang="zh-CN" dirty="0"/>
              <a:t>RU </a:t>
            </a:r>
            <a:r>
              <a:rPr lang="zh-CN" altLang="en-US" dirty="0"/>
              <a:t>查找并完成恢复。</a:t>
            </a:r>
          </a:p>
          <a:p>
            <a:r>
              <a:rPr lang="en-US" altLang="zh-CN" b="1" dirty="0"/>
              <a:t>4.</a:t>
            </a:r>
            <a:r>
              <a:rPr lang="zh-CN" altLang="en-US" b="1" dirty="0"/>
              <a:t>特殊功能单元（</a:t>
            </a:r>
            <a:r>
              <a:rPr lang="en-US" altLang="zh-CN" b="1" dirty="0"/>
              <a:t>Special Function Unit, SFU</a:t>
            </a:r>
            <a:r>
              <a:rPr lang="zh-CN" altLang="en-US" b="1" dirty="0"/>
              <a:t>）</a:t>
            </a:r>
            <a:endParaRPr lang="zh-CN" altLang="en-US" dirty="0"/>
          </a:p>
          <a:p>
            <a:pPr>
              <a:buFont typeface="Arial" panose="020B0604020202020204" pitchFamily="34" charset="0"/>
              <a:buChar char="•"/>
            </a:pPr>
            <a:r>
              <a:rPr lang="zh-CN" altLang="en-US" b="1" dirty="0"/>
              <a:t>特殊功能单元（</a:t>
            </a:r>
            <a:r>
              <a:rPr lang="en-US" altLang="zh-CN" b="1" dirty="0"/>
              <a:t>SFU</a:t>
            </a:r>
            <a:r>
              <a:rPr lang="zh-CN" altLang="en-US" b="1" dirty="0"/>
              <a:t>）</a:t>
            </a:r>
            <a:r>
              <a:rPr lang="zh-CN" altLang="en-US" dirty="0"/>
              <a:t> 专门为非线性运算和归约操作而设计，能在流水线上高效地完成 </a:t>
            </a:r>
            <a:r>
              <a:rPr lang="en-US" altLang="zh-CN" dirty="0" err="1"/>
              <a:t>softmax</a:t>
            </a:r>
            <a:r>
              <a:rPr lang="zh-CN" altLang="en-US" dirty="0"/>
              <a:t>、</a:t>
            </a:r>
            <a:r>
              <a:rPr lang="en-US" altLang="zh-CN" dirty="0" err="1"/>
              <a:t>layernorm</a:t>
            </a:r>
            <a:r>
              <a:rPr lang="en-US" altLang="zh-CN" dirty="0"/>
              <a:t> </a:t>
            </a:r>
            <a:r>
              <a:rPr lang="zh-CN" altLang="en-US" dirty="0"/>
              <a:t>等操作。</a:t>
            </a:r>
          </a:p>
          <a:p>
            <a:pPr>
              <a:buFont typeface="Arial" panose="020B0604020202020204" pitchFamily="34" charset="0"/>
              <a:buChar char="•"/>
            </a:pPr>
            <a:r>
              <a:rPr lang="zh-CN" altLang="en-US" b="1" dirty="0"/>
              <a:t>元素级单元 </a:t>
            </a:r>
            <a:r>
              <a:rPr lang="en-US" altLang="zh-CN" b="1" dirty="0"/>
              <a:t>+ </a:t>
            </a:r>
            <a:r>
              <a:rPr lang="zh-CN" altLang="en-US" b="1" dirty="0"/>
              <a:t>归约单元</a:t>
            </a:r>
            <a:r>
              <a:rPr lang="zh-CN" altLang="en-US" dirty="0"/>
              <a:t>：前者处理独立的元素级运算，后者则对一组元素执行求和、求最大值等归约操作。</a:t>
            </a:r>
          </a:p>
          <a:p>
            <a:pPr>
              <a:buFont typeface="Arial" panose="020B0604020202020204" pitchFamily="34" charset="0"/>
              <a:buChar char="•"/>
            </a:pPr>
            <a:r>
              <a:rPr lang="zh-CN" altLang="en-US" b="1" dirty="0"/>
              <a:t>并行与流水线</a:t>
            </a:r>
            <a:r>
              <a:rPr lang="zh-CN" altLang="en-US" dirty="0"/>
              <a:t>：通过输入、输出队列和流水线机制，使得 </a:t>
            </a:r>
            <a:r>
              <a:rPr lang="en-US" altLang="zh-CN" dirty="0"/>
              <a:t>SFU </a:t>
            </a:r>
            <a:r>
              <a:rPr lang="zh-CN" altLang="en-US" dirty="0"/>
              <a:t>可以与矩阵乘法引擎（</a:t>
            </a:r>
            <a:r>
              <a:rPr lang="en-US" altLang="zh-CN" dirty="0"/>
              <a:t>MPE</a:t>
            </a:r>
            <a:r>
              <a:rPr lang="zh-CN" altLang="en-US" dirty="0"/>
              <a:t>）并行工作，提升系统整体吞吐量。</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83133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err="1"/>
              <a:t>HeatViT</a:t>
            </a:r>
            <a:r>
              <a:rPr lang="en-US" altLang="zh-CN" b="1" dirty="0"/>
              <a:t> </a:t>
            </a:r>
            <a:r>
              <a:rPr lang="zh-CN" altLang="en-US" b="1" dirty="0"/>
              <a:t>加速器</a:t>
            </a:r>
          </a:p>
          <a:p>
            <a:r>
              <a:rPr lang="en-US" altLang="zh-CN" dirty="0" err="1"/>
              <a:t>HeatViT</a:t>
            </a:r>
            <a:r>
              <a:rPr lang="en-US" altLang="zh-CN" dirty="0"/>
              <a:t> </a:t>
            </a:r>
            <a:r>
              <a:rPr lang="zh-CN" altLang="en-US" dirty="0"/>
              <a:t>的核心思想在于利用自适应 </a:t>
            </a:r>
            <a:r>
              <a:rPr lang="en-US" altLang="zh-CN" dirty="0"/>
              <a:t>token </a:t>
            </a:r>
            <a:r>
              <a:rPr lang="zh-CN" altLang="en-US" dirty="0"/>
              <a:t>修剪（</a:t>
            </a:r>
            <a:r>
              <a:rPr lang="en-US" altLang="zh-CN" dirty="0"/>
              <a:t>adaptive token pruning</a:t>
            </a:r>
            <a:r>
              <a:rPr lang="zh-CN" altLang="en-US" dirty="0"/>
              <a:t>）和 </a:t>
            </a:r>
            <a:r>
              <a:rPr lang="en-US" altLang="zh-CN" dirty="0"/>
              <a:t>INT8 </a:t>
            </a:r>
            <a:r>
              <a:rPr lang="zh-CN" altLang="en-US" dirty="0"/>
              <a:t>量化技术，将 </a:t>
            </a:r>
            <a:r>
              <a:rPr lang="en-US" altLang="zh-CN" dirty="0"/>
              <a:t>Vision Transformer (</a:t>
            </a:r>
            <a:r>
              <a:rPr lang="en-US" altLang="zh-CN" dirty="0" err="1"/>
              <a:t>ViT</a:t>
            </a:r>
            <a:r>
              <a:rPr lang="en-US" altLang="zh-CN" dirty="0"/>
              <a:t>) </a:t>
            </a:r>
            <a:r>
              <a:rPr lang="zh-CN" altLang="en-US" dirty="0"/>
              <a:t>模型高效映射到 </a:t>
            </a:r>
            <a:r>
              <a:rPr lang="en-US" altLang="zh-CN" dirty="0"/>
              <a:t>FPGA </a:t>
            </a:r>
            <a:r>
              <a:rPr lang="zh-CN" altLang="en-US" dirty="0"/>
              <a:t>上。主要特点包括：</a:t>
            </a:r>
          </a:p>
          <a:p>
            <a:pPr>
              <a:buFont typeface="Arial" panose="020B0604020202020204" pitchFamily="34" charset="0"/>
              <a:buChar char="•"/>
            </a:pPr>
            <a:r>
              <a:rPr lang="zh-CN" altLang="en-US" b="1" dirty="0"/>
              <a:t>自适应 </a:t>
            </a:r>
            <a:r>
              <a:rPr lang="en-US" altLang="zh-CN" b="1" dirty="0"/>
              <a:t>token </a:t>
            </a:r>
            <a:r>
              <a:rPr lang="zh-CN" altLang="en-US" b="1" dirty="0"/>
              <a:t>修剪</a:t>
            </a:r>
            <a:br>
              <a:rPr lang="zh-CN" altLang="en-US" dirty="0"/>
            </a:br>
            <a:r>
              <a:rPr lang="en-US" altLang="zh-CN" dirty="0" err="1"/>
              <a:t>ViT</a:t>
            </a:r>
            <a:r>
              <a:rPr lang="en-US" altLang="zh-CN" dirty="0"/>
              <a:t> </a:t>
            </a:r>
            <a:r>
              <a:rPr lang="zh-CN" altLang="en-US" dirty="0"/>
              <a:t>模型中，输入图像被划分为多个 </a:t>
            </a:r>
            <a:r>
              <a:rPr lang="en-US" altLang="zh-CN" dirty="0"/>
              <a:t>token</a:t>
            </a:r>
            <a:r>
              <a:rPr lang="zh-CN" altLang="en-US" dirty="0"/>
              <a:t>，经过一系列 </a:t>
            </a:r>
            <a:r>
              <a:rPr lang="en-US" altLang="zh-CN" dirty="0"/>
              <a:t>transformer </a:t>
            </a:r>
            <a:r>
              <a:rPr lang="zh-CN" altLang="en-US" dirty="0"/>
              <a:t>层处理。并非所有 </a:t>
            </a:r>
            <a:r>
              <a:rPr lang="en-US" altLang="zh-CN" dirty="0"/>
              <a:t>token </a:t>
            </a:r>
            <a:r>
              <a:rPr lang="zh-CN" altLang="en-US" dirty="0"/>
              <a:t>对最终的推理结果都有相同的重要性。</a:t>
            </a:r>
            <a:r>
              <a:rPr lang="en-US" altLang="zh-CN" dirty="0" err="1"/>
              <a:t>HeatViT</a:t>
            </a:r>
            <a:r>
              <a:rPr lang="en-US" altLang="zh-CN" dirty="0"/>
              <a:t> </a:t>
            </a:r>
            <a:r>
              <a:rPr lang="zh-CN" altLang="en-US" dirty="0"/>
              <a:t>利用自适应 </a:t>
            </a:r>
            <a:r>
              <a:rPr lang="en-US" altLang="zh-CN" dirty="0"/>
              <a:t>token </a:t>
            </a:r>
            <a:r>
              <a:rPr lang="zh-CN" altLang="en-US" dirty="0"/>
              <a:t>修剪算法，在模型的计算过程中动态地剔除那些贡献较低或冗余的 </a:t>
            </a:r>
            <a:r>
              <a:rPr lang="en-US" altLang="zh-CN" dirty="0"/>
              <a:t>token</a:t>
            </a:r>
            <a:r>
              <a:rPr lang="zh-CN" altLang="en-US" dirty="0"/>
              <a:t>，从而降低计算量和内存占用。这种动态裁剪不仅减少了不必要的计算，还使得系统能够在保持准确率的前提下获得更高的运行效率。</a:t>
            </a:r>
          </a:p>
          <a:p>
            <a:pPr>
              <a:buFont typeface="Arial" panose="020B0604020202020204" pitchFamily="34" charset="0"/>
              <a:buChar char="•"/>
            </a:pPr>
            <a:r>
              <a:rPr lang="en-US" altLang="zh-CN" b="1" dirty="0"/>
              <a:t>INT8 </a:t>
            </a:r>
            <a:r>
              <a:rPr lang="zh-CN" altLang="en-US" b="1" dirty="0"/>
              <a:t>量化</a:t>
            </a:r>
            <a:br>
              <a:rPr lang="zh-CN" altLang="en-US" dirty="0"/>
            </a:br>
            <a:r>
              <a:rPr lang="zh-CN" altLang="en-US" dirty="0"/>
              <a:t>量化是指将模型中的浮点计算转换为低精度计算，比如 </a:t>
            </a:r>
            <a:r>
              <a:rPr lang="en-US" altLang="zh-CN" dirty="0"/>
              <a:t>INT8</a:t>
            </a:r>
            <a:r>
              <a:rPr lang="zh-CN" altLang="en-US" dirty="0"/>
              <a:t>。通过将权重和激活值压缩到 </a:t>
            </a:r>
            <a:r>
              <a:rPr lang="en-US" altLang="zh-CN" dirty="0"/>
              <a:t>8 </a:t>
            </a:r>
            <a:r>
              <a:rPr lang="zh-CN" altLang="en-US" dirty="0"/>
              <a:t>位整数，</a:t>
            </a:r>
            <a:r>
              <a:rPr lang="en-US" altLang="zh-CN" dirty="0" err="1"/>
              <a:t>HeatViT</a:t>
            </a:r>
            <a:r>
              <a:rPr lang="en-US" altLang="zh-CN" dirty="0"/>
              <a:t> </a:t>
            </a:r>
            <a:r>
              <a:rPr lang="zh-CN" altLang="en-US" dirty="0"/>
              <a:t>能够显著降低计算资源和存储需求，同时在硬件上执行速度更快。</a:t>
            </a:r>
            <a:r>
              <a:rPr lang="en-US" altLang="zh-CN" dirty="0"/>
              <a:t>INT8 </a:t>
            </a:r>
            <a:r>
              <a:rPr lang="zh-CN" altLang="en-US" dirty="0"/>
              <a:t>量化技术在一定程度上可能带来精度的轻微损失，但在设计中通常会进行校准和优化，使得精度下降在可接受范围内。</a:t>
            </a:r>
          </a:p>
          <a:p>
            <a:pPr>
              <a:buFont typeface="Arial" panose="020B0604020202020204" pitchFamily="34" charset="0"/>
              <a:buChar char="•"/>
            </a:pPr>
            <a:r>
              <a:rPr lang="zh-CN" altLang="en-US" b="1" dirty="0"/>
              <a:t>映射到 </a:t>
            </a:r>
            <a:r>
              <a:rPr lang="en-US" altLang="zh-CN" b="1" dirty="0"/>
              <a:t>FPGA </a:t>
            </a:r>
            <a:r>
              <a:rPr lang="zh-CN" altLang="en-US" b="1" dirty="0"/>
              <a:t>上</a:t>
            </a:r>
            <a:br>
              <a:rPr lang="zh-CN" altLang="en-US" dirty="0"/>
            </a:br>
            <a:r>
              <a:rPr lang="zh-CN" altLang="en-US" dirty="0"/>
              <a:t>结合上述两项技术，</a:t>
            </a:r>
            <a:r>
              <a:rPr lang="en-US" altLang="zh-CN" dirty="0" err="1"/>
              <a:t>HeatViT</a:t>
            </a:r>
            <a:r>
              <a:rPr lang="en-US" altLang="zh-CN" dirty="0"/>
              <a:t> </a:t>
            </a:r>
            <a:r>
              <a:rPr lang="zh-CN" altLang="en-US" dirty="0"/>
              <a:t>能够将 </a:t>
            </a:r>
            <a:r>
              <a:rPr lang="en-US" altLang="zh-CN" dirty="0" err="1"/>
              <a:t>ViT</a:t>
            </a:r>
            <a:r>
              <a:rPr lang="en-US" altLang="zh-CN" dirty="0"/>
              <a:t> </a:t>
            </a:r>
            <a:r>
              <a:rPr lang="zh-CN" altLang="en-US" dirty="0"/>
              <a:t>模型高效映射到 </a:t>
            </a:r>
            <a:r>
              <a:rPr lang="en-US" altLang="zh-CN" dirty="0"/>
              <a:t>FPGA </a:t>
            </a:r>
            <a:r>
              <a:rPr lang="zh-CN" altLang="en-US" dirty="0"/>
              <a:t>平台上，充分利用 </a:t>
            </a:r>
            <a:r>
              <a:rPr lang="en-US" altLang="zh-CN" dirty="0"/>
              <a:t>FPGA </a:t>
            </a:r>
            <a:r>
              <a:rPr lang="zh-CN" altLang="en-US" dirty="0"/>
              <a:t>在并行处理和低延迟计算上的优势，适合于边缘设备和嵌入式系统中对实时性要求较高的场景。</a:t>
            </a: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5597337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SSR </a:t>
            </a:r>
            <a:r>
              <a:rPr lang="zh-CN" altLang="en-US" b="1" dirty="0"/>
              <a:t>加速器</a:t>
            </a:r>
          </a:p>
          <a:p>
            <a:r>
              <a:rPr lang="en-US" altLang="zh-CN" dirty="0"/>
              <a:t>SSR </a:t>
            </a:r>
            <a:r>
              <a:rPr lang="zh-CN" altLang="en-US" dirty="0"/>
              <a:t>主要提出了一种“空间</a:t>
            </a:r>
            <a:r>
              <a:rPr lang="en-US" altLang="zh-CN" dirty="0"/>
              <a:t>-</a:t>
            </a:r>
            <a:r>
              <a:rPr lang="zh-CN" altLang="en-US" dirty="0"/>
              <a:t>序列混合”（</a:t>
            </a:r>
            <a:r>
              <a:rPr lang="en-US" altLang="zh-CN" dirty="0"/>
              <a:t>spatial-sequential hybrid</a:t>
            </a:r>
            <a:r>
              <a:rPr lang="zh-CN" altLang="en-US" dirty="0"/>
              <a:t>）架构，用于加速 </a:t>
            </a:r>
            <a:r>
              <a:rPr lang="en-US" altLang="zh-CN" dirty="0" err="1"/>
              <a:t>ViT</a:t>
            </a:r>
            <a:r>
              <a:rPr lang="en-US" altLang="zh-CN" dirty="0"/>
              <a:t> </a:t>
            </a:r>
            <a:r>
              <a:rPr lang="zh-CN" altLang="en-US" dirty="0"/>
              <a:t>模型，并可在 </a:t>
            </a:r>
            <a:r>
              <a:rPr lang="en-US" altLang="zh-CN" dirty="0"/>
              <a:t>AIE</a:t>
            </a:r>
            <a:r>
              <a:rPr lang="zh-CN" altLang="en-US" dirty="0"/>
              <a:t>（</a:t>
            </a:r>
            <a:r>
              <a:rPr lang="en-US" altLang="zh-CN" dirty="0"/>
              <a:t>AI </a:t>
            </a:r>
            <a:r>
              <a:rPr lang="zh-CN" altLang="en-US" dirty="0"/>
              <a:t>引擎）和 </a:t>
            </a:r>
            <a:r>
              <a:rPr lang="en-US" altLang="zh-CN" dirty="0"/>
              <a:t>FPGA </a:t>
            </a:r>
            <a:r>
              <a:rPr lang="zh-CN" altLang="en-US" dirty="0"/>
              <a:t>上实现高性能运行。其主要特点包括：</a:t>
            </a:r>
          </a:p>
          <a:p>
            <a:pPr>
              <a:buFont typeface="Arial" panose="020B0604020202020204" pitchFamily="34" charset="0"/>
              <a:buChar char="•"/>
            </a:pPr>
            <a:r>
              <a:rPr lang="zh-CN" altLang="en-US" b="1" dirty="0"/>
              <a:t>空间</a:t>
            </a:r>
            <a:r>
              <a:rPr lang="en-US" altLang="zh-CN" b="1" dirty="0"/>
              <a:t>-</a:t>
            </a:r>
            <a:r>
              <a:rPr lang="zh-CN" altLang="en-US" b="1" dirty="0"/>
              <a:t>序列混合架构</a:t>
            </a:r>
            <a:br>
              <a:rPr lang="zh-CN" altLang="en-US" dirty="0"/>
            </a:br>
            <a:r>
              <a:rPr lang="zh-CN" altLang="en-US" dirty="0"/>
              <a:t>这种架构设计充分考虑了 </a:t>
            </a:r>
            <a:r>
              <a:rPr lang="en-US" altLang="zh-CN" dirty="0" err="1"/>
              <a:t>ViT</a:t>
            </a:r>
            <a:r>
              <a:rPr lang="en-US" altLang="zh-CN" dirty="0"/>
              <a:t> </a:t>
            </a:r>
            <a:r>
              <a:rPr lang="zh-CN" altLang="en-US" dirty="0"/>
              <a:t>模型中不同计算模块的特点。空间处理部分侧重于并行化计算（如矩阵乘法等），利用硬件资源并行处理多个数据；而序列处理部分则针对那些必须依次执行的计算任务，通过流水线或其他序列化处理方法提高计算效率。两者结合使得整个系统既能发挥大规模并行计算的优势，又能高效处理序列化任务，最大限度降低瓶颈。</a:t>
            </a:r>
          </a:p>
          <a:p>
            <a:pPr>
              <a:buFont typeface="Arial" panose="020B0604020202020204" pitchFamily="34" charset="0"/>
              <a:buChar char="•"/>
            </a:pPr>
            <a:r>
              <a:rPr lang="zh-CN" altLang="en-US" b="1" dirty="0"/>
              <a:t>在 </a:t>
            </a:r>
            <a:r>
              <a:rPr lang="en-US" altLang="zh-CN" b="1" dirty="0"/>
              <a:t>AIE </a:t>
            </a:r>
            <a:r>
              <a:rPr lang="zh-CN" altLang="en-US" b="1" dirty="0"/>
              <a:t>和 </a:t>
            </a:r>
            <a:r>
              <a:rPr lang="en-US" altLang="zh-CN" b="1" dirty="0"/>
              <a:t>FPGA </a:t>
            </a:r>
            <a:r>
              <a:rPr lang="zh-CN" altLang="en-US" b="1" dirty="0"/>
              <a:t>上的加速</a:t>
            </a:r>
            <a:br>
              <a:rPr lang="zh-CN" altLang="en-US" dirty="0"/>
            </a:br>
            <a:r>
              <a:rPr lang="en-US" altLang="zh-CN" dirty="0"/>
              <a:t>SSR </a:t>
            </a:r>
            <a:r>
              <a:rPr lang="zh-CN" altLang="en-US" dirty="0"/>
              <a:t>架构不仅适用于传统的 </a:t>
            </a:r>
            <a:r>
              <a:rPr lang="en-US" altLang="zh-CN" dirty="0"/>
              <a:t>FPGA </a:t>
            </a:r>
            <a:r>
              <a:rPr lang="zh-CN" altLang="en-US" dirty="0"/>
              <a:t>加速器设计，也能在 </a:t>
            </a:r>
            <a:r>
              <a:rPr lang="en-US" altLang="zh-CN" dirty="0"/>
              <a:t>AIE </a:t>
            </a:r>
            <a:r>
              <a:rPr lang="zh-CN" altLang="en-US" dirty="0"/>
              <a:t>上高效运行。</a:t>
            </a:r>
            <a:r>
              <a:rPr lang="en-US" altLang="zh-CN" dirty="0"/>
              <a:t>AIE </a:t>
            </a:r>
            <a:r>
              <a:rPr lang="zh-CN" altLang="en-US" dirty="0"/>
              <a:t>作为专为人工智能任务设计的计算引擎，其优化的硬件资源和架构设计可以进一步提升模型推理的速度。</a:t>
            </a:r>
            <a:r>
              <a:rPr lang="en-US" altLang="zh-CN" dirty="0"/>
              <a:t>SSR </a:t>
            </a:r>
            <a:r>
              <a:rPr lang="zh-CN" altLang="en-US" dirty="0"/>
              <a:t>在 </a:t>
            </a:r>
            <a:r>
              <a:rPr lang="en-US" altLang="zh-CN" dirty="0"/>
              <a:t>AMD VCK190 </a:t>
            </a:r>
            <a:r>
              <a:rPr lang="zh-CN" altLang="en-US" dirty="0"/>
              <a:t>开发板上实现了 </a:t>
            </a:r>
            <a:r>
              <a:rPr lang="en-US" altLang="zh-CN" dirty="0"/>
              <a:t>8.21 </a:t>
            </a:r>
            <a:r>
              <a:rPr lang="zh-CN" altLang="en-US" dirty="0"/>
              <a:t>到 </a:t>
            </a:r>
            <a:r>
              <a:rPr lang="en-US" altLang="zh-CN" dirty="0"/>
              <a:t>10.90 TOPS </a:t>
            </a:r>
            <a:r>
              <a:rPr lang="zh-CN" altLang="en-US" dirty="0"/>
              <a:t>的高吞吐量，这表明该架构在同时兼顾灵活性和高性能方面具有较大优势。</a:t>
            </a:r>
          </a:p>
          <a:p>
            <a:pPr>
              <a:buFont typeface="Arial" panose="020B0604020202020204" pitchFamily="34" charset="0"/>
              <a:buChar char="•"/>
            </a:pPr>
            <a:r>
              <a:rPr lang="zh-CN" altLang="en-US" b="1" dirty="0"/>
              <a:t>高吞吐量</a:t>
            </a:r>
            <a:br>
              <a:rPr lang="zh-CN" altLang="en-US" dirty="0"/>
            </a:br>
            <a:r>
              <a:rPr lang="zh-CN" altLang="en-US" dirty="0"/>
              <a:t>通过合理的硬件映射和调度，</a:t>
            </a:r>
            <a:r>
              <a:rPr lang="en-US" altLang="zh-CN" dirty="0"/>
              <a:t>SSR </a:t>
            </a:r>
            <a:r>
              <a:rPr lang="zh-CN" altLang="en-US" dirty="0"/>
              <a:t>能够充分利用 </a:t>
            </a:r>
            <a:r>
              <a:rPr lang="en-US" altLang="zh-CN" dirty="0"/>
              <a:t>AIE </a:t>
            </a:r>
            <a:r>
              <a:rPr lang="zh-CN" altLang="en-US" dirty="0"/>
              <a:t>与 </a:t>
            </a:r>
            <a:r>
              <a:rPr lang="en-US" altLang="zh-CN" dirty="0"/>
              <a:t>FPGA </a:t>
            </a:r>
            <a:r>
              <a:rPr lang="zh-CN" altLang="en-US" dirty="0"/>
              <a:t>上的硬件资源，实现较高的运算吞吐量。这对于实际应用中要求高实时性、高并发性的任务尤为关键。</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1829546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mj-lt"/>
              <a:buAutoNum type="arabicPeriod"/>
            </a:pPr>
            <a:r>
              <a:rPr lang="en-US" altLang="zh-CN" b="1" dirty="0"/>
              <a:t>Overpacking</a:t>
            </a:r>
            <a:r>
              <a:rPr lang="zh-CN" altLang="en-US" dirty="0"/>
              <a:t> 本质是把原本需要更多位宽的乘法运算巧妙地“挤进”现有的 </a:t>
            </a:r>
            <a:r>
              <a:rPr lang="en-US" altLang="zh-CN" dirty="0"/>
              <a:t>27×24 </a:t>
            </a:r>
            <a:r>
              <a:rPr lang="zh-CN" altLang="en-US" dirty="0"/>
              <a:t>位硬件中，通过位移和补偿来合并并行计算。</a:t>
            </a:r>
          </a:p>
          <a:p>
            <a:pPr>
              <a:buFont typeface="+mj-lt"/>
              <a:buAutoNum type="arabicPeriod"/>
            </a:pPr>
            <a:r>
              <a:rPr lang="zh-CN" altLang="en-US" dirty="0"/>
              <a:t>这样就能在一个 </a:t>
            </a:r>
            <a:r>
              <a:rPr lang="en-US" altLang="zh-CN" dirty="0"/>
              <a:t>DSP58 </a:t>
            </a:r>
            <a:r>
              <a:rPr lang="zh-CN" altLang="en-US" dirty="0"/>
              <a:t>中同时执行两个 </a:t>
            </a:r>
            <a:r>
              <a:rPr lang="en-US" altLang="zh-CN" dirty="0"/>
              <a:t>FP16 </a:t>
            </a:r>
            <a:r>
              <a:rPr lang="zh-CN" altLang="en-US" dirty="0"/>
              <a:t>的乘法，提升运算并行度。</a:t>
            </a:r>
          </a:p>
          <a:p>
            <a:pPr>
              <a:buFont typeface="+mj-lt"/>
              <a:buAutoNum type="arabicPeriod"/>
            </a:pPr>
            <a:r>
              <a:rPr lang="zh-CN" altLang="en-US" dirty="0"/>
              <a:t>后续还需要“外部逻辑”恢复因重叠导致的损坏位，从而保证最终运算结果的准确性。</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237253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同一个 </a:t>
            </a:r>
            <a:r>
              <a:rPr lang="en-US" altLang="zh-CN" dirty="0"/>
              <a:t>DSP58 </a:t>
            </a:r>
            <a:r>
              <a:rPr lang="zh-CN" altLang="en-US" dirty="0"/>
              <a:t>核心可以在 </a:t>
            </a:r>
            <a:r>
              <a:rPr lang="en-US" altLang="zh-CN" b="1" dirty="0"/>
              <a:t>FP16 </a:t>
            </a:r>
            <a:r>
              <a:rPr lang="zh-CN" altLang="en-US" b="1" dirty="0"/>
              <a:t>模式</a:t>
            </a:r>
            <a:r>
              <a:rPr lang="zh-CN" altLang="en-US" dirty="0"/>
              <a:t> 下执行两路 </a:t>
            </a:r>
            <a:r>
              <a:rPr lang="en-US" altLang="zh-CN" dirty="0"/>
              <a:t>FP16 MAC</a:t>
            </a:r>
            <a:r>
              <a:rPr lang="zh-CN" altLang="en-US" dirty="0"/>
              <a:t>，也可以在 </a:t>
            </a:r>
            <a:r>
              <a:rPr lang="en-US" altLang="zh-CN" b="1" dirty="0"/>
              <a:t>INT8 </a:t>
            </a:r>
            <a:r>
              <a:rPr lang="zh-CN" altLang="en-US" b="1" dirty="0"/>
              <a:t>模式</a:t>
            </a:r>
            <a:r>
              <a:rPr lang="zh-CN" altLang="en-US" dirty="0"/>
              <a:t> 下执行四路 </a:t>
            </a:r>
            <a:r>
              <a:rPr lang="en-US" altLang="zh-CN" dirty="0"/>
              <a:t>INT8 MAC</a:t>
            </a:r>
          </a:p>
          <a:p>
            <a:pPr>
              <a:buFont typeface="+mj-lt"/>
              <a:buAutoNum type="arabicPeriod"/>
            </a:pPr>
            <a:r>
              <a:rPr lang="zh-CN" altLang="en-US" b="1" dirty="0"/>
              <a:t>两路 </a:t>
            </a:r>
            <a:r>
              <a:rPr lang="en-US" altLang="zh-CN" b="1" dirty="0"/>
              <a:t>FP16 MAC</a:t>
            </a:r>
            <a:r>
              <a:rPr lang="zh-CN" altLang="en-US" dirty="0"/>
              <a:t>：解决了原生 </a:t>
            </a:r>
            <a:r>
              <a:rPr lang="en-US" altLang="zh-CN" dirty="0"/>
              <a:t>DSP58 </a:t>
            </a:r>
            <a:r>
              <a:rPr lang="zh-CN" altLang="en-US" dirty="0"/>
              <a:t>只能做单一路 </a:t>
            </a:r>
            <a:r>
              <a:rPr lang="en-US" altLang="zh-CN" dirty="0"/>
              <a:t>FP16 </a:t>
            </a:r>
            <a:r>
              <a:rPr lang="zh-CN" altLang="en-US" dirty="0"/>
              <a:t>的限制，并通过 </a:t>
            </a:r>
            <a:r>
              <a:rPr lang="en-US" altLang="zh-CN" dirty="0"/>
              <a:t>Overpacking + </a:t>
            </a:r>
            <a:r>
              <a:rPr lang="zh-CN" altLang="en-US" dirty="0"/>
              <a:t>额外逻辑保证结果正确。</a:t>
            </a:r>
          </a:p>
          <a:p>
            <a:pPr>
              <a:buFont typeface="+mj-lt"/>
              <a:buAutoNum type="arabicPeriod"/>
            </a:pPr>
            <a:r>
              <a:rPr lang="zh-CN" altLang="en-US" b="1" dirty="0"/>
              <a:t>四路 </a:t>
            </a:r>
            <a:r>
              <a:rPr lang="en-US" altLang="zh-CN" b="1" dirty="0"/>
              <a:t>INT8 MAC</a:t>
            </a:r>
            <a:r>
              <a:rPr lang="zh-CN" altLang="en-US" dirty="0"/>
              <a:t>：在 </a:t>
            </a:r>
            <a:r>
              <a:rPr lang="en-US" altLang="zh-CN" dirty="0"/>
              <a:t>INT8 </a:t>
            </a:r>
            <a:r>
              <a:rPr lang="zh-CN" altLang="en-US" dirty="0"/>
              <a:t>模式下也能显著提升并行度，最大化峰值计算性能。</a:t>
            </a:r>
          </a:p>
          <a:p>
            <a:pPr>
              <a:buFont typeface="+mj-lt"/>
              <a:buAutoNum type="arabicPeriod"/>
            </a:pPr>
            <a:r>
              <a:rPr lang="zh-CN" altLang="en-US" b="1" dirty="0"/>
              <a:t>混合精度灵活性</a:t>
            </a:r>
            <a:r>
              <a:rPr lang="zh-CN" altLang="en-US" dirty="0"/>
              <a:t>：满足视频生成模型中对不同层精度的需求，而不必将 </a:t>
            </a:r>
            <a:r>
              <a:rPr lang="en-US" altLang="zh-CN" dirty="0"/>
              <a:t>FPGA </a:t>
            </a:r>
            <a:r>
              <a:rPr lang="zh-CN" altLang="en-US" dirty="0"/>
              <a:t>固定在单一模式或牺牲性能。</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099990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 </a:t>
            </a:r>
            <a:r>
              <a:rPr lang="en-US" altLang="zh-CN" dirty="0"/>
              <a:t>8(e) </a:t>
            </a:r>
            <a:r>
              <a:rPr lang="zh-CN" altLang="en-US" dirty="0"/>
              <a:t>所示，</a:t>
            </a:r>
            <a:r>
              <a:rPr lang="en-US" altLang="zh-CN" b="1" dirty="0" err="1"/>
              <a:t>FlightVGM</a:t>
            </a:r>
            <a:r>
              <a:rPr lang="zh-CN" altLang="en-US" dirty="0"/>
              <a:t> 的指令集（</a:t>
            </a:r>
            <a:r>
              <a:rPr lang="en-US" altLang="zh-CN" dirty="0"/>
              <a:t>ISA</a:t>
            </a:r>
            <a:r>
              <a:rPr lang="zh-CN" altLang="en-US" dirty="0"/>
              <a:t>）由三类指令组成：</a:t>
            </a:r>
            <a:br>
              <a:rPr lang="zh-CN" altLang="en-US" dirty="0"/>
            </a:br>
            <a:r>
              <a:rPr lang="zh-CN" altLang="en-US" b="1" dirty="0"/>
              <a:t>存储管理</a:t>
            </a:r>
            <a:r>
              <a:rPr lang="zh-CN" altLang="en-US" dirty="0"/>
              <a:t>（</a:t>
            </a:r>
            <a:r>
              <a:rPr lang="en-US" altLang="zh-CN" dirty="0"/>
              <a:t>ST</a:t>
            </a:r>
            <a:r>
              <a:rPr lang="zh-CN" altLang="en-US" dirty="0"/>
              <a:t>、</a:t>
            </a:r>
            <a:r>
              <a:rPr lang="en-US" altLang="zh-CN" dirty="0"/>
              <a:t>LD</a:t>
            </a:r>
            <a:r>
              <a:rPr lang="zh-CN" altLang="en-US" dirty="0"/>
              <a:t>、</a:t>
            </a:r>
            <a:r>
              <a:rPr lang="en-US" altLang="zh-CN" dirty="0"/>
              <a:t>MOVE</a:t>
            </a:r>
            <a:r>
              <a:rPr lang="zh-CN" altLang="en-US" dirty="0"/>
              <a:t>）</a:t>
            </a:r>
            <a:br>
              <a:rPr lang="zh-CN" altLang="en-US" dirty="0"/>
            </a:br>
            <a:r>
              <a:rPr lang="zh-CN" altLang="en-US" b="1" dirty="0"/>
              <a:t>计算</a:t>
            </a:r>
            <a:r>
              <a:rPr lang="zh-CN" altLang="en-US" dirty="0"/>
              <a:t>（</a:t>
            </a:r>
            <a:r>
              <a:rPr lang="en-US" altLang="zh-CN" dirty="0"/>
              <a:t>MM</a:t>
            </a:r>
            <a:r>
              <a:rPr lang="zh-CN" altLang="en-US" dirty="0"/>
              <a:t>、</a:t>
            </a:r>
            <a:r>
              <a:rPr lang="en-US" altLang="zh-CN" dirty="0"/>
              <a:t>SF</a:t>
            </a:r>
            <a:r>
              <a:rPr lang="zh-CN" altLang="en-US" dirty="0"/>
              <a:t>）</a:t>
            </a:r>
            <a:br>
              <a:rPr lang="zh-CN" altLang="en-US" dirty="0"/>
            </a:br>
            <a:r>
              <a:rPr lang="zh-CN" altLang="en-US" b="1" dirty="0"/>
              <a:t>张量处理</a:t>
            </a:r>
            <a:r>
              <a:rPr lang="zh-CN" altLang="en-US" dirty="0"/>
              <a:t>（</a:t>
            </a:r>
            <a:r>
              <a:rPr lang="en-US" altLang="zh-CN" dirty="0"/>
              <a:t>TS</a:t>
            </a:r>
            <a:r>
              <a:rPr lang="zh-CN" altLang="en-US" dirty="0"/>
              <a:t>、</a:t>
            </a:r>
            <a:r>
              <a:rPr lang="en-US" altLang="zh-CN" dirty="0"/>
              <a:t>TLT</a:t>
            </a:r>
            <a:r>
              <a:rPr lang="zh-CN" altLang="en-US" dirty="0"/>
              <a:t>）</a:t>
            </a:r>
            <a:br>
              <a:rPr lang="zh-CN" altLang="en-US" dirty="0"/>
            </a:br>
            <a:r>
              <a:rPr lang="zh-CN" altLang="en-US" dirty="0"/>
              <a:t>每个算子的执行被分为三个阶段：</a:t>
            </a:r>
            <a:r>
              <a:rPr lang="zh-CN" altLang="en-US" b="1" dirty="0"/>
              <a:t>权重预加载（</a:t>
            </a:r>
            <a:r>
              <a:rPr lang="en-US" altLang="zh-CN" b="1" dirty="0"/>
              <a:t>WL</a:t>
            </a:r>
            <a:r>
              <a:rPr lang="zh-CN" altLang="en-US" b="1" dirty="0"/>
              <a:t>）</a:t>
            </a:r>
            <a:r>
              <a:rPr lang="zh-CN" altLang="en-US" dirty="0"/>
              <a:t>、</a:t>
            </a:r>
            <a:r>
              <a:rPr lang="zh-CN" altLang="en-US" b="1" dirty="0"/>
              <a:t>计算（</a:t>
            </a:r>
            <a:r>
              <a:rPr lang="en-US" altLang="zh-CN" b="1" dirty="0"/>
              <a:t>COM</a:t>
            </a:r>
            <a:r>
              <a:rPr lang="zh-CN" altLang="en-US" b="1" dirty="0"/>
              <a:t>）和张量处理（</a:t>
            </a:r>
            <a:r>
              <a:rPr lang="en-US" altLang="zh-CN" b="1" dirty="0"/>
              <a:t>TP</a:t>
            </a:r>
            <a:r>
              <a:rPr lang="zh-CN" altLang="en-US" b="1" dirty="0"/>
              <a:t>）</a:t>
            </a:r>
            <a:r>
              <a:rPr lang="zh-CN" altLang="en-US" dirty="0"/>
              <a:t>。编译器会生成三类指令序列来控制上述任务。</a:t>
            </a:r>
          </a:p>
          <a:p>
            <a:pPr>
              <a:buFont typeface="Arial" panose="020B0604020202020204" pitchFamily="34" charset="0"/>
              <a:buChar char="•"/>
            </a:pPr>
            <a:r>
              <a:rPr lang="en-US" altLang="zh-CN" b="1" dirty="0"/>
              <a:t>WL </a:t>
            </a:r>
            <a:r>
              <a:rPr lang="zh-CN" altLang="en-US" b="1" dirty="0"/>
              <a:t>指令序列</a:t>
            </a:r>
            <a:r>
              <a:rPr lang="zh-CN" altLang="en-US" dirty="0"/>
              <a:t>：</a:t>
            </a:r>
            <a:r>
              <a:rPr lang="en-US" altLang="zh-CN" dirty="0"/>
              <a:t>LD → (MOVE)</a:t>
            </a:r>
            <a:r>
              <a:rPr lang="zh-CN" altLang="en-US" dirty="0"/>
              <a:t>，包括权重加载和片上权重移动两个阶段（括号中的指令是可选的）。</a:t>
            </a:r>
          </a:p>
          <a:p>
            <a:pPr>
              <a:buFont typeface="Arial" panose="020B0604020202020204" pitchFamily="34" charset="0"/>
              <a:buChar char="•"/>
            </a:pPr>
            <a:r>
              <a:rPr lang="en-US" altLang="zh-CN" b="1" dirty="0"/>
              <a:t>COM </a:t>
            </a:r>
            <a:r>
              <a:rPr lang="zh-CN" altLang="en-US" b="1" dirty="0"/>
              <a:t>指令序列</a:t>
            </a:r>
            <a:r>
              <a:rPr lang="zh-CN" altLang="en-US" dirty="0"/>
              <a:t>：</a:t>
            </a:r>
            <a:r>
              <a:rPr lang="en-US" altLang="zh-CN" dirty="0"/>
              <a:t>(LD) → MM/SF → TLT → (ST)</a:t>
            </a:r>
            <a:r>
              <a:rPr lang="zh-CN" altLang="en-US" dirty="0"/>
              <a:t>，完成耗时的计算任务以及数据恢复过程。</a:t>
            </a:r>
          </a:p>
          <a:p>
            <a:pPr>
              <a:buFont typeface="Arial" panose="020B0604020202020204" pitchFamily="34" charset="0"/>
              <a:buChar char="•"/>
            </a:pPr>
            <a:r>
              <a:rPr lang="en-US" altLang="zh-CN" b="1" dirty="0"/>
              <a:t>TP </a:t>
            </a:r>
            <a:r>
              <a:rPr lang="zh-CN" altLang="en-US" b="1" dirty="0"/>
              <a:t>指令序列</a:t>
            </a:r>
            <a:r>
              <a:rPr lang="zh-CN" altLang="en-US" dirty="0"/>
              <a:t>：</a:t>
            </a:r>
            <a:r>
              <a:rPr lang="en-US" altLang="zh-CN" dirty="0"/>
              <a:t>(LD) → TS → TLT → (ST)</a:t>
            </a:r>
            <a:r>
              <a:rPr lang="zh-CN" altLang="en-US" dirty="0"/>
              <a:t>，执行激活稀疏化，并将压缩后的张量转换为 </a:t>
            </a:r>
            <a:r>
              <a:rPr lang="en-US" altLang="zh-CN" dirty="0"/>
              <a:t>MPE </a:t>
            </a:r>
            <a:r>
              <a:rPr lang="zh-CN" altLang="en-US" dirty="0"/>
              <a:t>可用的稠密矩阵格式。</a:t>
            </a:r>
          </a:p>
          <a:p>
            <a:r>
              <a:rPr lang="en-US" altLang="zh-CN" b="1" dirty="0"/>
              <a:t>3.3 </a:t>
            </a:r>
            <a:r>
              <a:rPr lang="zh-CN" altLang="en-US" b="1" dirty="0"/>
              <a:t>动态自适应调度</a:t>
            </a:r>
            <a:endParaRPr lang="zh-CN" altLang="en-US" dirty="0"/>
          </a:p>
          <a:p>
            <a:pPr>
              <a:buFont typeface="Arial" panose="020B0604020202020204" pitchFamily="34" charset="0"/>
              <a:buChar char="•"/>
            </a:pPr>
            <a:r>
              <a:rPr lang="en-US" altLang="zh-CN" b="1" dirty="0"/>
              <a:t>EFT</a:t>
            </a:r>
            <a:r>
              <a:rPr lang="zh-CN" altLang="en-US" b="1" dirty="0"/>
              <a:t>（最早完成时间）</a:t>
            </a:r>
            <a:r>
              <a:rPr lang="zh-CN" altLang="en-US" dirty="0"/>
              <a:t>：</a:t>
            </a:r>
          </a:p>
          <a:p>
            <a:pPr marL="742950" lvl="1" indent="-285750">
              <a:buFont typeface="Arial" panose="020B0604020202020204" pitchFamily="34" charset="0"/>
              <a:buChar char="•"/>
            </a:pPr>
            <a:r>
              <a:rPr lang="zh-CN" altLang="en-US" b="1" dirty="0"/>
              <a:t>预测 </a:t>
            </a:r>
            <a:r>
              <a:rPr lang="en-US" altLang="zh-CN" b="1" dirty="0"/>
              <a:t>EFT</a:t>
            </a:r>
            <a:r>
              <a:rPr lang="zh-CN" altLang="en-US" dirty="0"/>
              <a:t>：在静态编译阶段基于算子类型、张量大小等信息进行预估。</a:t>
            </a:r>
          </a:p>
          <a:p>
            <a:pPr marL="742950" lvl="1" indent="-285750">
              <a:buFont typeface="Arial" panose="020B0604020202020204" pitchFamily="34" charset="0"/>
              <a:buChar char="•"/>
            </a:pPr>
            <a:r>
              <a:rPr lang="zh-CN" altLang="en-US" b="1" dirty="0"/>
              <a:t>实际 </a:t>
            </a:r>
            <a:r>
              <a:rPr lang="en-US" altLang="zh-CN" b="1" dirty="0"/>
              <a:t>EFT</a:t>
            </a:r>
            <a:r>
              <a:rPr lang="zh-CN" altLang="en-US" dirty="0"/>
              <a:t>：在运行时根据激活稀疏化程度、实际执行速度等获取。</a:t>
            </a:r>
          </a:p>
          <a:p>
            <a:pPr>
              <a:buFont typeface="Arial" panose="020B0604020202020204" pitchFamily="34" charset="0"/>
              <a:buChar char="•"/>
            </a:pPr>
            <a:r>
              <a:rPr lang="zh-CN" altLang="en-US" b="1" dirty="0"/>
              <a:t>调度器维护数据库</a:t>
            </a:r>
            <a:r>
              <a:rPr lang="zh-CN" altLang="en-US" dirty="0"/>
              <a:t>：记录算子的类型、预测 </a:t>
            </a:r>
            <a:r>
              <a:rPr lang="en-US" altLang="zh-CN" dirty="0"/>
              <a:t>EFT</a:t>
            </a:r>
            <a:r>
              <a:rPr lang="zh-CN" altLang="en-US" dirty="0"/>
              <a:t>、实际 </a:t>
            </a:r>
            <a:r>
              <a:rPr lang="en-US" altLang="zh-CN" dirty="0"/>
              <a:t>EFT</a:t>
            </a:r>
            <a:r>
              <a:rPr lang="zh-CN" altLang="en-US" dirty="0"/>
              <a:t>，并实时更新算子优先级。</a:t>
            </a:r>
          </a:p>
          <a:p>
            <a:pPr>
              <a:buFont typeface="Arial" panose="020B0604020202020204" pitchFamily="34" charset="0"/>
              <a:buChar char="•"/>
            </a:pPr>
            <a:r>
              <a:rPr lang="zh-CN" altLang="en-US" b="1" dirty="0"/>
              <a:t>调度策略</a:t>
            </a:r>
            <a:r>
              <a:rPr lang="zh-CN" altLang="en-US" dirty="0"/>
              <a:t>：</a:t>
            </a:r>
          </a:p>
          <a:p>
            <a:pPr marL="742950" lvl="1" indent="-285750">
              <a:buFont typeface="Arial" panose="020B0604020202020204" pitchFamily="34" charset="0"/>
              <a:buChar char="•"/>
            </a:pPr>
            <a:r>
              <a:rPr lang="zh-CN" altLang="en-US" b="1" dirty="0"/>
              <a:t>预加载权重</a:t>
            </a:r>
            <a:r>
              <a:rPr lang="zh-CN" altLang="en-US" dirty="0"/>
              <a:t>：将 </a:t>
            </a:r>
            <a:r>
              <a:rPr lang="en-US" altLang="zh-CN" dirty="0"/>
              <a:t>WL </a:t>
            </a:r>
            <a:r>
              <a:rPr lang="zh-CN" altLang="en-US" dirty="0"/>
              <a:t>阶段与其他算子的 </a:t>
            </a:r>
            <a:r>
              <a:rPr lang="en-US" altLang="zh-CN" dirty="0"/>
              <a:t>COM </a:t>
            </a:r>
            <a:r>
              <a:rPr lang="zh-CN" altLang="en-US" dirty="0"/>
              <a:t>阶段重叠，减少空闲时间。</a:t>
            </a:r>
          </a:p>
          <a:p>
            <a:pPr marL="742950" lvl="1" indent="-285750">
              <a:buFont typeface="Arial" panose="020B0604020202020204" pitchFamily="34" charset="0"/>
              <a:buChar char="•"/>
            </a:pPr>
            <a:r>
              <a:rPr lang="zh-CN" altLang="en-US" b="1" dirty="0"/>
              <a:t>优先级调度</a:t>
            </a:r>
            <a:r>
              <a:rPr lang="zh-CN" altLang="en-US" dirty="0"/>
              <a:t>：对 </a:t>
            </a:r>
            <a:r>
              <a:rPr lang="en-US" altLang="zh-CN" dirty="0"/>
              <a:t>EFT </a:t>
            </a:r>
            <a:r>
              <a:rPr lang="zh-CN" altLang="en-US" dirty="0"/>
              <a:t>更高的算子优先分配可用计算核心；如果 </a:t>
            </a:r>
            <a:r>
              <a:rPr lang="en-US" altLang="zh-CN" dirty="0"/>
              <a:t>EFT </a:t>
            </a:r>
            <a:r>
              <a:rPr lang="zh-CN" altLang="en-US" dirty="0"/>
              <a:t>变化，执行重调度。</a:t>
            </a:r>
          </a:p>
          <a:p>
            <a:pPr>
              <a:buFont typeface="Arial" panose="020B0604020202020204" pitchFamily="34" charset="0"/>
              <a:buChar char="•"/>
            </a:pPr>
            <a:r>
              <a:rPr lang="zh-CN" altLang="en-US" b="1" dirty="0"/>
              <a:t>指令序列修改</a:t>
            </a:r>
            <a:r>
              <a:rPr lang="zh-CN" altLang="en-US" dirty="0"/>
              <a:t>：在重调度后，调度器会更新指令序列（例如先执行新的高优先级算子的 </a:t>
            </a:r>
            <a:r>
              <a:rPr lang="en-US" altLang="zh-CN" dirty="0"/>
              <a:t>WL</a:t>
            </a:r>
            <a:r>
              <a:rPr lang="zh-CN" altLang="en-US" dirty="0"/>
              <a:t>），使得计算核心在最优顺序下执行。</a:t>
            </a:r>
          </a:p>
          <a:p>
            <a:r>
              <a:rPr lang="zh-CN" altLang="en-US" b="1" dirty="0"/>
              <a:t>收益</a:t>
            </a:r>
            <a:endParaRPr lang="zh-CN" altLang="en-US" dirty="0"/>
          </a:p>
          <a:p>
            <a:pPr>
              <a:buFont typeface="Arial" panose="020B0604020202020204" pitchFamily="34" charset="0"/>
              <a:buChar char="•"/>
            </a:pPr>
            <a:r>
              <a:rPr lang="zh-CN" altLang="en-US" b="1" dirty="0"/>
              <a:t>解决在线稀疏化带来的不确定性</a:t>
            </a:r>
            <a:r>
              <a:rPr lang="zh-CN" altLang="en-US" dirty="0"/>
              <a:t>：在稀疏度变化时，如果仍采用固定的静态调度，可能导致计算核心因等待或不均衡而浪费。</a:t>
            </a:r>
          </a:p>
          <a:p>
            <a:pPr>
              <a:buFont typeface="Arial" panose="020B0604020202020204" pitchFamily="34" charset="0"/>
              <a:buChar char="•"/>
            </a:pPr>
            <a:r>
              <a:rPr lang="zh-CN" altLang="en-US" b="1" dirty="0"/>
              <a:t>提高计算利用率</a:t>
            </a:r>
            <a:r>
              <a:rPr lang="zh-CN" altLang="en-US" dirty="0"/>
              <a:t>：动态调度让硬件核心尽量保持忙碌，并最大化稀疏化收益。</a:t>
            </a:r>
          </a:p>
          <a:p>
            <a:pPr>
              <a:buFont typeface="Arial" panose="020B0604020202020204" pitchFamily="34" charset="0"/>
              <a:buChar char="•"/>
            </a:pPr>
            <a:r>
              <a:rPr lang="zh-CN" altLang="en-US" b="1" dirty="0"/>
              <a:t>延迟与带宽权衡</a:t>
            </a:r>
            <a:r>
              <a:rPr lang="zh-CN" altLang="en-US" dirty="0"/>
              <a:t>：虽然动态调度可能引入额外的指令处理和带宽开销，但对 </a:t>
            </a:r>
            <a:r>
              <a:rPr lang="en-US" altLang="zh-CN" dirty="0"/>
              <a:t>compute-bound </a:t>
            </a:r>
            <a:r>
              <a:rPr lang="zh-CN" altLang="en-US" dirty="0"/>
              <a:t>的 </a:t>
            </a:r>
            <a:r>
              <a:rPr lang="en-US" altLang="zh-CN" dirty="0"/>
              <a:t>VGM </a:t>
            </a:r>
            <a:r>
              <a:rPr lang="zh-CN" altLang="en-US" dirty="0"/>
              <a:t>来说，调度优化带来的加速远大于这部分开销。</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313130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666496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mj-lt"/>
              <a:buAutoNum type="arabicPeriod"/>
            </a:pPr>
            <a:r>
              <a:rPr lang="zh-CN" altLang="en-US" sz="1800" b="1" dirty="0"/>
              <a:t>通用硬件（</a:t>
            </a:r>
            <a:r>
              <a:rPr lang="en-US" altLang="zh-CN" sz="1800" b="1" dirty="0"/>
              <a:t>NVIDIA 3090 GPU</a:t>
            </a:r>
            <a:r>
              <a:rPr lang="zh-CN" altLang="en-US" sz="1800" b="1" dirty="0"/>
              <a:t>）</a:t>
            </a:r>
            <a:r>
              <a:rPr lang="zh-CN" altLang="en-US" sz="1800" dirty="0"/>
              <a:t>：测试 </a:t>
            </a:r>
            <a:r>
              <a:rPr lang="en-US" altLang="zh-CN" sz="1800" dirty="0"/>
              <a:t>FP16 </a:t>
            </a:r>
            <a:r>
              <a:rPr lang="zh-CN" altLang="en-US" sz="1800" dirty="0"/>
              <a:t>原生推理时间与功耗。</a:t>
            </a:r>
          </a:p>
          <a:p>
            <a:pPr>
              <a:buFont typeface="+mj-lt"/>
              <a:buAutoNum type="arabicPeriod"/>
            </a:pPr>
            <a:r>
              <a:rPr lang="zh-CN" altLang="en-US" sz="1800" b="1" dirty="0"/>
              <a:t>基于 </a:t>
            </a:r>
            <a:r>
              <a:rPr lang="en-US" altLang="zh-CN" sz="1800" b="1" dirty="0"/>
              <a:t>Transformer </a:t>
            </a:r>
            <a:r>
              <a:rPr lang="zh-CN" altLang="en-US" sz="1800" b="1" dirty="0"/>
              <a:t>的 </a:t>
            </a:r>
            <a:r>
              <a:rPr lang="en-US" altLang="zh-CN" sz="1800" b="1" dirty="0"/>
              <a:t>FPGA </a:t>
            </a:r>
            <a:r>
              <a:rPr lang="zh-CN" altLang="en-US" sz="1800" b="1" dirty="0"/>
              <a:t>加速器</a:t>
            </a:r>
            <a:r>
              <a:rPr lang="zh-CN" altLang="en-US" sz="1800" dirty="0"/>
              <a:t>：</a:t>
            </a:r>
            <a:r>
              <a:rPr lang="en-US" altLang="zh-CN" sz="1800" dirty="0" err="1"/>
              <a:t>HiSpMV</a:t>
            </a:r>
            <a:r>
              <a:rPr lang="zh-CN" altLang="en-US" sz="1800" dirty="0"/>
              <a:t>、</a:t>
            </a:r>
            <a:r>
              <a:rPr lang="en-US" altLang="zh-CN" sz="1800" dirty="0" err="1"/>
              <a:t>FlightLLM</a:t>
            </a:r>
            <a:r>
              <a:rPr lang="zh-CN" altLang="en-US" sz="1800" dirty="0"/>
              <a:t>（</a:t>
            </a:r>
            <a:r>
              <a:rPr lang="en-US" altLang="zh-CN" sz="1800" dirty="0"/>
              <a:t>U280 FPGA </a:t>
            </a:r>
            <a:r>
              <a:rPr lang="zh-CN" altLang="en-US" sz="1800" dirty="0"/>
              <a:t>上实现），考虑相同稀疏化和混合精度，以便公平比较。</a:t>
            </a:r>
          </a:p>
          <a:p>
            <a:pPr>
              <a:buFont typeface="+mj-lt"/>
              <a:buAutoNum type="arabicPeriod"/>
            </a:pPr>
            <a:r>
              <a:rPr lang="zh-CN" altLang="en-US" sz="1800" dirty="0"/>
              <a:t>基于 </a:t>
            </a:r>
            <a:r>
              <a:rPr lang="en-US" altLang="zh-CN" sz="1800" dirty="0" err="1"/>
              <a:t>DiT</a:t>
            </a:r>
            <a:r>
              <a:rPr lang="en-US" altLang="zh-CN" sz="1800" dirty="0"/>
              <a:t> </a:t>
            </a:r>
            <a:r>
              <a:rPr lang="zh-CN" altLang="en-US" sz="1800" dirty="0"/>
              <a:t>的 </a:t>
            </a:r>
            <a:r>
              <a:rPr lang="en-US" altLang="zh-CN" sz="1800" dirty="0"/>
              <a:t>ASIC </a:t>
            </a:r>
            <a:r>
              <a:rPr lang="zh-CN" altLang="en-US" sz="1800" dirty="0"/>
              <a:t>加速器：</a:t>
            </a:r>
            <a:r>
              <a:rPr lang="en-US" altLang="zh-CN" sz="1800" dirty="0" err="1"/>
              <a:t>InterArch</a:t>
            </a:r>
            <a:r>
              <a:rPr lang="zh-CN" altLang="en-US" sz="1800" dirty="0"/>
              <a:t>、</a:t>
            </a:r>
            <a:r>
              <a:rPr lang="en-US" altLang="zh-CN" sz="1800" dirty="0"/>
              <a:t>CMC</a:t>
            </a:r>
            <a:r>
              <a:rPr lang="zh-CN" altLang="en-US" sz="1800" dirty="0"/>
              <a:t>，</a:t>
            </a:r>
            <a:r>
              <a:rPr lang="zh-CN" altLang="en-US" sz="1800" b="1" dirty="0"/>
              <a:t>通过模拟器对其进行性能评估</a:t>
            </a:r>
            <a:r>
              <a:rPr lang="zh-CN" altLang="en-US" sz="1800" dirty="0"/>
              <a:t>（由于不支持最新的模型</a:t>
            </a:r>
            <a:r>
              <a:rPr lang="zh-CN" altLang="en-US" sz="1800" b="1" dirty="0"/>
              <a:t>）</a:t>
            </a:r>
            <a:r>
              <a:rPr lang="zh-CN" altLang="en-US" sz="1800" dirty="0"/>
              <a:t>，并对功耗做比例缩放，使硬件参数对齐 </a:t>
            </a:r>
            <a:r>
              <a:rPr lang="en-US" altLang="zh-CN" sz="1800" dirty="0" err="1"/>
              <a:t>FlightVGM</a:t>
            </a:r>
            <a:r>
              <a:rPr lang="zh-CN" altLang="en-US" sz="1800" dirty="0"/>
              <a:t>。</a:t>
            </a:r>
          </a:p>
          <a:p>
            <a:pPr>
              <a:buFont typeface="+mj-lt"/>
              <a:buAutoNum type="arabicPeriod"/>
            </a:pPr>
            <a:r>
              <a:rPr lang="en-US" altLang="zh-CN" sz="1800" b="1" dirty="0"/>
              <a:t>AMD V80 FPGA [9] </a:t>
            </a:r>
            <a:r>
              <a:rPr lang="zh-CN" altLang="en-US" sz="1800" b="1" dirty="0"/>
              <a:t>：</a:t>
            </a:r>
            <a:r>
              <a:rPr lang="zh-CN" altLang="en-US" sz="1800" dirty="0"/>
              <a:t>上实现了 </a:t>
            </a:r>
            <a:r>
              <a:rPr lang="en-US" altLang="zh-CN" sz="1800" dirty="0" err="1"/>
              <a:t>FlightVGM</a:t>
            </a:r>
            <a:endParaRPr lang="en-US" altLang="zh-CN" sz="1800" dirty="0"/>
          </a:p>
          <a:p>
            <a:r>
              <a:rPr lang="zh-CN" altLang="en-US" sz="1800" dirty="0"/>
              <a:t>图 </a:t>
            </a:r>
            <a:r>
              <a:rPr lang="en-US" altLang="zh-CN" sz="1800" dirty="0"/>
              <a:t>9 </a:t>
            </a:r>
            <a:r>
              <a:rPr lang="zh-CN" altLang="en-US" sz="1800" dirty="0"/>
              <a:t>分别展示了 </a:t>
            </a:r>
            <a:r>
              <a:rPr lang="en-US" altLang="zh-CN" sz="1800" dirty="0" err="1"/>
              <a:t>FlightVGM</a:t>
            </a:r>
            <a:r>
              <a:rPr lang="en-US" altLang="zh-CN" sz="1800" dirty="0"/>
              <a:t> </a:t>
            </a:r>
            <a:r>
              <a:rPr lang="zh-CN" altLang="en-US" sz="1800" dirty="0"/>
              <a:t>在 </a:t>
            </a:r>
            <a:r>
              <a:rPr lang="en-US" altLang="zh-CN" sz="1800" dirty="0"/>
              <a:t>V80 FPGA </a:t>
            </a:r>
            <a:r>
              <a:rPr lang="zh-CN" altLang="en-US" sz="1800" dirty="0"/>
              <a:t>上的实现布局、板卡照片以及资源使用情况。</a:t>
            </a:r>
            <a:r>
              <a:rPr lang="en-US" altLang="zh-CN" sz="1800" dirty="0"/>
              <a:t>FPGA </a:t>
            </a:r>
            <a:r>
              <a:rPr lang="zh-CN" altLang="en-US" sz="1800" dirty="0"/>
              <a:t>的延迟来自实际运行结果；我们使用 </a:t>
            </a:r>
            <a:r>
              <a:rPr lang="en-US" altLang="zh-CN" sz="1800" dirty="0" err="1"/>
              <a:t>ami_tool</a:t>
            </a:r>
            <a:r>
              <a:rPr lang="en-US" altLang="zh-CN" sz="1800" dirty="0"/>
              <a:t> [10] </a:t>
            </a:r>
            <a:r>
              <a:rPr lang="zh-CN" altLang="en-US" sz="1800" dirty="0"/>
              <a:t>来测量功耗。（每个 </a:t>
            </a:r>
            <a:r>
              <a:rPr lang="en-US" altLang="zh-CN" sz="1800" dirty="0"/>
              <a:t>SLR</a:t>
            </a:r>
            <a:r>
              <a:rPr lang="zh-CN" altLang="en-US" sz="1800" dirty="0"/>
              <a:t>（</a:t>
            </a:r>
            <a:r>
              <a:rPr lang="en-US" altLang="zh-CN" sz="1800" dirty="0"/>
              <a:t>Super Logic Region</a:t>
            </a:r>
            <a:r>
              <a:rPr lang="zh-CN" altLang="en-US" sz="1800" dirty="0"/>
              <a:t>）对应一个计算核心，由片上嵌入式 </a:t>
            </a:r>
            <a:r>
              <a:rPr lang="en-US" altLang="zh-CN" sz="1800" dirty="0"/>
              <a:t>CPU </a:t>
            </a:r>
            <a:r>
              <a:rPr lang="zh-CN" altLang="en-US" sz="1800" dirty="0"/>
              <a:t>进行控制。</a:t>
            </a:r>
            <a:r>
              <a:rPr lang="en-US" altLang="zh-CN" sz="1800" dirty="0"/>
              <a:t>V80 FPGA </a:t>
            </a:r>
            <a:r>
              <a:rPr lang="zh-CN" altLang="en-US" sz="1800" dirty="0"/>
              <a:t>配备了 </a:t>
            </a:r>
            <a:r>
              <a:rPr lang="en-US" altLang="zh-CN" sz="1800" dirty="0"/>
              <a:t>32GB </a:t>
            </a:r>
            <a:r>
              <a:rPr lang="zh-CN" altLang="en-US" sz="1800" dirty="0"/>
              <a:t>的 </a:t>
            </a:r>
            <a:r>
              <a:rPr lang="en-US" altLang="zh-CN" sz="1800" dirty="0"/>
              <a:t>HBM</a:t>
            </a:r>
            <a:r>
              <a:rPr lang="zh-CN" altLang="en-US" sz="1800" dirty="0"/>
              <a:t>（带宽为 </a:t>
            </a:r>
            <a:r>
              <a:rPr lang="en-US" altLang="zh-CN" sz="1800" dirty="0"/>
              <a:t>819GB/s</a:t>
            </a:r>
            <a:r>
              <a:rPr lang="zh-CN" altLang="en-US" sz="1800" dirty="0"/>
              <a:t>）和 </a:t>
            </a:r>
            <a:r>
              <a:rPr lang="en-US" altLang="zh-CN" sz="1800" dirty="0"/>
              <a:t>32GB </a:t>
            </a:r>
            <a:r>
              <a:rPr lang="zh-CN" altLang="en-US" sz="1800" dirty="0"/>
              <a:t>的 </a:t>
            </a:r>
            <a:r>
              <a:rPr lang="en-US" altLang="zh-CN" sz="1800" dirty="0"/>
              <a:t>DDR </a:t>
            </a:r>
            <a:r>
              <a:rPr lang="zh-CN" altLang="en-US" sz="1800" dirty="0"/>
              <a:t>内存（带宽为 </a:t>
            </a:r>
            <a:r>
              <a:rPr lang="en-US" altLang="zh-CN" sz="1800" dirty="0"/>
              <a:t>32GB/s</a:t>
            </a:r>
            <a:r>
              <a:rPr lang="zh-CN" altLang="en-US" sz="1800" dirty="0"/>
              <a:t>）。在 </a:t>
            </a:r>
            <a:r>
              <a:rPr lang="en-US" altLang="zh-CN" sz="1800" dirty="0"/>
              <a:t>300MHz </a:t>
            </a:r>
            <a:r>
              <a:rPr lang="zh-CN" altLang="en-US" sz="1800" dirty="0"/>
              <a:t>的工作频率下，</a:t>
            </a:r>
            <a:r>
              <a:rPr lang="en-US" altLang="zh-CN" sz="1800" dirty="0" err="1"/>
              <a:t>FlightVGM</a:t>
            </a:r>
            <a:r>
              <a:rPr lang="en-US" altLang="zh-CN" sz="1800" dirty="0"/>
              <a:t> </a:t>
            </a:r>
            <a:r>
              <a:rPr lang="zh-CN" altLang="en-US" sz="1800" dirty="0"/>
              <a:t>可达到约 </a:t>
            </a:r>
            <a:r>
              <a:rPr lang="en-US" altLang="zh-CN" sz="1800" dirty="0"/>
              <a:t>20.3 TOPS </a:t>
            </a:r>
            <a:r>
              <a:rPr lang="zh-CN" altLang="en-US" sz="1800" dirty="0"/>
              <a:t>的等效 </a:t>
            </a:r>
            <a:r>
              <a:rPr lang="en-US" altLang="zh-CN" sz="1800" dirty="0"/>
              <a:t>INT8 </a:t>
            </a:r>
            <a:r>
              <a:rPr lang="zh-CN" altLang="en-US" sz="1800" dirty="0"/>
              <a:t>峰值计算性能（</a:t>
            </a:r>
            <a:r>
              <a:rPr lang="en-US" altLang="zh-CN" sz="1800" dirty="0"/>
              <a:t>PCP</a:t>
            </a:r>
            <a:r>
              <a:rPr lang="zh-CN" altLang="en-US" sz="1800" dirty="0"/>
              <a:t>）以及 </a:t>
            </a:r>
            <a:r>
              <a:rPr lang="en-US" altLang="zh-CN" sz="1800" dirty="0"/>
              <a:t>2.8 TOPS </a:t>
            </a:r>
            <a:r>
              <a:rPr lang="zh-CN" altLang="en-US" sz="1800" dirty="0"/>
              <a:t>的 </a:t>
            </a:r>
            <a:r>
              <a:rPr lang="en-US" altLang="zh-CN" sz="1800" dirty="0"/>
              <a:t>FP16 PCP</a:t>
            </a:r>
            <a:r>
              <a:rPr lang="zh-CN" altLang="en-US" sz="1800" dirty="0"/>
              <a:t>。）</a:t>
            </a:r>
          </a:p>
          <a:p>
            <a:endParaRPr lang="zh-CN" altLang="en-US" sz="1800" dirty="0"/>
          </a:p>
          <a:p>
            <a:pPr marL="0" lvl="0" indent="0" algn="just">
              <a:buFont typeface="+mj-lt"/>
              <a:buNone/>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8678241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指标：</a:t>
            </a:r>
            <a:r>
              <a:rPr lang="en-US" altLang="zh-CN" sz="1800" dirty="0"/>
              <a:t>CLIPSIM </a:t>
            </a:r>
            <a:r>
              <a:rPr lang="zh-CN" altLang="en-US" sz="1800" dirty="0"/>
              <a:t>来度量给定提示（</a:t>
            </a:r>
            <a:r>
              <a:rPr lang="en-US" altLang="zh-CN" sz="1800" dirty="0"/>
              <a:t>prompt</a:t>
            </a:r>
            <a:r>
              <a:rPr lang="zh-CN" altLang="en-US" sz="1800" dirty="0"/>
              <a:t>）与视频之间的对齐度 </a:t>
            </a:r>
            <a:r>
              <a:rPr lang="en-US" altLang="zh-CN" sz="1800" dirty="0"/>
              <a:t>[3, 4]</a:t>
            </a:r>
            <a:r>
              <a:rPr lang="zh-CN" altLang="en-US" sz="1800" dirty="0"/>
              <a:t>，以及使用 </a:t>
            </a:r>
            <a:r>
              <a:rPr lang="en-US" altLang="zh-CN" sz="1800" dirty="0" err="1"/>
              <a:t>VBench</a:t>
            </a:r>
            <a:r>
              <a:rPr lang="en-US" altLang="zh-CN" sz="1800" dirty="0"/>
              <a:t> </a:t>
            </a:r>
            <a:r>
              <a:rPr lang="zh-CN" altLang="en-US" sz="1800" dirty="0"/>
              <a:t>来评估所生成视频的整体质量</a:t>
            </a:r>
          </a:p>
          <a:p>
            <a:endParaRPr lang="en-US" altLang="zh-CN" sz="1800" dirty="0"/>
          </a:p>
          <a:p>
            <a:r>
              <a:rPr lang="en-US" altLang="zh-CN" sz="1800" dirty="0" err="1"/>
              <a:t>FlightVGM</a:t>
            </a:r>
            <a:r>
              <a:rPr lang="en-US" altLang="zh-CN" sz="1800" dirty="0"/>
              <a:t> </a:t>
            </a:r>
            <a:r>
              <a:rPr lang="zh-CN" altLang="en-US" sz="1800" dirty="0"/>
              <a:t>引入了两种技术： </a:t>
            </a:r>
          </a:p>
          <a:p>
            <a:pPr>
              <a:buFont typeface="Arial" panose="020B0604020202020204" pitchFamily="34" charset="0"/>
              <a:buChar char="•"/>
            </a:pPr>
            <a:r>
              <a:rPr lang="zh-CN" altLang="en-US" sz="1800" b="1" dirty="0"/>
              <a:t>混合精度量化</a:t>
            </a:r>
            <a:r>
              <a:rPr lang="zh-CN" altLang="en-US" sz="1800" dirty="0"/>
              <a:t>：对 </a:t>
            </a:r>
            <a:r>
              <a:rPr lang="en-US" altLang="zh-CN" sz="1800" dirty="0" err="1"/>
              <a:t>DiT</a:t>
            </a:r>
            <a:r>
              <a:rPr lang="en-US" altLang="zh-CN" sz="1800" dirty="0"/>
              <a:t> </a:t>
            </a:r>
            <a:r>
              <a:rPr lang="zh-CN" altLang="en-US" sz="1800" dirty="0"/>
              <a:t>模块内部的所有线性层进行量化（例如转换为 </a:t>
            </a:r>
            <a:r>
              <a:rPr lang="en-US" altLang="zh-CN" sz="1800" dirty="0"/>
              <a:t>INT8</a:t>
            </a:r>
            <a:r>
              <a:rPr lang="zh-CN" altLang="en-US" sz="1800" dirty="0"/>
              <a:t>），而对注意力计算和其他关键模块（例如嵌入层）保持 </a:t>
            </a:r>
            <a:r>
              <a:rPr lang="en-US" altLang="zh-CN" sz="1800" dirty="0"/>
              <a:t>FP16 </a:t>
            </a:r>
            <a:r>
              <a:rPr lang="zh-CN" altLang="en-US" sz="1800" dirty="0"/>
              <a:t>精度。这种设计旨在在保证模型精度的同时减少计算量。</a:t>
            </a:r>
          </a:p>
          <a:p>
            <a:pPr>
              <a:buFont typeface="Arial" panose="020B0604020202020204" pitchFamily="34" charset="0"/>
              <a:buChar char="•"/>
            </a:pPr>
            <a:r>
              <a:rPr lang="zh-CN" altLang="en-US" sz="1800" b="1" dirty="0"/>
              <a:t>激活稀疏化</a:t>
            </a:r>
            <a:r>
              <a:rPr lang="zh-CN" altLang="en-US" sz="1800" dirty="0"/>
              <a:t>：通过设置特定阈值（</a:t>
            </a:r>
            <a:r>
              <a:rPr lang="en-US" altLang="zh-CN" sz="1800" dirty="0"/>
              <a:t>QKV/O </a:t>
            </a:r>
            <a:r>
              <a:rPr lang="zh-CN" altLang="en-US" sz="1800" dirty="0"/>
              <a:t>投影层阈值为 </a:t>
            </a:r>
            <a:r>
              <a:rPr lang="en-US" altLang="zh-CN" sz="1800" dirty="0"/>
              <a:t>0.95/0.98</a:t>
            </a:r>
            <a:r>
              <a:rPr lang="zh-CN" altLang="en-US" sz="1800" dirty="0"/>
              <a:t>，</a:t>
            </a:r>
            <a:r>
              <a:rPr lang="en-US" altLang="zh-CN" sz="1800" dirty="0"/>
              <a:t>FFN </a:t>
            </a:r>
            <a:r>
              <a:rPr lang="zh-CN" altLang="en-US" sz="1800" dirty="0"/>
              <a:t>阈值为 </a:t>
            </a:r>
            <a:r>
              <a:rPr lang="en-US" altLang="zh-CN" sz="1800" dirty="0"/>
              <a:t>0.92</a:t>
            </a:r>
            <a:r>
              <a:rPr lang="zh-CN" altLang="en-US" sz="1800" dirty="0"/>
              <a:t>），动态剪枝冗余激活，进一步减少运算量。</a:t>
            </a:r>
          </a:p>
          <a:p>
            <a:pPr>
              <a:buFont typeface="+mj-lt"/>
              <a:buAutoNum type="arabicPeriod"/>
            </a:pPr>
            <a:r>
              <a:rPr lang="zh-CN" altLang="en-US" sz="1800" b="1" dirty="0"/>
              <a:t>加速效果</a:t>
            </a:r>
            <a:r>
              <a:rPr lang="zh-CN" altLang="en-US" sz="1800" dirty="0"/>
              <a:t>：这种设计使得整个系统实现了 </a:t>
            </a:r>
            <a:r>
              <a:rPr lang="en-US" altLang="zh-CN" sz="1800" dirty="0"/>
              <a:t>3.17 </a:t>
            </a:r>
            <a:r>
              <a:rPr lang="zh-CN" altLang="en-US" sz="1800" dirty="0"/>
              <a:t>倍的端到端加速。</a:t>
            </a:r>
          </a:p>
          <a:p>
            <a:pPr>
              <a:buFont typeface="+mj-lt"/>
              <a:buAutoNum type="arabicPeriod"/>
            </a:pPr>
            <a:r>
              <a:rPr lang="zh-CN" altLang="en-US" sz="1800" b="1" dirty="0"/>
              <a:t>准确性与视频质量</a:t>
            </a:r>
            <a:r>
              <a:rPr lang="zh-CN" altLang="en-US" sz="1800" dirty="0"/>
              <a:t>：在压缩后，</a:t>
            </a:r>
            <a:r>
              <a:rPr lang="en-US" altLang="zh-CN" sz="1800" dirty="0" err="1"/>
              <a:t>FlightVGM</a:t>
            </a:r>
            <a:r>
              <a:rPr lang="en-US" altLang="zh-CN" sz="1800" dirty="0"/>
              <a:t> </a:t>
            </a:r>
            <a:r>
              <a:rPr lang="zh-CN" altLang="en-US" sz="1800" dirty="0"/>
              <a:t>的模型准确性仅略微下降（平均损失 </a:t>
            </a:r>
            <a:r>
              <a:rPr lang="en-US" altLang="zh-CN" sz="1800" dirty="0"/>
              <a:t>0.008</a:t>
            </a:r>
            <a:r>
              <a:rPr lang="zh-CN" altLang="en-US" sz="1800" dirty="0"/>
              <a:t>），而全 </a:t>
            </a:r>
            <a:r>
              <a:rPr lang="en-US" altLang="zh-CN" sz="1800" dirty="0"/>
              <a:t>INT8 </a:t>
            </a:r>
            <a:r>
              <a:rPr lang="zh-CN" altLang="en-US" sz="1800" dirty="0"/>
              <a:t>量化的准确性损失更大（平均损失 </a:t>
            </a:r>
            <a:r>
              <a:rPr lang="en-US" altLang="zh-CN" sz="1800" dirty="0"/>
              <a:t>0.042</a:t>
            </a:r>
            <a:r>
              <a:rPr lang="zh-CN" altLang="en-US" sz="1800" dirty="0"/>
              <a:t>）。实际生成的视频质量与原始模型几乎一致。</a:t>
            </a:r>
          </a:p>
          <a:p>
            <a:endParaRPr lang="zh-CN" altLang="en-US" sz="1800"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7098677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性能</a:t>
            </a:r>
          </a:p>
          <a:p>
            <a:pPr>
              <a:buFont typeface="+mj-lt"/>
              <a:buAutoNum type="arabicPeriod"/>
            </a:pPr>
            <a:r>
              <a:rPr lang="zh-CN" altLang="en-US" b="1" dirty="0"/>
              <a:t>与 </a:t>
            </a:r>
            <a:r>
              <a:rPr lang="en-US" altLang="zh-CN" b="1" dirty="0"/>
              <a:t>GPU </a:t>
            </a:r>
            <a:r>
              <a:rPr lang="zh-CN" altLang="en-US" b="1" dirty="0"/>
              <a:t>的对比</a:t>
            </a:r>
            <a:endParaRPr lang="zh-CN" altLang="en-US" dirty="0"/>
          </a:p>
          <a:p>
            <a:pPr marL="742950" lvl="1" indent="-285750">
              <a:buFont typeface="+mj-lt"/>
              <a:buAutoNum type="arabicPeriod"/>
            </a:pPr>
            <a:r>
              <a:rPr lang="en-US" altLang="zh-CN" b="1" dirty="0"/>
              <a:t>PCP </a:t>
            </a:r>
            <a:r>
              <a:rPr lang="zh-CN" altLang="en-US" b="1" dirty="0"/>
              <a:t>差距</a:t>
            </a:r>
            <a:r>
              <a:rPr lang="zh-CN" altLang="en-US" dirty="0"/>
              <a:t>：虽然 </a:t>
            </a:r>
            <a:r>
              <a:rPr lang="en-US" altLang="zh-CN" dirty="0"/>
              <a:t>V80 FPGA </a:t>
            </a:r>
            <a:r>
              <a:rPr lang="zh-CN" altLang="en-US" dirty="0"/>
              <a:t>在 </a:t>
            </a:r>
            <a:r>
              <a:rPr lang="en-US" altLang="zh-CN" dirty="0"/>
              <a:t>FP16 </a:t>
            </a:r>
            <a:r>
              <a:rPr lang="zh-CN" altLang="en-US" dirty="0"/>
              <a:t>模式下仅有 </a:t>
            </a:r>
            <a:r>
              <a:rPr lang="en-US" altLang="zh-CN" dirty="0"/>
              <a:t>6.5TOPS</a:t>
            </a:r>
            <a:r>
              <a:rPr lang="zh-CN" altLang="en-US" dirty="0"/>
              <a:t>（或类似的较低数值），与 </a:t>
            </a:r>
            <a:r>
              <a:rPr lang="en-US" altLang="zh-CN" dirty="0"/>
              <a:t>NVIDIA 3090 GPU</a:t>
            </a:r>
            <a:r>
              <a:rPr lang="zh-CN" altLang="en-US" dirty="0"/>
              <a:t>（</a:t>
            </a:r>
            <a:r>
              <a:rPr lang="en-US" altLang="zh-CN" dirty="0"/>
              <a:t>142TOPS</a:t>
            </a:r>
            <a:r>
              <a:rPr lang="zh-CN" altLang="en-US" dirty="0"/>
              <a:t>）相比存在极大差距，但 </a:t>
            </a:r>
            <a:r>
              <a:rPr lang="en-US" altLang="zh-CN" dirty="0"/>
              <a:t>FPGA </a:t>
            </a:r>
            <a:r>
              <a:rPr lang="zh-CN" altLang="en-US" dirty="0"/>
              <a:t>通过硬件级稀疏化和混合精度支持，仍能在实际推理中获得更高的有效吞吐量。</a:t>
            </a:r>
          </a:p>
          <a:p>
            <a:pPr marL="742950" lvl="1" indent="-285750">
              <a:buFont typeface="+mj-lt"/>
              <a:buAutoNum type="arabicPeriod"/>
            </a:pPr>
            <a:r>
              <a:rPr lang="zh-CN" altLang="en-US" b="1" dirty="0"/>
              <a:t>性能和能效</a:t>
            </a:r>
            <a:r>
              <a:rPr lang="zh-CN" altLang="en-US" dirty="0"/>
              <a:t>：</a:t>
            </a:r>
          </a:p>
          <a:p>
            <a:pPr marL="1143000" lvl="2" indent="-228600">
              <a:buFont typeface="+mj-lt"/>
              <a:buAutoNum type="arabicPeriod"/>
            </a:pPr>
            <a:r>
              <a:rPr lang="zh-CN" altLang="en-US" dirty="0"/>
              <a:t>性能提升 </a:t>
            </a:r>
            <a:r>
              <a:rPr lang="en-US" altLang="zh-CN" dirty="0"/>
              <a:t>1.30×</a:t>
            </a:r>
            <a:r>
              <a:rPr lang="zh-CN" altLang="en-US" dirty="0"/>
              <a:t>：说明在相同工作负载下，</a:t>
            </a:r>
            <a:r>
              <a:rPr lang="en-US" altLang="zh-CN" dirty="0" err="1"/>
              <a:t>FlightVGM</a:t>
            </a:r>
            <a:r>
              <a:rPr lang="en-US" altLang="zh-CN" dirty="0"/>
              <a:t> </a:t>
            </a:r>
            <a:r>
              <a:rPr lang="zh-CN" altLang="en-US" dirty="0"/>
              <a:t>的处理速度比 </a:t>
            </a:r>
            <a:r>
              <a:rPr lang="en-US" altLang="zh-CN" dirty="0"/>
              <a:t>3090 GPU </a:t>
            </a:r>
            <a:r>
              <a:rPr lang="zh-CN" altLang="en-US" dirty="0"/>
              <a:t>更快。</a:t>
            </a:r>
          </a:p>
          <a:p>
            <a:pPr marL="1143000" lvl="2" indent="-228600">
              <a:buFont typeface="+mj-lt"/>
              <a:buAutoNum type="arabicPeriod"/>
            </a:pPr>
            <a:r>
              <a:rPr lang="zh-CN" altLang="en-US" dirty="0"/>
              <a:t>能效提升 </a:t>
            </a:r>
            <a:r>
              <a:rPr lang="en-US" altLang="zh-CN" dirty="0"/>
              <a:t>4.49×</a:t>
            </a:r>
            <a:r>
              <a:rPr lang="zh-CN" altLang="en-US" dirty="0"/>
              <a:t>：说明在完成同样计算量时，</a:t>
            </a:r>
            <a:r>
              <a:rPr lang="en-US" altLang="zh-CN" dirty="0" err="1"/>
              <a:t>FlightVGM</a:t>
            </a:r>
            <a:r>
              <a:rPr lang="en-US" altLang="zh-CN" dirty="0"/>
              <a:t> </a:t>
            </a:r>
            <a:r>
              <a:rPr lang="zh-CN" altLang="en-US" dirty="0"/>
              <a:t>消耗的能量更少。</a:t>
            </a:r>
          </a:p>
          <a:p>
            <a:pPr>
              <a:buFont typeface="+mj-lt"/>
              <a:buAutoNum type="arabicPeriod"/>
            </a:pPr>
            <a:r>
              <a:rPr lang="zh-CN" altLang="en-US" b="1" dirty="0"/>
              <a:t>与 </a:t>
            </a:r>
            <a:r>
              <a:rPr lang="en-US" altLang="zh-CN" b="1" dirty="0" err="1"/>
              <a:t>DiT</a:t>
            </a:r>
            <a:r>
              <a:rPr lang="en-US" altLang="zh-CN" b="1" dirty="0"/>
              <a:t>-based ASIC </a:t>
            </a:r>
            <a:r>
              <a:rPr lang="zh-CN" altLang="en-US" b="1" dirty="0"/>
              <a:t>加速器的对比</a:t>
            </a:r>
            <a:endParaRPr lang="zh-CN" altLang="en-US" dirty="0"/>
          </a:p>
          <a:p>
            <a:pPr marL="742950" lvl="1" indent="-285750">
              <a:buFont typeface="+mj-lt"/>
              <a:buAutoNum type="arabicPeriod"/>
            </a:pPr>
            <a:r>
              <a:rPr lang="en-US" altLang="zh-CN" b="1" dirty="0" err="1"/>
              <a:t>InterArch</a:t>
            </a:r>
            <a:r>
              <a:rPr lang="en-US" altLang="zh-CN" b="1" dirty="0"/>
              <a:t>/CMC</a:t>
            </a:r>
            <a:r>
              <a:rPr lang="zh-CN" altLang="en-US" dirty="0"/>
              <a:t>：</a:t>
            </a:r>
          </a:p>
          <a:p>
            <a:pPr marL="1143000" lvl="2" indent="-228600">
              <a:buFont typeface="+mj-lt"/>
              <a:buAutoNum type="arabicPeriod"/>
            </a:pPr>
            <a:r>
              <a:rPr lang="en-US" altLang="zh-CN" dirty="0" err="1"/>
              <a:t>FlightVGM</a:t>
            </a:r>
            <a:r>
              <a:rPr lang="en-US" altLang="zh-CN" dirty="0"/>
              <a:t> </a:t>
            </a:r>
            <a:r>
              <a:rPr lang="zh-CN" altLang="en-US" dirty="0"/>
              <a:t>性能提升 </a:t>
            </a:r>
            <a:r>
              <a:rPr lang="en-US" altLang="zh-CN" dirty="0"/>
              <a:t>1.74/1.56×</a:t>
            </a:r>
            <a:r>
              <a:rPr lang="zh-CN" altLang="en-US" dirty="0"/>
              <a:t>，能效提升 </a:t>
            </a:r>
            <a:r>
              <a:rPr lang="en-US" altLang="zh-CN" dirty="0"/>
              <a:t>1.33/1.27×</a:t>
            </a:r>
            <a:r>
              <a:rPr lang="zh-CN" altLang="en-US" dirty="0"/>
              <a:t>。</a:t>
            </a:r>
          </a:p>
          <a:p>
            <a:pPr marL="1143000" lvl="2" indent="-228600">
              <a:buFont typeface="+mj-lt"/>
              <a:buAutoNum type="arabicPeriod"/>
            </a:pPr>
            <a:r>
              <a:rPr lang="zh-CN" altLang="en-US" dirty="0"/>
              <a:t>原因：</a:t>
            </a:r>
            <a:r>
              <a:rPr lang="en-US" altLang="zh-CN" dirty="0" err="1"/>
              <a:t>FlightVGM</a:t>
            </a:r>
            <a:r>
              <a:rPr lang="en-US" altLang="zh-CN" dirty="0"/>
              <a:t> </a:t>
            </a:r>
            <a:r>
              <a:rPr lang="zh-CN" altLang="en-US" dirty="0"/>
              <a:t>采用了更高效的激活稀疏化策略以及混合精度量化，从而减少了更多的冗余计算量。</a:t>
            </a:r>
          </a:p>
          <a:p>
            <a:pPr marL="742950" lvl="1" indent="-285750">
              <a:buFont typeface="+mj-lt"/>
              <a:buAutoNum type="arabicPeriod"/>
            </a:pPr>
            <a:r>
              <a:rPr lang="zh-CN" altLang="en-US" b="1" dirty="0"/>
              <a:t>对齐硬件参数</a:t>
            </a:r>
            <a:r>
              <a:rPr lang="zh-CN" altLang="en-US" dirty="0"/>
              <a:t>：</a:t>
            </a:r>
          </a:p>
          <a:p>
            <a:pPr marL="1143000" lvl="2" indent="-228600">
              <a:buFont typeface="+mj-lt"/>
              <a:buAutoNum type="arabicPeriod"/>
            </a:pPr>
            <a:r>
              <a:rPr lang="zh-CN" altLang="en-US" dirty="0"/>
              <a:t>为了公平比较，我们让 </a:t>
            </a:r>
            <a:r>
              <a:rPr lang="en-US" altLang="zh-CN" dirty="0" err="1"/>
              <a:t>InterArch</a:t>
            </a:r>
            <a:r>
              <a:rPr lang="en-US" altLang="zh-CN" dirty="0"/>
              <a:t>/CMC </a:t>
            </a:r>
            <a:r>
              <a:rPr lang="zh-CN" altLang="en-US" dirty="0"/>
              <a:t>在模拟器中具有与 </a:t>
            </a:r>
            <a:r>
              <a:rPr lang="en-US" altLang="zh-CN" dirty="0" err="1"/>
              <a:t>FlightVGM</a:t>
            </a:r>
            <a:r>
              <a:rPr lang="en-US" altLang="zh-CN" dirty="0"/>
              <a:t> </a:t>
            </a:r>
            <a:r>
              <a:rPr lang="zh-CN" altLang="en-US" dirty="0"/>
              <a:t>类似的峰值计算性能（</a:t>
            </a:r>
            <a:r>
              <a:rPr lang="en-US" altLang="zh-CN" dirty="0"/>
              <a:t>PCP</a:t>
            </a:r>
            <a:r>
              <a:rPr lang="zh-CN" altLang="en-US" dirty="0"/>
              <a:t>）、带宽和片上缓冲大小。</a:t>
            </a:r>
          </a:p>
          <a:p>
            <a:pPr marL="1143000" lvl="2" indent="-228600">
              <a:buFont typeface="+mj-lt"/>
              <a:buAutoNum type="arabicPeriod"/>
            </a:pPr>
            <a:r>
              <a:rPr lang="zh-CN" altLang="en-US" dirty="0"/>
              <a:t>这确保了差异主要来自算法和体系结构优化，而非硬件规模差异。</a:t>
            </a:r>
          </a:p>
          <a:p>
            <a:pPr>
              <a:buFont typeface="+mj-lt"/>
              <a:buAutoNum type="arabicPeriod"/>
            </a:pPr>
            <a:r>
              <a:rPr lang="zh-CN" altLang="en-US" b="1" dirty="0"/>
              <a:t>与 </a:t>
            </a:r>
            <a:r>
              <a:rPr lang="en-US" altLang="zh-CN" b="1" dirty="0"/>
              <a:t>Transformer-based FPGA </a:t>
            </a:r>
            <a:r>
              <a:rPr lang="zh-CN" altLang="en-US" b="1" dirty="0"/>
              <a:t>加速器的对比</a:t>
            </a:r>
            <a:endParaRPr lang="zh-CN" altLang="en-US" dirty="0"/>
          </a:p>
          <a:p>
            <a:pPr marL="742950" lvl="1" indent="-285750">
              <a:buFont typeface="+mj-lt"/>
              <a:buAutoNum type="arabicPeriod"/>
            </a:pPr>
            <a:r>
              <a:rPr lang="en-US" altLang="zh-CN" b="1" dirty="0" err="1"/>
              <a:t>HiSpMV</a:t>
            </a:r>
            <a:r>
              <a:rPr lang="zh-CN" altLang="en-US" dirty="0"/>
              <a:t>：</a:t>
            </a:r>
          </a:p>
          <a:p>
            <a:pPr marL="1143000" lvl="2" indent="-228600">
              <a:buFont typeface="+mj-lt"/>
              <a:buAutoNum type="arabicPeriod"/>
            </a:pPr>
            <a:r>
              <a:rPr lang="en-US" altLang="zh-CN" dirty="0" err="1"/>
              <a:t>FlightVGM</a:t>
            </a:r>
            <a:r>
              <a:rPr lang="en-US" altLang="zh-CN" dirty="0"/>
              <a:t> </a:t>
            </a:r>
            <a:r>
              <a:rPr lang="zh-CN" altLang="en-US" dirty="0"/>
              <a:t>相比之下达到了 </a:t>
            </a:r>
            <a:r>
              <a:rPr lang="en-US" altLang="zh-CN" dirty="0"/>
              <a:t>7.69 </a:t>
            </a:r>
            <a:r>
              <a:rPr lang="zh-CN" altLang="en-US" dirty="0"/>
              <a:t>倍加速和 </a:t>
            </a:r>
            <a:r>
              <a:rPr lang="en-US" altLang="zh-CN" dirty="0"/>
              <a:t>3.52 </a:t>
            </a:r>
            <a:r>
              <a:rPr lang="zh-CN" altLang="en-US" dirty="0"/>
              <a:t>倍能效提升。</a:t>
            </a:r>
          </a:p>
          <a:p>
            <a:pPr marL="1143000" lvl="2" indent="-228600">
              <a:buFont typeface="+mj-lt"/>
              <a:buAutoNum type="arabicPeriod"/>
            </a:pPr>
            <a:r>
              <a:rPr lang="zh-CN" altLang="en-US" dirty="0"/>
              <a:t>原因：</a:t>
            </a:r>
            <a:r>
              <a:rPr lang="en-US" altLang="zh-CN" dirty="0" err="1"/>
              <a:t>HiSpMV</a:t>
            </a:r>
            <a:r>
              <a:rPr lang="en-US" altLang="zh-CN" dirty="0"/>
              <a:t> </a:t>
            </a:r>
            <a:r>
              <a:rPr lang="zh-CN" altLang="en-US" dirty="0"/>
              <a:t>并不针对视频生成模型（</a:t>
            </a:r>
            <a:r>
              <a:rPr lang="en-US" altLang="zh-CN" dirty="0"/>
              <a:t>VGM</a:t>
            </a:r>
            <a:r>
              <a:rPr lang="zh-CN" altLang="en-US" dirty="0"/>
              <a:t>）中大量的矩阵乘法进行专门优化，难以充分利用 </a:t>
            </a:r>
            <a:r>
              <a:rPr lang="en-US" altLang="zh-CN" dirty="0"/>
              <a:t>FPGA </a:t>
            </a:r>
            <a:r>
              <a:rPr lang="zh-CN" altLang="en-US" dirty="0"/>
              <a:t>并行度。</a:t>
            </a:r>
          </a:p>
          <a:p>
            <a:pPr marL="742950" lvl="1" indent="-285750">
              <a:buFont typeface="+mj-lt"/>
              <a:buAutoNum type="arabicPeriod"/>
            </a:pPr>
            <a:r>
              <a:rPr lang="en-US" altLang="zh-CN" b="1" dirty="0" err="1"/>
              <a:t>FlightLLM</a:t>
            </a:r>
            <a:r>
              <a:rPr lang="zh-CN" altLang="en-US" dirty="0"/>
              <a:t>：</a:t>
            </a:r>
          </a:p>
          <a:p>
            <a:pPr marL="1143000" lvl="2" indent="-228600">
              <a:buFont typeface="+mj-lt"/>
              <a:buAutoNum type="arabicPeriod"/>
            </a:pPr>
            <a:r>
              <a:rPr lang="en-US" altLang="zh-CN" dirty="0" err="1"/>
              <a:t>FlightVGM</a:t>
            </a:r>
            <a:r>
              <a:rPr lang="en-US" altLang="zh-CN" dirty="0"/>
              <a:t> </a:t>
            </a:r>
            <a:r>
              <a:rPr lang="zh-CN" altLang="en-US" dirty="0"/>
              <a:t>在性能和能效上分别提升了 </a:t>
            </a:r>
            <a:r>
              <a:rPr lang="en-US" altLang="zh-CN" dirty="0"/>
              <a:t>3.12× </a:t>
            </a:r>
            <a:r>
              <a:rPr lang="zh-CN" altLang="en-US" dirty="0"/>
              <a:t>和 </a:t>
            </a:r>
            <a:r>
              <a:rPr lang="en-US" altLang="zh-CN" dirty="0"/>
              <a:t>1.43×</a:t>
            </a:r>
            <a:r>
              <a:rPr lang="zh-CN" altLang="en-US" dirty="0"/>
              <a:t>。</a:t>
            </a:r>
          </a:p>
          <a:p>
            <a:pPr marL="1143000" lvl="2" indent="-228600">
              <a:buFont typeface="+mj-lt"/>
              <a:buAutoNum type="arabicPeriod"/>
            </a:pPr>
            <a:r>
              <a:rPr lang="zh-CN" altLang="en-US" dirty="0"/>
              <a:t>原因：</a:t>
            </a:r>
            <a:r>
              <a:rPr lang="en-US" altLang="zh-CN" dirty="0" err="1"/>
              <a:t>FlightLLM</a:t>
            </a:r>
            <a:r>
              <a:rPr lang="en-US" altLang="zh-CN" dirty="0"/>
              <a:t> </a:t>
            </a:r>
            <a:r>
              <a:rPr lang="zh-CN" altLang="en-US" dirty="0"/>
              <a:t>主要面向大语言模型（</a:t>
            </a:r>
            <a:r>
              <a:rPr lang="en-US" altLang="zh-CN" dirty="0"/>
              <a:t>LLM</a:t>
            </a:r>
            <a:r>
              <a:rPr lang="zh-CN" altLang="en-US" dirty="0"/>
              <a:t>），在在线稀疏化以及硬件计算性能优化方面不如 </a:t>
            </a:r>
            <a:r>
              <a:rPr lang="en-US" altLang="zh-CN" dirty="0" err="1"/>
              <a:t>FlightVGM</a:t>
            </a:r>
            <a:r>
              <a:rPr lang="en-US" altLang="zh-CN" dirty="0"/>
              <a:t> </a:t>
            </a:r>
            <a:r>
              <a:rPr lang="zh-CN" altLang="en-US" dirty="0"/>
              <a:t>针对 </a:t>
            </a:r>
            <a:r>
              <a:rPr lang="en-US" altLang="zh-CN" dirty="0"/>
              <a:t>VGM </a:t>
            </a:r>
            <a:r>
              <a:rPr lang="zh-CN" altLang="en-US" dirty="0"/>
              <a:t>进行的定制化设计。</a:t>
            </a:r>
          </a:p>
          <a:p>
            <a:pPr>
              <a:buFont typeface="+mj-lt"/>
              <a:buAutoNum type="arabicPeriod"/>
            </a:pPr>
            <a:r>
              <a:rPr lang="zh-CN" altLang="en-US" b="1" dirty="0"/>
              <a:t>整体结论</a:t>
            </a:r>
            <a:endParaRPr lang="zh-CN" altLang="en-US" dirty="0"/>
          </a:p>
          <a:p>
            <a:pPr marL="742950" lvl="1" indent="-285750">
              <a:buFont typeface="+mj-lt"/>
              <a:buAutoNum type="arabicPeriod"/>
            </a:pPr>
            <a:r>
              <a:rPr lang="zh-CN" altLang="en-US" b="1" dirty="0"/>
              <a:t>性能</a:t>
            </a:r>
            <a:r>
              <a:rPr lang="zh-CN" altLang="en-US" dirty="0"/>
              <a:t>：</a:t>
            </a:r>
            <a:r>
              <a:rPr lang="en-US" altLang="zh-CN" dirty="0" err="1"/>
              <a:t>FlightVGM</a:t>
            </a:r>
            <a:r>
              <a:rPr lang="en-US" altLang="zh-CN" dirty="0"/>
              <a:t> </a:t>
            </a:r>
            <a:r>
              <a:rPr lang="zh-CN" altLang="en-US" dirty="0"/>
              <a:t>在多种对比场景（</a:t>
            </a:r>
            <a:r>
              <a:rPr lang="en-US" altLang="zh-CN" dirty="0"/>
              <a:t>GPU</a:t>
            </a:r>
            <a:r>
              <a:rPr lang="zh-CN" altLang="en-US" dirty="0"/>
              <a:t>、</a:t>
            </a:r>
            <a:r>
              <a:rPr lang="en-US" altLang="zh-CN" dirty="0" err="1"/>
              <a:t>DiT</a:t>
            </a:r>
            <a:r>
              <a:rPr lang="en-US" altLang="zh-CN" dirty="0"/>
              <a:t>-based ASIC</a:t>
            </a:r>
            <a:r>
              <a:rPr lang="zh-CN" altLang="en-US" dirty="0"/>
              <a:t>、</a:t>
            </a:r>
            <a:r>
              <a:rPr lang="en-US" altLang="zh-CN" dirty="0"/>
              <a:t>Transformer-based FPGA</a:t>
            </a:r>
            <a:r>
              <a:rPr lang="zh-CN" altLang="en-US" dirty="0"/>
              <a:t>）下，都展现出了显著的速度提升。</a:t>
            </a:r>
          </a:p>
          <a:p>
            <a:pPr marL="742950" lvl="1" indent="-285750">
              <a:buFont typeface="+mj-lt"/>
              <a:buAutoNum type="arabicPeriod"/>
            </a:pPr>
            <a:r>
              <a:rPr lang="zh-CN" altLang="en-US" b="1" dirty="0"/>
              <a:t>能效</a:t>
            </a:r>
            <a:r>
              <a:rPr lang="zh-CN" altLang="en-US" dirty="0"/>
              <a:t>：在计算资源受限的 </a:t>
            </a:r>
            <a:r>
              <a:rPr lang="en-US" altLang="zh-CN" dirty="0"/>
              <a:t>FPGA </a:t>
            </a:r>
            <a:r>
              <a:rPr lang="zh-CN" altLang="en-US" dirty="0"/>
              <a:t>平台上，通过激活稀疏化和混合精度等技术，</a:t>
            </a:r>
            <a:r>
              <a:rPr lang="en-US" altLang="zh-CN" dirty="0" err="1"/>
              <a:t>FlightVGM</a:t>
            </a:r>
            <a:r>
              <a:rPr lang="en-US" altLang="zh-CN" dirty="0"/>
              <a:t> </a:t>
            </a:r>
            <a:r>
              <a:rPr lang="zh-CN" altLang="en-US" dirty="0"/>
              <a:t>相比传统方案也能大幅降低功耗，提升能量效率。</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9180063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311778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1. </a:t>
            </a:r>
            <a:r>
              <a:rPr lang="zh-CN" altLang="en-US" b="1" dirty="0"/>
              <a:t>关于 </a:t>
            </a:r>
            <a:r>
              <a:rPr lang="en-US" altLang="zh-CN" b="1" dirty="0"/>
              <a:t>DSP-E </a:t>
            </a:r>
            <a:r>
              <a:rPr lang="zh-CN" altLang="en-US" b="1" dirty="0"/>
              <a:t>架构（图 </a:t>
            </a:r>
            <a:r>
              <a:rPr lang="en-US" altLang="zh-CN" b="1" dirty="0"/>
              <a:t>11(a)</a:t>
            </a:r>
            <a:r>
              <a:rPr lang="zh-CN" altLang="en-US" b="1" dirty="0"/>
              <a:t>）</a:t>
            </a:r>
          </a:p>
          <a:p>
            <a:pPr>
              <a:buFont typeface="+mj-lt"/>
              <a:buAutoNum type="arabicPeriod"/>
            </a:pPr>
            <a:r>
              <a:rPr lang="zh-CN" altLang="en-US" b="1" dirty="0"/>
              <a:t>与原生设计的对比</a:t>
            </a:r>
            <a:endParaRPr lang="zh-CN" altLang="en-US" dirty="0"/>
          </a:p>
          <a:p>
            <a:pPr marL="742950" lvl="1" indent="-285750">
              <a:buFont typeface="+mj-lt"/>
              <a:buAutoNum type="arabicPeriod"/>
            </a:pPr>
            <a:r>
              <a:rPr lang="zh-CN" altLang="en-US" b="1" dirty="0"/>
              <a:t>原生设计</a:t>
            </a:r>
            <a:r>
              <a:rPr lang="zh-CN" altLang="en-US" dirty="0"/>
              <a:t>：指仅使用原生 </a:t>
            </a:r>
            <a:r>
              <a:rPr lang="en-US" altLang="zh-CN" dirty="0"/>
              <a:t>DSP58</a:t>
            </a:r>
            <a:r>
              <a:rPr lang="zh-CN" altLang="en-US" dirty="0"/>
              <a:t>（或不做任何扩展）进行 </a:t>
            </a:r>
            <a:r>
              <a:rPr lang="en-US" altLang="zh-CN" dirty="0"/>
              <a:t>FP16/INT8 </a:t>
            </a:r>
            <a:r>
              <a:rPr lang="zh-CN" altLang="en-US" dirty="0"/>
              <a:t>运算。</a:t>
            </a:r>
          </a:p>
          <a:p>
            <a:pPr marL="742950" lvl="1" indent="-285750">
              <a:buFont typeface="+mj-lt"/>
              <a:buAutoNum type="arabicPeriod"/>
            </a:pPr>
            <a:r>
              <a:rPr lang="en-US" altLang="zh-CN" b="1" dirty="0"/>
              <a:t>DSP-E </a:t>
            </a:r>
            <a:r>
              <a:rPr lang="zh-CN" altLang="en-US" b="1" dirty="0"/>
              <a:t>设计</a:t>
            </a:r>
            <a:r>
              <a:rPr lang="zh-CN" altLang="en-US" dirty="0"/>
              <a:t>：在 </a:t>
            </a:r>
            <a:r>
              <a:rPr lang="en-US" altLang="zh-CN" dirty="0"/>
              <a:t>DSP58 </a:t>
            </a:r>
            <a:r>
              <a:rPr lang="zh-CN" altLang="en-US" dirty="0"/>
              <a:t>外增加了额外逻辑，实现 </a:t>
            </a:r>
            <a:r>
              <a:rPr lang="en-US" altLang="zh-CN" dirty="0"/>
              <a:t>INT8/FP16 </a:t>
            </a:r>
            <a:r>
              <a:rPr lang="zh-CN" altLang="en-US" dirty="0"/>
              <a:t>混合精度的高并行度运算。</a:t>
            </a:r>
          </a:p>
          <a:p>
            <a:pPr marL="742950" lvl="1" indent="-285750">
              <a:buFont typeface="+mj-lt"/>
              <a:buAutoNum type="arabicPeriod"/>
            </a:pPr>
            <a:r>
              <a:rPr lang="zh-CN" altLang="en-US" b="1" dirty="0"/>
              <a:t>性能提升 </a:t>
            </a:r>
            <a:r>
              <a:rPr lang="en-US" altLang="zh-CN" b="1" dirty="0"/>
              <a:t>1.20 </a:t>
            </a:r>
            <a:r>
              <a:rPr lang="zh-CN" altLang="en-US" b="1" dirty="0"/>
              <a:t>倍</a:t>
            </a:r>
            <a:r>
              <a:rPr lang="zh-CN" altLang="en-US" dirty="0"/>
              <a:t>：说明在相同资源限制下，</a:t>
            </a:r>
            <a:r>
              <a:rPr lang="en-US" altLang="zh-CN" dirty="0"/>
              <a:t>DSP-E </a:t>
            </a:r>
            <a:r>
              <a:rPr lang="zh-CN" altLang="en-US" dirty="0"/>
              <a:t>能有效提高每个 </a:t>
            </a:r>
            <a:r>
              <a:rPr lang="en-US" altLang="zh-CN" dirty="0"/>
              <a:t>DSP </a:t>
            </a:r>
            <a:r>
              <a:rPr lang="zh-CN" altLang="en-US" dirty="0"/>
              <a:t>的吞吐量。</a:t>
            </a:r>
          </a:p>
          <a:p>
            <a:pPr>
              <a:buFont typeface="+mj-lt"/>
              <a:buAutoNum type="arabicPeriod"/>
            </a:pPr>
            <a:r>
              <a:rPr lang="zh-CN" altLang="en-US" b="1" dirty="0"/>
              <a:t>计算性能比对端到端延迟的影响</a:t>
            </a:r>
            <a:endParaRPr lang="zh-CN" altLang="en-US" dirty="0"/>
          </a:p>
          <a:p>
            <a:pPr marL="742950" lvl="1" indent="-285750">
              <a:buFont typeface="+mj-lt"/>
              <a:buAutoNum type="arabicPeriod"/>
            </a:pPr>
            <a:r>
              <a:rPr lang="zh-CN" altLang="en-US" dirty="0"/>
              <a:t>指的是 </a:t>
            </a:r>
            <a:r>
              <a:rPr lang="en-US" altLang="zh-CN" dirty="0"/>
              <a:t>INT8 </a:t>
            </a:r>
            <a:r>
              <a:rPr lang="zh-CN" altLang="en-US" dirty="0"/>
              <a:t>与 </a:t>
            </a:r>
            <a:r>
              <a:rPr lang="en-US" altLang="zh-CN" dirty="0"/>
              <a:t>FP16 </a:t>
            </a:r>
            <a:r>
              <a:rPr lang="zh-CN" altLang="en-US" dirty="0"/>
              <a:t>的并行度比例。如果该比值偏离最佳值，端到端延迟会在某种精度（</a:t>
            </a:r>
            <a:r>
              <a:rPr lang="en-US" altLang="zh-CN" dirty="0"/>
              <a:t>INT8 </a:t>
            </a:r>
            <a:r>
              <a:rPr lang="zh-CN" altLang="en-US" dirty="0"/>
              <a:t>或 </a:t>
            </a:r>
            <a:r>
              <a:rPr lang="en-US" altLang="zh-CN" dirty="0"/>
              <a:t>FP16</a:t>
            </a:r>
            <a:r>
              <a:rPr lang="zh-CN" altLang="en-US" dirty="0"/>
              <a:t>）上产生瓶颈。</a:t>
            </a:r>
          </a:p>
          <a:p>
            <a:pPr marL="742950" lvl="1" indent="-285750">
              <a:buFont typeface="+mj-lt"/>
              <a:buAutoNum type="arabicPeriod"/>
            </a:pPr>
            <a:r>
              <a:rPr lang="zh-CN" altLang="en-US" dirty="0"/>
              <a:t>当比值为 </a:t>
            </a:r>
            <a:r>
              <a:rPr lang="en-US" altLang="zh-CN" dirty="0"/>
              <a:t>6 </a:t>
            </a:r>
            <a:r>
              <a:rPr lang="zh-CN" altLang="en-US" dirty="0"/>
              <a:t>时，意味着在 </a:t>
            </a:r>
            <a:r>
              <a:rPr lang="en-US" altLang="zh-CN" dirty="0"/>
              <a:t>VGM </a:t>
            </a:r>
            <a:r>
              <a:rPr lang="zh-CN" altLang="en-US" dirty="0"/>
              <a:t>的负载特性下，</a:t>
            </a:r>
            <a:r>
              <a:rPr lang="en-US" altLang="zh-CN" dirty="0"/>
              <a:t>INT8 </a:t>
            </a:r>
            <a:r>
              <a:rPr lang="zh-CN" altLang="en-US" dirty="0"/>
              <a:t>与 </a:t>
            </a:r>
            <a:r>
              <a:rPr lang="en-US" altLang="zh-CN" dirty="0"/>
              <a:t>FP16 </a:t>
            </a:r>
            <a:r>
              <a:rPr lang="zh-CN" altLang="en-US" dirty="0"/>
              <a:t>的并行度得到了较好平衡，整体延迟最低。</a:t>
            </a:r>
          </a:p>
          <a:p>
            <a:pPr marL="742950" lvl="1" indent="-285750">
              <a:buFont typeface="+mj-lt"/>
              <a:buAutoNum type="arabicPeriod"/>
            </a:pPr>
            <a:r>
              <a:rPr lang="en-US" altLang="zh-CN" b="1" dirty="0"/>
              <a:t>3.26 </a:t>
            </a:r>
            <a:r>
              <a:rPr lang="zh-CN" altLang="en-US" b="1" dirty="0"/>
              <a:t>倍提升</a:t>
            </a:r>
            <a:r>
              <a:rPr lang="zh-CN" altLang="en-US" dirty="0"/>
              <a:t>：若只考虑 </a:t>
            </a:r>
            <a:r>
              <a:rPr lang="en-US" altLang="zh-CN" dirty="0"/>
              <a:t>FP16 </a:t>
            </a:r>
            <a:r>
              <a:rPr lang="zh-CN" altLang="en-US" dirty="0"/>
              <a:t>性能，混合精度带来的加速可以进一步将等效计算性能扩大到 </a:t>
            </a:r>
            <a:r>
              <a:rPr lang="en-US" altLang="zh-CN" dirty="0"/>
              <a:t>3.26 </a:t>
            </a:r>
            <a:r>
              <a:rPr lang="zh-CN" altLang="en-US" dirty="0"/>
              <a:t>倍。</a:t>
            </a:r>
          </a:p>
          <a:p>
            <a:r>
              <a:rPr lang="en-US" altLang="zh-CN" b="1" dirty="0"/>
              <a:t>2. </a:t>
            </a:r>
            <a:r>
              <a:rPr lang="zh-CN" altLang="en-US" b="1" dirty="0"/>
              <a:t>关于自适应调度（图 </a:t>
            </a:r>
            <a:r>
              <a:rPr lang="en-US" altLang="zh-CN" b="1" dirty="0"/>
              <a:t>11(b)</a:t>
            </a:r>
            <a:r>
              <a:rPr lang="zh-CN" altLang="en-US" b="1" dirty="0"/>
              <a:t>）</a:t>
            </a:r>
          </a:p>
          <a:p>
            <a:pPr>
              <a:buFont typeface="+mj-lt"/>
              <a:buAutoNum type="arabicPeriod"/>
            </a:pPr>
            <a:r>
              <a:rPr lang="zh-CN" altLang="en-US" b="1" dirty="0"/>
              <a:t>在线稀疏化带来的负载不均衡</a:t>
            </a:r>
            <a:endParaRPr lang="zh-CN" altLang="en-US" dirty="0"/>
          </a:p>
          <a:p>
            <a:pPr marL="742950" lvl="1" indent="-285750">
              <a:buFont typeface="+mj-lt"/>
              <a:buAutoNum type="arabicPeriod"/>
            </a:pPr>
            <a:r>
              <a:rPr lang="zh-CN" altLang="en-US" dirty="0"/>
              <a:t>稀疏化后，有些算子的激活量大幅减少，而另一些算子可能还保持相对完整，导致不同算子执行时间不一致，硬件核心易出现空闲。</a:t>
            </a:r>
          </a:p>
          <a:p>
            <a:pPr>
              <a:buFont typeface="+mj-lt"/>
              <a:buAutoNum type="arabicPeriod"/>
            </a:pPr>
            <a:r>
              <a:rPr lang="zh-CN" altLang="en-US" b="1" dirty="0"/>
              <a:t>自适应调度的引入</a:t>
            </a:r>
            <a:endParaRPr lang="zh-CN" altLang="en-US" dirty="0"/>
          </a:p>
          <a:p>
            <a:pPr marL="742950" lvl="1" indent="-285750">
              <a:buFont typeface="+mj-lt"/>
              <a:buAutoNum type="arabicPeriod"/>
            </a:pPr>
            <a:r>
              <a:rPr lang="zh-CN" altLang="en-US" b="1" dirty="0"/>
              <a:t>平均空闲率 </a:t>
            </a:r>
            <a:r>
              <a:rPr lang="en-US" altLang="zh-CN" b="1" dirty="0"/>
              <a:t>65.8%</a:t>
            </a:r>
            <a:r>
              <a:rPr lang="zh-CN" altLang="en-US" dirty="0"/>
              <a:t>：指在不做自适应调度时，大部分时间硬件处于等待状态。</a:t>
            </a:r>
          </a:p>
          <a:p>
            <a:pPr marL="742950" lvl="1" indent="-285750">
              <a:buFont typeface="+mj-lt"/>
              <a:buAutoNum type="arabicPeriod"/>
            </a:pPr>
            <a:r>
              <a:rPr lang="en-US" altLang="zh-CN" b="1" dirty="0"/>
              <a:t>2.75 </a:t>
            </a:r>
            <a:r>
              <a:rPr lang="zh-CN" altLang="en-US" b="1" dirty="0"/>
              <a:t>倍利用率提升</a:t>
            </a:r>
            <a:r>
              <a:rPr lang="zh-CN" altLang="en-US" dirty="0"/>
              <a:t>：自适应调度能够根据实际算子执行情况和稀疏度变化实时调整执行顺序，消除空闲时间，显著提高硬件资源利用率。</a:t>
            </a:r>
          </a:p>
          <a:p>
            <a:pPr marL="742950" lvl="1" indent="-285750">
              <a:buFont typeface="+mj-lt"/>
              <a:buAutoNum type="arabicPeriod"/>
            </a:pPr>
            <a:r>
              <a:rPr lang="zh-CN" altLang="en-US" b="1" dirty="0"/>
              <a:t>额外开销可忽略</a:t>
            </a:r>
            <a:r>
              <a:rPr lang="zh-CN" altLang="en-US" dirty="0"/>
              <a:t>：调度本身并未引入明显的时间或带宽开销，收益远大于成本。</a:t>
            </a:r>
          </a:p>
          <a:p>
            <a:r>
              <a:rPr lang="en-US" altLang="zh-CN" b="1" dirty="0"/>
              <a:t>3. </a:t>
            </a:r>
            <a:r>
              <a:rPr lang="zh-CN" altLang="en-US" b="1" dirty="0"/>
              <a:t>关于 </a:t>
            </a:r>
            <a:r>
              <a:rPr lang="en-US" altLang="zh-CN" b="1" dirty="0"/>
              <a:t>AIE FPGA </a:t>
            </a:r>
            <a:r>
              <a:rPr lang="zh-CN" altLang="en-US" b="1" dirty="0"/>
              <a:t>的讨论（图 </a:t>
            </a:r>
            <a:r>
              <a:rPr lang="en-US" altLang="zh-CN" b="1" dirty="0"/>
              <a:t>11(c)</a:t>
            </a:r>
            <a:r>
              <a:rPr lang="zh-CN" altLang="en-US" b="1" dirty="0"/>
              <a:t>）</a:t>
            </a:r>
          </a:p>
          <a:p>
            <a:pPr>
              <a:buFont typeface="+mj-lt"/>
              <a:buAutoNum type="arabicPeriod"/>
            </a:pPr>
            <a:r>
              <a:rPr lang="en-US" altLang="zh-CN" b="1" dirty="0"/>
              <a:t>AIE</a:t>
            </a:r>
            <a:r>
              <a:rPr lang="zh-CN" altLang="en-US" b="1" dirty="0"/>
              <a:t>（</a:t>
            </a:r>
            <a:r>
              <a:rPr lang="en-US" altLang="zh-CN" b="1" dirty="0"/>
              <a:t>AI Engine</a:t>
            </a:r>
            <a:r>
              <a:rPr lang="zh-CN" altLang="en-US" b="1" dirty="0"/>
              <a:t>）</a:t>
            </a:r>
            <a:endParaRPr lang="zh-CN" altLang="en-US" dirty="0"/>
          </a:p>
          <a:p>
            <a:pPr marL="742950" lvl="1" indent="-285750">
              <a:buFont typeface="+mj-lt"/>
              <a:buAutoNum type="arabicPeriod"/>
            </a:pPr>
            <a:r>
              <a:rPr lang="zh-CN" altLang="en-US" dirty="0"/>
              <a:t>部分新一代 </a:t>
            </a:r>
            <a:r>
              <a:rPr lang="en-US" altLang="zh-CN" dirty="0"/>
              <a:t>FPGA </a:t>
            </a:r>
            <a:r>
              <a:rPr lang="zh-CN" altLang="en-US" dirty="0"/>
              <a:t>搭载 </a:t>
            </a:r>
            <a:r>
              <a:rPr lang="en-US" altLang="zh-CN" dirty="0"/>
              <a:t>AIE</a:t>
            </a:r>
            <a:r>
              <a:rPr lang="zh-CN" altLang="en-US" dirty="0"/>
              <a:t>，可提供较高的 </a:t>
            </a:r>
            <a:r>
              <a:rPr lang="en-US" altLang="zh-CN" dirty="0"/>
              <a:t>INT8 </a:t>
            </a:r>
            <a:r>
              <a:rPr lang="zh-CN" altLang="en-US" dirty="0"/>
              <a:t>计算性能。</a:t>
            </a:r>
          </a:p>
          <a:p>
            <a:pPr marL="742950" lvl="1" indent="-285750">
              <a:buFont typeface="+mj-lt"/>
              <a:buAutoNum type="arabicPeriod"/>
            </a:pPr>
            <a:r>
              <a:rPr lang="zh-CN" altLang="en-US" dirty="0"/>
              <a:t>例如 </a:t>
            </a:r>
            <a:r>
              <a:rPr lang="en-US" altLang="zh-CN" dirty="0"/>
              <a:t>AMD VEK280</a:t>
            </a:r>
            <a:r>
              <a:rPr lang="zh-CN" altLang="en-US" dirty="0"/>
              <a:t>，具备 </a:t>
            </a:r>
            <a:r>
              <a:rPr lang="en-US" altLang="zh-CN" dirty="0"/>
              <a:t>228 TOPS INT8</a:t>
            </a:r>
            <a:r>
              <a:rPr lang="zh-CN" altLang="en-US" dirty="0"/>
              <a:t>，但带宽只有 </a:t>
            </a:r>
            <a:r>
              <a:rPr lang="en-US" altLang="zh-CN" dirty="0"/>
              <a:t>86.7 GB/s</a:t>
            </a:r>
            <a:r>
              <a:rPr lang="zh-CN" altLang="en-US" dirty="0"/>
              <a:t>。</a:t>
            </a:r>
          </a:p>
          <a:p>
            <a:pPr>
              <a:buFont typeface="+mj-lt"/>
              <a:buAutoNum type="arabicPeriod"/>
            </a:pPr>
            <a:r>
              <a:rPr lang="zh-CN" altLang="en-US" b="1" dirty="0"/>
              <a:t>带宽瓶颈</a:t>
            </a:r>
            <a:endParaRPr lang="zh-CN" altLang="en-US" dirty="0"/>
          </a:p>
          <a:p>
            <a:pPr marL="742950" lvl="1" indent="-285750">
              <a:buFont typeface="+mj-lt"/>
              <a:buAutoNum type="arabicPeriod"/>
            </a:pPr>
            <a:r>
              <a:rPr lang="zh-CN" altLang="en-US" dirty="0"/>
              <a:t>在 </a:t>
            </a:r>
            <a:r>
              <a:rPr lang="en-US" altLang="zh-CN" dirty="0"/>
              <a:t>VGM </a:t>
            </a:r>
            <a:r>
              <a:rPr lang="zh-CN" altLang="en-US" dirty="0"/>
              <a:t>场景中，若带宽不足，无法支撑高并行度计算单元的持续数据需求，即使峰值算力很高也无法有效提升实际吞吐量。</a:t>
            </a:r>
          </a:p>
          <a:p>
            <a:pPr marL="742950" lvl="1" indent="-285750">
              <a:buFont typeface="+mj-lt"/>
              <a:buAutoNum type="arabicPeriod"/>
            </a:pPr>
            <a:r>
              <a:rPr lang="en-US" altLang="zh-CN" b="1" dirty="0"/>
              <a:t>AIE+HBM</a:t>
            </a:r>
            <a:r>
              <a:rPr lang="zh-CN" altLang="en-US" dirty="0"/>
              <a:t>：如果能在 </a:t>
            </a:r>
            <a:r>
              <a:rPr lang="en-US" altLang="zh-CN" dirty="0"/>
              <a:t>AIE FPGA </a:t>
            </a:r>
            <a:r>
              <a:rPr lang="zh-CN" altLang="en-US" dirty="0"/>
              <a:t>上配备 </a:t>
            </a:r>
            <a:r>
              <a:rPr lang="en-US" altLang="zh-CN" dirty="0"/>
              <a:t>HBM </a:t>
            </a:r>
            <a:r>
              <a:rPr lang="zh-CN" altLang="en-US" dirty="0"/>
              <a:t>这样的高带宽存储，则可进一步提高加速效果。例如在 </a:t>
            </a:r>
            <a:r>
              <a:rPr lang="en-US" altLang="zh-CN" dirty="0"/>
              <a:t>Open-Sora 1.2 </a:t>
            </a:r>
            <a:r>
              <a:rPr lang="zh-CN" altLang="en-US" dirty="0"/>
              <a:t>上可获得 </a:t>
            </a:r>
            <a:r>
              <a:rPr lang="en-US" altLang="zh-CN" dirty="0"/>
              <a:t>5.79 </a:t>
            </a:r>
            <a:r>
              <a:rPr lang="zh-CN" altLang="en-US" dirty="0"/>
              <a:t>倍的加速。</a:t>
            </a:r>
          </a:p>
          <a:p>
            <a:pPr>
              <a:buFont typeface="Arial" panose="020B0604020202020204" pitchFamily="34" charset="0"/>
              <a:buChar char="•"/>
            </a:pPr>
            <a:r>
              <a:rPr lang="en-US" altLang="zh-CN" b="1" dirty="0"/>
              <a:t>DSP-E </a:t>
            </a:r>
            <a:r>
              <a:rPr lang="zh-CN" altLang="en-US" b="1" dirty="0"/>
              <a:t>架构</a:t>
            </a:r>
            <a:r>
              <a:rPr lang="zh-CN" altLang="en-US" dirty="0"/>
              <a:t>：带来 </a:t>
            </a:r>
            <a:r>
              <a:rPr lang="en-US" altLang="zh-CN" dirty="0"/>
              <a:t>1.20 </a:t>
            </a:r>
            <a:r>
              <a:rPr lang="zh-CN" altLang="en-US" dirty="0"/>
              <a:t>倍的硬件性能提升，并通过选择合适的 </a:t>
            </a:r>
            <a:r>
              <a:rPr lang="en-US" altLang="zh-CN" dirty="0"/>
              <a:t>INT8/FP16 </a:t>
            </a:r>
            <a:r>
              <a:rPr lang="zh-CN" altLang="en-US" dirty="0"/>
              <a:t>并行度比进一步将整体等效性能提升至 </a:t>
            </a:r>
            <a:r>
              <a:rPr lang="en-US" altLang="zh-CN" dirty="0"/>
              <a:t>3.26 </a:t>
            </a:r>
            <a:r>
              <a:rPr lang="zh-CN" altLang="en-US" dirty="0"/>
              <a:t>倍。</a:t>
            </a:r>
          </a:p>
          <a:p>
            <a:pPr>
              <a:buFont typeface="Arial" panose="020B0604020202020204" pitchFamily="34" charset="0"/>
              <a:buChar char="•"/>
            </a:pPr>
            <a:r>
              <a:rPr lang="zh-CN" altLang="en-US" b="1" dirty="0"/>
              <a:t>自适应调度</a:t>
            </a:r>
            <a:r>
              <a:rPr lang="zh-CN" altLang="en-US" dirty="0"/>
              <a:t>：在在线稀疏化导致的负载不均衡情况下，可将处理引擎利用率提升约 </a:t>
            </a:r>
            <a:r>
              <a:rPr lang="en-US" altLang="zh-CN" dirty="0"/>
              <a:t>2.75 </a:t>
            </a:r>
            <a:r>
              <a:rPr lang="zh-CN" altLang="en-US" dirty="0"/>
              <a:t>倍，额外开销微乎其微。</a:t>
            </a:r>
          </a:p>
          <a:p>
            <a:pPr>
              <a:buFont typeface="Arial" panose="020B0604020202020204" pitchFamily="34" charset="0"/>
              <a:buChar char="•"/>
            </a:pPr>
            <a:r>
              <a:rPr lang="en-US" altLang="zh-CN" b="1" dirty="0"/>
              <a:t>AIE FPGA </a:t>
            </a:r>
            <a:r>
              <a:rPr lang="zh-CN" altLang="en-US" b="1" dirty="0"/>
              <a:t>讨论</a:t>
            </a:r>
            <a:r>
              <a:rPr lang="zh-CN" altLang="en-US" dirty="0"/>
              <a:t>：即使 </a:t>
            </a:r>
            <a:r>
              <a:rPr lang="en-US" altLang="zh-CN" dirty="0"/>
              <a:t>AIE </a:t>
            </a:r>
            <a:r>
              <a:rPr lang="zh-CN" altLang="en-US" dirty="0"/>
              <a:t>提供了更高的算力，若带宽不足，实际加速效果也有限；若能结合 </a:t>
            </a:r>
            <a:r>
              <a:rPr lang="en-US" altLang="zh-CN" dirty="0"/>
              <a:t>HBM </a:t>
            </a:r>
            <a:r>
              <a:rPr lang="zh-CN" altLang="en-US" dirty="0"/>
              <a:t>等高带宽存储，理论上可获得进一步加速</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772189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SSR </a:t>
            </a:r>
            <a:r>
              <a:rPr lang="zh-CN" altLang="en-US" b="1" dirty="0"/>
              <a:t>加速器</a:t>
            </a:r>
          </a:p>
          <a:p>
            <a:r>
              <a:rPr lang="en-US" altLang="zh-CN" dirty="0"/>
              <a:t>SSR </a:t>
            </a:r>
            <a:r>
              <a:rPr lang="zh-CN" altLang="en-US" dirty="0"/>
              <a:t>主要提出了一种“空间</a:t>
            </a:r>
            <a:r>
              <a:rPr lang="en-US" altLang="zh-CN" dirty="0"/>
              <a:t>-</a:t>
            </a:r>
            <a:r>
              <a:rPr lang="zh-CN" altLang="en-US" dirty="0"/>
              <a:t>序列混合”（</a:t>
            </a:r>
            <a:r>
              <a:rPr lang="en-US" altLang="zh-CN" dirty="0"/>
              <a:t>spatial-sequential hybrid</a:t>
            </a:r>
            <a:r>
              <a:rPr lang="zh-CN" altLang="en-US" dirty="0"/>
              <a:t>）架构，用于加速 </a:t>
            </a:r>
            <a:r>
              <a:rPr lang="en-US" altLang="zh-CN" dirty="0" err="1"/>
              <a:t>ViT</a:t>
            </a:r>
            <a:r>
              <a:rPr lang="en-US" altLang="zh-CN" dirty="0"/>
              <a:t> </a:t>
            </a:r>
            <a:r>
              <a:rPr lang="zh-CN" altLang="en-US" dirty="0"/>
              <a:t>模型，并可在 </a:t>
            </a:r>
            <a:r>
              <a:rPr lang="en-US" altLang="zh-CN" dirty="0"/>
              <a:t>AIE</a:t>
            </a:r>
            <a:r>
              <a:rPr lang="zh-CN" altLang="en-US" dirty="0"/>
              <a:t>（</a:t>
            </a:r>
            <a:r>
              <a:rPr lang="en-US" altLang="zh-CN" dirty="0"/>
              <a:t>AI </a:t>
            </a:r>
            <a:r>
              <a:rPr lang="zh-CN" altLang="en-US" dirty="0"/>
              <a:t>引擎）和 </a:t>
            </a:r>
            <a:r>
              <a:rPr lang="en-US" altLang="zh-CN" dirty="0"/>
              <a:t>FPGA </a:t>
            </a:r>
            <a:r>
              <a:rPr lang="zh-CN" altLang="en-US" dirty="0"/>
              <a:t>上实现高性能运行。其主要特点包括：</a:t>
            </a:r>
          </a:p>
          <a:p>
            <a:pPr>
              <a:buFont typeface="Arial" panose="020B0604020202020204" pitchFamily="34" charset="0"/>
              <a:buChar char="•"/>
            </a:pPr>
            <a:r>
              <a:rPr lang="zh-CN" altLang="en-US" b="1" dirty="0"/>
              <a:t>空间</a:t>
            </a:r>
            <a:r>
              <a:rPr lang="en-US" altLang="zh-CN" b="1" dirty="0"/>
              <a:t>-</a:t>
            </a:r>
            <a:r>
              <a:rPr lang="zh-CN" altLang="en-US" b="1" dirty="0"/>
              <a:t>序列混合架构</a:t>
            </a:r>
            <a:br>
              <a:rPr lang="zh-CN" altLang="en-US" dirty="0"/>
            </a:br>
            <a:r>
              <a:rPr lang="zh-CN" altLang="en-US" dirty="0"/>
              <a:t>这种架构设计充分考虑了 </a:t>
            </a:r>
            <a:r>
              <a:rPr lang="en-US" altLang="zh-CN" dirty="0" err="1"/>
              <a:t>ViT</a:t>
            </a:r>
            <a:r>
              <a:rPr lang="en-US" altLang="zh-CN" dirty="0"/>
              <a:t> </a:t>
            </a:r>
            <a:r>
              <a:rPr lang="zh-CN" altLang="en-US" dirty="0"/>
              <a:t>模型中不同计算模块的特点。空间处理部分侧重于并行化计算（如矩阵乘法等），利用硬件资源并行处理多个数据；而序列处理部分则针对那些必须依次执行的计算任务，通过流水线或其他序列化处理方法提高计算效率。两者结合使得整个系统既能发挥大规模并行计算的优势，又能高效处理序列化任务，最大限度降低瓶颈。</a:t>
            </a:r>
          </a:p>
          <a:p>
            <a:pPr>
              <a:buFont typeface="Arial" panose="020B0604020202020204" pitchFamily="34" charset="0"/>
              <a:buChar char="•"/>
            </a:pPr>
            <a:r>
              <a:rPr lang="zh-CN" altLang="en-US" b="1" dirty="0"/>
              <a:t>在 </a:t>
            </a:r>
            <a:r>
              <a:rPr lang="en-US" altLang="zh-CN" b="1" dirty="0"/>
              <a:t>AIE </a:t>
            </a:r>
            <a:r>
              <a:rPr lang="zh-CN" altLang="en-US" b="1" dirty="0"/>
              <a:t>和 </a:t>
            </a:r>
            <a:r>
              <a:rPr lang="en-US" altLang="zh-CN" b="1" dirty="0"/>
              <a:t>FPGA </a:t>
            </a:r>
            <a:r>
              <a:rPr lang="zh-CN" altLang="en-US" b="1" dirty="0"/>
              <a:t>上的加速</a:t>
            </a:r>
            <a:br>
              <a:rPr lang="zh-CN" altLang="en-US" dirty="0"/>
            </a:br>
            <a:r>
              <a:rPr lang="en-US" altLang="zh-CN" dirty="0"/>
              <a:t>SSR </a:t>
            </a:r>
            <a:r>
              <a:rPr lang="zh-CN" altLang="en-US" dirty="0"/>
              <a:t>架构不仅适用于传统的 </a:t>
            </a:r>
            <a:r>
              <a:rPr lang="en-US" altLang="zh-CN" dirty="0"/>
              <a:t>FPGA </a:t>
            </a:r>
            <a:r>
              <a:rPr lang="zh-CN" altLang="en-US" dirty="0"/>
              <a:t>加速器设计，也能在 </a:t>
            </a:r>
            <a:r>
              <a:rPr lang="en-US" altLang="zh-CN" dirty="0"/>
              <a:t>AIE </a:t>
            </a:r>
            <a:r>
              <a:rPr lang="zh-CN" altLang="en-US" dirty="0"/>
              <a:t>上高效运行。</a:t>
            </a:r>
            <a:r>
              <a:rPr lang="en-US" altLang="zh-CN" dirty="0"/>
              <a:t>AIE </a:t>
            </a:r>
            <a:r>
              <a:rPr lang="zh-CN" altLang="en-US" dirty="0"/>
              <a:t>作为专为人工智能任务设计的计算引擎，其优化的硬件资源和架构设计可以进一步提升模型推理的速度。</a:t>
            </a:r>
            <a:r>
              <a:rPr lang="en-US" altLang="zh-CN" dirty="0"/>
              <a:t>SSR </a:t>
            </a:r>
            <a:r>
              <a:rPr lang="zh-CN" altLang="en-US" dirty="0"/>
              <a:t>在 </a:t>
            </a:r>
            <a:r>
              <a:rPr lang="en-US" altLang="zh-CN" dirty="0"/>
              <a:t>AMD VCK190 </a:t>
            </a:r>
            <a:r>
              <a:rPr lang="zh-CN" altLang="en-US" dirty="0"/>
              <a:t>开发板上实现了 </a:t>
            </a:r>
            <a:r>
              <a:rPr lang="en-US" altLang="zh-CN" dirty="0"/>
              <a:t>8.21 </a:t>
            </a:r>
            <a:r>
              <a:rPr lang="zh-CN" altLang="en-US" dirty="0"/>
              <a:t>到 </a:t>
            </a:r>
            <a:r>
              <a:rPr lang="en-US" altLang="zh-CN" dirty="0"/>
              <a:t>10.90 TOPS </a:t>
            </a:r>
            <a:r>
              <a:rPr lang="zh-CN" altLang="en-US" dirty="0"/>
              <a:t>的高吞吐量，这表明该架构在同时兼顾灵活性和高性能方面具有较大优势。</a:t>
            </a:r>
          </a:p>
          <a:p>
            <a:pPr>
              <a:buFont typeface="Arial" panose="020B0604020202020204" pitchFamily="34" charset="0"/>
              <a:buChar char="•"/>
            </a:pPr>
            <a:r>
              <a:rPr lang="zh-CN" altLang="en-US" b="1" dirty="0"/>
              <a:t>高吞吐量</a:t>
            </a:r>
            <a:br>
              <a:rPr lang="zh-CN" altLang="en-US" dirty="0"/>
            </a:br>
            <a:r>
              <a:rPr lang="zh-CN" altLang="en-US" dirty="0"/>
              <a:t>通过合理的硬件映射和调度，</a:t>
            </a:r>
            <a:r>
              <a:rPr lang="en-US" altLang="zh-CN" dirty="0"/>
              <a:t>SSR </a:t>
            </a:r>
            <a:r>
              <a:rPr lang="zh-CN" altLang="en-US" dirty="0"/>
              <a:t>能够充分利用 </a:t>
            </a:r>
            <a:r>
              <a:rPr lang="en-US" altLang="zh-CN" dirty="0"/>
              <a:t>AIE </a:t>
            </a:r>
            <a:r>
              <a:rPr lang="zh-CN" altLang="en-US" dirty="0"/>
              <a:t>与 </a:t>
            </a:r>
            <a:r>
              <a:rPr lang="en-US" altLang="zh-CN" dirty="0"/>
              <a:t>FPGA </a:t>
            </a:r>
            <a:r>
              <a:rPr lang="zh-CN" altLang="en-US" dirty="0"/>
              <a:t>上的硬件资源，实现较高的运算吞吐量。这对于实际应用中要求高实时性、高并发性的任务尤为关键。</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3455867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8366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3774453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ACFA243-0633-4A1E-85D7-97CB3123F94D}"/>
              </a:ext>
            </a:extLst>
          </p:cNvPr>
          <p:cNvSpPr/>
          <p:nvPr userDrawn="1"/>
        </p:nvSpPr>
        <p:spPr>
          <a:xfrm flipV="1">
            <a:off x="0" y="850900"/>
            <a:ext cx="9150350" cy="133350"/>
          </a:xfrm>
          <a:prstGeom prst="rect">
            <a:avLst/>
          </a:prstGeom>
          <a:gradFill>
            <a:gsLst>
              <a:gs pos="0">
                <a:schemeClr val="tx1">
                  <a:lumMod val="50000"/>
                  <a:lumOff val="50000"/>
                  <a:alpha val="0"/>
                </a:schemeClr>
              </a:gs>
              <a:gs pos="100000">
                <a:schemeClr val="tx1">
                  <a:lumMod val="50000"/>
                  <a:lumOff val="50000"/>
                  <a:alpha val="5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矩形 7">
            <a:extLst>
              <a:ext uri="{FF2B5EF4-FFF2-40B4-BE49-F238E27FC236}">
                <a16:creationId xmlns:a16="http://schemas.microsoft.com/office/drawing/2014/main" id="{F7A603F9-61D9-45A9-BAA2-2BAC82BDB265}"/>
              </a:ext>
            </a:extLst>
          </p:cNvPr>
          <p:cNvSpPr/>
          <p:nvPr userDrawn="1"/>
        </p:nvSpPr>
        <p:spPr>
          <a:xfrm flipV="1">
            <a:off x="0" y="0"/>
            <a:ext cx="9150350" cy="857250"/>
          </a:xfrm>
          <a:prstGeom prst="rect">
            <a:avLst/>
          </a:pr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9" name="直接连接符 8">
            <a:extLst>
              <a:ext uri="{FF2B5EF4-FFF2-40B4-BE49-F238E27FC236}">
                <a16:creationId xmlns:a16="http://schemas.microsoft.com/office/drawing/2014/main" id="{FD86ADF9-F3CD-44B0-B28F-92E59F3B9D86}"/>
              </a:ext>
            </a:extLst>
          </p:cNvPr>
          <p:cNvCxnSpPr>
            <a:cxnSpLocks/>
          </p:cNvCxnSpPr>
          <p:nvPr userDrawn="1"/>
        </p:nvCxnSpPr>
        <p:spPr>
          <a:xfrm>
            <a:off x="0" y="857250"/>
            <a:ext cx="9150350"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F0DA3D75-FABF-4E49-B388-F2B0D7AC0C15}"/>
              </a:ext>
            </a:extLst>
          </p:cNvPr>
          <p:cNvCxnSpPr>
            <a:cxnSpLocks/>
          </p:cNvCxnSpPr>
          <p:nvPr userDrawn="1"/>
        </p:nvCxnSpPr>
        <p:spPr>
          <a:xfrm>
            <a:off x="514350" y="857250"/>
            <a:ext cx="8636000"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37F7AE1-9FCD-4962-B186-87506537988B}"/>
              </a:ext>
            </a:extLst>
          </p:cNvPr>
          <p:cNvCxnSpPr>
            <a:cxnSpLocks/>
          </p:cNvCxnSpPr>
          <p:nvPr userDrawn="1"/>
        </p:nvCxnSpPr>
        <p:spPr>
          <a:xfrm>
            <a:off x="0" y="857250"/>
            <a:ext cx="457200" cy="0"/>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B3B82F22-7D2D-47CF-A4CD-0CBA15C5BFE2}"/>
              </a:ext>
            </a:extLst>
          </p:cNvPr>
          <p:cNvSpPr txBox="1"/>
          <p:nvPr userDrawn="1"/>
        </p:nvSpPr>
        <p:spPr>
          <a:xfrm>
            <a:off x="8641080" y="6515854"/>
            <a:ext cx="463550" cy="276999"/>
          </a:xfrm>
          <a:prstGeom prst="rect">
            <a:avLst/>
          </a:prstGeom>
          <a:noFill/>
        </p:spPr>
        <p:txBody>
          <a:bodyPr wrap="square">
            <a:spAutoFit/>
          </a:bodyPr>
          <a:lstStyle/>
          <a:p>
            <a:pPr algn="r"/>
            <a:fld id="{D6D57904-7FC0-41E2-8B65-E7FBA2E33408}" type="slidenum">
              <a:rPr lang="zh-CN" altLang="en-US" sz="1200" smtClean="0">
                <a:solidFill>
                  <a:schemeClr val="accent2"/>
                </a:solidFill>
              </a:rPr>
              <a:pPr algn="r"/>
              <a:t>‹#›</a:t>
            </a:fld>
            <a:endParaRPr lang="zh-CN" altLang="en-US" sz="1200" dirty="0">
              <a:solidFill>
                <a:schemeClr val="accent2"/>
              </a:solidFill>
            </a:endParaRPr>
          </a:p>
        </p:txBody>
      </p:sp>
    </p:spTree>
    <p:extLst>
      <p:ext uri="{BB962C8B-B14F-4D97-AF65-F5344CB8AC3E}">
        <p14:creationId xmlns:p14="http://schemas.microsoft.com/office/powerpoint/2010/main" val="2671103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14" name="图片 13" descr="模糊的照片&#10;&#10;描述已自动生成">
            <a:extLst>
              <a:ext uri="{FF2B5EF4-FFF2-40B4-BE49-F238E27FC236}">
                <a16:creationId xmlns:a16="http://schemas.microsoft.com/office/drawing/2014/main" id="{FC9C0168-AC7B-48DD-B788-A97A4D1E0277}"/>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flipV="1">
            <a:off x="0" y="0"/>
            <a:ext cx="9144000" cy="1343025"/>
          </a:xfrm>
          <a:prstGeom prst="rect">
            <a:avLst/>
          </a:prstGeom>
        </p:spPr>
      </p:pic>
      <p:sp>
        <p:nvSpPr>
          <p:cNvPr id="34" name="文本框 33">
            <a:extLst>
              <a:ext uri="{FF2B5EF4-FFF2-40B4-BE49-F238E27FC236}">
                <a16:creationId xmlns:a16="http://schemas.microsoft.com/office/drawing/2014/main" id="{6E329051-3FAC-421B-BBE1-5DA684C56124}"/>
              </a:ext>
            </a:extLst>
          </p:cNvPr>
          <p:cNvSpPr txBox="1"/>
          <p:nvPr userDrawn="1"/>
        </p:nvSpPr>
        <p:spPr>
          <a:xfrm>
            <a:off x="8343900" y="6547604"/>
            <a:ext cx="767080" cy="276999"/>
          </a:xfrm>
          <a:prstGeom prst="rect">
            <a:avLst/>
          </a:prstGeom>
          <a:noFill/>
        </p:spPr>
        <p:txBody>
          <a:bodyPr wrap="square">
            <a:spAutoFit/>
          </a:bodyPr>
          <a:lstStyle/>
          <a:p>
            <a:pPr algn="r"/>
            <a:fld id="{D6D57904-7FC0-41E2-8B65-E7FBA2E33408}" type="slidenum">
              <a:rPr lang="zh-CN" altLang="en-US" sz="1200" smtClean="0">
                <a:solidFill>
                  <a:schemeClr val="tx1">
                    <a:lumMod val="65000"/>
                    <a:lumOff val="35000"/>
                  </a:schemeClr>
                </a:solidFill>
              </a:rPr>
              <a:pPr algn="r"/>
              <a:t>‹#›</a:t>
            </a:fld>
            <a:endParaRPr lang="en-US" altLang="zh-CN" sz="1200" dirty="0">
              <a:solidFill>
                <a:schemeClr val="tx1">
                  <a:lumMod val="65000"/>
                  <a:lumOff val="35000"/>
                </a:schemeClr>
              </a:solidFill>
            </a:endParaRPr>
          </a:p>
        </p:txBody>
      </p:sp>
      <p:sp>
        <p:nvSpPr>
          <p:cNvPr id="18" name="矩形 17">
            <a:extLst>
              <a:ext uri="{FF2B5EF4-FFF2-40B4-BE49-F238E27FC236}">
                <a16:creationId xmlns:a16="http://schemas.microsoft.com/office/drawing/2014/main" id="{2FB2C6CD-3836-49CF-AA23-FC49274117E9}"/>
              </a:ext>
            </a:extLst>
          </p:cNvPr>
          <p:cNvSpPr/>
          <p:nvPr userDrawn="1"/>
        </p:nvSpPr>
        <p:spPr>
          <a:xfrm>
            <a:off x="1866899" y="246068"/>
            <a:ext cx="7277101" cy="482600"/>
          </a:xfrm>
          <a:prstGeom prst="rect">
            <a:avLst/>
          </a:prstGeom>
          <a:gradFill>
            <a:gsLst>
              <a:gs pos="100000">
                <a:schemeClr val="bg1">
                  <a:alpha val="0"/>
                </a:schemeClr>
              </a:gs>
              <a:gs pos="45000">
                <a:srgbClr val="0070C0">
                  <a:alpha val="2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E2E3F422-EA53-4A13-ACD2-F899EB309DC7}"/>
              </a:ext>
            </a:extLst>
          </p:cNvPr>
          <p:cNvGrpSpPr/>
          <p:nvPr userDrawn="1"/>
        </p:nvGrpSpPr>
        <p:grpSpPr>
          <a:xfrm>
            <a:off x="5080" y="256231"/>
            <a:ext cx="9138918" cy="482603"/>
            <a:chOff x="5080" y="310182"/>
            <a:chExt cx="9138918" cy="461668"/>
          </a:xfrm>
        </p:grpSpPr>
        <p:sp>
          <p:nvSpPr>
            <p:cNvPr id="20" name="任意多边形: 形状 19">
              <a:extLst>
                <a:ext uri="{FF2B5EF4-FFF2-40B4-BE49-F238E27FC236}">
                  <a16:creationId xmlns:a16="http://schemas.microsoft.com/office/drawing/2014/main" id="{7ADE69C2-3FEA-466B-B9AE-5EAEC5806FE2}"/>
                </a:ext>
              </a:extLst>
            </p:cNvPr>
            <p:cNvSpPr/>
            <p:nvPr userDrawn="1"/>
          </p:nvSpPr>
          <p:spPr>
            <a:xfrm flipH="1" flipV="1">
              <a:off x="1866899" y="310182"/>
              <a:ext cx="7277099" cy="461665"/>
            </a:xfrm>
            <a:custGeom>
              <a:avLst/>
              <a:gdLst>
                <a:gd name="connsiteX0" fmla="*/ 6924824 w 7160887"/>
                <a:gd name="connsiteY0" fmla="*/ 461665 h 461665"/>
                <a:gd name="connsiteX1" fmla="*/ 6546502 w 7160887"/>
                <a:gd name="connsiteY1" fmla="*/ 461665 h 461665"/>
                <a:gd name="connsiteX2" fmla="*/ 6517674 w 7160887"/>
                <a:gd name="connsiteY2" fmla="*/ 461665 h 461665"/>
                <a:gd name="connsiteX3" fmla="*/ 6383973 w 7160887"/>
                <a:gd name="connsiteY3" fmla="*/ 461665 h 461665"/>
                <a:gd name="connsiteX4" fmla="*/ 6250266 w 7160887"/>
                <a:gd name="connsiteY4" fmla="*/ 461665 h 461665"/>
                <a:gd name="connsiteX5" fmla="*/ 6221438 w 7160887"/>
                <a:gd name="connsiteY5" fmla="*/ 461665 h 461665"/>
                <a:gd name="connsiteX6" fmla="*/ 6087737 w 7160887"/>
                <a:gd name="connsiteY6" fmla="*/ 461665 h 461665"/>
                <a:gd name="connsiteX7" fmla="*/ 5843116 w 7160887"/>
                <a:gd name="connsiteY7" fmla="*/ 461665 h 461665"/>
                <a:gd name="connsiteX8" fmla="*/ 5721138 w 7160887"/>
                <a:gd name="connsiteY8" fmla="*/ 461665 h 461665"/>
                <a:gd name="connsiteX9" fmla="*/ 5709415 w 7160887"/>
                <a:gd name="connsiteY9" fmla="*/ 461665 h 461665"/>
                <a:gd name="connsiteX10" fmla="*/ 5680587 w 7160887"/>
                <a:gd name="connsiteY10" fmla="*/ 461665 h 461665"/>
                <a:gd name="connsiteX11" fmla="*/ 5546880 w 7160887"/>
                <a:gd name="connsiteY11" fmla="*/ 461665 h 461665"/>
                <a:gd name="connsiteX12" fmla="*/ 5424902 w 7160887"/>
                <a:gd name="connsiteY12" fmla="*/ 461665 h 461665"/>
                <a:gd name="connsiteX13" fmla="*/ 5413179 w 7160887"/>
                <a:gd name="connsiteY13" fmla="*/ 461665 h 461665"/>
                <a:gd name="connsiteX14" fmla="*/ 5384351 w 7160887"/>
                <a:gd name="connsiteY14" fmla="*/ 461665 h 461665"/>
                <a:gd name="connsiteX15" fmla="*/ 5322280 w 7160887"/>
                <a:gd name="connsiteY15" fmla="*/ 461665 h 461665"/>
                <a:gd name="connsiteX16" fmla="*/ 5317173 w 7160887"/>
                <a:gd name="connsiteY16" fmla="*/ 461665 h 461665"/>
                <a:gd name="connsiteX17" fmla="*/ 5046580 w 7160887"/>
                <a:gd name="connsiteY17" fmla="*/ 461665 h 461665"/>
                <a:gd name="connsiteX18" fmla="*/ 5026044 w 7160887"/>
                <a:gd name="connsiteY18" fmla="*/ 461665 h 461665"/>
                <a:gd name="connsiteX19" fmla="*/ 5020937 w 7160887"/>
                <a:gd name="connsiteY19" fmla="*/ 461665 h 461665"/>
                <a:gd name="connsiteX20" fmla="*/ 5017752 w 7160887"/>
                <a:gd name="connsiteY20" fmla="*/ 461665 h 461665"/>
                <a:gd name="connsiteX21" fmla="*/ 5006029 w 7160887"/>
                <a:gd name="connsiteY21" fmla="*/ 461665 h 461665"/>
                <a:gd name="connsiteX22" fmla="*/ 4884051 w 7160887"/>
                <a:gd name="connsiteY22" fmla="*/ 461665 h 461665"/>
                <a:gd name="connsiteX23" fmla="*/ 4750344 w 7160887"/>
                <a:gd name="connsiteY23" fmla="*/ 461665 h 461665"/>
                <a:gd name="connsiteX24" fmla="*/ 4721516 w 7160887"/>
                <a:gd name="connsiteY24" fmla="*/ 461665 h 461665"/>
                <a:gd name="connsiteX25" fmla="*/ 4709793 w 7160887"/>
                <a:gd name="connsiteY25" fmla="*/ 461665 h 461665"/>
                <a:gd name="connsiteX26" fmla="*/ 4647722 w 7160887"/>
                <a:gd name="connsiteY26" fmla="*/ 461665 h 461665"/>
                <a:gd name="connsiteX27" fmla="*/ 4642615 w 7160887"/>
                <a:gd name="connsiteY27" fmla="*/ 461665 h 461665"/>
                <a:gd name="connsiteX28" fmla="*/ 4618894 w 7160887"/>
                <a:gd name="connsiteY28" fmla="*/ 461665 h 461665"/>
                <a:gd name="connsiteX29" fmla="*/ 4613787 w 7160887"/>
                <a:gd name="connsiteY29" fmla="*/ 461665 h 461665"/>
                <a:gd name="connsiteX30" fmla="*/ 4587815 w 7160887"/>
                <a:gd name="connsiteY30" fmla="*/ 461665 h 461665"/>
                <a:gd name="connsiteX31" fmla="*/ 4443126 w 7160887"/>
                <a:gd name="connsiteY31" fmla="*/ 461665 h 461665"/>
                <a:gd name="connsiteX32" fmla="*/ 4351486 w 7160887"/>
                <a:gd name="connsiteY32" fmla="*/ 461665 h 461665"/>
                <a:gd name="connsiteX33" fmla="*/ 4346379 w 7160887"/>
                <a:gd name="connsiteY33" fmla="*/ 461665 h 461665"/>
                <a:gd name="connsiteX34" fmla="*/ 4343194 w 7160887"/>
                <a:gd name="connsiteY34" fmla="*/ 461665 h 461665"/>
                <a:gd name="connsiteX35" fmla="*/ 4322658 w 7160887"/>
                <a:gd name="connsiteY35" fmla="*/ 461665 h 461665"/>
                <a:gd name="connsiteX36" fmla="*/ 4317551 w 7160887"/>
                <a:gd name="connsiteY36" fmla="*/ 461665 h 461665"/>
                <a:gd name="connsiteX37" fmla="*/ 4209493 w 7160887"/>
                <a:gd name="connsiteY37" fmla="*/ 461665 h 461665"/>
                <a:gd name="connsiteX38" fmla="*/ 4180665 w 7160887"/>
                <a:gd name="connsiteY38" fmla="*/ 461665 h 461665"/>
                <a:gd name="connsiteX39" fmla="*/ 4146890 w 7160887"/>
                <a:gd name="connsiteY39" fmla="*/ 461665 h 461665"/>
                <a:gd name="connsiteX40" fmla="*/ 4046958 w 7160887"/>
                <a:gd name="connsiteY40" fmla="*/ 461665 h 461665"/>
                <a:gd name="connsiteX41" fmla="*/ 3944336 w 7160887"/>
                <a:gd name="connsiteY41" fmla="*/ 461665 h 461665"/>
                <a:gd name="connsiteX42" fmla="*/ 3939229 w 7160887"/>
                <a:gd name="connsiteY42" fmla="*/ 461665 h 461665"/>
                <a:gd name="connsiteX43" fmla="*/ 3913257 w 7160887"/>
                <a:gd name="connsiteY43" fmla="*/ 461665 h 461665"/>
                <a:gd name="connsiteX44" fmla="*/ 3884429 w 7160887"/>
                <a:gd name="connsiteY44" fmla="*/ 461665 h 461665"/>
                <a:gd name="connsiteX45" fmla="*/ 3822358 w 7160887"/>
                <a:gd name="connsiteY45" fmla="*/ 461665 h 461665"/>
                <a:gd name="connsiteX46" fmla="*/ 3817251 w 7160887"/>
                <a:gd name="connsiteY46" fmla="*/ 461665 h 461665"/>
                <a:gd name="connsiteX47" fmla="*/ 3768568 w 7160887"/>
                <a:gd name="connsiteY47" fmla="*/ 461665 h 461665"/>
                <a:gd name="connsiteX48" fmla="*/ 3739740 w 7160887"/>
                <a:gd name="connsiteY48" fmla="*/ 461665 h 461665"/>
                <a:gd name="connsiteX49" fmla="*/ 3648100 w 7160887"/>
                <a:gd name="connsiteY49" fmla="*/ 461665 h 461665"/>
                <a:gd name="connsiteX50" fmla="*/ 3642993 w 7160887"/>
                <a:gd name="connsiteY50" fmla="*/ 461665 h 461665"/>
                <a:gd name="connsiteX51" fmla="*/ 3606039 w 7160887"/>
                <a:gd name="connsiteY51" fmla="*/ 461665 h 461665"/>
                <a:gd name="connsiteX52" fmla="*/ 3526122 w 7160887"/>
                <a:gd name="connsiteY52" fmla="*/ 461665 h 461665"/>
                <a:gd name="connsiteX53" fmla="*/ 3521015 w 7160887"/>
                <a:gd name="connsiteY53" fmla="*/ 461665 h 461665"/>
                <a:gd name="connsiteX54" fmla="*/ 3506107 w 7160887"/>
                <a:gd name="connsiteY54" fmla="*/ 461665 h 461665"/>
                <a:gd name="connsiteX55" fmla="*/ 3472332 w 7160887"/>
                <a:gd name="connsiteY55" fmla="*/ 461665 h 461665"/>
                <a:gd name="connsiteX56" fmla="*/ 3443504 w 7160887"/>
                <a:gd name="connsiteY56" fmla="*/ 461665 h 461665"/>
                <a:gd name="connsiteX57" fmla="*/ 3309803 w 7160887"/>
                <a:gd name="connsiteY57" fmla="*/ 461665 h 461665"/>
                <a:gd name="connsiteX58" fmla="*/ 3281831 w 7160887"/>
                <a:gd name="connsiteY58" fmla="*/ 461665 h 461665"/>
                <a:gd name="connsiteX59" fmla="*/ 3209871 w 7160887"/>
                <a:gd name="connsiteY59" fmla="*/ 461665 h 461665"/>
                <a:gd name="connsiteX60" fmla="*/ 3147800 w 7160887"/>
                <a:gd name="connsiteY60" fmla="*/ 461665 h 461665"/>
                <a:gd name="connsiteX61" fmla="*/ 3142693 w 7160887"/>
                <a:gd name="connsiteY61" fmla="*/ 461665 h 461665"/>
                <a:gd name="connsiteX62" fmla="*/ 3118972 w 7160887"/>
                <a:gd name="connsiteY62" fmla="*/ 461665 h 461665"/>
                <a:gd name="connsiteX63" fmla="*/ 3113865 w 7160887"/>
                <a:gd name="connsiteY63" fmla="*/ 461665 h 461665"/>
                <a:gd name="connsiteX64" fmla="*/ 3065182 w 7160887"/>
                <a:gd name="connsiteY64" fmla="*/ 461665 h 461665"/>
                <a:gd name="connsiteX65" fmla="*/ 2985595 w 7160887"/>
                <a:gd name="connsiteY65" fmla="*/ 461665 h 461665"/>
                <a:gd name="connsiteX66" fmla="*/ 2931481 w 7160887"/>
                <a:gd name="connsiteY66" fmla="*/ 461665 h 461665"/>
                <a:gd name="connsiteX67" fmla="*/ 2902653 w 7160887"/>
                <a:gd name="connsiteY67" fmla="*/ 461665 h 461665"/>
                <a:gd name="connsiteX68" fmla="*/ 2851564 w 7160887"/>
                <a:gd name="connsiteY68" fmla="*/ 461665 h 461665"/>
                <a:gd name="connsiteX69" fmla="*/ 2846457 w 7160887"/>
                <a:gd name="connsiteY69" fmla="*/ 461665 h 461665"/>
                <a:gd name="connsiteX70" fmla="*/ 2822736 w 7160887"/>
                <a:gd name="connsiteY70" fmla="*/ 461665 h 461665"/>
                <a:gd name="connsiteX71" fmla="*/ 2817629 w 7160887"/>
                <a:gd name="connsiteY71" fmla="*/ 461665 h 461665"/>
                <a:gd name="connsiteX72" fmla="*/ 2768946 w 7160887"/>
                <a:gd name="connsiteY72" fmla="*/ 461665 h 461665"/>
                <a:gd name="connsiteX73" fmla="*/ 2635245 w 7160887"/>
                <a:gd name="connsiteY73" fmla="*/ 461665 h 461665"/>
                <a:gd name="connsiteX74" fmla="*/ 2607273 w 7160887"/>
                <a:gd name="connsiteY74" fmla="*/ 461665 h 461665"/>
                <a:gd name="connsiteX75" fmla="*/ 2606417 w 7160887"/>
                <a:gd name="connsiteY75" fmla="*/ 461665 h 461665"/>
                <a:gd name="connsiteX76" fmla="*/ 2578445 w 7160887"/>
                <a:gd name="connsiteY76" fmla="*/ 461665 h 461665"/>
                <a:gd name="connsiteX77" fmla="*/ 2544346 w 7160887"/>
                <a:gd name="connsiteY77" fmla="*/ 461665 h 461665"/>
                <a:gd name="connsiteX78" fmla="*/ 2539239 w 7160887"/>
                <a:gd name="connsiteY78" fmla="*/ 461665 h 461665"/>
                <a:gd name="connsiteX79" fmla="*/ 2444744 w 7160887"/>
                <a:gd name="connsiteY79" fmla="*/ 461665 h 461665"/>
                <a:gd name="connsiteX80" fmla="*/ 2444414 w 7160887"/>
                <a:gd name="connsiteY80" fmla="*/ 461665 h 461665"/>
                <a:gd name="connsiteX81" fmla="*/ 2439307 w 7160887"/>
                <a:gd name="connsiteY81" fmla="*/ 461665 h 461665"/>
                <a:gd name="connsiteX82" fmla="*/ 2311037 w 7160887"/>
                <a:gd name="connsiteY82" fmla="*/ 461665 h 461665"/>
                <a:gd name="connsiteX83" fmla="*/ 2282209 w 7160887"/>
                <a:gd name="connsiteY83" fmla="*/ 461665 h 461665"/>
                <a:gd name="connsiteX84" fmla="*/ 2248110 w 7160887"/>
                <a:gd name="connsiteY84" fmla="*/ 461665 h 461665"/>
                <a:gd name="connsiteX85" fmla="*/ 2243003 w 7160887"/>
                <a:gd name="connsiteY85" fmla="*/ 461665 h 461665"/>
                <a:gd name="connsiteX86" fmla="*/ 2228095 w 7160887"/>
                <a:gd name="connsiteY86" fmla="*/ 461665 h 461665"/>
                <a:gd name="connsiteX87" fmla="*/ 2148508 w 7160887"/>
                <a:gd name="connsiteY87" fmla="*/ 461665 h 461665"/>
                <a:gd name="connsiteX88" fmla="*/ 2148178 w 7160887"/>
                <a:gd name="connsiteY88" fmla="*/ 461665 h 461665"/>
                <a:gd name="connsiteX89" fmla="*/ 2143071 w 7160887"/>
                <a:gd name="connsiteY89" fmla="*/ 461665 h 461665"/>
                <a:gd name="connsiteX90" fmla="*/ 1931859 w 7160887"/>
                <a:gd name="connsiteY90" fmla="*/ 461665 h 461665"/>
                <a:gd name="connsiteX91" fmla="*/ 1903887 w 7160887"/>
                <a:gd name="connsiteY91" fmla="*/ 461665 h 461665"/>
                <a:gd name="connsiteX92" fmla="*/ 1869788 w 7160887"/>
                <a:gd name="connsiteY92" fmla="*/ 461665 h 461665"/>
                <a:gd name="connsiteX93" fmla="*/ 1864681 w 7160887"/>
                <a:gd name="connsiteY93" fmla="*/ 461665 h 461665"/>
                <a:gd name="connsiteX94" fmla="*/ 1840960 w 7160887"/>
                <a:gd name="connsiteY94" fmla="*/ 461665 h 461665"/>
                <a:gd name="connsiteX95" fmla="*/ 1835853 w 7160887"/>
                <a:gd name="connsiteY95" fmla="*/ 461665 h 461665"/>
                <a:gd name="connsiteX96" fmla="*/ 1770186 w 7160887"/>
                <a:gd name="connsiteY96" fmla="*/ 461665 h 461665"/>
                <a:gd name="connsiteX97" fmla="*/ 1741358 w 7160887"/>
                <a:gd name="connsiteY97" fmla="*/ 461665 h 461665"/>
                <a:gd name="connsiteX98" fmla="*/ 1607651 w 7160887"/>
                <a:gd name="connsiteY98" fmla="*/ 461665 h 461665"/>
                <a:gd name="connsiteX99" fmla="*/ 1573552 w 7160887"/>
                <a:gd name="connsiteY99" fmla="*/ 461665 h 461665"/>
                <a:gd name="connsiteX100" fmla="*/ 1568445 w 7160887"/>
                <a:gd name="connsiteY100" fmla="*/ 461665 h 461665"/>
                <a:gd name="connsiteX101" fmla="*/ 1544724 w 7160887"/>
                <a:gd name="connsiteY101" fmla="*/ 461665 h 461665"/>
                <a:gd name="connsiteX102" fmla="*/ 1539617 w 7160887"/>
                <a:gd name="connsiteY102" fmla="*/ 461665 h 461665"/>
                <a:gd name="connsiteX103" fmla="*/ 1473950 w 7160887"/>
                <a:gd name="connsiteY103" fmla="*/ 461665 h 461665"/>
                <a:gd name="connsiteX104" fmla="*/ 1445122 w 7160887"/>
                <a:gd name="connsiteY104" fmla="*/ 461665 h 461665"/>
                <a:gd name="connsiteX105" fmla="*/ 1383051 w 7160887"/>
                <a:gd name="connsiteY105" fmla="*/ 461665 h 461665"/>
                <a:gd name="connsiteX106" fmla="*/ 1377944 w 7160887"/>
                <a:gd name="connsiteY106" fmla="*/ 461665 h 461665"/>
                <a:gd name="connsiteX107" fmla="*/ 1166402 w 7160887"/>
                <a:gd name="connsiteY107" fmla="*/ 461665 h 461665"/>
                <a:gd name="connsiteX108" fmla="*/ 1161295 w 7160887"/>
                <a:gd name="connsiteY108" fmla="*/ 461665 h 461665"/>
                <a:gd name="connsiteX109" fmla="*/ 1086815 w 7160887"/>
                <a:gd name="connsiteY109" fmla="*/ 461665 h 461665"/>
                <a:gd name="connsiteX110" fmla="*/ 1081708 w 7160887"/>
                <a:gd name="connsiteY110" fmla="*/ 461665 h 461665"/>
                <a:gd name="connsiteX111" fmla="*/ 1066800 w 7160887"/>
                <a:gd name="connsiteY111" fmla="*/ 461665 h 461665"/>
                <a:gd name="connsiteX112" fmla="*/ 870166 w 7160887"/>
                <a:gd name="connsiteY112" fmla="*/ 461665 h 461665"/>
                <a:gd name="connsiteX113" fmla="*/ 865059 w 7160887"/>
                <a:gd name="connsiteY113" fmla="*/ 461665 h 461665"/>
                <a:gd name="connsiteX114" fmla="*/ 770564 w 7160887"/>
                <a:gd name="connsiteY114" fmla="*/ 461665 h 461665"/>
                <a:gd name="connsiteX115" fmla="*/ 708493 w 7160887"/>
                <a:gd name="connsiteY115" fmla="*/ 461665 h 461665"/>
                <a:gd name="connsiteX116" fmla="*/ 703386 w 7160887"/>
                <a:gd name="connsiteY116" fmla="*/ 461665 h 461665"/>
                <a:gd name="connsiteX117" fmla="*/ 679665 w 7160887"/>
                <a:gd name="connsiteY117" fmla="*/ 461665 h 461665"/>
                <a:gd name="connsiteX118" fmla="*/ 674558 w 7160887"/>
                <a:gd name="connsiteY118" fmla="*/ 461665 h 461665"/>
                <a:gd name="connsiteX119" fmla="*/ 412257 w 7160887"/>
                <a:gd name="connsiteY119" fmla="*/ 461665 h 461665"/>
                <a:gd name="connsiteX120" fmla="*/ 407150 w 7160887"/>
                <a:gd name="connsiteY120" fmla="*/ 461665 h 461665"/>
                <a:gd name="connsiteX121" fmla="*/ 383429 w 7160887"/>
                <a:gd name="connsiteY121" fmla="*/ 461665 h 461665"/>
                <a:gd name="connsiteX122" fmla="*/ 378322 w 7160887"/>
                <a:gd name="connsiteY122" fmla="*/ 461665 h 461665"/>
                <a:gd name="connsiteX123" fmla="*/ 5107 w 7160887"/>
                <a:gd name="connsiteY123" fmla="*/ 461665 h 461665"/>
                <a:gd name="connsiteX124" fmla="*/ 0 w 7160887"/>
                <a:gd name="connsiteY124" fmla="*/ 461665 h 461665"/>
                <a:gd name="connsiteX125" fmla="*/ 0 w 7160887"/>
                <a:gd name="connsiteY125" fmla="*/ 0 h 461665"/>
                <a:gd name="connsiteX126" fmla="*/ 241170 w 7160887"/>
                <a:gd name="connsiteY126" fmla="*/ 0 h 461665"/>
                <a:gd name="connsiteX127" fmla="*/ 378322 w 7160887"/>
                <a:gd name="connsiteY127" fmla="*/ 0 h 461665"/>
                <a:gd name="connsiteX128" fmla="*/ 407150 w 7160887"/>
                <a:gd name="connsiteY128" fmla="*/ 0 h 461665"/>
                <a:gd name="connsiteX129" fmla="*/ 619492 w 7160887"/>
                <a:gd name="connsiteY129" fmla="*/ 0 h 461665"/>
                <a:gd name="connsiteX130" fmla="*/ 648320 w 7160887"/>
                <a:gd name="connsiteY130" fmla="*/ 0 h 461665"/>
                <a:gd name="connsiteX131" fmla="*/ 674558 w 7160887"/>
                <a:gd name="connsiteY131" fmla="*/ 0 h 461665"/>
                <a:gd name="connsiteX132" fmla="*/ 703386 w 7160887"/>
                <a:gd name="connsiteY132" fmla="*/ 0 h 461665"/>
                <a:gd name="connsiteX133" fmla="*/ 770564 w 7160887"/>
                <a:gd name="connsiteY133" fmla="*/ 0 h 461665"/>
                <a:gd name="connsiteX134" fmla="*/ 865059 w 7160887"/>
                <a:gd name="connsiteY134" fmla="*/ 0 h 461665"/>
                <a:gd name="connsiteX135" fmla="*/ 915728 w 7160887"/>
                <a:gd name="connsiteY135" fmla="*/ 0 h 461665"/>
                <a:gd name="connsiteX136" fmla="*/ 944556 w 7160887"/>
                <a:gd name="connsiteY136" fmla="*/ 0 h 461665"/>
                <a:gd name="connsiteX137" fmla="*/ 1066800 w 7160887"/>
                <a:gd name="connsiteY137" fmla="*/ 0 h 461665"/>
                <a:gd name="connsiteX138" fmla="*/ 1081708 w 7160887"/>
                <a:gd name="connsiteY138" fmla="*/ 0 h 461665"/>
                <a:gd name="connsiteX139" fmla="*/ 1106229 w 7160887"/>
                <a:gd name="connsiteY139" fmla="*/ 0 h 461665"/>
                <a:gd name="connsiteX140" fmla="*/ 1161295 w 7160887"/>
                <a:gd name="connsiteY140" fmla="*/ 0 h 461665"/>
                <a:gd name="connsiteX141" fmla="*/ 1322878 w 7160887"/>
                <a:gd name="connsiteY141" fmla="*/ 0 h 461665"/>
                <a:gd name="connsiteX142" fmla="*/ 1377944 w 7160887"/>
                <a:gd name="connsiteY142" fmla="*/ 0 h 461665"/>
                <a:gd name="connsiteX143" fmla="*/ 1402465 w 7160887"/>
                <a:gd name="connsiteY143" fmla="*/ 0 h 461665"/>
                <a:gd name="connsiteX144" fmla="*/ 1445122 w 7160887"/>
                <a:gd name="connsiteY144" fmla="*/ 0 h 461665"/>
                <a:gd name="connsiteX145" fmla="*/ 1473950 w 7160887"/>
                <a:gd name="connsiteY145" fmla="*/ 0 h 461665"/>
                <a:gd name="connsiteX146" fmla="*/ 1539617 w 7160887"/>
                <a:gd name="connsiteY146" fmla="*/ 0 h 461665"/>
                <a:gd name="connsiteX147" fmla="*/ 1568445 w 7160887"/>
                <a:gd name="connsiteY147" fmla="*/ 0 h 461665"/>
                <a:gd name="connsiteX148" fmla="*/ 1619114 w 7160887"/>
                <a:gd name="connsiteY148" fmla="*/ 0 h 461665"/>
                <a:gd name="connsiteX149" fmla="*/ 1741358 w 7160887"/>
                <a:gd name="connsiteY149" fmla="*/ 0 h 461665"/>
                <a:gd name="connsiteX150" fmla="*/ 1770186 w 7160887"/>
                <a:gd name="connsiteY150" fmla="*/ 0 h 461665"/>
                <a:gd name="connsiteX151" fmla="*/ 1780787 w 7160887"/>
                <a:gd name="connsiteY151" fmla="*/ 0 h 461665"/>
                <a:gd name="connsiteX152" fmla="*/ 1809615 w 7160887"/>
                <a:gd name="connsiteY152" fmla="*/ 0 h 461665"/>
                <a:gd name="connsiteX153" fmla="*/ 1835853 w 7160887"/>
                <a:gd name="connsiteY153" fmla="*/ 0 h 461665"/>
                <a:gd name="connsiteX154" fmla="*/ 1843714 w 7160887"/>
                <a:gd name="connsiteY154" fmla="*/ 0 h 461665"/>
                <a:gd name="connsiteX155" fmla="*/ 1864681 w 7160887"/>
                <a:gd name="connsiteY155" fmla="*/ 0 h 461665"/>
                <a:gd name="connsiteX156" fmla="*/ 1931859 w 7160887"/>
                <a:gd name="connsiteY156" fmla="*/ 0 h 461665"/>
                <a:gd name="connsiteX157" fmla="*/ 2077023 w 7160887"/>
                <a:gd name="connsiteY157" fmla="*/ 0 h 461665"/>
                <a:gd name="connsiteX158" fmla="*/ 2105851 w 7160887"/>
                <a:gd name="connsiteY158" fmla="*/ 0 h 461665"/>
                <a:gd name="connsiteX159" fmla="*/ 2139950 w 7160887"/>
                <a:gd name="connsiteY159" fmla="*/ 0 h 461665"/>
                <a:gd name="connsiteX160" fmla="*/ 2143071 w 7160887"/>
                <a:gd name="connsiteY160" fmla="*/ 0 h 461665"/>
                <a:gd name="connsiteX161" fmla="*/ 2148508 w 7160887"/>
                <a:gd name="connsiteY161" fmla="*/ 0 h 461665"/>
                <a:gd name="connsiteX162" fmla="*/ 2228095 w 7160887"/>
                <a:gd name="connsiteY162" fmla="*/ 0 h 461665"/>
                <a:gd name="connsiteX163" fmla="*/ 2243003 w 7160887"/>
                <a:gd name="connsiteY163" fmla="*/ 0 h 461665"/>
                <a:gd name="connsiteX164" fmla="*/ 2384241 w 7160887"/>
                <a:gd name="connsiteY164" fmla="*/ 0 h 461665"/>
                <a:gd name="connsiteX165" fmla="*/ 2439307 w 7160887"/>
                <a:gd name="connsiteY165" fmla="*/ 0 h 461665"/>
                <a:gd name="connsiteX166" fmla="*/ 2444744 w 7160887"/>
                <a:gd name="connsiteY166" fmla="*/ 0 h 461665"/>
                <a:gd name="connsiteX167" fmla="*/ 2484173 w 7160887"/>
                <a:gd name="connsiteY167" fmla="*/ 0 h 461665"/>
                <a:gd name="connsiteX168" fmla="*/ 2518272 w 7160887"/>
                <a:gd name="connsiteY168" fmla="*/ 0 h 461665"/>
                <a:gd name="connsiteX169" fmla="*/ 2539239 w 7160887"/>
                <a:gd name="connsiteY169" fmla="*/ 0 h 461665"/>
                <a:gd name="connsiteX170" fmla="*/ 2547100 w 7160887"/>
                <a:gd name="connsiteY170" fmla="*/ 0 h 461665"/>
                <a:gd name="connsiteX171" fmla="*/ 2606417 w 7160887"/>
                <a:gd name="connsiteY171" fmla="*/ 0 h 461665"/>
                <a:gd name="connsiteX172" fmla="*/ 2635245 w 7160887"/>
                <a:gd name="connsiteY172" fmla="*/ 0 h 461665"/>
                <a:gd name="connsiteX173" fmla="*/ 2680477 w 7160887"/>
                <a:gd name="connsiteY173" fmla="*/ 0 h 461665"/>
                <a:gd name="connsiteX174" fmla="*/ 2780409 w 7160887"/>
                <a:gd name="connsiteY174" fmla="*/ 0 h 461665"/>
                <a:gd name="connsiteX175" fmla="*/ 2814508 w 7160887"/>
                <a:gd name="connsiteY175" fmla="*/ 0 h 461665"/>
                <a:gd name="connsiteX176" fmla="*/ 2817629 w 7160887"/>
                <a:gd name="connsiteY176" fmla="*/ 0 h 461665"/>
                <a:gd name="connsiteX177" fmla="*/ 2843336 w 7160887"/>
                <a:gd name="connsiteY177" fmla="*/ 0 h 461665"/>
                <a:gd name="connsiteX178" fmla="*/ 2846457 w 7160887"/>
                <a:gd name="connsiteY178" fmla="*/ 0 h 461665"/>
                <a:gd name="connsiteX179" fmla="*/ 2902653 w 7160887"/>
                <a:gd name="connsiteY179" fmla="*/ 0 h 461665"/>
                <a:gd name="connsiteX180" fmla="*/ 2931481 w 7160887"/>
                <a:gd name="connsiteY180" fmla="*/ 0 h 461665"/>
                <a:gd name="connsiteX181" fmla="*/ 3005009 w 7160887"/>
                <a:gd name="connsiteY181" fmla="*/ 0 h 461665"/>
                <a:gd name="connsiteX182" fmla="*/ 3058799 w 7160887"/>
                <a:gd name="connsiteY182" fmla="*/ 0 h 461665"/>
                <a:gd name="connsiteX183" fmla="*/ 3087627 w 7160887"/>
                <a:gd name="connsiteY183" fmla="*/ 0 h 461665"/>
                <a:gd name="connsiteX184" fmla="*/ 3113865 w 7160887"/>
                <a:gd name="connsiteY184" fmla="*/ 0 h 461665"/>
                <a:gd name="connsiteX185" fmla="*/ 3142693 w 7160887"/>
                <a:gd name="connsiteY185" fmla="*/ 0 h 461665"/>
                <a:gd name="connsiteX186" fmla="*/ 3209871 w 7160887"/>
                <a:gd name="connsiteY186" fmla="*/ 0 h 461665"/>
                <a:gd name="connsiteX187" fmla="*/ 3221658 w 7160887"/>
                <a:gd name="connsiteY187" fmla="*/ 0 h 461665"/>
                <a:gd name="connsiteX188" fmla="*/ 3301245 w 7160887"/>
                <a:gd name="connsiteY188" fmla="*/ 0 h 461665"/>
                <a:gd name="connsiteX189" fmla="*/ 3309803 w 7160887"/>
                <a:gd name="connsiteY189" fmla="*/ 0 h 461665"/>
                <a:gd name="connsiteX190" fmla="*/ 3355035 w 7160887"/>
                <a:gd name="connsiteY190" fmla="*/ 0 h 461665"/>
                <a:gd name="connsiteX191" fmla="*/ 3383863 w 7160887"/>
                <a:gd name="connsiteY191" fmla="*/ 0 h 461665"/>
                <a:gd name="connsiteX192" fmla="*/ 3506107 w 7160887"/>
                <a:gd name="connsiteY192" fmla="*/ 0 h 461665"/>
                <a:gd name="connsiteX193" fmla="*/ 3517894 w 7160887"/>
                <a:gd name="connsiteY193" fmla="*/ 0 h 461665"/>
                <a:gd name="connsiteX194" fmla="*/ 3521015 w 7160887"/>
                <a:gd name="connsiteY194" fmla="*/ 0 h 461665"/>
                <a:gd name="connsiteX195" fmla="*/ 3606039 w 7160887"/>
                <a:gd name="connsiteY195" fmla="*/ 0 h 461665"/>
                <a:gd name="connsiteX196" fmla="*/ 3642993 w 7160887"/>
                <a:gd name="connsiteY196" fmla="*/ 0 h 461665"/>
                <a:gd name="connsiteX197" fmla="*/ 3679567 w 7160887"/>
                <a:gd name="connsiteY197" fmla="*/ 0 h 461665"/>
                <a:gd name="connsiteX198" fmla="*/ 3708395 w 7160887"/>
                <a:gd name="connsiteY198" fmla="*/ 0 h 461665"/>
                <a:gd name="connsiteX199" fmla="*/ 3762185 w 7160887"/>
                <a:gd name="connsiteY199" fmla="*/ 0 h 461665"/>
                <a:gd name="connsiteX200" fmla="*/ 3817251 w 7160887"/>
                <a:gd name="connsiteY200" fmla="*/ 0 h 461665"/>
                <a:gd name="connsiteX201" fmla="*/ 3884163 w 7160887"/>
                <a:gd name="connsiteY201" fmla="*/ 0 h 461665"/>
                <a:gd name="connsiteX202" fmla="*/ 3884429 w 7160887"/>
                <a:gd name="connsiteY202" fmla="*/ 0 h 461665"/>
                <a:gd name="connsiteX203" fmla="*/ 3913257 w 7160887"/>
                <a:gd name="connsiteY203" fmla="*/ 0 h 461665"/>
                <a:gd name="connsiteX204" fmla="*/ 3939229 w 7160887"/>
                <a:gd name="connsiteY204" fmla="*/ 0 h 461665"/>
                <a:gd name="connsiteX205" fmla="*/ 3975803 w 7160887"/>
                <a:gd name="connsiteY205" fmla="*/ 0 h 461665"/>
                <a:gd name="connsiteX206" fmla="*/ 4004631 w 7160887"/>
                <a:gd name="connsiteY206" fmla="*/ 0 h 461665"/>
                <a:gd name="connsiteX207" fmla="*/ 4058421 w 7160887"/>
                <a:gd name="connsiteY207" fmla="*/ 0 h 461665"/>
                <a:gd name="connsiteX208" fmla="*/ 4180399 w 7160887"/>
                <a:gd name="connsiteY208" fmla="*/ 0 h 461665"/>
                <a:gd name="connsiteX209" fmla="*/ 4180665 w 7160887"/>
                <a:gd name="connsiteY209" fmla="*/ 0 h 461665"/>
                <a:gd name="connsiteX210" fmla="*/ 4209493 w 7160887"/>
                <a:gd name="connsiteY210" fmla="*/ 0 h 461665"/>
                <a:gd name="connsiteX211" fmla="*/ 4283021 w 7160887"/>
                <a:gd name="connsiteY211" fmla="*/ 0 h 461665"/>
                <a:gd name="connsiteX212" fmla="*/ 4317551 w 7160887"/>
                <a:gd name="connsiteY212" fmla="*/ 0 h 461665"/>
                <a:gd name="connsiteX213" fmla="*/ 4346379 w 7160887"/>
                <a:gd name="connsiteY213" fmla="*/ 0 h 461665"/>
                <a:gd name="connsiteX214" fmla="*/ 4382953 w 7160887"/>
                <a:gd name="connsiteY214" fmla="*/ 0 h 461665"/>
                <a:gd name="connsiteX215" fmla="*/ 4558721 w 7160887"/>
                <a:gd name="connsiteY215" fmla="*/ 0 h 461665"/>
                <a:gd name="connsiteX216" fmla="*/ 4579257 w 7160887"/>
                <a:gd name="connsiteY216" fmla="*/ 0 h 461665"/>
                <a:gd name="connsiteX217" fmla="*/ 4587549 w 7160887"/>
                <a:gd name="connsiteY217" fmla="*/ 0 h 461665"/>
                <a:gd name="connsiteX218" fmla="*/ 4587815 w 7160887"/>
                <a:gd name="connsiteY218" fmla="*/ 0 h 461665"/>
                <a:gd name="connsiteX219" fmla="*/ 4613787 w 7160887"/>
                <a:gd name="connsiteY219" fmla="*/ 0 h 461665"/>
                <a:gd name="connsiteX220" fmla="*/ 4642615 w 7160887"/>
                <a:gd name="connsiteY220" fmla="*/ 0 h 461665"/>
                <a:gd name="connsiteX221" fmla="*/ 4679189 w 7160887"/>
                <a:gd name="connsiteY221" fmla="*/ 0 h 461665"/>
                <a:gd name="connsiteX222" fmla="*/ 4709793 w 7160887"/>
                <a:gd name="connsiteY222" fmla="*/ 0 h 461665"/>
                <a:gd name="connsiteX223" fmla="*/ 4854957 w 7160887"/>
                <a:gd name="connsiteY223" fmla="*/ 0 h 461665"/>
                <a:gd name="connsiteX224" fmla="*/ 4883785 w 7160887"/>
                <a:gd name="connsiteY224" fmla="*/ 0 h 461665"/>
                <a:gd name="connsiteX225" fmla="*/ 4884051 w 7160887"/>
                <a:gd name="connsiteY225" fmla="*/ 0 h 461665"/>
                <a:gd name="connsiteX226" fmla="*/ 4957579 w 7160887"/>
                <a:gd name="connsiteY226" fmla="*/ 0 h 461665"/>
                <a:gd name="connsiteX227" fmla="*/ 4986407 w 7160887"/>
                <a:gd name="connsiteY227" fmla="*/ 0 h 461665"/>
                <a:gd name="connsiteX228" fmla="*/ 5006029 w 7160887"/>
                <a:gd name="connsiteY228" fmla="*/ 0 h 461665"/>
                <a:gd name="connsiteX229" fmla="*/ 5020937 w 7160887"/>
                <a:gd name="connsiteY229" fmla="*/ 0 h 461665"/>
                <a:gd name="connsiteX230" fmla="*/ 5253815 w 7160887"/>
                <a:gd name="connsiteY230" fmla="*/ 0 h 461665"/>
                <a:gd name="connsiteX231" fmla="*/ 5262107 w 7160887"/>
                <a:gd name="connsiteY231" fmla="*/ 0 h 461665"/>
                <a:gd name="connsiteX232" fmla="*/ 5282643 w 7160887"/>
                <a:gd name="connsiteY232" fmla="*/ 0 h 461665"/>
                <a:gd name="connsiteX233" fmla="*/ 5317173 w 7160887"/>
                <a:gd name="connsiteY233" fmla="*/ 0 h 461665"/>
                <a:gd name="connsiteX234" fmla="*/ 5384351 w 7160887"/>
                <a:gd name="connsiteY234" fmla="*/ 0 h 461665"/>
                <a:gd name="connsiteX235" fmla="*/ 5413179 w 7160887"/>
                <a:gd name="connsiteY235" fmla="*/ 0 h 461665"/>
                <a:gd name="connsiteX236" fmla="*/ 5558343 w 7160887"/>
                <a:gd name="connsiteY236" fmla="*/ 0 h 461665"/>
                <a:gd name="connsiteX237" fmla="*/ 5660965 w 7160887"/>
                <a:gd name="connsiteY237" fmla="*/ 0 h 461665"/>
                <a:gd name="connsiteX238" fmla="*/ 5680587 w 7160887"/>
                <a:gd name="connsiteY238" fmla="*/ 0 h 461665"/>
                <a:gd name="connsiteX239" fmla="*/ 5709415 w 7160887"/>
                <a:gd name="connsiteY239" fmla="*/ 0 h 461665"/>
                <a:gd name="connsiteX240" fmla="*/ 5782943 w 7160887"/>
                <a:gd name="connsiteY240" fmla="*/ 0 h 461665"/>
                <a:gd name="connsiteX241" fmla="*/ 5957201 w 7160887"/>
                <a:gd name="connsiteY241" fmla="*/ 0 h 461665"/>
                <a:gd name="connsiteX242" fmla="*/ 6079179 w 7160887"/>
                <a:gd name="connsiteY242" fmla="*/ 0 h 461665"/>
                <a:gd name="connsiteX243" fmla="*/ 6087737 w 7160887"/>
                <a:gd name="connsiteY243" fmla="*/ 0 h 461665"/>
                <a:gd name="connsiteX244" fmla="*/ 6383973 w 7160887"/>
                <a:gd name="connsiteY244" fmla="*/ 0 h 461665"/>
                <a:gd name="connsiteX245" fmla="*/ 6457501 w 7160887"/>
                <a:gd name="connsiteY245" fmla="*/ 0 h 461665"/>
                <a:gd name="connsiteX246" fmla="*/ 6486329 w 7160887"/>
                <a:gd name="connsiteY246" fmla="*/ 0 h 461665"/>
                <a:gd name="connsiteX247" fmla="*/ 6753737 w 7160887"/>
                <a:gd name="connsiteY247" fmla="*/ 0 h 461665"/>
                <a:gd name="connsiteX248" fmla="*/ 6782565 w 7160887"/>
                <a:gd name="connsiteY248" fmla="*/ 0 h 461665"/>
                <a:gd name="connsiteX249" fmla="*/ 7160887 w 7160887"/>
                <a:gd name="connsiteY249" fmla="*/ 0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7160887" h="461665">
                  <a:moveTo>
                    <a:pt x="6924824" y="461665"/>
                  </a:moveTo>
                  <a:lnTo>
                    <a:pt x="6546502" y="461665"/>
                  </a:lnTo>
                  <a:lnTo>
                    <a:pt x="6517674" y="461665"/>
                  </a:lnTo>
                  <a:lnTo>
                    <a:pt x="6383973" y="461665"/>
                  </a:lnTo>
                  <a:lnTo>
                    <a:pt x="6250266" y="461665"/>
                  </a:lnTo>
                  <a:lnTo>
                    <a:pt x="6221438" y="461665"/>
                  </a:lnTo>
                  <a:lnTo>
                    <a:pt x="6087737" y="461665"/>
                  </a:lnTo>
                  <a:lnTo>
                    <a:pt x="5843116" y="461665"/>
                  </a:lnTo>
                  <a:lnTo>
                    <a:pt x="5721138" y="461665"/>
                  </a:lnTo>
                  <a:lnTo>
                    <a:pt x="5709415" y="461665"/>
                  </a:lnTo>
                  <a:lnTo>
                    <a:pt x="5680587" y="461665"/>
                  </a:lnTo>
                  <a:lnTo>
                    <a:pt x="5546880" y="461665"/>
                  </a:lnTo>
                  <a:lnTo>
                    <a:pt x="5424902" y="461665"/>
                  </a:lnTo>
                  <a:lnTo>
                    <a:pt x="5413179" y="461665"/>
                  </a:lnTo>
                  <a:lnTo>
                    <a:pt x="5384351" y="461665"/>
                  </a:lnTo>
                  <a:lnTo>
                    <a:pt x="5322280" y="461665"/>
                  </a:lnTo>
                  <a:lnTo>
                    <a:pt x="5317173" y="461665"/>
                  </a:lnTo>
                  <a:lnTo>
                    <a:pt x="5046580" y="461665"/>
                  </a:lnTo>
                  <a:lnTo>
                    <a:pt x="5026044" y="461665"/>
                  </a:lnTo>
                  <a:lnTo>
                    <a:pt x="5020937" y="461665"/>
                  </a:lnTo>
                  <a:lnTo>
                    <a:pt x="5017752" y="461665"/>
                  </a:lnTo>
                  <a:lnTo>
                    <a:pt x="5006029" y="461665"/>
                  </a:lnTo>
                  <a:lnTo>
                    <a:pt x="4884051" y="461665"/>
                  </a:lnTo>
                  <a:lnTo>
                    <a:pt x="4750344" y="461665"/>
                  </a:lnTo>
                  <a:lnTo>
                    <a:pt x="4721516" y="461665"/>
                  </a:lnTo>
                  <a:lnTo>
                    <a:pt x="4709793" y="461665"/>
                  </a:lnTo>
                  <a:lnTo>
                    <a:pt x="4647722" y="461665"/>
                  </a:lnTo>
                  <a:lnTo>
                    <a:pt x="4642615" y="461665"/>
                  </a:lnTo>
                  <a:lnTo>
                    <a:pt x="4618894" y="461665"/>
                  </a:lnTo>
                  <a:lnTo>
                    <a:pt x="4613787" y="461665"/>
                  </a:lnTo>
                  <a:lnTo>
                    <a:pt x="4587815" y="461665"/>
                  </a:lnTo>
                  <a:lnTo>
                    <a:pt x="4443126" y="461665"/>
                  </a:lnTo>
                  <a:lnTo>
                    <a:pt x="4351486" y="461665"/>
                  </a:lnTo>
                  <a:lnTo>
                    <a:pt x="4346379" y="461665"/>
                  </a:lnTo>
                  <a:lnTo>
                    <a:pt x="4343194" y="461665"/>
                  </a:lnTo>
                  <a:lnTo>
                    <a:pt x="4322658" y="461665"/>
                  </a:lnTo>
                  <a:lnTo>
                    <a:pt x="4317551" y="461665"/>
                  </a:lnTo>
                  <a:lnTo>
                    <a:pt x="4209493" y="461665"/>
                  </a:lnTo>
                  <a:lnTo>
                    <a:pt x="4180665" y="461665"/>
                  </a:lnTo>
                  <a:lnTo>
                    <a:pt x="4146890" y="461665"/>
                  </a:lnTo>
                  <a:lnTo>
                    <a:pt x="4046958" y="461665"/>
                  </a:lnTo>
                  <a:lnTo>
                    <a:pt x="3944336" y="461665"/>
                  </a:lnTo>
                  <a:lnTo>
                    <a:pt x="3939229" y="461665"/>
                  </a:lnTo>
                  <a:lnTo>
                    <a:pt x="3913257" y="461665"/>
                  </a:lnTo>
                  <a:lnTo>
                    <a:pt x="3884429" y="461665"/>
                  </a:lnTo>
                  <a:lnTo>
                    <a:pt x="3822358" y="461665"/>
                  </a:lnTo>
                  <a:lnTo>
                    <a:pt x="3817251" y="461665"/>
                  </a:lnTo>
                  <a:lnTo>
                    <a:pt x="3768568" y="461665"/>
                  </a:lnTo>
                  <a:lnTo>
                    <a:pt x="3739740" y="461665"/>
                  </a:lnTo>
                  <a:lnTo>
                    <a:pt x="3648100" y="461665"/>
                  </a:lnTo>
                  <a:lnTo>
                    <a:pt x="3642993" y="461665"/>
                  </a:lnTo>
                  <a:lnTo>
                    <a:pt x="3606039" y="461665"/>
                  </a:lnTo>
                  <a:lnTo>
                    <a:pt x="3526122" y="461665"/>
                  </a:lnTo>
                  <a:lnTo>
                    <a:pt x="3521015" y="461665"/>
                  </a:lnTo>
                  <a:lnTo>
                    <a:pt x="3506107" y="461665"/>
                  </a:lnTo>
                  <a:lnTo>
                    <a:pt x="3472332" y="461665"/>
                  </a:lnTo>
                  <a:lnTo>
                    <a:pt x="3443504" y="461665"/>
                  </a:lnTo>
                  <a:lnTo>
                    <a:pt x="3309803" y="461665"/>
                  </a:lnTo>
                  <a:lnTo>
                    <a:pt x="3281831" y="461665"/>
                  </a:lnTo>
                  <a:lnTo>
                    <a:pt x="3209871" y="461665"/>
                  </a:lnTo>
                  <a:lnTo>
                    <a:pt x="3147800" y="461665"/>
                  </a:lnTo>
                  <a:lnTo>
                    <a:pt x="3142693" y="461665"/>
                  </a:lnTo>
                  <a:lnTo>
                    <a:pt x="3118972" y="461665"/>
                  </a:lnTo>
                  <a:lnTo>
                    <a:pt x="3113865" y="461665"/>
                  </a:lnTo>
                  <a:lnTo>
                    <a:pt x="3065182" y="461665"/>
                  </a:lnTo>
                  <a:lnTo>
                    <a:pt x="2985595" y="461665"/>
                  </a:lnTo>
                  <a:lnTo>
                    <a:pt x="2931481" y="461665"/>
                  </a:lnTo>
                  <a:lnTo>
                    <a:pt x="2902653" y="461665"/>
                  </a:lnTo>
                  <a:lnTo>
                    <a:pt x="2851564" y="461665"/>
                  </a:lnTo>
                  <a:lnTo>
                    <a:pt x="2846457" y="461665"/>
                  </a:lnTo>
                  <a:lnTo>
                    <a:pt x="2822736" y="461665"/>
                  </a:lnTo>
                  <a:lnTo>
                    <a:pt x="2817629" y="461665"/>
                  </a:lnTo>
                  <a:lnTo>
                    <a:pt x="2768946" y="461665"/>
                  </a:lnTo>
                  <a:lnTo>
                    <a:pt x="2635245" y="461665"/>
                  </a:lnTo>
                  <a:lnTo>
                    <a:pt x="2607273" y="461665"/>
                  </a:lnTo>
                  <a:lnTo>
                    <a:pt x="2606417" y="461665"/>
                  </a:lnTo>
                  <a:lnTo>
                    <a:pt x="2578445" y="461665"/>
                  </a:lnTo>
                  <a:lnTo>
                    <a:pt x="2544346" y="461665"/>
                  </a:lnTo>
                  <a:lnTo>
                    <a:pt x="2539239" y="461665"/>
                  </a:lnTo>
                  <a:lnTo>
                    <a:pt x="2444744" y="461665"/>
                  </a:lnTo>
                  <a:lnTo>
                    <a:pt x="2444414" y="461665"/>
                  </a:lnTo>
                  <a:lnTo>
                    <a:pt x="2439307" y="461665"/>
                  </a:lnTo>
                  <a:lnTo>
                    <a:pt x="2311037" y="461665"/>
                  </a:lnTo>
                  <a:lnTo>
                    <a:pt x="2282209" y="461665"/>
                  </a:lnTo>
                  <a:lnTo>
                    <a:pt x="2248110" y="461665"/>
                  </a:lnTo>
                  <a:lnTo>
                    <a:pt x="2243003" y="461665"/>
                  </a:lnTo>
                  <a:lnTo>
                    <a:pt x="2228095" y="461665"/>
                  </a:lnTo>
                  <a:lnTo>
                    <a:pt x="2148508" y="461665"/>
                  </a:lnTo>
                  <a:lnTo>
                    <a:pt x="2148178" y="461665"/>
                  </a:lnTo>
                  <a:lnTo>
                    <a:pt x="2143071" y="461665"/>
                  </a:lnTo>
                  <a:lnTo>
                    <a:pt x="1931859" y="461665"/>
                  </a:lnTo>
                  <a:lnTo>
                    <a:pt x="1903887" y="461665"/>
                  </a:lnTo>
                  <a:lnTo>
                    <a:pt x="1869788" y="461665"/>
                  </a:lnTo>
                  <a:lnTo>
                    <a:pt x="1864681" y="461665"/>
                  </a:lnTo>
                  <a:lnTo>
                    <a:pt x="1840960" y="461665"/>
                  </a:lnTo>
                  <a:lnTo>
                    <a:pt x="1835853" y="461665"/>
                  </a:lnTo>
                  <a:lnTo>
                    <a:pt x="1770186" y="461665"/>
                  </a:lnTo>
                  <a:lnTo>
                    <a:pt x="1741358" y="461665"/>
                  </a:lnTo>
                  <a:lnTo>
                    <a:pt x="1607651" y="461665"/>
                  </a:lnTo>
                  <a:lnTo>
                    <a:pt x="1573552" y="461665"/>
                  </a:lnTo>
                  <a:lnTo>
                    <a:pt x="1568445" y="461665"/>
                  </a:lnTo>
                  <a:lnTo>
                    <a:pt x="1544724" y="461665"/>
                  </a:lnTo>
                  <a:lnTo>
                    <a:pt x="1539617" y="461665"/>
                  </a:lnTo>
                  <a:lnTo>
                    <a:pt x="1473950" y="461665"/>
                  </a:lnTo>
                  <a:lnTo>
                    <a:pt x="1445122" y="461665"/>
                  </a:lnTo>
                  <a:lnTo>
                    <a:pt x="1383051" y="461665"/>
                  </a:lnTo>
                  <a:lnTo>
                    <a:pt x="1377944" y="461665"/>
                  </a:lnTo>
                  <a:lnTo>
                    <a:pt x="1166402" y="461665"/>
                  </a:lnTo>
                  <a:lnTo>
                    <a:pt x="1161295" y="461665"/>
                  </a:lnTo>
                  <a:lnTo>
                    <a:pt x="1086815" y="461665"/>
                  </a:lnTo>
                  <a:lnTo>
                    <a:pt x="1081708" y="461665"/>
                  </a:lnTo>
                  <a:lnTo>
                    <a:pt x="1066800" y="461665"/>
                  </a:lnTo>
                  <a:lnTo>
                    <a:pt x="870166" y="461665"/>
                  </a:lnTo>
                  <a:lnTo>
                    <a:pt x="865059" y="461665"/>
                  </a:lnTo>
                  <a:lnTo>
                    <a:pt x="770564" y="461665"/>
                  </a:lnTo>
                  <a:lnTo>
                    <a:pt x="708493" y="461665"/>
                  </a:lnTo>
                  <a:lnTo>
                    <a:pt x="703386" y="461665"/>
                  </a:lnTo>
                  <a:lnTo>
                    <a:pt x="679665" y="461665"/>
                  </a:lnTo>
                  <a:lnTo>
                    <a:pt x="674558" y="461665"/>
                  </a:lnTo>
                  <a:lnTo>
                    <a:pt x="412257" y="461665"/>
                  </a:lnTo>
                  <a:lnTo>
                    <a:pt x="407150" y="461665"/>
                  </a:lnTo>
                  <a:lnTo>
                    <a:pt x="383429" y="461665"/>
                  </a:lnTo>
                  <a:lnTo>
                    <a:pt x="378322" y="461665"/>
                  </a:lnTo>
                  <a:lnTo>
                    <a:pt x="5107" y="461665"/>
                  </a:lnTo>
                  <a:lnTo>
                    <a:pt x="0" y="461665"/>
                  </a:lnTo>
                  <a:lnTo>
                    <a:pt x="0" y="0"/>
                  </a:lnTo>
                  <a:lnTo>
                    <a:pt x="241170" y="0"/>
                  </a:lnTo>
                  <a:lnTo>
                    <a:pt x="378322" y="0"/>
                  </a:lnTo>
                  <a:lnTo>
                    <a:pt x="407150" y="0"/>
                  </a:lnTo>
                  <a:lnTo>
                    <a:pt x="619492" y="0"/>
                  </a:lnTo>
                  <a:lnTo>
                    <a:pt x="648320" y="0"/>
                  </a:lnTo>
                  <a:lnTo>
                    <a:pt x="674558" y="0"/>
                  </a:lnTo>
                  <a:lnTo>
                    <a:pt x="703386" y="0"/>
                  </a:lnTo>
                  <a:lnTo>
                    <a:pt x="770564" y="0"/>
                  </a:lnTo>
                  <a:lnTo>
                    <a:pt x="865059" y="0"/>
                  </a:lnTo>
                  <a:lnTo>
                    <a:pt x="915728" y="0"/>
                  </a:lnTo>
                  <a:lnTo>
                    <a:pt x="944556" y="0"/>
                  </a:lnTo>
                  <a:lnTo>
                    <a:pt x="1066800" y="0"/>
                  </a:lnTo>
                  <a:lnTo>
                    <a:pt x="1081708" y="0"/>
                  </a:lnTo>
                  <a:lnTo>
                    <a:pt x="1106229" y="0"/>
                  </a:lnTo>
                  <a:lnTo>
                    <a:pt x="1161295" y="0"/>
                  </a:lnTo>
                  <a:lnTo>
                    <a:pt x="1322878" y="0"/>
                  </a:lnTo>
                  <a:lnTo>
                    <a:pt x="1377944" y="0"/>
                  </a:lnTo>
                  <a:lnTo>
                    <a:pt x="1402465" y="0"/>
                  </a:lnTo>
                  <a:lnTo>
                    <a:pt x="1445122" y="0"/>
                  </a:lnTo>
                  <a:lnTo>
                    <a:pt x="1473950" y="0"/>
                  </a:lnTo>
                  <a:lnTo>
                    <a:pt x="1539617" y="0"/>
                  </a:lnTo>
                  <a:lnTo>
                    <a:pt x="1568445" y="0"/>
                  </a:lnTo>
                  <a:lnTo>
                    <a:pt x="1619114" y="0"/>
                  </a:lnTo>
                  <a:lnTo>
                    <a:pt x="1741358" y="0"/>
                  </a:lnTo>
                  <a:lnTo>
                    <a:pt x="1770186" y="0"/>
                  </a:lnTo>
                  <a:lnTo>
                    <a:pt x="1780787" y="0"/>
                  </a:lnTo>
                  <a:lnTo>
                    <a:pt x="1809615" y="0"/>
                  </a:lnTo>
                  <a:lnTo>
                    <a:pt x="1835853" y="0"/>
                  </a:lnTo>
                  <a:lnTo>
                    <a:pt x="1843714" y="0"/>
                  </a:lnTo>
                  <a:lnTo>
                    <a:pt x="1864681" y="0"/>
                  </a:lnTo>
                  <a:lnTo>
                    <a:pt x="1931859" y="0"/>
                  </a:lnTo>
                  <a:lnTo>
                    <a:pt x="2077023" y="0"/>
                  </a:lnTo>
                  <a:lnTo>
                    <a:pt x="2105851" y="0"/>
                  </a:lnTo>
                  <a:lnTo>
                    <a:pt x="2139950" y="0"/>
                  </a:lnTo>
                  <a:lnTo>
                    <a:pt x="2143071" y="0"/>
                  </a:lnTo>
                  <a:lnTo>
                    <a:pt x="2148508" y="0"/>
                  </a:lnTo>
                  <a:lnTo>
                    <a:pt x="2228095" y="0"/>
                  </a:lnTo>
                  <a:lnTo>
                    <a:pt x="2243003" y="0"/>
                  </a:lnTo>
                  <a:lnTo>
                    <a:pt x="2384241" y="0"/>
                  </a:lnTo>
                  <a:lnTo>
                    <a:pt x="2439307" y="0"/>
                  </a:lnTo>
                  <a:lnTo>
                    <a:pt x="2444744" y="0"/>
                  </a:lnTo>
                  <a:lnTo>
                    <a:pt x="2484173" y="0"/>
                  </a:lnTo>
                  <a:lnTo>
                    <a:pt x="2518272" y="0"/>
                  </a:lnTo>
                  <a:lnTo>
                    <a:pt x="2539239" y="0"/>
                  </a:lnTo>
                  <a:lnTo>
                    <a:pt x="2547100" y="0"/>
                  </a:lnTo>
                  <a:lnTo>
                    <a:pt x="2606417" y="0"/>
                  </a:lnTo>
                  <a:lnTo>
                    <a:pt x="2635245" y="0"/>
                  </a:lnTo>
                  <a:lnTo>
                    <a:pt x="2680477" y="0"/>
                  </a:lnTo>
                  <a:lnTo>
                    <a:pt x="2780409" y="0"/>
                  </a:lnTo>
                  <a:lnTo>
                    <a:pt x="2814508" y="0"/>
                  </a:lnTo>
                  <a:lnTo>
                    <a:pt x="2817629" y="0"/>
                  </a:lnTo>
                  <a:lnTo>
                    <a:pt x="2843336" y="0"/>
                  </a:lnTo>
                  <a:lnTo>
                    <a:pt x="2846457" y="0"/>
                  </a:lnTo>
                  <a:lnTo>
                    <a:pt x="2902653" y="0"/>
                  </a:lnTo>
                  <a:lnTo>
                    <a:pt x="2931481" y="0"/>
                  </a:lnTo>
                  <a:lnTo>
                    <a:pt x="3005009" y="0"/>
                  </a:lnTo>
                  <a:lnTo>
                    <a:pt x="3058799" y="0"/>
                  </a:lnTo>
                  <a:lnTo>
                    <a:pt x="3087627" y="0"/>
                  </a:lnTo>
                  <a:lnTo>
                    <a:pt x="3113865" y="0"/>
                  </a:lnTo>
                  <a:lnTo>
                    <a:pt x="3142693" y="0"/>
                  </a:lnTo>
                  <a:lnTo>
                    <a:pt x="3209871" y="0"/>
                  </a:lnTo>
                  <a:lnTo>
                    <a:pt x="3221658" y="0"/>
                  </a:lnTo>
                  <a:lnTo>
                    <a:pt x="3301245" y="0"/>
                  </a:lnTo>
                  <a:lnTo>
                    <a:pt x="3309803" y="0"/>
                  </a:lnTo>
                  <a:lnTo>
                    <a:pt x="3355035" y="0"/>
                  </a:lnTo>
                  <a:lnTo>
                    <a:pt x="3383863" y="0"/>
                  </a:lnTo>
                  <a:lnTo>
                    <a:pt x="3506107" y="0"/>
                  </a:lnTo>
                  <a:lnTo>
                    <a:pt x="3517894" y="0"/>
                  </a:lnTo>
                  <a:lnTo>
                    <a:pt x="3521015" y="0"/>
                  </a:lnTo>
                  <a:lnTo>
                    <a:pt x="3606039" y="0"/>
                  </a:lnTo>
                  <a:lnTo>
                    <a:pt x="3642993" y="0"/>
                  </a:lnTo>
                  <a:lnTo>
                    <a:pt x="3679567" y="0"/>
                  </a:lnTo>
                  <a:lnTo>
                    <a:pt x="3708395" y="0"/>
                  </a:lnTo>
                  <a:lnTo>
                    <a:pt x="3762185" y="0"/>
                  </a:lnTo>
                  <a:lnTo>
                    <a:pt x="3817251" y="0"/>
                  </a:lnTo>
                  <a:lnTo>
                    <a:pt x="3884163" y="0"/>
                  </a:lnTo>
                  <a:lnTo>
                    <a:pt x="3884429" y="0"/>
                  </a:lnTo>
                  <a:lnTo>
                    <a:pt x="3913257" y="0"/>
                  </a:lnTo>
                  <a:lnTo>
                    <a:pt x="3939229" y="0"/>
                  </a:lnTo>
                  <a:lnTo>
                    <a:pt x="3975803" y="0"/>
                  </a:lnTo>
                  <a:lnTo>
                    <a:pt x="4004631" y="0"/>
                  </a:lnTo>
                  <a:lnTo>
                    <a:pt x="4058421" y="0"/>
                  </a:lnTo>
                  <a:lnTo>
                    <a:pt x="4180399" y="0"/>
                  </a:lnTo>
                  <a:lnTo>
                    <a:pt x="4180665" y="0"/>
                  </a:lnTo>
                  <a:lnTo>
                    <a:pt x="4209493" y="0"/>
                  </a:lnTo>
                  <a:lnTo>
                    <a:pt x="4283021" y="0"/>
                  </a:lnTo>
                  <a:lnTo>
                    <a:pt x="4317551" y="0"/>
                  </a:lnTo>
                  <a:lnTo>
                    <a:pt x="4346379" y="0"/>
                  </a:lnTo>
                  <a:lnTo>
                    <a:pt x="4382953" y="0"/>
                  </a:lnTo>
                  <a:lnTo>
                    <a:pt x="4558721" y="0"/>
                  </a:lnTo>
                  <a:lnTo>
                    <a:pt x="4579257" y="0"/>
                  </a:lnTo>
                  <a:lnTo>
                    <a:pt x="4587549" y="0"/>
                  </a:lnTo>
                  <a:lnTo>
                    <a:pt x="4587815" y="0"/>
                  </a:lnTo>
                  <a:lnTo>
                    <a:pt x="4613787" y="0"/>
                  </a:lnTo>
                  <a:lnTo>
                    <a:pt x="4642615" y="0"/>
                  </a:lnTo>
                  <a:lnTo>
                    <a:pt x="4679189" y="0"/>
                  </a:lnTo>
                  <a:lnTo>
                    <a:pt x="4709793" y="0"/>
                  </a:lnTo>
                  <a:lnTo>
                    <a:pt x="4854957" y="0"/>
                  </a:lnTo>
                  <a:lnTo>
                    <a:pt x="4883785" y="0"/>
                  </a:lnTo>
                  <a:lnTo>
                    <a:pt x="4884051" y="0"/>
                  </a:lnTo>
                  <a:lnTo>
                    <a:pt x="4957579" y="0"/>
                  </a:lnTo>
                  <a:lnTo>
                    <a:pt x="4986407" y="0"/>
                  </a:lnTo>
                  <a:lnTo>
                    <a:pt x="5006029" y="0"/>
                  </a:lnTo>
                  <a:lnTo>
                    <a:pt x="5020937" y="0"/>
                  </a:lnTo>
                  <a:lnTo>
                    <a:pt x="5253815" y="0"/>
                  </a:lnTo>
                  <a:lnTo>
                    <a:pt x="5262107" y="0"/>
                  </a:lnTo>
                  <a:lnTo>
                    <a:pt x="5282643" y="0"/>
                  </a:lnTo>
                  <a:lnTo>
                    <a:pt x="5317173" y="0"/>
                  </a:lnTo>
                  <a:lnTo>
                    <a:pt x="5384351" y="0"/>
                  </a:lnTo>
                  <a:lnTo>
                    <a:pt x="5413179" y="0"/>
                  </a:lnTo>
                  <a:lnTo>
                    <a:pt x="5558343" y="0"/>
                  </a:lnTo>
                  <a:lnTo>
                    <a:pt x="5660965" y="0"/>
                  </a:lnTo>
                  <a:lnTo>
                    <a:pt x="5680587" y="0"/>
                  </a:lnTo>
                  <a:lnTo>
                    <a:pt x="5709415" y="0"/>
                  </a:lnTo>
                  <a:lnTo>
                    <a:pt x="5782943" y="0"/>
                  </a:lnTo>
                  <a:lnTo>
                    <a:pt x="5957201" y="0"/>
                  </a:lnTo>
                  <a:lnTo>
                    <a:pt x="6079179" y="0"/>
                  </a:lnTo>
                  <a:lnTo>
                    <a:pt x="6087737" y="0"/>
                  </a:lnTo>
                  <a:lnTo>
                    <a:pt x="6383973" y="0"/>
                  </a:lnTo>
                  <a:lnTo>
                    <a:pt x="6457501" y="0"/>
                  </a:lnTo>
                  <a:lnTo>
                    <a:pt x="6486329" y="0"/>
                  </a:lnTo>
                  <a:lnTo>
                    <a:pt x="6753737" y="0"/>
                  </a:lnTo>
                  <a:lnTo>
                    <a:pt x="6782565" y="0"/>
                  </a:lnTo>
                  <a:lnTo>
                    <a:pt x="7160887" y="0"/>
                  </a:lnTo>
                  <a:close/>
                </a:path>
              </a:pathLst>
            </a:cu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1" name="组合 20">
              <a:extLst>
                <a:ext uri="{FF2B5EF4-FFF2-40B4-BE49-F238E27FC236}">
                  <a16:creationId xmlns:a16="http://schemas.microsoft.com/office/drawing/2014/main" id="{3090E394-CAD8-4608-AB3C-095707B38B74}"/>
                </a:ext>
              </a:extLst>
            </p:cNvPr>
            <p:cNvGrpSpPr/>
            <p:nvPr userDrawn="1"/>
          </p:nvGrpSpPr>
          <p:grpSpPr>
            <a:xfrm>
              <a:off x="5080" y="310184"/>
              <a:ext cx="2139950" cy="461666"/>
              <a:chOff x="5080" y="257852"/>
              <a:chExt cx="2139950" cy="461666"/>
            </a:xfrm>
          </p:grpSpPr>
          <p:sp>
            <p:nvSpPr>
              <p:cNvPr id="22" name="任意多边形: 形状 21">
                <a:extLst>
                  <a:ext uri="{FF2B5EF4-FFF2-40B4-BE49-F238E27FC236}">
                    <a16:creationId xmlns:a16="http://schemas.microsoft.com/office/drawing/2014/main" id="{F6F21DC9-2B4B-4F31-B714-6947A7102FF1}"/>
                  </a:ext>
                </a:extLst>
              </p:cNvPr>
              <p:cNvSpPr/>
              <p:nvPr/>
            </p:nvSpPr>
            <p:spPr>
              <a:xfrm>
                <a:off x="5080" y="257853"/>
                <a:ext cx="2139950" cy="461665"/>
              </a:xfrm>
              <a:custGeom>
                <a:avLst/>
                <a:gdLst>
                  <a:gd name="connsiteX0" fmla="*/ 0 w 2139950"/>
                  <a:gd name="connsiteY0" fmla="*/ 0 h 461665"/>
                  <a:gd name="connsiteX1" fmla="*/ 241170 w 2139950"/>
                  <a:gd name="connsiteY1" fmla="*/ 0 h 461665"/>
                  <a:gd name="connsiteX2" fmla="*/ 1066800 w 2139950"/>
                  <a:gd name="connsiteY2" fmla="*/ 0 h 461665"/>
                  <a:gd name="connsiteX3" fmla="*/ 2139950 w 2139950"/>
                  <a:gd name="connsiteY3" fmla="*/ 0 h 461665"/>
                  <a:gd name="connsiteX4" fmla="*/ 1903887 w 2139950"/>
                  <a:gd name="connsiteY4" fmla="*/ 461665 h 461665"/>
                  <a:gd name="connsiteX5" fmla="*/ 1066800 w 2139950"/>
                  <a:gd name="connsiteY5" fmla="*/ 461665 h 461665"/>
                  <a:gd name="connsiteX6" fmla="*/ 5107 w 2139950"/>
                  <a:gd name="connsiteY6" fmla="*/ 461665 h 461665"/>
                  <a:gd name="connsiteX7" fmla="*/ 0 w 2139950"/>
                  <a:gd name="connsiteY7" fmla="*/ 461665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9950" h="461665">
                    <a:moveTo>
                      <a:pt x="0" y="0"/>
                    </a:moveTo>
                    <a:lnTo>
                      <a:pt x="241170" y="0"/>
                    </a:lnTo>
                    <a:lnTo>
                      <a:pt x="1066800" y="0"/>
                    </a:lnTo>
                    <a:lnTo>
                      <a:pt x="2139950" y="0"/>
                    </a:lnTo>
                    <a:lnTo>
                      <a:pt x="1903887" y="461665"/>
                    </a:lnTo>
                    <a:lnTo>
                      <a:pt x="1066800" y="461665"/>
                    </a:lnTo>
                    <a:lnTo>
                      <a:pt x="5107" y="461665"/>
                    </a:lnTo>
                    <a:lnTo>
                      <a:pt x="0" y="461665"/>
                    </a:lnTo>
                    <a:close/>
                  </a:path>
                </a:pathLst>
              </a:cu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3" name="任意多边形: 形状 22">
                <a:extLst>
                  <a:ext uri="{FF2B5EF4-FFF2-40B4-BE49-F238E27FC236}">
                    <a16:creationId xmlns:a16="http://schemas.microsoft.com/office/drawing/2014/main" id="{26A6280D-7387-42D7-AF50-4A27EF082C83}"/>
                  </a:ext>
                </a:extLst>
              </p:cNvPr>
              <p:cNvSpPr/>
              <p:nvPr/>
            </p:nvSpPr>
            <p:spPr>
              <a:xfrm>
                <a:off x="1743091" y="257852"/>
                <a:ext cx="344013" cy="461665"/>
              </a:xfrm>
              <a:custGeom>
                <a:avLst/>
                <a:gdLst>
                  <a:gd name="connsiteX0" fmla="*/ 236063 w 344013"/>
                  <a:gd name="connsiteY0" fmla="*/ 0 h 461665"/>
                  <a:gd name="connsiteX1" fmla="*/ 344013 w 344013"/>
                  <a:gd name="connsiteY1" fmla="*/ 0 h 461665"/>
                  <a:gd name="connsiteX2" fmla="*/ 107950 w 344013"/>
                  <a:gd name="connsiteY2" fmla="*/ 461665 h 461665"/>
                  <a:gd name="connsiteX3" fmla="*/ 0 w 344013"/>
                  <a:gd name="connsiteY3" fmla="*/ 461665 h 461665"/>
                  <a:gd name="connsiteX4" fmla="*/ 236063 w 344013"/>
                  <a:gd name="connsiteY4" fmla="*/ 0 h 461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013" h="461665">
                    <a:moveTo>
                      <a:pt x="236063" y="0"/>
                    </a:moveTo>
                    <a:lnTo>
                      <a:pt x="344013" y="0"/>
                    </a:lnTo>
                    <a:lnTo>
                      <a:pt x="107950" y="461665"/>
                    </a:lnTo>
                    <a:lnTo>
                      <a:pt x="0" y="461665"/>
                    </a:lnTo>
                    <a:lnTo>
                      <a:pt x="236063" y="0"/>
                    </a:lnTo>
                    <a:close/>
                  </a:path>
                </a:pathLst>
              </a:custGeom>
              <a:solidFill>
                <a:schemeClr val="accent1">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cxnSp>
        <p:nvCxnSpPr>
          <p:cNvPr id="25" name="直接连接符 24">
            <a:extLst>
              <a:ext uri="{FF2B5EF4-FFF2-40B4-BE49-F238E27FC236}">
                <a16:creationId xmlns:a16="http://schemas.microsoft.com/office/drawing/2014/main" id="{F5177726-E438-43ED-B07E-98457F6343F7}"/>
              </a:ext>
            </a:extLst>
          </p:cNvPr>
          <p:cNvCxnSpPr/>
          <p:nvPr userDrawn="1"/>
        </p:nvCxnSpPr>
        <p:spPr>
          <a:xfrm>
            <a:off x="0" y="738828"/>
            <a:ext cx="9144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标题 1">
            <a:extLst>
              <a:ext uri="{FF2B5EF4-FFF2-40B4-BE49-F238E27FC236}">
                <a16:creationId xmlns:a16="http://schemas.microsoft.com/office/drawing/2014/main" id="{92F6DD47-FE4F-419C-96D9-91A2BB395BA1}"/>
              </a:ext>
            </a:extLst>
          </p:cNvPr>
          <p:cNvSpPr>
            <a:spLocks noGrp="1"/>
          </p:cNvSpPr>
          <p:nvPr>
            <p:ph type="title"/>
          </p:nvPr>
        </p:nvSpPr>
        <p:spPr>
          <a:xfrm>
            <a:off x="2145030" y="254000"/>
            <a:ext cx="7004050" cy="517850"/>
          </a:xfrm>
        </p:spPr>
        <p:txBody>
          <a:bodyPr>
            <a:normAutofit/>
          </a:bodyPr>
          <a:lstStyle>
            <a:lvl1pPr>
              <a:defRPr sz="2800" b="1">
                <a:solidFill>
                  <a:schemeClr val="accent2"/>
                </a:solidFill>
              </a:defRPr>
            </a:lvl1pPr>
          </a:lstStyle>
          <a:p>
            <a:r>
              <a:rPr lang="zh-CN" altLang="en-US" dirty="0"/>
              <a:t>单击此处编辑母版标题样式</a:t>
            </a:r>
          </a:p>
        </p:txBody>
      </p:sp>
      <p:sp>
        <p:nvSpPr>
          <p:cNvPr id="24" name="矩形 23">
            <a:extLst>
              <a:ext uri="{FF2B5EF4-FFF2-40B4-BE49-F238E27FC236}">
                <a16:creationId xmlns:a16="http://schemas.microsoft.com/office/drawing/2014/main" id="{D777A4BA-1AC6-4EEC-90D5-0542C1412E1C}"/>
              </a:ext>
            </a:extLst>
          </p:cNvPr>
          <p:cNvSpPr/>
          <p:nvPr userDrawn="1"/>
        </p:nvSpPr>
        <p:spPr>
          <a:xfrm>
            <a:off x="0" y="0"/>
            <a:ext cx="9144000" cy="517849"/>
          </a:xfrm>
          <a:prstGeom prst="rect">
            <a:avLst/>
          </a:prstGeom>
          <a:gradFill>
            <a:gsLst>
              <a:gs pos="0">
                <a:schemeClr val="bg1">
                  <a:alpha val="57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94637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pic>
        <p:nvPicPr>
          <p:cNvPr id="14" name="图片 13" descr="模糊的照片&#10;&#10;描述已自动生成">
            <a:extLst>
              <a:ext uri="{FF2B5EF4-FFF2-40B4-BE49-F238E27FC236}">
                <a16:creationId xmlns:a16="http://schemas.microsoft.com/office/drawing/2014/main" id="{FC9C0168-AC7B-48DD-B788-A97A4D1E0277}"/>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flipV="1">
            <a:off x="0" y="0"/>
            <a:ext cx="9144000" cy="1343025"/>
          </a:xfrm>
          <a:prstGeom prst="rect">
            <a:avLst/>
          </a:prstGeom>
        </p:spPr>
      </p:pic>
      <p:sp>
        <p:nvSpPr>
          <p:cNvPr id="18" name="矩形 17">
            <a:extLst>
              <a:ext uri="{FF2B5EF4-FFF2-40B4-BE49-F238E27FC236}">
                <a16:creationId xmlns:a16="http://schemas.microsoft.com/office/drawing/2014/main" id="{2FB2C6CD-3836-49CF-AA23-FC49274117E9}"/>
              </a:ext>
            </a:extLst>
          </p:cNvPr>
          <p:cNvSpPr/>
          <p:nvPr userDrawn="1"/>
        </p:nvSpPr>
        <p:spPr>
          <a:xfrm>
            <a:off x="1866899" y="246068"/>
            <a:ext cx="7277101" cy="482600"/>
          </a:xfrm>
          <a:prstGeom prst="rect">
            <a:avLst/>
          </a:prstGeom>
          <a:gradFill>
            <a:gsLst>
              <a:gs pos="100000">
                <a:schemeClr val="bg1">
                  <a:alpha val="0"/>
                </a:schemeClr>
              </a:gs>
              <a:gs pos="45000">
                <a:srgbClr val="0070C0">
                  <a:alpha val="2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E2E3F422-EA53-4A13-ACD2-F899EB309DC7}"/>
              </a:ext>
            </a:extLst>
          </p:cNvPr>
          <p:cNvGrpSpPr/>
          <p:nvPr userDrawn="1"/>
        </p:nvGrpSpPr>
        <p:grpSpPr>
          <a:xfrm>
            <a:off x="5080" y="256231"/>
            <a:ext cx="9138918" cy="482603"/>
            <a:chOff x="5080" y="310182"/>
            <a:chExt cx="9138918" cy="461668"/>
          </a:xfrm>
        </p:grpSpPr>
        <p:sp>
          <p:nvSpPr>
            <p:cNvPr id="20" name="任意多边形: 形状 19">
              <a:extLst>
                <a:ext uri="{FF2B5EF4-FFF2-40B4-BE49-F238E27FC236}">
                  <a16:creationId xmlns:a16="http://schemas.microsoft.com/office/drawing/2014/main" id="{7ADE69C2-3FEA-466B-B9AE-5EAEC5806FE2}"/>
                </a:ext>
              </a:extLst>
            </p:cNvPr>
            <p:cNvSpPr/>
            <p:nvPr userDrawn="1"/>
          </p:nvSpPr>
          <p:spPr>
            <a:xfrm flipH="1" flipV="1">
              <a:off x="1866899" y="310182"/>
              <a:ext cx="7277099" cy="461665"/>
            </a:xfrm>
            <a:custGeom>
              <a:avLst/>
              <a:gdLst>
                <a:gd name="connsiteX0" fmla="*/ 6924824 w 7160887"/>
                <a:gd name="connsiteY0" fmla="*/ 461665 h 461665"/>
                <a:gd name="connsiteX1" fmla="*/ 6546502 w 7160887"/>
                <a:gd name="connsiteY1" fmla="*/ 461665 h 461665"/>
                <a:gd name="connsiteX2" fmla="*/ 6517674 w 7160887"/>
                <a:gd name="connsiteY2" fmla="*/ 461665 h 461665"/>
                <a:gd name="connsiteX3" fmla="*/ 6383973 w 7160887"/>
                <a:gd name="connsiteY3" fmla="*/ 461665 h 461665"/>
                <a:gd name="connsiteX4" fmla="*/ 6250266 w 7160887"/>
                <a:gd name="connsiteY4" fmla="*/ 461665 h 461665"/>
                <a:gd name="connsiteX5" fmla="*/ 6221438 w 7160887"/>
                <a:gd name="connsiteY5" fmla="*/ 461665 h 461665"/>
                <a:gd name="connsiteX6" fmla="*/ 6087737 w 7160887"/>
                <a:gd name="connsiteY6" fmla="*/ 461665 h 461665"/>
                <a:gd name="connsiteX7" fmla="*/ 5843116 w 7160887"/>
                <a:gd name="connsiteY7" fmla="*/ 461665 h 461665"/>
                <a:gd name="connsiteX8" fmla="*/ 5721138 w 7160887"/>
                <a:gd name="connsiteY8" fmla="*/ 461665 h 461665"/>
                <a:gd name="connsiteX9" fmla="*/ 5709415 w 7160887"/>
                <a:gd name="connsiteY9" fmla="*/ 461665 h 461665"/>
                <a:gd name="connsiteX10" fmla="*/ 5680587 w 7160887"/>
                <a:gd name="connsiteY10" fmla="*/ 461665 h 461665"/>
                <a:gd name="connsiteX11" fmla="*/ 5546880 w 7160887"/>
                <a:gd name="connsiteY11" fmla="*/ 461665 h 461665"/>
                <a:gd name="connsiteX12" fmla="*/ 5424902 w 7160887"/>
                <a:gd name="connsiteY12" fmla="*/ 461665 h 461665"/>
                <a:gd name="connsiteX13" fmla="*/ 5413179 w 7160887"/>
                <a:gd name="connsiteY13" fmla="*/ 461665 h 461665"/>
                <a:gd name="connsiteX14" fmla="*/ 5384351 w 7160887"/>
                <a:gd name="connsiteY14" fmla="*/ 461665 h 461665"/>
                <a:gd name="connsiteX15" fmla="*/ 5322280 w 7160887"/>
                <a:gd name="connsiteY15" fmla="*/ 461665 h 461665"/>
                <a:gd name="connsiteX16" fmla="*/ 5317173 w 7160887"/>
                <a:gd name="connsiteY16" fmla="*/ 461665 h 461665"/>
                <a:gd name="connsiteX17" fmla="*/ 5046580 w 7160887"/>
                <a:gd name="connsiteY17" fmla="*/ 461665 h 461665"/>
                <a:gd name="connsiteX18" fmla="*/ 5026044 w 7160887"/>
                <a:gd name="connsiteY18" fmla="*/ 461665 h 461665"/>
                <a:gd name="connsiteX19" fmla="*/ 5020937 w 7160887"/>
                <a:gd name="connsiteY19" fmla="*/ 461665 h 461665"/>
                <a:gd name="connsiteX20" fmla="*/ 5017752 w 7160887"/>
                <a:gd name="connsiteY20" fmla="*/ 461665 h 461665"/>
                <a:gd name="connsiteX21" fmla="*/ 5006029 w 7160887"/>
                <a:gd name="connsiteY21" fmla="*/ 461665 h 461665"/>
                <a:gd name="connsiteX22" fmla="*/ 4884051 w 7160887"/>
                <a:gd name="connsiteY22" fmla="*/ 461665 h 461665"/>
                <a:gd name="connsiteX23" fmla="*/ 4750344 w 7160887"/>
                <a:gd name="connsiteY23" fmla="*/ 461665 h 461665"/>
                <a:gd name="connsiteX24" fmla="*/ 4721516 w 7160887"/>
                <a:gd name="connsiteY24" fmla="*/ 461665 h 461665"/>
                <a:gd name="connsiteX25" fmla="*/ 4709793 w 7160887"/>
                <a:gd name="connsiteY25" fmla="*/ 461665 h 461665"/>
                <a:gd name="connsiteX26" fmla="*/ 4647722 w 7160887"/>
                <a:gd name="connsiteY26" fmla="*/ 461665 h 461665"/>
                <a:gd name="connsiteX27" fmla="*/ 4642615 w 7160887"/>
                <a:gd name="connsiteY27" fmla="*/ 461665 h 461665"/>
                <a:gd name="connsiteX28" fmla="*/ 4618894 w 7160887"/>
                <a:gd name="connsiteY28" fmla="*/ 461665 h 461665"/>
                <a:gd name="connsiteX29" fmla="*/ 4613787 w 7160887"/>
                <a:gd name="connsiteY29" fmla="*/ 461665 h 461665"/>
                <a:gd name="connsiteX30" fmla="*/ 4587815 w 7160887"/>
                <a:gd name="connsiteY30" fmla="*/ 461665 h 461665"/>
                <a:gd name="connsiteX31" fmla="*/ 4443126 w 7160887"/>
                <a:gd name="connsiteY31" fmla="*/ 461665 h 461665"/>
                <a:gd name="connsiteX32" fmla="*/ 4351486 w 7160887"/>
                <a:gd name="connsiteY32" fmla="*/ 461665 h 461665"/>
                <a:gd name="connsiteX33" fmla="*/ 4346379 w 7160887"/>
                <a:gd name="connsiteY33" fmla="*/ 461665 h 461665"/>
                <a:gd name="connsiteX34" fmla="*/ 4343194 w 7160887"/>
                <a:gd name="connsiteY34" fmla="*/ 461665 h 461665"/>
                <a:gd name="connsiteX35" fmla="*/ 4322658 w 7160887"/>
                <a:gd name="connsiteY35" fmla="*/ 461665 h 461665"/>
                <a:gd name="connsiteX36" fmla="*/ 4317551 w 7160887"/>
                <a:gd name="connsiteY36" fmla="*/ 461665 h 461665"/>
                <a:gd name="connsiteX37" fmla="*/ 4209493 w 7160887"/>
                <a:gd name="connsiteY37" fmla="*/ 461665 h 461665"/>
                <a:gd name="connsiteX38" fmla="*/ 4180665 w 7160887"/>
                <a:gd name="connsiteY38" fmla="*/ 461665 h 461665"/>
                <a:gd name="connsiteX39" fmla="*/ 4146890 w 7160887"/>
                <a:gd name="connsiteY39" fmla="*/ 461665 h 461665"/>
                <a:gd name="connsiteX40" fmla="*/ 4046958 w 7160887"/>
                <a:gd name="connsiteY40" fmla="*/ 461665 h 461665"/>
                <a:gd name="connsiteX41" fmla="*/ 3944336 w 7160887"/>
                <a:gd name="connsiteY41" fmla="*/ 461665 h 461665"/>
                <a:gd name="connsiteX42" fmla="*/ 3939229 w 7160887"/>
                <a:gd name="connsiteY42" fmla="*/ 461665 h 461665"/>
                <a:gd name="connsiteX43" fmla="*/ 3913257 w 7160887"/>
                <a:gd name="connsiteY43" fmla="*/ 461665 h 461665"/>
                <a:gd name="connsiteX44" fmla="*/ 3884429 w 7160887"/>
                <a:gd name="connsiteY44" fmla="*/ 461665 h 461665"/>
                <a:gd name="connsiteX45" fmla="*/ 3822358 w 7160887"/>
                <a:gd name="connsiteY45" fmla="*/ 461665 h 461665"/>
                <a:gd name="connsiteX46" fmla="*/ 3817251 w 7160887"/>
                <a:gd name="connsiteY46" fmla="*/ 461665 h 461665"/>
                <a:gd name="connsiteX47" fmla="*/ 3768568 w 7160887"/>
                <a:gd name="connsiteY47" fmla="*/ 461665 h 461665"/>
                <a:gd name="connsiteX48" fmla="*/ 3739740 w 7160887"/>
                <a:gd name="connsiteY48" fmla="*/ 461665 h 461665"/>
                <a:gd name="connsiteX49" fmla="*/ 3648100 w 7160887"/>
                <a:gd name="connsiteY49" fmla="*/ 461665 h 461665"/>
                <a:gd name="connsiteX50" fmla="*/ 3642993 w 7160887"/>
                <a:gd name="connsiteY50" fmla="*/ 461665 h 461665"/>
                <a:gd name="connsiteX51" fmla="*/ 3606039 w 7160887"/>
                <a:gd name="connsiteY51" fmla="*/ 461665 h 461665"/>
                <a:gd name="connsiteX52" fmla="*/ 3526122 w 7160887"/>
                <a:gd name="connsiteY52" fmla="*/ 461665 h 461665"/>
                <a:gd name="connsiteX53" fmla="*/ 3521015 w 7160887"/>
                <a:gd name="connsiteY53" fmla="*/ 461665 h 461665"/>
                <a:gd name="connsiteX54" fmla="*/ 3506107 w 7160887"/>
                <a:gd name="connsiteY54" fmla="*/ 461665 h 461665"/>
                <a:gd name="connsiteX55" fmla="*/ 3472332 w 7160887"/>
                <a:gd name="connsiteY55" fmla="*/ 461665 h 461665"/>
                <a:gd name="connsiteX56" fmla="*/ 3443504 w 7160887"/>
                <a:gd name="connsiteY56" fmla="*/ 461665 h 461665"/>
                <a:gd name="connsiteX57" fmla="*/ 3309803 w 7160887"/>
                <a:gd name="connsiteY57" fmla="*/ 461665 h 461665"/>
                <a:gd name="connsiteX58" fmla="*/ 3281831 w 7160887"/>
                <a:gd name="connsiteY58" fmla="*/ 461665 h 461665"/>
                <a:gd name="connsiteX59" fmla="*/ 3209871 w 7160887"/>
                <a:gd name="connsiteY59" fmla="*/ 461665 h 461665"/>
                <a:gd name="connsiteX60" fmla="*/ 3147800 w 7160887"/>
                <a:gd name="connsiteY60" fmla="*/ 461665 h 461665"/>
                <a:gd name="connsiteX61" fmla="*/ 3142693 w 7160887"/>
                <a:gd name="connsiteY61" fmla="*/ 461665 h 461665"/>
                <a:gd name="connsiteX62" fmla="*/ 3118972 w 7160887"/>
                <a:gd name="connsiteY62" fmla="*/ 461665 h 461665"/>
                <a:gd name="connsiteX63" fmla="*/ 3113865 w 7160887"/>
                <a:gd name="connsiteY63" fmla="*/ 461665 h 461665"/>
                <a:gd name="connsiteX64" fmla="*/ 3065182 w 7160887"/>
                <a:gd name="connsiteY64" fmla="*/ 461665 h 461665"/>
                <a:gd name="connsiteX65" fmla="*/ 2985595 w 7160887"/>
                <a:gd name="connsiteY65" fmla="*/ 461665 h 461665"/>
                <a:gd name="connsiteX66" fmla="*/ 2931481 w 7160887"/>
                <a:gd name="connsiteY66" fmla="*/ 461665 h 461665"/>
                <a:gd name="connsiteX67" fmla="*/ 2902653 w 7160887"/>
                <a:gd name="connsiteY67" fmla="*/ 461665 h 461665"/>
                <a:gd name="connsiteX68" fmla="*/ 2851564 w 7160887"/>
                <a:gd name="connsiteY68" fmla="*/ 461665 h 461665"/>
                <a:gd name="connsiteX69" fmla="*/ 2846457 w 7160887"/>
                <a:gd name="connsiteY69" fmla="*/ 461665 h 461665"/>
                <a:gd name="connsiteX70" fmla="*/ 2822736 w 7160887"/>
                <a:gd name="connsiteY70" fmla="*/ 461665 h 461665"/>
                <a:gd name="connsiteX71" fmla="*/ 2817629 w 7160887"/>
                <a:gd name="connsiteY71" fmla="*/ 461665 h 461665"/>
                <a:gd name="connsiteX72" fmla="*/ 2768946 w 7160887"/>
                <a:gd name="connsiteY72" fmla="*/ 461665 h 461665"/>
                <a:gd name="connsiteX73" fmla="*/ 2635245 w 7160887"/>
                <a:gd name="connsiteY73" fmla="*/ 461665 h 461665"/>
                <a:gd name="connsiteX74" fmla="*/ 2607273 w 7160887"/>
                <a:gd name="connsiteY74" fmla="*/ 461665 h 461665"/>
                <a:gd name="connsiteX75" fmla="*/ 2606417 w 7160887"/>
                <a:gd name="connsiteY75" fmla="*/ 461665 h 461665"/>
                <a:gd name="connsiteX76" fmla="*/ 2578445 w 7160887"/>
                <a:gd name="connsiteY76" fmla="*/ 461665 h 461665"/>
                <a:gd name="connsiteX77" fmla="*/ 2544346 w 7160887"/>
                <a:gd name="connsiteY77" fmla="*/ 461665 h 461665"/>
                <a:gd name="connsiteX78" fmla="*/ 2539239 w 7160887"/>
                <a:gd name="connsiteY78" fmla="*/ 461665 h 461665"/>
                <a:gd name="connsiteX79" fmla="*/ 2444744 w 7160887"/>
                <a:gd name="connsiteY79" fmla="*/ 461665 h 461665"/>
                <a:gd name="connsiteX80" fmla="*/ 2444414 w 7160887"/>
                <a:gd name="connsiteY80" fmla="*/ 461665 h 461665"/>
                <a:gd name="connsiteX81" fmla="*/ 2439307 w 7160887"/>
                <a:gd name="connsiteY81" fmla="*/ 461665 h 461665"/>
                <a:gd name="connsiteX82" fmla="*/ 2311037 w 7160887"/>
                <a:gd name="connsiteY82" fmla="*/ 461665 h 461665"/>
                <a:gd name="connsiteX83" fmla="*/ 2282209 w 7160887"/>
                <a:gd name="connsiteY83" fmla="*/ 461665 h 461665"/>
                <a:gd name="connsiteX84" fmla="*/ 2248110 w 7160887"/>
                <a:gd name="connsiteY84" fmla="*/ 461665 h 461665"/>
                <a:gd name="connsiteX85" fmla="*/ 2243003 w 7160887"/>
                <a:gd name="connsiteY85" fmla="*/ 461665 h 461665"/>
                <a:gd name="connsiteX86" fmla="*/ 2228095 w 7160887"/>
                <a:gd name="connsiteY86" fmla="*/ 461665 h 461665"/>
                <a:gd name="connsiteX87" fmla="*/ 2148508 w 7160887"/>
                <a:gd name="connsiteY87" fmla="*/ 461665 h 461665"/>
                <a:gd name="connsiteX88" fmla="*/ 2148178 w 7160887"/>
                <a:gd name="connsiteY88" fmla="*/ 461665 h 461665"/>
                <a:gd name="connsiteX89" fmla="*/ 2143071 w 7160887"/>
                <a:gd name="connsiteY89" fmla="*/ 461665 h 461665"/>
                <a:gd name="connsiteX90" fmla="*/ 1931859 w 7160887"/>
                <a:gd name="connsiteY90" fmla="*/ 461665 h 461665"/>
                <a:gd name="connsiteX91" fmla="*/ 1903887 w 7160887"/>
                <a:gd name="connsiteY91" fmla="*/ 461665 h 461665"/>
                <a:gd name="connsiteX92" fmla="*/ 1869788 w 7160887"/>
                <a:gd name="connsiteY92" fmla="*/ 461665 h 461665"/>
                <a:gd name="connsiteX93" fmla="*/ 1864681 w 7160887"/>
                <a:gd name="connsiteY93" fmla="*/ 461665 h 461665"/>
                <a:gd name="connsiteX94" fmla="*/ 1840960 w 7160887"/>
                <a:gd name="connsiteY94" fmla="*/ 461665 h 461665"/>
                <a:gd name="connsiteX95" fmla="*/ 1835853 w 7160887"/>
                <a:gd name="connsiteY95" fmla="*/ 461665 h 461665"/>
                <a:gd name="connsiteX96" fmla="*/ 1770186 w 7160887"/>
                <a:gd name="connsiteY96" fmla="*/ 461665 h 461665"/>
                <a:gd name="connsiteX97" fmla="*/ 1741358 w 7160887"/>
                <a:gd name="connsiteY97" fmla="*/ 461665 h 461665"/>
                <a:gd name="connsiteX98" fmla="*/ 1607651 w 7160887"/>
                <a:gd name="connsiteY98" fmla="*/ 461665 h 461665"/>
                <a:gd name="connsiteX99" fmla="*/ 1573552 w 7160887"/>
                <a:gd name="connsiteY99" fmla="*/ 461665 h 461665"/>
                <a:gd name="connsiteX100" fmla="*/ 1568445 w 7160887"/>
                <a:gd name="connsiteY100" fmla="*/ 461665 h 461665"/>
                <a:gd name="connsiteX101" fmla="*/ 1544724 w 7160887"/>
                <a:gd name="connsiteY101" fmla="*/ 461665 h 461665"/>
                <a:gd name="connsiteX102" fmla="*/ 1539617 w 7160887"/>
                <a:gd name="connsiteY102" fmla="*/ 461665 h 461665"/>
                <a:gd name="connsiteX103" fmla="*/ 1473950 w 7160887"/>
                <a:gd name="connsiteY103" fmla="*/ 461665 h 461665"/>
                <a:gd name="connsiteX104" fmla="*/ 1445122 w 7160887"/>
                <a:gd name="connsiteY104" fmla="*/ 461665 h 461665"/>
                <a:gd name="connsiteX105" fmla="*/ 1383051 w 7160887"/>
                <a:gd name="connsiteY105" fmla="*/ 461665 h 461665"/>
                <a:gd name="connsiteX106" fmla="*/ 1377944 w 7160887"/>
                <a:gd name="connsiteY106" fmla="*/ 461665 h 461665"/>
                <a:gd name="connsiteX107" fmla="*/ 1166402 w 7160887"/>
                <a:gd name="connsiteY107" fmla="*/ 461665 h 461665"/>
                <a:gd name="connsiteX108" fmla="*/ 1161295 w 7160887"/>
                <a:gd name="connsiteY108" fmla="*/ 461665 h 461665"/>
                <a:gd name="connsiteX109" fmla="*/ 1086815 w 7160887"/>
                <a:gd name="connsiteY109" fmla="*/ 461665 h 461665"/>
                <a:gd name="connsiteX110" fmla="*/ 1081708 w 7160887"/>
                <a:gd name="connsiteY110" fmla="*/ 461665 h 461665"/>
                <a:gd name="connsiteX111" fmla="*/ 1066800 w 7160887"/>
                <a:gd name="connsiteY111" fmla="*/ 461665 h 461665"/>
                <a:gd name="connsiteX112" fmla="*/ 870166 w 7160887"/>
                <a:gd name="connsiteY112" fmla="*/ 461665 h 461665"/>
                <a:gd name="connsiteX113" fmla="*/ 865059 w 7160887"/>
                <a:gd name="connsiteY113" fmla="*/ 461665 h 461665"/>
                <a:gd name="connsiteX114" fmla="*/ 770564 w 7160887"/>
                <a:gd name="connsiteY114" fmla="*/ 461665 h 461665"/>
                <a:gd name="connsiteX115" fmla="*/ 708493 w 7160887"/>
                <a:gd name="connsiteY115" fmla="*/ 461665 h 461665"/>
                <a:gd name="connsiteX116" fmla="*/ 703386 w 7160887"/>
                <a:gd name="connsiteY116" fmla="*/ 461665 h 461665"/>
                <a:gd name="connsiteX117" fmla="*/ 679665 w 7160887"/>
                <a:gd name="connsiteY117" fmla="*/ 461665 h 461665"/>
                <a:gd name="connsiteX118" fmla="*/ 674558 w 7160887"/>
                <a:gd name="connsiteY118" fmla="*/ 461665 h 461665"/>
                <a:gd name="connsiteX119" fmla="*/ 412257 w 7160887"/>
                <a:gd name="connsiteY119" fmla="*/ 461665 h 461665"/>
                <a:gd name="connsiteX120" fmla="*/ 407150 w 7160887"/>
                <a:gd name="connsiteY120" fmla="*/ 461665 h 461665"/>
                <a:gd name="connsiteX121" fmla="*/ 383429 w 7160887"/>
                <a:gd name="connsiteY121" fmla="*/ 461665 h 461665"/>
                <a:gd name="connsiteX122" fmla="*/ 378322 w 7160887"/>
                <a:gd name="connsiteY122" fmla="*/ 461665 h 461665"/>
                <a:gd name="connsiteX123" fmla="*/ 5107 w 7160887"/>
                <a:gd name="connsiteY123" fmla="*/ 461665 h 461665"/>
                <a:gd name="connsiteX124" fmla="*/ 0 w 7160887"/>
                <a:gd name="connsiteY124" fmla="*/ 461665 h 461665"/>
                <a:gd name="connsiteX125" fmla="*/ 0 w 7160887"/>
                <a:gd name="connsiteY125" fmla="*/ 0 h 461665"/>
                <a:gd name="connsiteX126" fmla="*/ 241170 w 7160887"/>
                <a:gd name="connsiteY126" fmla="*/ 0 h 461665"/>
                <a:gd name="connsiteX127" fmla="*/ 378322 w 7160887"/>
                <a:gd name="connsiteY127" fmla="*/ 0 h 461665"/>
                <a:gd name="connsiteX128" fmla="*/ 407150 w 7160887"/>
                <a:gd name="connsiteY128" fmla="*/ 0 h 461665"/>
                <a:gd name="connsiteX129" fmla="*/ 619492 w 7160887"/>
                <a:gd name="connsiteY129" fmla="*/ 0 h 461665"/>
                <a:gd name="connsiteX130" fmla="*/ 648320 w 7160887"/>
                <a:gd name="connsiteY130" fmla="*/ 0 h 461665"/>
                <a:gd name="connsiteX131" fmla="*/ 674558 w 7160887"/>
                <a:gd name="connsiteY131" fmla="*/ 0 h 461665"/>
                <a:gd name="connsiteX132" fmla="*/ 703386 w 7160887"/>
                <a:gd name="connsiteY132" fmla="*/ 0 h 461665"/>
                <a:gd name="connsiteX133" fmla="*/ 770564 w 7160887"/>
                <a:gd name="connsiteY133" fmla="*/ 0 h 461665"/>
                <a:gd name="connsiteX134" fmla="*/ 865059 w 7160887"/>
                <a:gd name="connsiteY134" fmla="*/ 0 h 461665"/>
                <a:gd name="connsiteX135" fmla="*/ 915728 w 7160887"/>
                <a:gd name="connsiteY135" fmla="*/ 0 h 461665"/>
                <a:gd name="connsiteX136" fmla="*/ 944556 w 7160887"/>
                <a:gd name="connsiteY136" fmla="*/ 0 h 461665"/>
                <a:gd name="connsiteX137" fmla="*/ 1066800 w 7160887"/>
                <a:gd name="connsiteY137" fmla="*/ 0 h 461665"/>
                <a:gd name="connsiteX138" fmla="*/ 1081708 w 7160887"/>
                <a:gd name="connsiteY138" fmla="*/ 0 h 461665"/>
                <a:gd name="connsiteX139" fmla="*/ 1106229 w 7160887"/>
                <a:gd name="connsiteY139" fmla="*/ 0 h 461665"/>
                <a:gd name="connsiteX140" fmla="*/ 1161295 w 7160887"/>
                <a:gd name="connsiteY140" fmla="*/ 0 h 461665"/>
                <a:gd name="connsiteX141" fmla="*/ 1322878 w 7160887"/>
                <a:gd name="connsiteY141" fmla="*/ 0 h 461665"/>
                <a:gd name="connsiteX142" fmla="*/ 1377944 w 7160887"/>
                <a:gd name="connsiteY142" fmla="*/ 0 h 461665"/>
                <a:gd name="connsiteX143" fmla="*/ 1402465 w 7160887"/>
                <a:gd name="connsiteY143" fmla="*/ 0 h 461665"/>
                <a:gd name="connsiteX144" fmla="*/ 1445122 w 7160887"/>
                <a:gd name="connsiteY144" fmla="*/ 0 h 461665"/>
                <a:gd name="connsiteX145" fmla="*/ 1473950 w 7160887"/>
                <a:gd name="connsiteY145" fmla="*/ 0 h 461665"/>
                <a:gd name="connsiteX146" fmla="*/ 1539617 w 7160887"/>
                <a:gd name="connsiteY146" fmla="*/ 0 h 461665"/>
                <a:gd name="connsiteX147" fmla="*/ 1568445 w 7160887"/>
                <a:gd name="connsiteY147" fmla="*/ 0 h 461665"/>
                <a:gd name="connsiteX148" fmla="*/ 1619114 w 7160887"/>
                <a:gd name="connsiteY148" fmla="*/ 0 h 461665"/>
                <a:gd name="connsiteX149" fmla="*/ 1741358 w 7160887"/>
                <a:gd name="connsiteY149" fmla="*/ 0 h 461665"/>
                <a:gd name="connsiteX150" fmla="*/ 1770186 w 7160887"/>
                <a:gd name="connsiteY150" fmla="*/ 0 h 461665"/>
                <a:gd name="connsiteX151" fmla="*/ 1780787 w 7160887"/>
                <a:gd name="connsiteY151" fmla="*/ 0 h 461665"/>
                <a:gd name="connsiteX152" fmla="*/ 1809615 w 7160887"/>
                <a:gd name="connsiteY152" fmla="*/ 0 h 461665"/>
                <a:gd name="connsiteX153" fmla="*/ 1835853 w 7160887"/>
                <a:gd name="connsiteY153" fmla="*/ 0 h 461665"/>
                <a:gd name="connsiteX154" fmla="*/ 1843714 w 7160887"/>
                <a:gd name="connsiteY154" fmla="*/ 0 h 461665"/>
                <a:gd name="connsiteX155" fmla="*/ 1864681 w 7160887"/>
                <a:gd name="connsiteY155" fmla="*/ 0 h 461665"/>
                <a:gd name="connsiteX156" fmla="*/ 1931859 w 7160887"/>
                <a:gd name="connsiteY156" fmla="*/ 0 h 461665"/>
                <a:gd name="connsiteX157" fmla="*/ 2077023 w 7160887"/>
                <a:gd name="connsiteY157" fmla="*/ 0 h 461665"/>
                <a:gd name="connsiteX158" fmla="*/ 2105851 w 7160887"/>
                <a:gd name="connsiteY158" fmla="*/ 0 h 461665"/>
                <a:gd name="connsiteX159" fmla="*/ 2139950 w 7160887"/>
                <a:gd name="connsiteY159" fmla="*/ 0 h 461665"/>
                <a:gd name="connsiteX160" fmla="*/ 2143071 w 7160887"/>
                <a:gd name="connsiteY160" fmla="*/ 0 h 461665"/>
                <a:gd name="connsiteX161" fmla="*/ 2148508 w 7160887"/>
                <a:gd name="connsiteY161" fmla="*/ 0 h 461665"/>
                <a:gd name="connsiteX162" fmla="*/ 2228095 w 7160887"/>
                <a:gd name="connsiteY162" fmla="*/ 0 h 461665"/>
                <a:gd name="connsiteX163" fmla="*/ 2243003 w 7160887"/>
                <a:gd name="connsiteY163" fmla="*/ 0 h 461665"/>
                <a:gd name="connsiteX164" fmla="*/ 2384241 w 7160887"/>
                <a:gd name="connsiteY164" fmla="*/ 0 h 461665"/>
                <a:gd name="connsiteX165" fmla="*/ 2439307 w 7160887"/>
                <a:gd name="connsiteY165" fmla="*/ 0 h 461665"/>
                <a:gd name="connsiteX166" fmla="*/ 2444744 w 7160887"/>
                <a:gd name="connsiteY166" fmla="*/ 0 h 461665"/>
                <a:gd name="connsiteX167" fmla="*/ 2484173 w 7160887"/>
                <a:gd name="connsiteY167" fmla="*/ 0 h 461665"/>
                <a:gd name="connsiteX168" fmla="*/ 2518272 w 7160887"/>
                <a:gd name="connsiteY168" fmla="*/ 0 h 461665"/>
                <a:gd name="connsiteX169" fmla="*/ 2539239 w 7160887"/>
                <a:gd name="connsiteY169" fmla="*/ 0 h 461665"/>
                <a:gd name="connsiteX170" fmla="*/ 2547100 w 7160887"/>
                <a:gd name="connsiteY170" fmla="*/ 0 h 461665"/>
                <a:gd name="connsiteX171" fmla="*/ 2606417 w 7160887"/>
                <a:gd name="connsiteY171" fmla="*/ 0 h 461665"/>
                <a:gd name="connsiteX172" fmla="*/ 2635245 w 7160887"/>
                <a:gd name="connsiteY172" fmla="*/ 0 h 461665"/>
                <a:gd name="connsiteX173" fmla="*/ 2680477 w 7160887"/>
                <a:gd name="connsiteY173" fmla="*/ 0 h 461665"/>
                <a:gd name="connsiteX174" fmla="*/ 2780409 w 7160887"/>
                <a:gd name="connsiteY174" fmla="*/ 0 h 461665"/>
                <a:gd name="connsiteX175" fmla="*/ 2814508 w 7160887"/>
                <a:gd name="connsiteY175" fmla="*/ 0 h 461665"/>
                <a:gd name="connsiteX176" fmla="*/ 2817629 w 7160887"/>
                <a:gd name="connsiteY176" fmla="*/ 0 h 461665"/>
                <a:gd name="connsiteX177" fmla="*/ 2843336 w 7160887"/>
                <a:gd name="connsiteY177" fmla="*/ 0 h 461665"/>
                <a:gd name="connsiteX178" fmla="*/ 2846457 w 7160887"/>
                <a:gd name="connsiteY178" fmla="*/ 0 h 461665"/>
                <a:gd name="connsiteX179" fmla="*/ 2902653 w 7160887"/>
                <a:gd name="connsiteY179" fmla="*/ 0 h 461665"/>
                <a:gd name="connsiteX180" fmla="*/ 2931481 w 7160887"/>
                <a:gd name="connsiteY180" fmla="*/ 0 h 461665"/>
                <a:gd name="connsiteX181" fmla="*/ 3005009 w 7160887"/>
                <a:gd name="connsiteY181" fmla="*/ 0 h 461665"/>
                <a:gd name="connsiteX182" fmla="*/ 3058799 w 7160887"/>
                <a:gd name="connsiteY182" fmla="*/ 0 h 461665"/>
                <a:gd name="connsiteX183" fmla="*/ 3087627 w 7160887"/>
                <a:gd name="connsiteY183" fmla="*/ 0 h 461665"/>
                <a:gd name="connsiteX184" fmla="*/ 3113865 w 7160887"/>
                <a:gd name="connsiteY184" fmla="*/ 0 h 461665"/>
                <a:gd name="connsiteX185" fmla="*/ 3142693 w 7160887"/>
                <a:gd name="connsiteY185" fmla="*/ 0 h 461665"/>
                <a:gd name="connsiteX186" fmla="*/ 3209871 w 7160887"/>
                <a:gd name="connsiteY186" fmla="*/ 0 h 461665"/>
                <a:gd name="connsiteX187" fmla="*/ 3221658 w 7160887"/>
                <a:gd name="connsiteY187" fmla="*/ 0 h 461665"/>
                <a:gd name="connsiteX188" fmla="*/ 3301245 w 7160887"/>
                <a:gd name="connsiteY188" fmla="*/ 0 h 461665"/>
                <a:gd name="connsiteX189" fmla="*/ 3309803 w 7160887"/>
                <a:gd name="connsiteY189" fmla="*/ 0 h 461665"/>
                <a:gd name="connsiteX190" fmla="*/ 3355035 w 7160887"/>
                <a:gd name="connsiteY190" fmla="*/ 0 h 461665"/>
                <a:gd name="connsiteX191" fmla="*/ 3383863 w 7160887"/>
                <a:gd name="connsiteY191" fmla="*/ 0 h 461665"/>
                <a:gd name="connsiteX192" fmla="*/ 3506107 w 7160887"/>
                <a:gd name="connsiteY192" fmla="*/ 0 h 461665"/>
                <a:gd name="connsiteX193" fmla="*/ 3517894 w 7160887"/>
                <a:gd name="connsiteY193" fmla="*/ 0 h 461665"/>
                <a:gd name="connsiteX194" fmla="*/ 3521015 w 7160887"/>
                <a:gd name="connsiteY194" fmla="*/ 0 h 461665"/>
                <a:gd name="connsiteX195" fmla="*/ 3606039 w 7160887"/>
                <a:gd name="connsiteY195" fmla="*/ 0 h 461665"/>
                <a:gd name="connsiteX196" fmla="*/ 3642993 w 7160887"/>
                <a:gd name="connsiteY196" fmla="*/ 0 h 461665"/>
                <a:gd name="connsiteX197" fmla="*/ 3679567 w 7160887"/>
                <a:gd name="connsiteY197" fmla="*/ 0 h 461665"/>
                <a:gd name="connsiteX198" fmla="*/ 3708395 w 7160887"/>
                <a:gd name="connsiteY198" fmla="*/ 0 h 461665"/>
                <a:gd name="connsiteX199" fmla="*/ 3762185 w 7160887"/>
                <a:gd name="connsiteY199" fmla="*/ 0 h 461665"/>
                <a:gd name="connsiteX200" fmla="*/ 3817251 w 7160887"/>
                <a:gd name="connsiteY200" fmla="*/ 0 h 461665"/>
                <a:gd name="connsiteX201" fmla="*/ 3884163 w 7160887"/>
                <a:gd name="connsiteY201" fmla="*/ 0 h 461665"/>
                <a:gd name="connsiteX202" fmla="*/ 3884429 w 7160887"/>
                <a:gd name="connsiteY202" fmla="*/ 0 h 461665"/>
                <a:gd name="connsiteX203" fmla="*/ 3913257 w 7160887"/>
                <a:gd name="connsiteY203" fmla="*/ 0 h 461665"/>
                <a:gd name="connsiteX204" fmla="*/ 3939229 w 7160887"/>
                <a:gd name="connsiteY204" fmla="*/ 0 h 461665"/>
                <a:gd name="connsiteX205" fmla="*/ 3975803 w 7160887"/>
                <a:gd name="connsiteY205" fmla="*/ 0 h 461665"/>
                <a:gd name="connsiteX206" fmla="*/ 4004631 w 7160887"/>
                <a:gd name="connsiteY206" fmla="*/ 0 h 461665"/>
                <a:gd name="connsiteX207" fmla="*/ 4058421 w 7160887"/>
                <a:gd name="connsiteY207" fmla="*/ 0 h 461665"/>
                <a:gd name="connsiteX208" fmla="*/ 4180399 w 7160887"/>
                <a:gd name="connsiteY208" fmla="*/ 0 h 461665"/>
                <a:gd name="connsiteX209" fmla="*/ 4180665 w 7160887"/>
                <a:gd name="connsiteY209" fmla="*/ 0 h 461665"/>
                <a:gd name="connsiteX210" fmla="*/ 4209493 w 7160887"/>
                <a:gd name="connsiteY210" fmla="*/ 0 h 461665"/>
                <a:gd name="connsiteX211" fmla="*/ 4283021 w 7160887"/>
                <a:gd name="connsiteY211" fmla="*/ 0 h 461665"/>
                <a:gd name="connsiteX212" fmla="*/ 4317551 w 7160887"/>
                <a:gd name="connsiteY212" fmla="*/ 0 h 461665"/>
                <a:gd name="connsiteX213" fmla="*/ 4346379 w 7160887"/>
                <a:gd name="connsiteY213" fmla="*/ 0 h 461665"/>
                <a:gd name="connsiteX214" fmla="*/ 4382953 w 7160887"/>
                <a:gd name="connsiteY214" fmla="*/ 0 h 461665"/>
                <a:gd name="connsiteX215" fmla="*/ 4558721 w 7160887"/>
                <a:gd name="connsiteY215" fmla="*/ 0 h 461665"/>
                <a:gd name="connsiteX216" fmla="*/ 4579257 w 7160887"/>
                <a:gd name="connsiteY216" fmla="*/ 0 h 461665"/>
                <a:gd name="connsiteX217" fmla="*/ 4587549 w 7160887"/>
                <a:gd name="connsiteY217" fmla="*/ 0 h 461665"/>
                <a:gd name="connsiteX218" fmla="*/ 4587815 w 7160887"/>
                <a:gd name="connsiteY218" fmla="*/ 0 h 461665"/>
                <a:gd name="connsiteX219" fmla="*/ 4613787 w 7160887"/>
                <a:gd name="connsiteY219" fmla="*/ 0 h 461665"/>
                <a:gd name="connsiteX220" fmla="*/ 4642615 w 7160887"/>
                <a:gd name="connsiteY220" fmla="*/ 0 h 461665"/>
                <a:gd name="connsiteX221" fmla="*/ 4679189 w 7160887"/>
                <a:gd name="connsiteY221" fmla="*/ 0 h 461665"/>
                <a:gd name="connsiteX222" fmla="*/ 4709793 w 7160887"/>
                <a:gd name="connsiteY222" fmla="*/ 0 h 461665"/>
                <a:gd name="connsiteX223" fmla="*/ 4854957 w 7160887"/>
                <a:gd name="connsiteY223" fmla="*/ 0 h 461665"/>
                <a:gd name="connsiteX224" fmla="*/ 4883785 w 7160887"/>
                <a:gd name="connsiteY224" fmla="*/ 0 h 461665"/>
                <a:gd name="connsiteX225" fmla="*/ 4884051 w 7160887"/>
                <a:gd name="connsiteY225" fmla="*/ 0 h 461665"/>
                <a:gd name="connsiteX226" fmla="*/ 4957579 w 7160887"/>
                <a:gd name="connsiteY226" fmla="*/ 0 h 461665"/>
                <a:gd name="connsiteX227" fmla="*/ 4986407 w 7160887"/>
                <a:gd name="connsiteY227" fmla="*/ 0 h 461665"/>
                <a:gd name="connsiteX228" fmla="*/ 5006029 w 7160887"/>
                <a:gd name="connsiteY228" fmla="*/ 0 h 461665"/>
                <a:gd name="connsiteX229" fmla="*/ 5020937 w 7160887"/>
                <a:gd name="connsiteY229" fmla="*/ 0 h 461665"/>
                <a:gd name="connsiteX230" fmla="*/ 5253815 w 7160887"/>
                <a:gd name="connsiteY230" fmla="*/ 0 h 461665"/>
                <a:gd name="connsiteX231" fmla="*/ 5262107 w 7160887"/>
                <a:gd name="connsiteY231" fmla="*/ 0 h 461665"/>
                <a:gd name="connsiteX232" fmla="*/ 5282643 w 7160887"/>
                <a:gd name="connsiteY232" fmla="*/ 0 h 461665"/>
                <a:gd name="connsiteX233" fmla="*/ 5317173 w 7160887"/>
                <a:gd name="connsiteY233" fmla="*/ 0 h 461665"/>
                <a:gd name="connsiteX234" fmla="*/ 5384351 w 7160887"/>
                <a:gd name="connsiteY234" fmla="*/ 0 h 461665"/>
                <a:gd name="connsiteX235" fmla="*/ 5413179 w 7160887"/>
                <a:gd name="connsiteY235" fmla="*/ 0 h 461665"/>
                <a:gd name="connsiteX236" fmla="*/ 5558343 w 7160887"/>
                <a:gd name="connsiteY236" fmla="*/ 0 h 461665"/>
                <a:gd name="connsiteX237" fmla="*/ 5660965 w 7160887"/>
                <a:gd name="connsiteY237" fmla="*/ 0 h 461665"/>
                <a:gd name="connsiteX238" fmla="*/ 5680587 w 7160887"/>
                <a:gd name="connsiteY238" fmla="*/ 0 h 461665"/>
                <a:gd name="connsiteX239" fmla="*/ 5709415 w 7160887"/>
                <a:gd name="connsiteY239" fmla="*/ 0 h 461665"/>
                <a:gd name="connsiteX240" fmla="*/ 5782943 w 7160887"/>
                <a:gd name="connsiteY240" fmla="*/ 0 h 461665"/>
                <a:gd name="connsiteX241" fmla="*/ 5957201 w 7160887"/>
                <a:gd name="connsiteY241" fmla="*/ 0 h 461665"/>
                <a:gd name="connsiteX242" fmla="*/ 6079179 w 7160887"/>
                <a:gd name="connsiteY242" fmla="*/ 0 h 461665"/>
                <a:gd name="connsiteX243" fmla="*/ 6087737 w 7160887"/>
                <a:gd name="connsiteY243" fmla="*/ 0 h 461665"/>
                <a:gd name="connsiteX244" fmla="*/ 6383973 w 7160887"/>
                <a:gd name="connsiteY244" fmla="*/ 0 h 461665"/>
                <a:gd name="connsiteX245" fmla="*/ 6457501 w 7160887"/>
                <a:gd name="connsiteY245" fmla="*/ 0 h 461665"/>
                <a:gd name="connsiteX246" fmla="*/ 6486329 w 7160887"/>
                <a:gd name="connsiteY246" fmla="*/ 0 h 461665"/>
                <a:gd name="connsiteX247" fmla="*/ 6753737 w 7160887"/>
                <a:gd name="connsiteY247" fmla="*/ 0 h 461665"/>
                <a:gd name="connsiteX248" fmla="*/ 6782565 w 7160887"/>
                <a:gd name="connsiteY248" fmla="*/ 0 h 461665"/>
                <a:gd name="connsiteX249" fmla="*/ 7160887 w 7160887"/>
                <a:gd name="connsiteY249" fmla="*/ 0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7160887" h="461665">
                  <a:moveTo>
                    <a:pt x="6924824" y="461665"/>
                  </a:moveTo>
                  <a:lnTo>
                    <a:pt x="6546502" y="461665"/>
                  </a:lnTo>
                  <a:lnTo>
                    <a:pt x="6517674" y="461665"/>
                  </a:lnTo>
                  <a:lnTo>
                    <a:pt x="6383973" y="461665"/>
                  </a:lnTo>
                  <a:lnTo>
                    <a:pt x="6250266" y="461665"/>
                  </a:lnTo>
                  <a:lnTo>
                    <a:pt x="6221438" y="461665"/>
                  </a:lnTo>
                  <a:lnTo>
                    <a:pt x="6087737" y="461665"/>
                  </a:lnTo>
                  <a:lnTo>
                    <a:pt x="5843116" y="461665"/>
                  </a:lnTo>
                  <a:lnTo>
                    <a:pt x="5721138" y="461665"/>
                  </a:lnTo>
                  <a:lnTo>
                    <a:pt x="5709415" y="461665"/>
                  </a:lnTo>
                  <a:lnTo>
                    <a:pt x="5680587" y="461665"/>
                  </a:lnTo>
                  <a:lnTo>
                    <a:pt x="5546880" y="461665"/>
                  </a:lnTo>
                  <a:lnTo>
                    <a:pt x="5424902" y="461665"/>
                  </a:lnTo>
                  <a:lnTo>
                    <a:pt x="5413179" y="461665"/>
                  </a:lnTo>
                  <a:lnTo>
                    <a:pt x="5384351" y="461665"/>
                  </a:lnTo>
                  <a:lnTo>
                    <a:pt x="5322280" y="461665"/>
                  </a:lnTo>
                  <a:lnTo>
                    <a:pt x="5317173" y="461665"/>
                  </a:lnTo>
                  <a:lnTo>
                    <a:pt x="5046580" y="461665"/>
                  </a:lnTo>
                  <a:lnTo>
                    <a:pt x="5026044" y="461665"/>
                  </a:lnTo>
                  <a:lnTo>
                    <a:pt x="5020937" y="461665"/>
                  </a:lnTo>
                  <a:lnTo>
                    <a:pt x="5017752" y="461665"/>
                  </a:lnTo>
                  <a:lnTo>
                    <a:pt x="5006029" y="461665"/>
                  </a:lnTo>
                  <a:lnTo>
                    <a:pt x="4884051" y="461665"/>
                  </a:lnTo>
                  <a:lnTo>
                    <a:pt x="4750344" y="461665"/>
                  </a:lnTo>
                  <a:lnTo>
                    <a:pt x="4721516" y="461665"/>
                  </a:lnTo>
                  <a:lnTo>
                    <a:pt x="4709793" y="461665"/>
                  </a:lnTo>
                  <a:lnTo>
                    <a:pt x="4647722" y="461665"/>
                  </a:lnTo>
                  <a:lnTo>
                    <a:pt x="4642615" y="461665"/>
                  </a:lnTo>
                  <a:lnTo>
                    <a:pt x="4618894" y="461665"/>
                  </a:lnTo>
                  <a:lnTo>
                    <a:pt x="4613787" y="461665"/>
                  </a:lnTo>
                  <a:lnTo>
                    <a:pt x="4587815" y="461665"/>
                  </a:lnTo>
                  <a:lnTo>
                    <a:pt x="4443126" y="461665"/>
                  </a:lnTo>
                  <a:lnTo>
                    <a:pt x="4351486" y="461665"/>
                  </a:lnTo>
                  <a:lnTo>
                    <a:pt x="4346379" y="461665"/>
                  </a:lnTo>
                  <a:lnTo>
                    <a:pt x="4343194" y="461665"/>
                  </a:lnTo>
                  <a:lnTo>
                    <a:pt x="4322658" y="461665"/>
                  </a:lnTo>
                  <a:lnTo>
                    <a:pt x="4317551" y="461665"/>
                  </a:lnTo>
                  <a:lnTo>
                    <a:pt x="4209493" y="461665"/>
                  </a:lnTo>
                  <a:lnTo>
                    <a:pt x="4180665" y="461665"/>
                  </a:lnTo>
                  <a:lnTo>
                    <a:pt x="4146890" y="461665"/>
                  </a:lnTo>
                  <a:lnTo>
                    <a:pt x="4046958" y="461665"/>
                  </a:lnTo>
                  <a:lnTo>
                    <a:pt x="3944336" y="461665"/>
                  </a:lnTo>
                  <a:lnTo>
                    <a:pt x="3939229" y="461665"/>
                  </a:lnTo>
                  <a:lnTo>
                    <a:pt x="3913257" y="461665"/>
                  </a:lnTo>
                  <a:lnTo>
                    <a:pt x="3884429" y="461665"/>
                  </a:lnTo>
                  <a:lnTo>
                    <a:pt x="3822358" y="461665"/>
                  </a:lnTo>
                  <a:lnTo>
                    <a:pt x="3817251" y="461665"/>
                  </a:lnTo>
                  <a:lnTo>
                    <a:pt x="3768568" y="461665"/>
                  </a:lnTo>
                  <a:lnTo>
                    <a:pt x="3739740" y="461665"/>
                  </a:lnTo>
                  <a:lnTo>
                    <a:pt x="3648100" y="461665"/>
                  </a:lnTo>
                  <a:lnTo>
                    <a:pt x="3642993" y="461665"/>
                  </a:lnTo>
                  <a:lnTo>
                    <a:pt x="3606039" y="461665"/>
                  </a:lnTo>
                  <a:lnTo>
                    <a:pt x="3526122" y="461665"/>
                  </a:lnTo>
                  <a:lnTo>
                    <a:pt x="3521015" y="461665"/>
                  </a:lnTo>
                  <a:lnTo>
                    <a:pt x="3506107" y="461665"/>
                  </a:lnTo>
                  <a:lnTo>
                    <a:pt x="3472332" y="461665"/>
                  </a:lnTo>
                  <a:lnTo>
                    <a:pt x="3443504" y="461665"/>
                  </a:lnTo>
                  <a:lnTo>
                    <a:pt x="3309803" y="461665"/>
                  </a:lnTo>
                  <a:lnTo>
                    <a:pt x="3281831" y="461665"/>
                  </a:lnTo>
                  <a:lnTo>
                    <a:pt x="3209871" y="461665"/>
                  </a:lnTo>
                  <a:lnTo>
                    <a:pt x="3147800" y="461665"/>
                  </a:lnTo>
                  <a:lnTo>
                    <a:pt x="3142693" y="461665"/>
                  </a:lnTo>
                  <a:lnTo>
                    <a:pt x="3118972" y="461665"/>
                  </a:lnTo>
                  <a:lnTo>
                    <a:pt x="3113865" y="461665"/>
                  </a:lnTo>
                  <a:lnTo>
                    <a:pt x="3065182" y="461665"/>
                  </a:lnTo>
                  <a:lnTo>
                    <a:pt x="2985595" y="461665"/>
                  </a:lnTo>
                  <a:lnTo>
                    <a:pt x="2931481" y="461665"/>
                  </a:lnTo>
                  <a:lnTo>
                    <a:pt x="2902653" y="461665"/>
                  </a:lnTo>
                  <a:lnTo>
                    <a:pt x="2851564" y="461665"/>
                  </a:lnTo>
                  <a:lnTo>
                    <a:pt x="2846457" y="461665"/>
                  </a:lnTo>
                  <a:lnTo>
                    <a:pt x="2822736" y="461665"/>
                  </a:lnTo>
                  <a:lnTo>
                    <a:pt x="2817629" y="461665"/>
                  </a:lnTo>
                  <a:lnTo>
                    <a:pt x="2768946" y="461665"/>
                  </a:lnTo>
                  <a:lnTo>
                    <a:pt x="2635245" y="461665"/>
                  </a:lnTo>
                  <a:lnTo>
                    <a:pt x="2607273" y="461665"/>
                  </a:lnTo>
                  <a:lnTo>
                    <a:pt x="2606417" y="461665"/>
                  </a:lnTo>
                  <a:lnTo>
                    <a:pt x="2578445" y="461665"/>
                  </a:lnTo>
                  <a:lnTo>
                    <a:pt x="2544346" y="461665"/>
                  </a:lnTo>
                  <a:lnTo>
                    <a:pt x="2539239" y="461665"/>
                  </a:lnTo>
                  <a:lnTo>
                    <a:pt x="2444744" y="461665"/>
                  </a:lnTo>
                  <a:lnTo>
                    <a:pt x="2444414" y="461665"/>
                  </a:lnTo>
                  <a:lnTo>
                    <a:pt x="2439307" y="461665"/>
                  </a:lnTo>
                  <a:lnTo>
                    <a:pt x="2311037" y="461665"/>
                  </a:lnTo>
                  <a:lnTo>
                    <a:pt x="2282209" y="461665"/>
                  </a:lnTo>
                  <a:lnTo>
                    <a:pt x="2248110" y="461665"/>
                  </a:lnTo>
                  <a:lnTo>
                    <a:pt x="2243003" y="461665"/>
                  </a:lnTo>
                  <a:lnTo>
                    <a:pt x="2228095" y="461665"/>
                  </a:lnTo>
                  <a:lnTo>
                    <a:pt x="2148508" y="461665"/>
                  </a:lnTo>
                  <a:lnTo>
                    <a:pt x="2148178" y="461665"/>
                  </a:lnTo>
                  <a:lnTo>
                    <a:pt x="2143071" y="461665"/>
                  </a:lnTo>
                  <a:lnTo>
                    <a:pt x="1931859" y="461665"/>
                  </a:lnTo>
                  <a:lnTo>
                    <a:pt x="1903887" y="461665"/>
                  </a:lnTo>
                  <a:lnTo>
                    <a:pt x="1869788" y="461665"/>
                  </a:lnTo>
                  <a:lnTo>
                    <a:pt x="1864681" y="461665"/>
                  </a:lnTo>
                  <a:lnTo>
                    <a:pt x="1840960" y="461665"/>
                  </a:lnTo>
                  <a:lnTo>
                    <a:pt x="1835853" y="461665"/>
                  </a:lnTo>
                  <a:lnTo>
                    <a:pt x="1770186" y="461665"/>
                  </a:lnTo>
                  <a:lnTo>
                    <a:pt x="1741358" y="461665"/>
                  </a:lnTo>
                  <a:lnTo>
                    <a:pt x="1607651" y="461665"/>
                  </a:lnTo>
                  <a:lnTo>
                    <a:pt x="1573552" y="461665"/>
                  </a:lnTo>
                  <a:lnTo>
                    <a:pt x="1568445" y="461665"/>
                  </a:lnTo>
                  <a:lnTo>
                    <a:pt x="1544724" y="461665"/>
                  </a:lnTo>
                  <a:lnTo>
                    <a:pt x="1539617" y="461665"/>
                  </a:lnTo>
                  <a:lnTo>
                    <a:pt x="1473950" y="461665"/>
                  </a:lnTo>
                  <a:lnTo>
                    <a:pt x="1445122" y="461665"/>
                  </a:lnTo>
                  <a:lnTo>
                    <a:pt x="1383051" y="461665"/>
                  </a:lnTo>
                  <a:lnTo>
                    <a:pt x="1377944" y="461665"/>
                  </a:lnTo>
                  <a:lnTo>
                    <a:pt x="1166402" y="461665"/>
                  </a:lnTo>
                  <a:lnTo>
                    <a:pt x="1161295" y="461665"/>
                  </a:lnTo>
                  <a:lnTo>
                    <a:pt x="1086815" y="461665"/>
                  </a:lnTo>
                  <a:lnTo>
                    <a:pt x="1081708" y="461665"/>
                  </a:lnTo>
                  <a:lnTo>
                    <a:pt x="1066800" y="461665"/>
                  </a:lnTo>
                  <a:lnTo>
                    <a:pt x="870166" y="461665"/>
                  </a:lnTo>
                  <a:lnTo>
                    <a:pt x="865059" y="461665"/>
                  </a:lnTo>
                  <a:lnTo>
                    <a:pt x="770564" y="461665"/>
                  </a:lnTo>
                  <a:lnTo>
                    <a:pt x="708493" y="461665"/>
                  </a:lnTo>
                  <a:lnTo>
                    <a:pt x="703386" y="461665"/>
                  </a:lnTo>
                  <a:lnTo>
                    <a:pt x="679665" y="461665"/>
                  </a:lnTo>
                  <a:lnTo>
                    <a:pt x="674558" y="461665"/>
                  </a:lnTo>
                  <a:lnTo>
                    <a:pt x="412257" y="461665"/>
                  </a:lnTo>
                  <a:lnTo>
                    <a:pt x="407150" y="461665"/>
                  </a:lnTo>
                  <a:lnTo>
                    <a:pt x="383429" y="461665"/>
                  </a:lnTo>
                  <a:lnTo>
                    <a:pt x="378322" y="461665"/>
                  </a:lnTo>
                  <a:lnTo>
                    <a:pt x="5107" y="461665"/>
                  </a:lnTo>
                  <a:lnTo>
                    <a:pt x="0" y="461665"/>
                  </a:lnTo>
                  <a:lnTo>
                    <a:pt x="0" y="0"/>
                  </a:lnTo>
                  <a:lnTo>
                    <a:pt x="241170" y="0"/>
                  </a:lnTo>
                  <a:lnTo>
                    <a:pt x="378322" y="0"/>
                  </a:lnTo>
                  <a:lnTo>
                    <a:pt x="407150" y="0"/>
                  </a:lnTo>
                  <a:lnTo>
                    <a:pt x="619492" y="0"/>
                  </a:lnTo>
                  <a:lnTo>
                    <a:pt x="648320" y="0"/>
                  </a:lnTo>
                  <a:lnTo>
                    <a:pt x="674558" y="0"/>
                  </a:lnTo>
                  <a:lnTo>
                    <a:pt x="703386" y="0"/>
                  </a:lnTo>
                  <a:lnTo>
                    <a:pt x="770564" y="0"/>
                  </a:lnTo>
                  <a:lnTo>
                    <a:pt x="865059" y="0"/>
                  </a:lnTo>
                  <a:lnTo>
                    <a:pt x="915728" y="0"/>
                  </a:lnTo>
                  <a:lnTo>
                    <a:pt x="944556" y="0"/>
                  </a:lnTo>
                  <a:lnTo>
                    <a:pt x="1066800" y="0"/>
                  </a:lnTo>
                  <a:lnTo>
                    <a:pt x="1081708" y="0"/>
                  </a:lnTo>
                  <a:lnTo>
                    <a:pt x="1106229" y="0"/>
                  </a:lnTo>
                  <a:lnTo>
                    <a:pt x="1161295" y="0"/>
                  </a:lnTo>
                  <a:lnTo>
                    <a:pt x="1322878" y="0"/>
                  </a:lnTo>
                  <a:lnTo>
                    <a:pt x="1377944" y="0"/>
                  </a:lnTo>
                  <a:lnTo>
                    <a:pt x="1402465" y="0"/>
                  </a:lnTo>
                  <a:lnTo>
                    <a:pt x="1445122" y="0"/>
                  </a:lnTo>
                  <a:lnTo>
                    <a:pt x="1473950" y="0"/>
                  </a:lnTo>
                  <a:lnTo>
                    <a:pt x="1539617" y="0"/>
                  </a:lnTo>
                  <a:lnTo>
                    <a:pt x="1568445" y="0"/>
                  </a:lnTo>
                  <a:lnTo>
                    <a:pt x="1619114" y="0"/>
                  </a:lnTo>
                  <a:lnTo>
                    <a:pt x="1741358" y="0"/>
                  </a:lnTo>
                  <a:lnTo>
                    <a:pt x="1770186" y="0"/>
                  </a:lnTo>
                  <a:lnTo>
                    <a:pt x="1780787" y="0"/>
                  </a:lnTo>
                  <a:lnTo>
                    <a:pt x="1809615" y="0"/>
                  </a:lnTo>
                  <a:lnTo>
                    <a:pt x="1835853" y="0"/>
                  </a:lnTo>
                  <a:lnTo>
                    <a:pt x="1843714" y="0"/>
                  </a:lnTo>
                  <a:lnTo>
                    <a:pt x="1864681" y="0"/>
                  </a:lnTo>
                  <a:lnTo>
                    <a:pt x="1931859" y="0"/>
                  </a:lnTo>
                  <a:lnTo>
                    <a:pt x="2077023" y="0"/>
                  </a:lnTo>
                  <a:lnTo>
                    <a:pt x="2105851" y="0"/>
                  </a:lnTo>
                  <a:lnTo>
                    <a:pt x="2139950" y="0"/>
                  </a:lnTo>
                  <a:lnTo>
                    <a:pt x="2143071" y="0"/>
                  </a:lnTo>
                  <a:lnTo>
                    <a:pt x="2148508" y="0"/>
                  </a:lnTo>
                  <a:lnTo>
                    <a:pt x="2228095" y="0"/>
                  </a:lnTo>
                  <a:lnTo>
                    <a:pt x="2243003" y="0"/>
                  </a:lnTo>
                  <a:lnTo>
                    <a:pt x="2384241" y="0"/>
                  </a:lnTo>
                  <a:lnTo>
                    <a:pt x="2439307" y="0"/>
                  </a:lnTo>
                  <a:lnTo>
                    <a:pt x="2444744" y="0"/>
                  </a:lnTo>
                  <a:lnTo>
                    <a:pt x="2484173" y="0"/>
                  </a:lnTo>
                  <a:lnTo>
                    <a:pt x="2518272" y="0"/>
                  </a:lnTo>
                  <a:lnTo>
                    <a:pt x="2539239" y="0"/>
                  </a:lnTo>
                  <a:lnTo>
                    <a:pt x="2547100" y="0"/>
                  </a:lnTo>
                  <a:lnTo>
                    <a:pt x="2606417" y="0"/>
                  </a:lnTo>
                  <a:lnTo>
                    <a:pt x="2635245" y="0"/>
                  </a:lnTo>
                  <a:lnTo>
                    <a:pt x="2680477" y="0"/>
                  </a:lnTo>
                  <a:lnTo>
                    <a:pt x="2780409" y="0"/>
                  </a:lnTo>
                  <a:lnTo>
                    <a:pt x="2814508" y="0"/>
                  </a:lnTo>
                  <a:lnTo>
                    <a:pt x="2817629" y="0"/>
                  </a:lnTo>
                  <a:lnTo>
                    <a:pt x="2843336" y="0"/>
                  </a:lnTo>
                  <a:lnTo>
                    <a:pt x="2846457" y="0"/>
                  </a:lnTo>
                  <a:lnTo>
                    <a:pt x="2902653" y="0"/>
                  </a:lnTo>
                  <a:lnTo>
                    <a:pt x="2931481" y="0"/>
                  </a:lnTo>
                  <a:lnTo>
                    <a:pt x="3005009" y="0"/>
                  </a:lnTo>
                  <a:lnTo>
                    <a:pt x="3058799" y="0"/>
                  </a:lnTo>
                  <a:lnTo>
                    <a:pt x="3087627" y="0"/>
                  </a:lnTo>
                  <a:lnTo>
                    <a:pt x="3113865" y="0"/>
                  </a:lnTo>
                  <a:lnTo>
                    <a:pt x="3142693" y="0"/>
                  </a:lnTo>
                  <a:lnTo>
                    <a:pt x="3209871" y="0"/>
                  </a:lnTo>
                  <a:lnTo>
                    <a:pt x="3221658" y="0"/>
                  </a:lnTo>
                  <a:lnTo>
                    <a:pt x="3301245" y="0"/>
                  </a:lnTo>
                  <a:lnTo>
                    <a:pt x="3309803" y="0"/>
                  </a:lnTo>
                  <a:lnTo>
                    <a:pt x="3355035" y="0"/>
                  </a:lnTo>
                  <a:lnTo>
                    <a:pt x="3383863" y="0"/>
                  </a:lnTo>
                  <a:lnTo>
                    <a:pt x="3506107" y="0"/>
                  </a:lnTo>
                  <a:lnTo>
                    <a:pt x="3517894" y="0"/>
                  </a:lnTo>
                  <a:lnTo>
                    <a:pt x="3521015" y="0"/>
                  </a:lnTo>
                  <a:lnTo>
                    <a:pt x="3606039" y="0"/>
                  </a:lnTo>
                  <a:lnTo>
                    <a:pt x="3642993" y="0"/>
                  </a:lnTo>
                  <a:lnTo>
                    <a:pt x="3679567" y="0"/>
                  </a:lnTo>
                  <a:lnTo>
                    <a:pt x="3708395" y="0"/>
                  </a:lnTo>
                  <a:lnTo>
                    <a:pt x="3762185" y="0"/>
                  </a:lnTo>
                  <a:lnTo>
                    <a:pt x="3817251" y="0"/>
                  </a:lnTo>
                  <a:lnTo>
                    <a:pt x="3884163" y="0"/>
                  </a:lnTo>
                  <a:lnTo>
                    <a:pt x="3884429" y="0"/>
                  </a:lnTo>
                  <a:lnTo>
                    <a:pt x="3913257" y="0"/>
                  </a:lnTo>
                  <a:lnTo>
                    <a:pt x="3939229" y="0"/>
                  </a:lnTo>
                  <a:lnTo>
                    <a:pt x="3975803" y="0"/>
                  </a:lnTo>
                  <a:lnTo>
                    <a:pt x="4004631" y="0"/>
                  </a:lnTo>
                  <a:lnTo>
                    <a:pt x="4058421" y="0"/>
                  </a:lnTo>
                  <a:lnTo>
                    <a:pt x="4180399" y="0"/>
                  </a:lnTo>
                  <a:lnTo>
                    <a:pt x="4180665" y="0"/>
                  </a:lnTo>
                  <a:lnTo>
                    <a:pt x="4209493" y="0"/>
                  </a:lnTo>
                  <a:lnTo>
                    <a:pt x="4283021" y="0"/>
                  </a:lnTo>
                  <a:lnTo>
                    <a:pt x="4317551" y="0"/>
                  </a:lnTo>
                  <a:lnTo>
                    <a:pt x="4346379" y="0"/>
                  </a:lnTo>
                  <a:lnTo>
                    <a:pt x="4382953" y="0"/>
                  </a:lnTo>
                  <a:lnTo>
                    <a:pt x="4558721" y="0"/>
                  </a:lnTo>
                  <a:lnTo>
                    <a:pt x="4579257" y="0"/>
                  </a:lnTo>
                  <a:lnTo>
                    <a:pt x="4587549" y="0"/>
                  </a:lnTo>
                  <a:lnTo>
                    <a:pt x="4587815" y="0"/>
                  </a:lnTo>
                  <a:lnTo>
                    <a:pt x="4613787" y="0"/>
                  </a:lnTo>
                  <a:lnTo>
                    <a:pt x="4642615" y="0"/>
                  </a:lnTo>
                  <a:lnTo>
                    <a:pt x="4679189" y="0"/>
                  </a:lnTo>
                  <a:lnTo>
                    <a:pt x="4709793" y="0"/>
                  </a:lnTo>
                  <a:lnTo>
                    <a:pt x="4854957" y="0"/>
                  </a:lnTo>
                  <a:lnTo>
                    <a:pt x="4883785" y="0"/>
                  </a:lnTo>
                  <a:lnTo>
                    <a:pt x="4884051" y="0"/>
                  </a:lnTo>
                  <a:lnTo>
                    <a:pt x="4957579" y="0"/>
                  </a:lnTo>
                  <a:lnTo>
                    <a:pt x="4986407" y="0"/>
                  </a:lnTo>
                  <a:lnTo>
                    <a:pt x="5006029" y="0"/>
                  </a:lnTo>
                  <a:lnTo>
                    <a:pt x="5020937" y="0"/>
                  </a:lnTo>
                  <a:lnTo>
                    <a:pt x="5253815" y="0"/>
                  </a:lnTo>
                  <a:lnTo>
                    <a:pt x="5262107" y="0"/>
                  </a:lnTo>
                  <a:lnTo>
                    <a:pt x="5282643" y="0"/>
                  </a:lnTo>
                  <a:lnTo>
                    <a:pt x="5317173" y="0"/>
                  </a:lnTo>
                  <a:lnTo>
                    <a:pt x="5384351" y="0"/>
                  </a:lnTo>
                  <a:lnTo>
                    <a:pt x="5413179" y="0"/>
                  </a:lnTo>
                  <a:lnTo>
                    <a:pt x="5558343" y="0"/>
                  </a:lnTo>
                  <a:lnTo>
                    <a:pt x="5660965" y="0"/>
                  </a:lnTo>
                  <a:lnTo>
                    <a:pt x="5680587" y="0"/>
                  </a:lnTo>
                  <a:lnTo>
                    <a:pt x="5709415" y="0"/>
                  </a:lnTo>
                  <a:lnTo>
                    <a:pt x="5782943" y="0"/>
                  </a:lnTo>
                  <a:lnTo>
                    <a:pt x="5957201" y="0"/>
                  </a:lnTo>
                  <a:lnTo>
                    <a:pt x="6079179" y="0"/>
                  </a:lnTo>
                  <a:lnTo>
                    <a:pt x="6087737" y="0"/>
                  </a:lnTo>
                  <a:lnTo>
                    <a:pt x="6383973" y="0"/>
                  </a:lnTo>
                  <a:lnTo>
                    <a:pt x="6457501" y="0"/>
                  </a:lnTo>
                  <a:lnTo>
                    <a:pt x="6486329" y="0"/>
                  </a:lnTo>
                  <a:lnTo>
                    <a:pt x="6753737" y="0"/>
                  </a:lnTo>
                  <a:lnTo>
                    <a:pt x="6782565" y="0"/>
                  </a:lnTo>
                  <a:lnTo>
                    <a:pt x="7160887" y="0"/>
                  </a:lnTo>
                  <a:close/>
                </a:path>
              </a:pathLst>
            </a:cu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1" name="组合 20">
              <a:extLst>
                <a:ext uri="{FF2B5EF4-FFF2-40B4-BE49-F238E27FC236}">
                  <a16:creationId xmlns:a16="http://schemas.microsoft.com/office/drawing/2014/main" id="{3090E394-CAD8-4608-AB3C-095707B38B74}"/>
                </a:ext>
              </a:extLst>
            </p:cNvPr>
            <p:cNvGrpSpPr/>
            <p:nvPr userDrawn="1"/>
          </p:nvGrpSpPr>
          <p:grpSpPr>
            <a:xfrm>
              <a:off x="5080" y="310184"/>
              <a:ext cx="2139950" cy="461666"/>
              <a:chOff x="5080" y="257852"/>
              <a:chExt cx="2139950" cy="461666"/>
            </a:xfrm>
          </p:grpSpPr>
          <p:sp>
            <p:nvSpPr>
              <p:cNvPr id="22" name="任意多边形: 形状 21">
                <a:extLst>
                  <a:ext uri="{FF2B5EF4-FFF2-40B4-BE49-F238E27FC236}">
                    <a16:creationId xmlns:a16="http://schemas.microsoft.com/office/drawing/2014/main" id="{F6F21DC9-2B4B-4F31-B714-6947A7102FF1}"/>
                  </a:ext>
                </a:extLst>
              </p:cNvPr>
              <p:cNvSpPr/>
              <p:nvPr/>
            </p:nvSpPr>
            <p:spPr>
              <a:xfrm>
                <a:off x="5080" y="257853"/>
                <a:ext cx="2139950" cy="461665"/>
              </a:xfrm>
              <a:custGeom>
                <a:avLst/>
                <a:gdLst>
                  <a:gd name="connsiteX0" fmla="*/ 0 w 2139950"/>
                  <a:gd name="connsiteY0" fmla="*/ 0 h 461665"/>
                  <a:gd name="connsiteX1" fmla="*/ 241170 w 2139950"/>
                  <a:gd name="connsiteY1" fmla="*/ 0 h 461665"/>
                  <a:gd name="connsiteX2" fmla="*/ 1066800 w 2139950"/>
                  <a:gd name="connsiteY2" fmla="*/ 0 h 461665"/>
                  <a:gd name="connsiteX3" fmla="*/ 2139950 w 2139950"/>
                  <a:gd name="connsiteY3" fmla="*/ 0 h 461665"/>
                  <a:gd name="connsiteX4" fmla="*/ 1903887 w 2139950"/>
                  <a:gd name="connsiteY4" fmla="*/ 461665 h 461665"/>
                  <a:gd name="connsiteX5" fmla="*/ 1066800 w 2139950"/>
                  <a:gd name="connsiteY5" fmla="*/ 461665 h 461665"/>
                  <a:gd name="connsiteX6" fmla="*/ 5107 w 2139950"/>
                  <a:gd name="connsiteY6" fmla="*/ 461665 h 461665"/>
                  <a:gd name="connsiteX7" fmla="*/ 0 w 2139950"/>
                  <a:gd name="connsiteY7" fmla="*/ 461665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9950" h="461665">
                    <a:moveTo>
                      <a:pt x="0" y="0"/>
                    </a:moveTo>
                    <a:lnTo>
                      <a:pt x="241170" y="0"/>
                    </a:lnTo>
                    <a:lnTo>
                      <a:pt x="1066800" y="0"/>
                    </a:lnTo>
                    <a:lnTo>
                      <a:pt x="2139950" y="0"/>
                    </a:lnTo>
                    <a:lnTo>
                      <a:pt x="1903887" y="461665"/>
                    </a:lnTo>
                    <a:lnTo>
                      <a:pt x="1066800" y="461665"/>
                    </a:lnTo>
                    <a:lnTo>
                      <a:pt x="5107" y="461665"/>
                    </a:lnTo>
                    <a:lnTo>
                      <a:pt x="0" y="461665"/>
                    </a:lnTo>
                    <a:close/>
                  </a:path>
                </a:pathLst>
              </a:cu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3" name="任意多边形: 形状 22">
                <a:extLst>
                  <a:ext uri="{FF2B5EF4-FFF2-40B4-BE49-F238E27FC236}">
                    <a16:creationId xmlns:a16="http://schemas.microsoft.com/office/drawing/2014/main" id="{26A6280D-7387-42D7-AF50-4A27EF082C83}"/>
                  </a:ext>
                </a:extLst>
              </p:cNvPr>
              <p:cNvSpPr/>
              <p:nvPr/>
            </p:nvSpPr>
            <p:spPr>
              <a:xfrm>
                <a:off x="1743091" y="257852"/>
                <a:ext cx="344013" cy="461665"/>
              </a:xfrm>
              <a:custGeom>
                <a:avLst/>
                <a:gdLst>
                  <a:gd name="connsiteX0" fmla="*/ 236063 w 344013"/>
                  <a:gd name="connsiteY0" fmla="*/ 0 h 461665"/>
                  <a:gd name="connsiteX1" fmla="*/ 344013 w 344013"/>
                  <a:gd name="connsiteY1" fmla="*/ 0 h 461665"/>
                  <a:gd name="connsiteX2" fmla="*/ 107950 w 344013"/>
                  <a:gd name="connsiteY2" fmla="*/ 461665 h 461665"/>
                  <a:gd name="connsiteX3" fmla="*/ 0 w 344013"/>
                  <a:gd name="connsiteY3" fmla="*/ 461665 h 461665"/>
                  <a:gd name="connsiteX4" fmla="*/ 236063 w 344013"/>
                  <a:gd name="connsiteY4" fmla="*/ 0 h 461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013" h="461665">
                    <a:moveTo>
                      <a:pt x="236063" y="0"/>
                    </a:moveTo>
                    <a:lnTo>
                      <a:pt x="344013" y="0"/>
                    </a:lnTo>
                    <a:lnTo>
                      <a:pt x="107950" y="461665"/>
                    </a:lnTo>
                    <a:lnTo>
                      <a:pt x="0" y="461665"/>
                    </a:lnTo>
                    <a:lnTo>
                      <a:pt x="236063" y="0"/>
                    </a:lnTo>
                    <a:close/>
                  </a:path>
                </a:pathLst>
              </a:custGeom>
              <a:solidFill>
                <a:schemeClr val="accent1">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cxnSp>
        <p:nvCxnSpPr>
          <p:cNvPr id="25" name="直接连接符 24">
            <a:extLst>
              <a:ext uri="{FF2B5EF4-FFF2-40B4-BE49-F238E27FC236}">
                <a16:creationId xmlns:a16="http://schemas.microsoft.com/office/drawing/2014/main" id="{F5177726-E438-43ED-B07E-98457F6343F7}"/>
              </a:ext>
            </a:extLst>
          </p:cNvPr>
          <p:cNvCxnSpPr/>
          <p:nvPr userDrawn="1"/>
        </p:nvCxnSpPr>
        <p:spPr>
          <a:xfrm>
            <a:off x="0" y="738828"/>
            <a:ext cx="9144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标题 1">
            <a:extLst>
              <a:ext uri="{FF2B5EF4-FFF2-40B4-BE49-F238E27FC236}">
                <a16:creationId xmlns:a16="http://schemas.microsoft.com/office/drawing/2014/main" id="{92F6DD47-FE4F-419C-96D9-91A2BB395BA1}"/>
              </a:ext>
            </a:extLst>
          </p:cNvPr>
          <p:cNvSpPr>
            <a:spLocks noGrp="1"/>
          </p:cNvSpPr>
          <p:nvPr>
            <p:ph type="title"/>
          </p:nvPr>
        </p:nvSpPr>
        <p:spPr>
          <a:xfrm>
            <a:off x="2145030" y="254000"/>
            <a:ext cx="7004050" cy="517850"/>
          </a:xfrm>
        </p:spPr>
        <p:txBody>
          <a:bodyPr>
            <a:normAutofit/>
          </a:bodyPr>
          <a:lstStyle>
            <a:lvl1pPr>
              <a:defRPr sz="2800" b="1">
                <a:solidFill>
                  <a:schemeClr val="accent2"/>
                </a:solidFill>
              </a:defRPr>
            </a:lvl1pPr>
          </a:lstStyle>
          <a:p>
            <a:r>
              <a:rPr lang="zh-CN" altLang="en-US" dirty="0"/>
              <a:t>单击此处编辑母版标题样式</a:t>
            </a:r>
          </a:p>
        </p:txBody>
      </p:sp>
      <p:sp>
        <p:nvSpPr>
          <p:cNvPr id="24" name="矩形 23">
            <a:extLst>
              <a:ext uri="{FF2B5EF4-FFF2-40B4-BE49-F238E27FC236}">
                <a16:creationId xmlns:a16="http://schemas.microsoft.com/office/drawing/2014/main" id="{D777A4BA-1AC6-4EEC-90D5-0542C1412E1C}"/>
              </a:ext>
            </a:extLst>
          </p:cNvPr>
          <p:cNvSpPr/>
          <p:nvPr userDrawn="1"/>
        </p:nvSpPr>
        <p:spPr>
          <a:xfrm>
            <a:off x="0" y="0"/>
            <a:ext cx="9144000" cy="517849"/>
          </a:xfrm>
          <a:prstGeom prst="rect">
            <a:avLst/>
          </a:prstGeom>
          <a:gradFill>
            <a:gsLst>
              <a:gs pos="0">
                <a:schemeClr val="bg1">
                  <a:alpha val="57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39796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pic>
        <p:nvPicPr>
          <p:cNvPr id="4" name="图片 3" descr="模糊的照片&#10;&#10;描述已自动生成">
            <a:extLst>
              <a:ext uri="{FF2B5EF4-FFF2-40B4-BE49-F238E27FC236}">
                <a16:creationId xmlns:a16="http://schemas.microsoft.com/office/drawing/2014/main" id="{A5C398AC-7251-4DA5-9D25-17ECF7F18E86}"/>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flipV="1">
            <a:off x="0" y="0"/>
            <a:ext cx="9144000" cy="1343025"/>
          </a:xfrm>
          <a:prstGeom prst="rect">
            <a:avLst/>
          </a:prstGeom>
        </p:spPr>
      </p:pic>
      <p:sp>
        <p:nvSpPr>
          <p:cNvPr id="11" name="矩形 10">
            <a:extLst>
              <a:ext uri="{FF2B5EF4-FFF2-40B4-BE49-F238E27FC236}">
                <a16:creationId xmlns:a16="http://schemas.microsoft.com/office/drawing/2014/main" id="{13A84F40-B29D-4F22-90DE-8D5E45F08205}"/>
              </a:ext>
            </a:extLst>
          </p:cNvPr>
          <p:cNvSpPr/>
          <p:nvPr userDrawn="1"/>
        </p:nvSpPr>
        <p:spPr>
          <a:xfrm>
            <a:off x="254001" y="246068"/>
            <a:ext cx="8890000" cy="482600"/>
          </a:xfrm>
          <a:prstGeom prst="rect">
            <a:avLst/>
          </a:prstGeom>
          <a:gradFill>
            <a:gsLst>
              <a:gs pos="100000">
                <a:schemeClr val="bg1">
                  <a:alpha val="0"/>
                </a:schemeClr>
              </a:gs>
              <a:gs pos="45000">
                <a:srgbClr val="0070C0">
                  <a:alpha val="2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a:extLst>
              <a:ext uri="{FF2B5EF4-FFF2-40B4-BE49-F238E27FC236}">
                <a16:creationId xmlns:a16="http://schemas.microsoft.com/office/drawing/2014/main" id="{FD988BA6-9744-4147-AEEC-067DF23F777F}"/>
              </a:ext>
            </a:extLst>
          </p:cNvPr>
          <p:cNvSpPr/>
          <p:nvPr userDrawn="1"/>
        </p:nvSpPr>
        <p:spPr>
          <a:xfrm>
            <a:off x="5080" y="254001"/>
            <a:ext cx="541362" cy="482600"/>
          </a:xfrm>
          <a:custGeom>
            <a:avLst/>
            <a:gdLst>
              <a:gd name="connsiteX0" fmla="*/ 0 w 541362"/>
              <a:gd name="connsiteY0" fmla="*/ 0 h 482600"/>
              <a:gd name="connsiteX1" fmla="*/ 241170 w 541362"/>
              <a:gd name="connsiteY1" fmla="*/ 0 h 482600"/>
              <a:gd name="connsiteX2" fmla="*/ 541362 w 541362"/>
              <a:gd name="connsiteY2" fmla="*/ 0 h 482600"/>
              <a:gd name="connsiteX3" fmla="*/ 305299 w 541362"/>
              <a:gd name="connsiteY3" fmla="*/ 482600 h 482600"/>
              <a:gd name="connsiteX4" fmla="*/ 5107 w 541362"/>
              <a:gd name="connsiteY4" fmla="*/ 482600 h 482600"/>
              <a:gd name="connsiteX5" fmla="*/ 0 w 541362"/>
              <a:gd name="connsiteY5" fmla="*/ 482600 h 48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362" h="482600">
                <a:moveTo>
                  <a:pt x="0" y="0"/>
                </a:moveTo>
                <a:lnTo>
                  <a:pt x="241170" y="0"/>
                </a:lnTo>
                <a:lnTo>
                  <a:pt x="541362" y="0"/>
                </a:lnTo>
                <a:lnTo>
                  <a:pt x="305299" y="482600"/>
                </a:lnTo>
                <a:lnTo>
                  <a:pt x="5107" y="482600"/>
                </a:lnTo>
                <a:lnTo>
                  <a:pt x="0" y="482600"/>
                </a:lnTo>
                <a:close/>
              </a:path>
            </a:pathLst>
          </a:cu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5" name="任意多边形: 形状 14">
            <a:extLst>
              <a:ext uri="{FF2B5EF4-FFF2-40B4-BE49-F238E27FC236}">
                <a16:creationId xmlns:a16="http://schemas.microsoft.com/office/drawing/2014/main" id="{E1DF5B17-5660-4E62-9533-3C609E788D8D}"/>
              </a:ext>
            </a:extLst>
          </p:cNvPr>
          <p:cNvSpPr/>
          <p:nvPr userDrawn="1"/>
        </p:nvSpPr>
        <p:spPr>
          <a:xfrm>
            <a:off x="168310" y="254000"/>
            <a:ext cx="344013" cy="482600"/>
          </a:xfrm>
          <a:custGeom>
            <a:avLst/>
            <a:gdLst>
              <a:gd name="connsiteX0" fmla="*/ 236063 w 344013"/>
              <a:gd name="connsiteY0" fmla="*/ 0 h 461665"/>
              <a:gd name="connsiteX1" fmla="*/ 344013 w 344013"/>
              <a:gd name="connsiteY1" fmla="*/ 0 h 461665"/>
              <a:gd name="connsiteX2" fmla="*/ 107950 w 344013"/>
              <a:gd name="connsiteY2" fmla="*/ 461665 h 461665"/>
              <a:gd name="connsiteX3" fmla="*/ 0 w 344013"/>
              <a:gd name="connsiteY3" fmla="*/ 461665 h 461665"/>
              <a:gd name="connsiteX4" fmla="*/ 236063 w 344013"/>
              <a:gd name="connsiteY4" fmla="*/ 0 h 461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013" h="461665">
                <a:moveTo>
                  <a:pt x="236063" y="0"/>
                </a:moveTo>
                <a:lnTo>
                  <a:pt x="344013" y="0"/>
                </a:lnTo>
                <a:lnTo>
                  <a:pt x="107950" y="461665"/>
                </a:lnTo>
                <a:lnTo>
                  <a:pt x="0" y="461665"/>
                </a:lnTo>
                <a:lnTo>
                  <a:pt x="236063" y="0"/>
                </a:lnTo>
                <a:close/>
              </a:path>
            </a:pathLst>
          </a:custGeom>
          <a:solidFill>
            <a:schemeClr val="accent1">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2" name="直接连接符 11">
            <a:extLst>
              <a:ext uri="{FF2B5EF4-FFF2-40B4-BE49-F238E27FC236}">
                <a16:creationId xmlns:a16="http://schemas.microsoft.com/office/drawing/2014/main" id="{F1674EC2-129A-444C-9579-649924F65046}"/>
              </a:ext>
            </a:extLst>
          </p:cNvPr>
          <p:cNvCxnSpPr/>
          <p:nvPr userDrawn="1"/>
        </p:nvCxnSpPr>
        <p:spPr>
          <a:xfrm>
            <a:off x="0" y="738828"/>
            <a:ext cx="9144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2EB59381-7429-4F9A-A89E-273F3CFF5EDB}"/>
              </a:ext>
            </a:extLst>
          </p:cNvPr>
          <p:cNvSpPr/>
          <p:nvPr userDrawn="1"/>
        </p:nvSpPr>
        <p:spPr>
          <a:xfrm>
            <a:off x="0" y="0"/>
            <a:ext cx="9144000" cy="517849"/>
          </a:xfrm>
          <a:prstGeom prst="rect">
            <a:avLst/>
          </a:prstGeom>
          <a:gradFill>
            <a:gsLst>
              <a:gs pos="0">
                <a:schemeClr val="bg1">
                  <a:alpha val="57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a:extLst>
              <a:ext uri="{FF2B5EF4-FFF2-40B4-BE49-F238E27FC236}">
                <a16:creationId xmlns:a16="http://schemas.microsoft.com/office/drawing/2014/main" id="{8CAC7C9E-DF88-475C-A9E6-4198CF361754}"/>
              </a:ext>
            </a:extLst>
          </p:cNvPr>
          <p:cNvSpPr>
            <a:spLocks noGrp="1"/>
          </p:cNvSpPr>
          <p:nvPr>
            <p:ph type="title"/>
          </p:nvPr>
        </p:nvSpPr>
        <p:spPr>
          <a:xfrm>
            <a:off x="628650" y="254000"/>
            <a:ext cx="8510270" cy="517850"/>
          </a:xfrm>
        </p:spPr>
        <p:txBody>
          <a:bodyPr>
            <a:normAutofit/>
          </a:bodyPr>
          <a:lstStyle>
            <a:lvl1pPr>
              <a:defRPr sz="2800" b="1">
                <a:solidFill>
                  <a:schemeClr val="accent2"/>
                </a:solidFill>
              </a:defRPr>
            </a:lvl1pPr>
          </a:lstStyle>
          <a:p>
            <a:r>
              <a:rPr lang="zh-CN" altLang="en-US" dirty="0"/>
              <a:t>单击此处编辑母版标题样式</a:t>
            </a:r>
          </a:p>
        </p:txBody>
      </p:sp>
      <p:sp>
        <p:nvSpPr>
          <p:cNvPr id="10" name="文本框 9">
            <a:extLst>
              <a:ext uri="{FF2B5EF4-FFF2-40B4-BE49-F238E27FC236}">
                <a16:creationId xmlns:a16="http://schemas.microsoft.com/office/drawing/2014/main" id="{79E19C64-431E-47EB-956E-46F43B1182BD}"/>
              </a:ext>
            </a:extLst>
          </p:cNvPr>
          <p:cNvSpPr txBox="1"/>
          <p:nvPr userDrawn="1"/>
        </p:nvSpPr>
        <p:spPr>
          <a:xfrm>
            <a:off x="8343900" y="6547604"/>
            <a:ext cx="767080" cy="276999"/>
          </a:xfrm>
          <a:prstGeom prst="rect">
            <a:avLst/>
          </a:prstGeom>
          <a:noFill/>
        </p:spPr>
        <p:txBody>
          <a:bodyPr wrap="square">
            <a:spAutoFit/>
          </a:bodyPr>
          <a:lstStyle/>
          <a:p>
            <a:pPr algn="r"/>
            <a:fld id="{D6D57904-7FC0-41E2-8B65-E7FBA2E33408}" type="slidenum">
              <a:rPr lang="zh-CN" altLang="en-US" sz="1200" smtClean="0">
                <a:solidFill>
                  <a:schemeClr val="tx1">
                    <a:lumMod val="65000"/>
                    <a:lumOff val="35000"/>
                  </a:schemeClr>
                </a:solidFill>
              </a:rPr>
              <a:pPr algn="r"/>
              <a:t>‹#›</a:t>
            </a:fld>
            <a:endParaRPr lang="en-US" altLang="zh-CN" sz="1200" dirty="0">
              <a:solidFill>
                <a:schemeClr val="tx1">
                  <a:lumMod val="65000"/>
                  <a:lumOff val="35000"/>
                </a:schemeClr>
              </a:solidFill>
            </a:endParaRPr>
          </a:p>
        </p:txBody>
      </p:sp>
    </p:spTree>
    <p:extLst>
      <p:ext uri="{BB962C8B-B14F-4D97-AF65-F5344CB8AC3E}">
        <p14:creationId xmlns:p14="http://schemas.microsoft.com/office/powerpoint/2010/main" val="548778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3804122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1470703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descr="图片包含 游戏机, 电子, 电路&#10;&#10;描述已自动生成">
            <a:extLst>
              <a:ext uri="{FF2B5EF4-FFF2-40B4-BE49-F238E27FC236}">
                <a16:creationId xmlns:a16="http://schemas.microsoft.com/office/drawing/2014/main" id="{D913223E-13B8-4D47-90B9-B99A0860C059}"/>
              </a:ext>
            </a:extLst>
          </p:cNvPr>
          <p:cNvPicPr>
            <a:picLocks noChangeAspect="1"/>
          </p:cNvPicPr>
          <p:nvPr userDrawn="1"/>
        </p:nvPicPr>
        <p:blipFill rotWithShape="1">
          <a:blip r:embed="rId2">
            <a:alphaModFix amt="35000"/>
            <a:duotone>
              <a:schemeClr val="accent1">
                <a:shade val="45000"/>
                <a:satMod val="135000"/>
              </a:schemeClr>
              <a:prstClr val="white"/>
            </a:duotone>
            <a:extLst>
              <a:ext uri="{28A0092B-C50C-407E-A947-70E740481C1C}">
                <a14:useLocalDpi xmlns:a14="http://schemas.microsoft.com/office/drawing/2010/main" val="0"/>
              </a:ext>
            </a:extLst>
          </a:blip>
          <a:srcRect t="33501"/>
          <a:stretch/>
        </p:blipFill>
        <p:spPr>
          <a:xfrm>
            <a:off x="0" y="2806861"/>
            <a:ext cx="9144000" cy="4053764"/>
          </a:xfrm>
          <a:prstGeom prst="rect">
            <a:avLst/>
          </a:prstGeom>
        </p:spPr>
      </p:pic>
      <p:sp>
        <p:nvSpPr>
          <p:cNvPr id="6" name="矩形 5">
            <a:extLst>
              <a:ext uri="{FF2B5EF4-FFF2-40B4-BE49-F238E27FC236}">
                <a16:creationId xmlns:a16="http://schemas.microsoft.com/office/drawing/2014/main" id="{22823304-15E4-45FE-A62E-1EC27EC1473E}"/>
              </a:ext>
            </a:extLst>
          </p:cNvPr>
          <p:cNvSpPr/>
          <p:nvPr userDrawn="1"/>
        </p:nvSpPr>
        <p:spPr>
          <a:xfrm>
            <a:off x="0" y="2806860"/>
            <a:ext cx="9144000" cy="2889089"/>
          </a:xfrm>
          <a:prstGeom prst="rect">
            <a:avLst/>
          </a:prstGeom>
          <a:gradFill>
            <a:gsLst>
              <a:gs pos="31000">
                <a:schemeClr val="bg1"/>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89086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3608516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1540679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985602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237236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387137-136D-4AF1-A586-BCEC52457A6B}" type="datetimeFigureOut">
              <a:rPr lang="zh-CN" altLang="en-US" smtClean="0"/>
              <a:t>2025/4/7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4486289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73" r:id="rId4"/>
    <p:sldLayoutId id="2147483672"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任意多边形: 形状 43">
            <a:extLst>
              <a:ext uri="{FF2B5EF4-FFF2-40B4-BE49-F238E27FC236}">
                <a16:creationId xmlns:a16="http://schemas.microsoft.com/office/drawing/2014/main" id="{F903EF8C-13D3-422C-9C3F-5EECC23210A7}"/>
              </a:ext>
            </a:extLst>
          </p:cNvPr>
          <p:cNvSpPr/>
          <p:nvPr/>
        </p:nvSpPr>
        <p:spPr>
          <a:xfrm>
            <a:off x="-3002" y="70339"/>
            <a:ext cx="9144000" cy="1972884"/>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4" name="图片 3" descr="图片包含 游戏机, 电子, 电路&#10;&#10;描述已自动生成">
            <a:extLst>
              <a:ext uri="{FF2B5EF4-FFF2-40B4-BE49-F238E27FC236}">
                <a16:creationId xmlns:a16="http://schemas.microsoft.com/office/drawing/2014/main" id="{7267D691-9E5F-4B76-AC48-75808F7659EC}"/>
              </a:ext>
            </a:extLst>
          </p:cNvPr>
          <p:cNvPicPr>
            <a:picLocks noChangeAspect="1"/>
          </p:cNvPicPr>
          <p:nvPr/>
        </p:nvPicPr>
        <p:blipFill rotWithShape="1">
          <a:blip r:embed="rId3">
            <a:alphaModFix amt="35000"/>
            <a:duotone>
              <a:schemeClr val="accent1">
                <a:shade val="45000"/>
                <a:satMod val="135000"/>
              </a:schemeClr>
              <a:prstClr val="white"/>
            </a:duotone>
            <a:extLst>
              <a:ext uri="{28A0092B-C50C-407E-A947-70E740481C1C}">
                <a14:useLocalDpi xmlns:a14="http://schemas.microsoft.com/office/drawing/2010/main" val="0"/>
              </a:ext>
            </a:extLst>
          </a:blip>
          <a:srcRect t="33501"/>
          <a:stretch/>
        </p:blipFill>
        <p:spPr>
          <a:xfrm>
            <a:off x="0" y="2823486"/>
            <a:ext cx="9144000" cy="4053764"/>
          </a:xfrm>
          <a:prstGeom prst="rect">
            <a:avLst/>
          </a:prstGeom>
        </p:spPr>
      </p:pic>
      <p:grpSp>
        <p:nvGrpSpPr>
          <p:cNvPr id="43" name="组合 42">
            <a:extLst>
              <a:ext uri="{FF2B5EF4-FFF2-40B4-BE49-F238E27FC236}">
                <a16:creationId xmlns:a16="http://schemas.microsoft.com/office/drawing/2014/main" id="{5059C803-46ED-4E2F-A5E4-357C7C1F5003}"/>
              </a:ext>
            </a:extLst>
          </p:cNvPr>
          <p:cNvGrpSpPr/>
          <p:nvPr/>
        </p:nvGrpSpPr>
        <p:grpSpPr>
          <a:xfrm>
            <a:off x="0" y="1686560"/>
            <a:ext cx="9144000" cy="3110396"/>
            <a:chOff x="0" y="1854055"/>
            <a:chExt cx="9144000" cy="3149891"/>
          </a:xfrm>
        </p:grpSpPr>
        <p:sp>
          <p:nvSpPr>
            <p:cNvPr id="36" name="任意多边形: 形状 35">
              <a:extLst>
                <a:ext uri="{FF2B5EF4-FFF2-40B4-BE49-F238E27FC236}">
                  <a16:creationId xmlns:a16="http://schemas.microsoft.com/office/drawing/2014/main" id="{1CC174CC-5E51-4D15-B389-913DF819886D}"/>
                </a:ext>
              </a:extLst>
            </p:cNvPr>
            <p:cNvSpPr/>
            <p:nvPr/>
          </p:nvSpPr>
          <p:spPr>
            <a:xfrm flipV="1">
              <a:off x="0" y="1854055"/>
              <a:ext cx="9144000" cy="3149891"/>
            </a:xfrm>
            <a:custGeom>
              <a:avLst/>
              <a:gdLst>
                <a:gd name="connsiteX0" fmla="*/ 0 w 9144000"/>
                <a:gd name="connsiteY0" fmla="*/ 3022396 h 3022396"/>
                <a:gd name="connsiteX1" fmla="*/ 182855 w 9144000"/>
                <a:gd name="connsiteY1" fmla="*/ 2991446 h 3022396"/>
                <a:gd name="connsiteX2" fmla="*/ 4572000 w 9144000"/>
                <a:gd name="connsiteY2" fmla="*/ 2690394 h 3022396"/>
                <a:gd name="connsiteX3" fmla="*/ 8961145 w 9144000"/>
                <a:gd name="connsiteY3" fmla="*/ 2991446 h 3022396"/>
                <a:gd name="connsiteX4" fmla="*/ 9144000 w 9144000"/>
                <a:gd name="connsiteY4" fmla="*/ 3022396 h 3022396"/>
                <a:gd name="connsiteX5" fmla="*/ 9144000 w 9144000"/>
                <a:gd name="connsiteY5" fmla="*/ 2113213 h 3022396"/>
                <a:gd name="connsiteX6" fmla="*/ 9144000 w 9144000"/>
                <a:gd name="connsiteY6" fmla="*/ 909183 h 3022396"/>
                <a:gd name="connsiteX7" fmla="*/ 9144000 w 9144000"/>
                <a:gd name="connsiteY7" fmla="*/ 0 h 3022396"/>
                <a:gd name="connsiteX8" fmla="*/ 8961145 w 9144000"/>
                <a:gd name="connsiteY8" fmla="*/ 30950 h 3022396"/>
                <a:gd name="connsiteX9" fmla="*/ 4572000 w 9144000"/>
                <a:gd name="connsiteY9" fmla="*/ 332003 h 3022396"/>
                <a:gd name="connsiteX10" fmla="*/ 182855 w 9144000"/>
                <a:gd name="connsiteY10" fmla="*/ 30950 h 3022396"/>
                <a:gd name="connsiteX11" fmla="*/ 0 w 9144000"/>
                <a:gd name="connsiteY11" fmla="*/ 0 h 3022396"/>
                <a:gd name="connsiteX12" fmla="*/ 0 w 9144000"/>
                <a:gd name="connsiteY12" fmla="*/ 909183 h 3022396"/>
                <a:gd name="connsiteX13" fmla="*/ 0 w 9144000"/>
                <a:gd name="connsiteY13" fmla="*/ 2113213 h 3022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3022396">
                  <a:moveTo>
                    <a:pt x="0" y="3022396"/>
                  </a:moveTo>
                  <a:lnTo>
                    <a:pt x="182855" y="2991446"/>
                  </a:lnTo>
                  <a:cubicBezTo>
                    <a:pt x="1342108" y="2804396"/>
                    <a:pt x="2882061" y="2690394"/>
                    <a:pt x="4572000" y="2690394"/>
                  </a:cubicBezTo>
                  <a:cubicBezTo>
                    <a:pt x="6261940" y="2690394"/>
                    <a:pt x="7801892" y="2804396"/>
                    <a:pt x="8961145" y="2991446"/>
                  </a:cubicBezTo>
                  <a:lnTo>
                    <a:pt x="9144000" y="3022396"/>
                  </a:lnTo>
                  <a:lnTo>
                    <a:pt x="9144000" y="2113213"/>
                  </a:lnTo>
                  <a:lnTo>
                    <a:pt x="9144000" y="909183"/>
                  </a:lnTo>
                  <a:lnTo>
                    <a:pt x="9144000" y="0"/>
                  </a:lnTo>
                  <a:lnTo>
                    <a:pt x="8961145" y="30950"/>
                  </a:lnTo>
                  <a:cubicBezTo>
                    <a:pt x="7801892" y="218000"/>
                    <a:pt x="6261940" y="332003"/>
                    <a:pt x="4572000" y="332003"/>
                  </a:cubicBezTo>
                  <a:cubicBezTo>
                    <a:pt x="2882061" y="332003"/>
                    <a:pt x="1342108" y="218000"/>
                    <a:pt x="182855" y="30950"/>
                  </a:cubicBezTo>
                  <a:lnTo>
                    <a:pt x="0" y="0"/>
                  </a:lnTo>
                  <a:lnTo>
                    <a:pt x="0" y="909183"/>
                  </a:lnTo>
                  <a:lnTo>
                    <a:pt x="0" y="2113213"/>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7" name="任意多边形: 形状 26">
              <a:extLst>
                <a:ext uri="{FF2B5EF4-FFF2-40B4-BE49-F238E27FC236}">
                  <a16:creationId xmlns:a16="http://schemas.microsoft.com/office/drawing/2014/main" id="{323E7CEE-01D1-4B48-8885-E33536F4DFEF}"/>
                </a:ext>
              </a:extLst>
            </p:cNvPr>
            <p:cNvSpPr/>
            <p:nvPr/>
          </p:nvSpPr>
          <p:spPr>
            <a:xfrm flipV="1">
              <a:off x="0" y="2051052"/>
              <a:ext cx="9144000" cy="2755896"/>
            </a:xfrm>
            <a:custGeom>
              <a:avLst/>
              <a:gdLst>
                <a:gd name="connsiteX0" fmla="*/ 0 w 9144000"/>
                <a:gd name="connsiteY0" fmla="*/ 2617516 h 2617516"/>
                <a:gd name="connsiteX1" fmla="*/ 182855 w 9144000"/>
                <a:gd name="connsiteY1" fmla="*/ 2600232 h 2617516"/>
                <a:gd name="connsiteX2" fmla="*/ 4572000 w 9144000"/>
                <a:gd name="connsiteY2" fmla="*/ 2432109 h 2617516"/>
                <a:gd name="connsiteX3" fmla="*/ 8961145 w 9144000"/>
                <a:gd name="connsiteY3" fmla="*/ 2600232 h 2617516"/>
                <a:gd name="connsiteX4" fmla="*/ 9144000 w 9144000"/>
                <a:gd name="connsiteY4" fmla="*/ 2617516 h 2617516"/>
                <a:gd name="connsiteX5" fmla="*/ 9144000 w 9144000"/>
                <a:gd name="connsiteY5" fmla="*/ 2109782 h 2617516"/>
                <a:gd name="connsiteX6" fmla="*/ 9144000 w 9144000"/>
                <a:gd name="connsiteY6" fmla="*/ 507734 h 2617516"/>
                <a:gd name="connsiteX7" fmla="*/ 9144000 w 9144000"/>
                <a:gd name="connsiteY7" fmla="*/ 0 h 2617516"/>
                <a:gd name="connsiteX8" fmla="*/ 8961145 w 9144000"/>
                <a:gd name="connsiteY8" fmla="*/ 17284 h 2617516"/>
                <a:gd name="connsiteX9" fmla="*/ 4572000 w 9144000"/>
                <a:gd name="connsiteY9" fmla="*/ 185407 h 2617516"/>
                <a:gd name="connsiteX10" fmla="*/ 182855 w 9144000"/>
                <a:gd name="connsiteY10" fmla="*/ 17284 h 2617516"/>
                <a:gd name="connsiteX11" fmla="*/ 0 w 9144000"/>
                <a:gd name="connsiteY11" fmla="*/ 0 h 2617516"/>
                <a:gd name="connsiteX12" fmla="*/ 0 w 9144000"/>
                <a:gd name="connsiteY12" fmla="*/ 507734 h 2617516"/>
                <a:gd name="connsiteX13" fmla="*/ 0 w 9144000"/>
                <a:gd name="connsiteY13" fmla="*/ 2109782 h 2617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2617516">
                  <a:moveTo>
                    <a:pt x="0" y="2617516"/>
                  </a:moveTo>
                  <a:lnTo>
                    <a:pt x="182855" y="2600232"/>
                  </a:lnTo>
                  <a:cubicBezTo>
                    <a:pt x="1342108" y="2495774"/>
                    <a:pt x="2882061" y="2432109"/>
                    <a:pt x="4572000" y="2432109"/>
                  </a:cubicBezTo>
                  <a:cubicBezTo>
                    <a:pt x="6261940" y="2432109"/>
                    <a:pt x="7801892" y="2495774"/>
                    <a:pt x="8961145" y="2600232"/>
                  </a:cubicBezTo>
                  <a:lnTo>
                    <a:pt x="9144000" y="2617516"/>
                  </a:lnTo>
                  <a:lnTo>
                    <a:pt x="9144000" y="2109782"/>
                  </a:lnTo>
                  <a:lnTo>
                    <a:pt x="9144000" y="507734"/>
                  </a:lnTo>
                  <a:lnTo>
                    <a:pt x="9144000" y="0"/>
                  </a:lnTo>
                  <a:lnTo>
                    <a:pt x="8961145" y="17284"/>
                  </a:lnTo>
                  <a:cubicBezTo>
                    <a:pt x="7801892" y="121742"/>
                    <a:pt x="6261940" y="185407"/>
                    <a:pt x="4572000" y="185407"/>
                  </a:cubicBezTo>
                  <a:cubicBezTo>
                    <a:pt x="2882061" y="185407"/>
                    <a:pt x="1342108" y="121742"/>
                    <a:pt x="182855" y="17284"/>
                  </a:cubicBezTo>
                  <a:lnTo>
                    <a:pt x="0" y="0"/>
                  </a:lnTo>
                  <a:lnTo>
                    <a:pt x="0" y="507734"/>
                  </a:lnTo>
                  <a:lnTo>
                    <a:pt x="0" y="21097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sp>
        <p:nvSpPr>
          <p:cNvPr id="17" name="文本框 16">
            <a:extLst>
              <a:ext uri="{FF2B5EF4-FFF2-40B4-BE49-F238E27FC236}">
                <a16:creationId xmlns:a16="http://schemas.microsoft.com/office/drawing/2014/main" id="{557A072C-5D8D-47C3-87A2-1311AAAFF450}"/>
              </a:ext>
            </a:extLst>
          </p:cNvPr>
          <p:cNvSpPr txBox="1"/>
          <p:nvPr/>
        </p:nvSpPr>
        <p:spPr>
          <a:xfrm>
            <a:off x="460894" y="2456927"/>
            <a:ext cx="8458661" cy="1569660"/>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altLang="zh-CN" sz="3200" b="1" dirty="0" err="1">
                <a:solidFill>
                  <a:srgbClr val="FFFFFF"/>
                </a:solidFill>
                <a:latin typeface="Arial"/>
                <a:ea typeface="微软雅黑"/>
              </a:rPr>
              <a:t>FlightVGM</a:t>
            </a:r>
            <a:r>
              <a:rPr lang="en-US" altLang="zh-CN" sz="3200" b="1" dirty="0">
                <a:solidFill>
                  <a:srgbClr val="FFFFFF"/>
                </a:solidFill>
                <a:latin typeface="Arial"/>
                <a:ea typeface="微软雅黑"/>
              </a:rPr>
              <a:t>: Efficient Video Generation Model Inference with Online </a:t>
            </a:r>
            <a:r>
              <a:rPr lang="en-US" altLang="zh-CN" sz="3200" b="1" dirty="0" err="1">
                <a:solidFill>
                  <a:srgbClr val="FFFFFF"/>
                </a:solidFill>
                <a:latin typeface="Arial"/>
                <a:ea typeface="微软雅黑"/>
              </a:rPr>
              <a:t>Sparsification</a:t>
            </a:r>
            <a:r>
              <a:rPr lang="en-US" altLang="zh-CN" sz="3200" b="1" dirty="0">
                <a:solidFill>
                  <a:srgbClr val="FFFFFF"/>
                </a:solidFill>
                <a:latin typeface="Arial"/>
                <a:ea typeface="微软雅黑"/>
              </a:rPr>
              <a:t> and Hybrid Precision on FPGAs</a:t>
            </a:r>
            <a:endParaRPr lang="zh-CN" altLang="en-US" sz="3200" b="1" dirty="0">
              <a:solidFill>
                <a:srgbClr val="FFFFFF"/>
              </a:solidFill>
              <a:latin typeface="Arial"/>
              <a:ea typeface="微软雅黑"/>
            </a:endParaRPr>
          </a:p>
        </p:txBody>
      </p:sp>
      <p:pic>
        <p:nvPicPr>
          <p:cNvPr id="19" name="图片 18">
            <a:extLst>
              <a:ext uri="{FF2B5EF4-FFF2-40B4-BE49-F238E27FC236}">
                <a16:creationId xmlns:a16="http://schemas.microsoft.com/office/drawing/2014/main" id="{1231364E-8AAF-49F2-8815-7E0B216382A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264796" y="6065330"/>
            <a:ext cx="2138081" cy="573714"/>
          </a:xfrm>
          <a:prstGeom prst="rect">
            <a:avLst/>
          </a:prstGeom>
        </p:spPr>
      </p:pic>
      <p:sp>
        <p:nvSpPr>
          <p:cNvPr id="3" name="文本框 2"/>
          <p:cNvSpPr txBox="1"/>
          <p:nvPr/>
        </p:nvSpPr>
        <p:spPr>
          <a:xfrm>
            <a:off x="1686737" y="6167521"/>
            <a:ext cx="2138081" cy="369332"/>
          </a:xfrm>
          <a:prstGeom prst="rect">
            <a:avLst/>
          </a:prstGeom>
          <a:noFill/>
        </p:spPr>
        <p:txBody>
          <a:bodyPr wrap="square" rtlCol="0">
            <a:spAutoFit/>
          </a:bodyPr>
          <a:lstStyle/>
          <a:p>
            <a:r>
              <a:rPr lang="en-US" altLang="zh-CN" b="1" dirty="0"/>
              <a:t>2025 ACM/SIGDA</a:t>
            </a:r>
          </a:p>
        </p:txBody>
      </p:sp>
    </p:spTree>
    <p:extLst>
      <p:ext uri="{BB962C8B-B14F-4D97-AF65-F5344CB8AC3E}">
        <p14:creationId xmlns:p14="http://schemas.microsoft.com/office/powerpoint/2010/main" val="453473077"/>
      </p:ext>
    </p:extLst>
  </p:cSld>
  <p:clrMapOvr>
    <a:masterClrMapping/>
  </p:clrMapOvr>
  <mc:AlternateContent xmlns:mc="http://schemas.openxmlformats.org/markup-compatibility/2006" xmlns:p14="http://schemas.microsoft.com/office/powerpoint/2010/main">
    <mc:Choice Requires="p14">
      <p:transition spd="slow" p14:dur="2000" advTm="11017"/>
    </mc:Choice>
    <mc:Fallback xmlns="">
      <p:transition spd="slow" advTm="1101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903EF8C-13D3-422C-9C3F-5EECC23210A7}"/>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66D773D4-1EAF-4F9F-8F72-7F1400FEED3D}"/>
              </a:ext>
            </a:extLst>
          </p:cNvPr>
          <p:cNvGrpSpPr/>
          <p:nvPr/>
        </p:nvGrpSpPr>
        <p:grpSpPr>
          <a:xfrm>
            <a:off x="2476501" y="4083591"/>
            <a:ext cx="4487372" cy="494767"/>
            <a:chOff x="2254250" y="3340100"/>
            <a:chExt cx="4811810" cy="712614"/>
          </a:xfrm>
        </p:grpSpPr>
        <p:sp>
          <p:nvSpPr>
            <p:cNvPr id="27"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1215BA3E-7692-4205-997B-ABC7094D720C}"/>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err="1">
                  <a:solidFill>
                    <a:schemeClr val="accent2"/>
                  </a:solidFill>
                  <a:latin typeface="Arial"/>
                  <a:ea typeface="微软雅黑"/>
                </a:rPr>
                <a:t>FlightVGM</a:t>
              </a:r>
              <a:endParaRPr lang="en-US" altLang="zh-CN" sz="2400" b="1" dirty="0">
                <a:solidFill>
                  <a:schemeClr val="accent2"/>
                </a:solidFill>
                <a:latin typeface="Arial"/>
                <a:ea typeface="微软雅黑"/>
              </a:endParaRPr>
            </a:p>
          </p:txBody>
        </p:sp>
        <p:sp>
          <p:nvSpPr>
            <p:cNvPr id="28"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四</a:t>
              </a:r>
            </a:p>
          </p:txBody>
        </p:sp>
      </p:grpSp>
      <p:grpSp>
        <p:nvGrpSpPr>
          <p:cNvPr id="2" name="组合 1">
            <a:extLst>
              <a:ext uri="{FF2B5EF4-FFF2-40B4-BE49-F238E27FC236}">
                <a16:creationId xmlns:a16="http://schemas.microsoft.com/office/drawing/2014/main" id="{37694966-2907-4426-A062-130A961177FE}"/>
              </a:ext>
            </a:extLst>
          </p:cNvPr>
          <p:cNvGrpSpPr/>
          <p:nvPr/>
        </p:nvGrpSpPr>
        <p:grpSpPr>
          <a:xfrm>
            <a:off x="2476502" y="4767077"/>
            <a:ext cx="4487372" cy="494767"/>
            <a:chOff x="2254250" y="4293307"/>
            <a:chExt cx="4635500" cy="712614"/>
          </a:xfrm>
        </p:grpSpPr>
        <p:sp>
          <p:nvSpPr>
            <p:cNvPr id="30" name="矩形: 圆角 29">
              <a:extLst>
                <a:ext uri="{FF2B5EF4-FFF2-40B4-BE49-F238E27FC236}">
                  <a16:creationId xmlns:a16="http://schemas.microsoft.com/office/drawing/2014/main" id="{6E6D3661-6F3C-42F9-943D-06B5502C0D49}"/>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89370DE9-AA64-4B9B-B0D7-52179A05A705}"/>
                </a:ext>
              </a:extLst>
            </p:cNvPr>
            <p:cNvSpPr txBox="1"/>
            <p:nvPr/>
          </p:nvSpPr>
          <p:spPr>
            <a:xfrm>
              <a:off x="2874435" y="4315015"/>
              <a:ext cx="3728366" cy="664938"/>
            </a:xfrm>
            <a:prstGeom prst="rect">
              <a:avLst/>
            </a:prstGeom>
            <a:noFill/>
          </p:spPr>
          <p:txBody>
            <a:bodyPr wrap="square">
              <a:spAutoFit/>
            </a:bodyPr>
            <a:lstStyle/>
            <a:p>
              <a:pPr>
                <a:defRPr/>
              </a:pPr>
              <a:r>
                <a:rPr lang="en-US" altLang="zh-CN" sz="2400" b="1" dirty="0">
                  <a:solidFill>
                    <a:schemeClr val="accent2"/>
                  </a:solidFill>
                  <a:latin typeface="Arial"/>
                  <a:ea typeface="微软雅黑"/>
                </a:rPr>
                <a:t>Evaluation</a:t>
              </a:r>
            </a:p>
          </p:txBody>
        </p:sp>
        <p:sp>
          <p:nvSpPr>
            <p:cNvPr id="31" name="矩形: 圆角 30">
              <a:extLst>
                <a:ext uri="{FF2B5EF4-FFF2-40B4-BE49-F238E27FC236}">
                  <a16:creationId xmlns:a16="http://schemas.microsoft.com/office/drawing/2014/main" id="{6853312C-FE7E-43A1-8259-2E8524987954}"/>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五</a:t>
              </a:r>
            </a:p>
          </p:txBody>
        </p:sp>
      </p:grpSp>
      <p:pic>
        <p:nvPicPr>
          <p:cNvPr id="35" name="图片 34">
            <a:extLst>
              <a:ext uri="{FF2B5EF4-FFF2-40B4-BE49-F238E27FC236}">
                <a16:creationId xmlns:a16="http://schemas.microsoft.com/office/drawing/2014/main" id="{B3D4F314-124A-40B2-A730-A29E4C6616E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F02B1E6C-1DF5-4B5B-8154-6A921C91B413}"/>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Arial"/>
                <a:ea typeface="微软雅黑"/>
                <a:cs typeface="+mn-cs"/>
              </a:rPr>
              <a:t>Content</a:t>
            </a:r>
            <a:endParaRPr kumimoji="0" lang="zh-CN" altLang="en-US" sz="4800" b="1" i="0" u="none" strike="noStrike" kern="1200" cap="none" spc="600" normalizeH="0" baseline="0" noProof="0" dirty="0">
              <a:ln>
                <a:noFill/>
              </a:ln>
              <a:solidFill>
                <a:srgbClr val="082E72"/>
              </a:solidFill>
              <a:effectLst/>
              <a:uLnTx/>
              <a:uFillTx/>
              <a:latin typeface="Arial"/>
              <a:ea typeface="微软雅黑"/>
              <a:cs typeface="+mn-cs"/>
            </a:endParaRPr>
          </a:p>
        </p:txBody>
      </p:sp>
      <p:grpSp>
        <p:nvGrpSpPr>
          <p:cNvPr id="32" name="组合 31">
            <a:extLst>
              <a:ext uri="{FF2B5EF4-FFF2-40B4-BE49-F238E27FC236}">
                <a16:creationId xmlns:a16="http://schemas.microsoft.com/office/drawing/2014/main" id="{66D773D4-1EAF-4F9F-8F72-7F1400FEED3D}"/>
              </a:ext>
            </a:extLst>
          </p:cNvPr>
          <p:cNvGrpSpPr/>
          <p:nvPr/>
        </p:nvGrpSpPr>
        <p:grpSpPr>
          <a:xfrm>
            <a:off x="2476504" y="2725921"/>
            <a:ext cx="4487372" cy="494767"/>
            <a:chOff x="2254250" y="3340100"/>
            <a:chExt cx="4811810" cy="712614"/>
          </a:xfrm>
        </p:grpSpPr>
        <p:sp>
          <p:nvSpPr>
            <p:cNvPr id="33"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7"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二</a:t>
              </a:r>
            </a:p>
          </p:txBody>
        </p:sp>
      </p:grpSp>
      <p:grpSp>
        <p:nvGrpSpPr>
          <p:cNvPr id="21" name="组合 20">
            <a:extLst>
              <a:ext uri="{FF2B5EF4-FFF2-40B4-BE49-F238E27FC236}">
                <a16:creationId xmlns:a16="http://schemas.microsoft.com/office/drawing/2014/main" id="{F903167E-F437-400B-8A0D-F2E6B88BA5DE}"/>
              </a:ext>
            </a:extLst>
          </p:cNvPr>
          <p:cNvGrpSpPr/>
          <p:nvPr/>
        </p:nvGrpSpPr>
        <p:grpSpPr>
          <a:xfrm>
            <a:off x="2476500" y="2037356"/>
            <a:ext cx="4487373" cy="494767"/>
            <a:chOff x="2254250" y="2386893"/>
            <a:chExt cx="4635500" cy="712614"/>
          </a:xfrm>
        </p:grpSpPr>
        <p:sp>
          <p:nvSpPr>
            <p:cNvPr id="38" name="矩形: 圆角 40">
              <a:extLst>
                <a:ext uri="{FF2B5EF4-FFF2-40B4-BE49-F238E27FC236}">
                  <a16:creationId xmlns:a16="http://schemas.microsoft.com/office/drawing/2014/main" id="{ABF40475-9EC0-4D47-B264-39E638B68E01}"/>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AF45E508-A19F-4202-BB28-E21D9F4E7C8B}"/>
                </a:ext>
              </a:extLst>
            </p:cNvPr>
            <p:cNvSpPr txBox="1"/>
            <p:nvPr/>
          </p:nvSpPr>
          <p:spPr>
            <a:xfrm>
              <a:off x="2898024" y="2410730"/>
              <a:ext cx="3800641" cy="664937"/>
            </a:xfrm>
            <a:prstGeom prst="rect">
              <a:avLst/>
            </a:prstGeom>
            <a:noFill/>
          </p:spPr>
          <p:txBody>
            <a:bodyPr wrap="square">
              <a:spAutoFit/>
            </a:bodyPr>
            <a:lstStyle/>
            <a:p>
              <a:pPr lvl="0">
                <a:defRPr/>
              </a:pPr>
              <a:r>
                <a:rPr lang="en-US" altLang="zh-CN" sz="2400" b="1" dirty="0">
                  <a:solidFill>
                    <a:srgbClr val="FFFFFF"/>
                  </a:solidFill>
                </a:rPr>
                <a:t>Previous Work</a:t>
              </a:r>
            </a:p>
          </p:txBody>
        </p:sp>
        <p:sp>
          <p:nvSpPr>
            <p:cNvPr id="40" name="矩形: 圆角 42">
              <a:extLst>
                <a:ext uri="{FF2B5EF4-FFF2-40B4-BE49-F238E27FC236}">
                  <a16:creationId xmlns:a16="http://schemas.microsoft.com/office/drawing/2014/main" id="{ED033169-BE0B-4F71-9E1E-894B8CF2C89A}"/>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rPr>
                <a:t>一</a:t>
              </a:r>
            </a:p>
          </p:txBody>
        </p:sp>
      </p:grpSp>
      <p:sp>
        <p:nvSpPr>
          <p:cNvPr id="3" name="文本框 2">
            <a:extLst>
              <a:ext uri="{FF2B5EF4-FFF2-40B4-BE49-F238E27FC236}">
                <a16:creationId xmlns:a16="http://schemas.microsoft.com/office/drawing/2014/main" id="{DE1F79F8-8A5C-B9E9-B2B4-C002E211124D}"/>
              </a:ext>
            </a:extLst>
          </p:cNvPr>
          <p:cNvSpPr txBox="1"/>
          <p:nvPr/>
        </p:nvSpPr>
        <p:spPr>
          <a:xfrm>
            <a:off x="3076869" y="2739467"/>
            <a:ext cx="4087315" cy="461665"/>
          </a:xfrm>
          <a:prstGeom prst="rect">
            <a:avLst/>
          </a:prstGeom>
          <a:noFill/>
        </p:spPr>
        <p:txBody>
          <a:bodyPr wrap="square">
            <a:spAutoFit/>
          </a:bodyPr>
          <a:lstStyle/>
          <a:p>
            <a:pPr lvl="0">
              <a:defRPr/>
            </a:pPr>
            <a:r>
              <a:rPr lang="en-US" altLang="zh-CN" sz="2400" b="1" dirty="0" err="1">
                <a:solidFill>
                  <a:schemeClr val="accent2"/>
                </a:solidFill>
              </a:rPr>
              <a:t>BackGround</a:t>
            </a:r>
            <a:r>
              <a:rPr lang="en-US" altLang="zh-CN" sz="2400" b="1" dirty="0">
                <a:solidFill>
                  <a:schemeClr val="accent2"/>
                </a:solidFill>
              </a:rPr>
              <a:t> &amp; Motivation</a:t>
            </a:r>
          </a:p>
        </p:txBody>
      </p:sp>
      <p:grpSp>
        <p:nvGrpSpPr>
          <p:cNvPr id="11" name="组合 10">
            <a:extLst>
              <a:ext uri="{FF2B5EF4-FFF2-40B4-BE49-F238E27FC236}">
                <a16:creationId xmlns:a16="http://schemas.microsoft.com/office/drawing/2014/main" id="{40AE37FC-664D-98F8-C0A7-0A6FF148E558}"/>
              </a:ext>
            </a:extLst>
          </p:cNvPr>
          <p:cNvGrpSpPr/>
          <p:nvPr/>
        </p:nvGrpSpPr>
        <p:grpSpPr>
          <a:xfrm>
            <a:off x="2482905" y="3397759"/>
            <a:ext cx="4487372" cy="494767"/>
            <a:chOff x="2254250" y="3340100"/>
            <a:chExt cx="4811810" cy="712614"/>
          </a:xfrm>
        </p:grpSpPr>
        <p:sp>
          <p:nvSpPr>
            <p:cNvPr id="12" name="矩形: 圆角 11">
              <a:extLst>
                <a:ext uri="{FF2B5EF4-FFF2-40B4-BE49-F238E27FC236}">
                  <a16:creationId xmlns:a16="http://schemas.microsoft.com/office/drawing/2014/main" id="{76D997D2-7A29-B398-A3C5-5947265FF039}"/>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39E69941-F7B3-8E3B-55DE-2838BAB4308D}"/>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Challenge</a:t>
              </a:r>
            </a:p>
          </p:txBody>
        </p:sp>
        <p:sp>
          <p:nvSpPr>
            <p:cNvPr id="14" name="矩形: 圆角 13">
              <a:extLst>
                <a:ext uri="{FF2B5EF4-FFF2-40B4-BE49-F238E27FC236}">
                  <a16:creationId xmlns:a16="http://schemas.microsoft.com/office/drawing/2014/main" id="{5BAD0A7F-C731-6777-D77D-990726F7BE02}"/>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Arial"/>
                  <a:ea typeface="微软雅黑"/>
                </a:rPr>
                <a:t>三</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9" name="组合 8">
            <a:extLst>
              <a:ext uri="{FF2B5EF4-FFF2-40B4-BE49-F238E27FC236}">
                <a16:creationId xmlns:a16="http://schemas.microsoft.com/office/drawing/2014/main" id="{DE0572F3-1C4E-5411-6192-162C7DFEEB0D}"/>
              </a:ext>
            </a:extLst>
          </p:cNvPr>
          <p:cNvGrpSpPr/>
          <p:nvPr/>
        </p:nvGrpSpPr>
        <p:grpSpPr>
          <a:xfrm>
            <a:off x="2476502" y="5452119"/>
            <a:ext cx="4487372" cy="494767"/>
            <a:chOff x="2254250" y="4293307"/>
            <a:chExt cx="4635500" cy="712614"/>
          </a:xfrm>
        </p:grpSpPr>
        <p:sp>
          <p:nvSpPr>
            <p:cNvPr id="10" name="矩形: 圆角 9">
              <a:extLst>
                <a:ext uri="{FF2B5EF4-FFF2-40B4-BE49-F238E27FC236}">
                  <a16:creationId xmlns:a16="http://schemas.microsoft.com/office/drawing/2014/main" id="{6153F4FF-C377-2144-8559-D439255DEF3F}"/>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5" name="文本框 14">
              <a:extLst>
                <a:ext uri="{FF2B5EF4-FFF2-40B4-BE49-F238E27FC236}">
                  <a16:creationId xmlns:a16="http://schemas.microsoft.com/office/drawing/2014/main" id="{505C0E8E-287E-4F94-9D0C-3E0A9C27F24E}"/>
                </a:ext>
              </a:extLst>
            </p:cNvPr>
            <p:cNvSpPr txBox="1"/>
            <p:nvPr/>
          </p:nvSpPr>
          <p:spPr>
            <a:xfrm>
              <a:off x="2874435" y="4315015"/>
              <a:ext cx="3728366" cy="664938"/>
            </a:xfrm>
            <a:prstGeom prst="rect">
              <a:avLst/>
            </a:prstGeom>
            <a:noFill/>
          </p:spPr>
          <p:txBody>
            <a:bodyPr wrap="square">
              <a:spAutoFit/>
            </a:bodyPr>
            <a:lstStyle/>
            <a:p>
              <a:pPr lvl="0">
                <a:defRPr/>
              </a:pPr>
              <a:r>
                <a:rPr lang="en-US" altLang="zh-CN" sz="2400" b="1" dirty="0">
                  <a:solidFill>
                    <a:srgbClr val="082E72"/>
                  </a:solidFill>
                </a:rPr>
                <a:t>Exploration</a:t>
              </a:r>
            </a:p>
          </p:txBody>
        </p:sp>
        <p:sp>
          <p:nvSpPr>
            <p:cNvPr id="16" name="矩形: 圆角 15">
              <a:extLst>
                <a:ext uri="{FF2B5EF4-FFF2-40B4-BE49-F238E27FC236}">
                  <a16:creationId xmlns:a16="http://schemas.microsoft.com/office/drawing/2014/main" id="{63117EFA-0312-DE9A-45F4-8628AF1AFE15}"/>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六</a:t>
              </a:r>
            </a:p>
          </p:txBody>
        </p:sp>
      </p:grpSp>
    </p:spTree>
    <p:extLst>
      <p:ext uri="{BB962C8B-B14F-4D97-AF65-F5344CB8AC3E}">
        <p14:creationId xmlns:p14="http://schemas.microsoft.com/office/powerpoint/2010/main" val="2438113763"/>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60A8E-D062-4D53-887D-EC08846CA067}"/>
              </a:ext>
            </a:extLst>
          </p:cNvPr>
          <p:cNvSpPr>
            <a:spLocks noGrp="1"/>
          </p:cNvSpPr>
          <p:nvPr>
            <p:ph type="title"/>
          </p:nvPr>
        </p:nvSpPr>
        <p:spPr/>
        <p:txBody>
          <a:bodyPr>
            <a:normAutofit/>
          </a:bodyPr>
          <a:lstStyle/>
          <a:p>
            <a:r>
              <a:rPr lang="en-US" altLang="zh-CN" dirty="0"/>
              <a:t>Transformer</a:t>
            </a:r>
            <a:endParaRPr lang="zh-CN" altLang="en-US" dirty="0"/>
          </a:p>
        </p:txBody>
      </p:sp>
      <p:pic>
        <p:nvPicPr>
          <p:cNvPr id="12" name="图片 11" descr="图示&#10;&#10;AI 生成的内容可能不正确。">
            <a:extLst>
              <a:ext uri="{FF2B5EF4-FFF2-40B4-BE49-F238E27FC236}">
                <a16:creationId xmlns:a16="http://schemas.microsoft.com/office/drawing/2014/main" id="{9930C753-0C27-698D-6D97-653CB076FEC8}"/>
              </a:ext>
            </a:extLst>
          </p:cNvPr>
          <p:cNvPicPr>
            <a:picLocks noChangeAspect="1"/>
          </p:cNvPicPr>
          <p:nvPr/>
        </p:nvPicPr>
        <p:blipFill>
          <a:blip r:embed="rId3">
            <a:extLst>
              <a:ext uri="{28A0092B-C50C-407E-A947-70E740481C1C}">
                <a14:useLocalDpi xmlns:a14="http://schemas.microsoft.com/office/drawing/2010/main" val="0"/>
              </a:ext>
            </a:extLst>
          </a:blip>
          <a:srcRect l="13112" t="2395" r="16811" b="6885"/>
          <a:stretch/>
        </p:blipFill>
        <p:spPr>
          <a:xfrm>
            <a:off x="122514" y="990648"/>
            <a:ext cx="5601045" cy="4501145"/>
          </a:xfrm>
          <a:prstGeom prst="rect">
            <a:avLst/>
          </a:prstGeom>
        </p:spPr>
      </p:pic>
      <p:pic>
        <p:nvPicPr>
          <p:cNvPr id="6" name="图片 5" descr="图示, 示意图&#10;&#10;AI 生成的内容可能不正确。">
            <a:extLst>
              <a:ext uri="{FF2B5EF4-FFF2-40B4-BE49-F238E27FC236}">
                <a16:creationId xmlns:a16="http://schemas.microsoft.com/office/drawing/2014/main" id="{DDD33CC6-651A-9F10-7CEB-11BE81BAE4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5863" y="2165512"/>
            <a:ext cx="4305623" cy="2871851"/>
          </a:xfrm>
          <a:prstGeom prst="rect">
            <a:avLst/>
          </a:prstGeom>
        </p:spPr>
      </p:pic>
      <p:cxnSp>
        <p:nvCxnSpPr>
          <p:cNvPr id="17" name="直接箭头连接符 16">
            <a:extLst>
              <a:ext uri="{FF2B5EF4-FFF2-40B4-BE49-F238E27FC236}">
                <a16:creationId xmlns:a16="http://schemas.microsoft.com/office/drawing/2014/main" id="{279B20AB-824E-2C8F-7B66-696DBF8382C6}"/>
              </a:ext>
            </a:extLst>
          </p:cNvPr>
          <p:cNvCxnSpPr/>
          <p:nvPr/>
        </p:nvCxnSpPr>
        <p:spPr>
          <a:xfrm flipV="1">
            <a:off x="3682093" y="2310493"/>
            <a:ext cx="1322614" cy="66130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4B245E80-9DBF-66DF-B448-688055FF180A}"/>
              </a:ext>
            </a:extLst>
          </p:cNvPr>
          <p:cNvCxnSpPr>
            <a:cxnSpLocks/>
          </p:cNvCxnSpPr>
          <p:nvPr/>
        </p:nvCxnSpPr>
        <p:spPr>
          <a:xfrm>
            <a:off x="3682093" y="2971800"/>
            <a:ext cx="1033770" cy="20655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2492139"/>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60A8E-D062-4D53-887D-EC08846CA067}"/>
              </a:ext>
            </a:extLst>
          </p:cNvPr>
          <p:cNvSpPr>
            <a:spLocks noGrp="1"/>
          </p:cNvSpPr>
          <p:nvPr>
            <p:ph type="title"/>
          </p:nvPr>
        </p:nvSpPr>
        <p:spPr/>
        <p:txBody>
          <a:bodyPr>
            <a:normAutofit/>
          </a:bodyPr>
          <a:lstStyle/>
          <a:p>
            <a:r>
              <a:rPr lang="en-US" altLang="zh-CN" dirty="0"/>
              <a:t>Transformer - Efficiency</a:t>
            </a:r>
            <a:endParaRPr lang="zh-CN" altLang="en-US" dirty="0"/>
          </a:p>
        </p:txBody>
      </p:sp>
      <p:sp>
        <p:nvSpPr>
          <p:cNvPr id="3" name="文本框 2">
            <a:extLst>
              <a:ext uri="{FF2B5EF4-FFF2-40B4-BE49-F238E27FC236}">
                <a16:creationId xmlns:a16="http://schemas.microsoft.com/office/drawing/2014/main" id="{B4740A33-FC34-CE63-52BD-67552E79D11F}"/>
              </a:ext>
            </a:extLst>
          </p:cNvPr>
          <p:cNvSpPr txBox="1"/>
          <p:nvPr/>
        </p:nvSpPr>
        <p:spPr>
          <a:xfrm>
            <a:off x="1299550" y="1466030"/>
            <a:ext cx="4888683" cy="4524315"/>
          </a:xfrm>
          <a:prstGeom prst="rect">
            <a:avLst/>
          </a:prstGeom>
          <a:noFill/>
        </p:spPr>
        <p:txBody>
          <a:bodyPr wrap="square" rtlCol="0">
            <a:spAutoFit/>
          </a:bodyPr>
          <a:lstStyle/>
          <a:p>
            <a:pPr marL="285750" indent="-285750">
              <a:buFont typeface="Wingdings" panose="05000000000000000000" pitchFamily="2" charset="2"/>
              <a:buChar char="Ø"/>
            </a:pPr>
            <a:r>
              <a:rPr lang="en-US" altLang="zh-CN" sz="2400" dirty="0">
                <a:latin typeface="Times New Roman" panose="02020603050405020304" pitchFamily="18" charset="0"/>
                <a:cs typeface="Times New Roman" panose="02020603050405020304" pitchFamily="18" charset="0"/>
              </a:rPr>
              <a:t>Quantization</a:t>
            </a:r>
          </a:p>
          <a:p>
            <a:pPr lvl="1"/>
            <a:endParaRPr lang="en-US" altLang="zh-CN" sz="2400" dirty="0">
              <a:latin typeface="Times New Roman" panose="02020603050405020304" pitchFamily="18" charset="0"/>
              <a:cs typeface="Times New Roman" panose="02020603050405020304" pitchFamily="18" charset="0"/>
            </a:endParaRPr>
          </a:p>
          <a:p>
            <a:pPr lvl="1"/>
            <a:endParaRPr lang="en-US" altLang="zh-CN" sz="2400" dirty="0">
              <a:latin typeface="Times New Roman" panose="02020603050405020304" pitchFamily="18" charset="0"/>
              <a:cs typeface="Times New Roman" panose="02020603050405020304" pitchFamily="18" charset="0"/>
            </a:endParaRPr>
          </a:p>
          <a:p>
            <a:pPr lvl="1"/>
            <a:endParaRPr lang="en-US" altLang="zh-CN" sz="2400" dirty="0">
              <a:latin typeface="Times New Roman" panose="02020603050405020304" pitchFamily="18" charset="0"/>
              <a:cs typeface="Times New Roman" panose="02020603050405020304" pitchFamily="18" charset="0"/>
            </a:endParaRPr>
          </a:p>
          <a:p>
            <a:pPr lvl="1"/>
            <a:endParaRPr lang="en-US" altLang="zh-CN" sz="2400" dirty="0">
              <a:latin typeface="Times New Roman" panose="02020603050405020304" pitchFamily="18" charset="0"/>
              <a:cs typeface="Times New Roman" panose="02020603050405020304" pitchFamily="18" charset="0"/>
            </a:endParaRPr>
          </a:p>
          <a:p>
            <a:pPr lvl="1"/>
            <a:endParaRPr lang="en-US" altLang="zh-CN"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sz="2400" dirty="0">
                <a:latin typeface="Times New Roman" panose="02020603050405020304" pitchFamily="18" charset="0"/>
                <a:cs typeface="Times New Roman" panose="02020603050405020304" pitchFamily="18" charset="0"/>
              </a:rPr>
              <a:t>Sparse attention</a:t>
            </a:r>
          </a:p>
          <a:p>
            <a:pPr marL="742950" lvl="1" indent="-285750">
              <a:buFont typeface="Wingdings" panose="05000000000000000000" pitchFamily="2" charset="2"/>
              <a:buChar char="ü"/>
            </a:pPr>
            <a:endParaRPr lang="en-US" altLang="zh-CN" sz="2400" dirty="0">
              <a:latin typeface="Times New Roman" panose="02020603050405020304" pitchFamily="18" charset="0"/>
              <a:cs typeface="Times New Roman" panose="02020603050405020304" pitchFamily="18" charset="0"/>
            </a:endParaRPr>
          </a:p>
          <a:p>
            <a:pPr lvl="1"/>
            <a:endParaRPr lang="en-US" altLang="zh-CN" sz="24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altLang="zh-CN" sz="24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endParaRPr lang="en-US" altLang="zh-CN" sz="2400" dirty="0">
              <a:latin typeface="Times New Roman" panose="02020603050405020304" pitchFamily="18" charset="0"/>
              <a:cs typeface="Times New Roman" panose="02020603050405020304" pitchFamily="18" charset="0"/>
            </a:endParaRPr>
          </a:p>
          <a:p>
            <a:pPr marL="285750" lvl="1" indent="-285750">
              <a:buFont typeface="Wingdings" panose="05000000000000000000" pitchFamily="2" charset="2"/>
              <a:buChar char="Ø"/>
            </a:pPr>
            <a:r>
              <a:rPr lang="en-US" altLang="zh-CN" sz="2400" dirty="0">
                <a:latin typeface="Times New Roman" panose="02020603050405020304" pitchFamily="18" charset="0"/>
                <a:cs typeface="Times New Roman" panose="02020603050405020304" pitchFamily="18" charset="0"/>
              </a:rPr>
              <a:t>Weight pruning</a:t>
            </a:r>
          </a:p>
        </p:txBody>
      </p:sp>
      <p:pic>
        <p:nvPicPr>
          <p:cNvPr id="7" name="图片 6">
            <a:extLst>
              <a:ext uri="{FF2B5EF4-FFF2-40B4-BE49-F238E27FC236}">
                <a16:creationId xmlns:a16="http://schemas.microsoft.com/office/drawing/2014/main" id="{5A1A9A90-6574-7358-E236-A6DFBAD1494B}"/>
              </a:ext>
            </a:extLst>
          </p:cNvPr>
          <p:cNvPicPr>
            <a:picLocks noChangeAspect="1"/>
          </p:cNvPicPr>
          <p:nvPr/>
        </p:nvPicPr>
        <p:blipFill>
          <a:blip r:embed="rId3">
            <a:extLst>
              <a:ext uri="{28A0092B-C50C-407E-A947-70E740481C1C}">
                <a14:useLocalDpi xmlns:a14="http://schemas.microsoft.com/office/drawing/2010/main" val="0"/>
              </a:ext>
            </a:extLst>
          </a:blip>
          <a:srcRect l="6947" t="13661" r="8561" b="18470"/>
          <a:stretch/>
        </p:blipFill>
        <p:spPr>
          <a:xfrm>
            <a:off x="3561655" y="4896065"/>
            <a:ext cx="4629193" cy="1867212"/>
          </a:xfrm>
          <a:prstGeom prst="rect">
            <a:avLst/>
          </a:prstGeom>
        </p:spPr>
      </p:pic>
      <p:pic>
        <p:nvPicPr>
          <p:cNvPr id="9" name="图片 8" descr="图表&#10;&#10;AI 生成的内容可能不正确。">
            <a:extLst>
              <a:ext uri="{FF2B5EF4-FFF2-40B4-BE49-F238E27FC236}">
                <a16:creationId xmlns:a16="http://schemas.microsoft.com/office/drawing/2014/main" id="{9A1962B8-34F7-3B07-070D-248AF6F1BD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5608" y="2760720"/>
            <a:ext cx="4461289" cy="1934936"/>
          </a:xfrm>
          <a:prstGeom prst="rect">
            <a:avLst/>
          </a:prstGeom>
        </p:spPr>
      </p:pic>
      <p:pic>
        <p:nvPicPr>
          <p:cNvPr id="12" name="图片 11">
            <a:extLst>
              <a:ext uri="{FF2B5EF4-FFF2-40B4-BE49-F238E27FC236}">
                <a16:creationId xmlns:a16="http://schemas.microsoft.com/office/drawing/2014/main" id="{7C3BB2B3-2893-8855-7518-737F358659B0}"/>
              </a:ext>
            </a:extLst>
          </p:cNvPr>
          <p:cNvPicPr>
            <a:picLocks noChangeAspect="1"/>
          </p:cNvPicPr>
          <p:nvPr/>
        </p:nvPicPr>
        <p:blipFill>
          <a:blip r:embed="rId5">
            <a:extLst>
              <a:ext uri="{28A0092B-C50C-407E-A947-70E740481C1C}">
                <a14:useLocalDpi xmlns:a14="http://schemas.microsoft.com/office/drawing/2010/main" val="0"/>
              </a:ext>
            </a:extLst>
          </a:blip>
          <a:srcRect l="17589" t="19940" r="17232" b="7668"/>
          <a:stretch/>
        </p:blipFill>
        <p:spPr>
          <a:xfrm>
            <a:off x="3908051" y="795793"/>
            <a:ext cx="3936399" cy="1764518"/>
          </a:xfrm>
          <a:prstGeom prst="rect">
            <a:avLst/>
          </a:prstGeom>
        </p:spPr>
      </p:pic>
      <p:sp>
        <p:nvSpPr>
          <p:cNvPr id="14" name="文本框 13">
            <a:extLst>
              <a:ext uri="{FF2B5EF4-FFF2-40B4-BE49-F238E27FC236}">
                <a16:creationId xmlns:a16="http://schemas.microsoft.com/office/drawing/2014/main" id="{0D719C7A-182B-6176-4DE7-F064E8CBA592}"/>
              </a:ext>
            </a:extLst>
          </p:cNvPr>
          <p:cNvSpPr txBox="1"/>
          <p:nvPr/>
        </p:nvSpPr>
        <p:spPr>
          <a:xfrm>
            <a:off x="0" y="3264725"/>
            <a:ext cx="1153454" cy="1200329"/>
          </a:xfrm>
          <a:prstGeom prst="rect">
            <a:avLst/>
          </a:prstGeom>
          <a:noFill/>
        </p:spPr>
        <p:txBody>
          <a:bodyPr wrap="square">
            <a:spAutoFit/>
          </a:bodyPr>
          <a:lstStyle/>
          <a:p>
            <a:pPr algn="ctr"/>
            <a:r>
              <a:rPr lang="en-US" altLang="zh-CN" b="1" dirty="0">
                <a:solidFill>
                  <a:srgbClr val="FF0000"/>
                </a:solidFill>
                <a:latin typeface="Times New Roman" panose="02020603050405020304" pitchFamily="18" charset="0"/>
                <a:cs typeface="Times New Roman" panose="02020603050405020304" pitchFamily="18" charset="0"/>
              </a:rPr>
              <a:t>E</a:t>
            </a:r>
            <a:r>
              <a:rPr lang="zh-CN" altLang="en-US" b="1" dirty="0">
                <a:solidFill>
                  <a:srgbClr val="FF0000"/>
                </a:solidFill>
                <a:latin typeface="Times New Roman" panose="02020603050405020304" pitchFamily="18" charset="0"/>
                <a:cs typeface="Times New Roman" panose="02020603050405020304" pitchFamily="18" charset="0"/>
              </a:rPr>
              <a:t>xtreme </a:t>
            </a:r>
            <a:endParaRPr lang="en-US" altLang="zh-CN" b="1" dirty="0">
              <a:solidFill>
                <a:srgbClr val="FF0000"/>
              </a:solidFill>
              <a:latin typeface="Times New Roman" panose="02020603050405020304" pitchFamily="18" charset="0"/>
              <a:cs typeface="Times New Roman" panose="02020603050405020304" pitchFamily="18" charset="0"/>
            </a:endParaRPr>
          </a:p>
          <a:p>
            <a:pPr algn="ctr"/>
            <a:r>
              <a:rPr lang="zh-CN" altLang="en-US" b="1" dirty="0">
                <a:solidFill>
                  <a:srgbClr val="FF0000"/>
                </a:solidFill>
                <a:latin typeface="Times New Roman" panose="02020603050405020304" pitchFamily="18" charset="0"/>
                <a:cs typeface="Times New Roman" panose="02020603050405020304" pitchFamily="18" charset="0"/>
              </a:rPr>
              <a:t>overhead </a:t>
            </a:r>
            <a:endParaRPr lang="en-US" altLang="zh-CN" b="1" dirty="0">
              <a:solidFill>
                <a:srgbClr val="FF0000"/>
              </a:solidFill>
              <a:latin typeface="Times New Roman" panose="02020603050405020304" pitchFamily="18" charset="0"/>
              <a:cs typeface="Times New Roman" panose="02020603050405020304" pitchFamily="18" charset="0"/>
            </a:endParaRPr>
          </a:p>
          <a:p>
            <a:pPr algn="ctr"/>
            <a:r>
              <a:rPr lang="zh-CN" altLang="en-US" b="1" dirty="0">
                <a:solidFill>
                  <a:srgbClr val="FF0000"/>
                </a:solidFill>
                <a:latin typeface="Times New Roman" panose="02020603050405020304" pitchFamily="18" charset="0"/>
                <a:cs typeface="Times New Roman" panose="02020603050405020304" pitchFamily="18" charset="0"/>
              </a:rPr>
              <a:t>of </a:t>
            </a:r>
            <a:endParaRPr lang="en-US" altLang="zh-CN" b="1" dirty="0">
              <a:solidFill>
                <a:srgbClr val="FF0000"/>
              </a:solidFill>
              <a:latin typeface="Times New Roman" panose="02020603050405020304" pitchFamily="18" charset="0"/>
              <a:cs typeface="Times New Roman" panose="02020603050405020304" pitchFamily="18" charset="0"/>
            </a:endParaRPr>
          </a:p>
          <a:p>
            <a:pPr algn="ctr"/>
            <a:r>
              <a:rPr lang="zh-CN" altLang="en-US" b="1" dirty="0">
                <a:solidFill>
                  <a:srgbClr val="FF0000"/>
                </a:solidFill>
                <a:latin typeface="Times New Roman" panose="02020603050405020304" pitchFamily="18" charset="0"/>
                <a:cs typeface="Times New Roman" panose="02020603050405020304" pitchFamily="18" charset="0"/>
              </a:rPr>
              <a:t>LLMs</a:t>
            </a:r>
          </a:p>
        </p:txBody>
      </p:sp>
      <p:cxnSp>
        <p:nvCxnSpPr>
          <p:cNvPr id="16" name="直接箭头连接符 15">
            <a:extLst>
              <a:ext uri="{FF2B5EF4-FFF2-40B4-BE49-F238E27FC236}">
                <a16:creationId xmlns:a16="http://schemas.microsoft.com/office/drawing/2014/main" id="{3E04D076-D601-1BBC-D7AB-01B011A035A9}"/>
              </a:ext>
            </a:extLst>
          </p:cNvPr>
          <p:cNvCxnSpPr/>
          <p:nvPr/>
        </p:nvCxnSpPr>
        <p:spPr>
          <a:xfrm flipV="1">
            <a:off x="1037103" y="1961935"/>
            <a:ext cx="612083" cy="17038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D53C6C34-743A-E2ED-562E-8D8718850303}"/>
              </a:ext>
            </a:extLst>
          </p:cNvPr>
          <p:cNvCxnSpPr>
            <a:cxnSpLocks/>
          </p:cNvCxnSpPr>
          <p:nvPr/>
        </p:nvCxnSpPr>
        <p:spPr>
          <a:xfrm>
            <a:off x="999757" y="3974688"/>
            <a:ext cx="643234" cy="16270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7AEB61DE-5CCC-3A86-420E-3802B102A39C}"/>
              </a:ext>
            </a:extLst>
          </p:cNvPr>
          <p:cNvCxnSpPr>
            <a:cxnSpLocks/>
          </p:cNvCxnSpPr>
          <p:nvPr/>
        </p:nvCxnSpPr>
        <p:spPr>
          <a:xfrm>
            <a:off x="1037103" y="3864889"/>
            <a:ext cx="37879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213441"/>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60A8E-D062-4D53-887D-EC08846CA067}"/>
              </a:ext>
            </a:extLst>
          </p:cNvPr>
          <p:cNvSpPr>
            <a:spLocks noGrp="1"/>
          </p:cNvSpPr>
          <p:nvPr>
            <p:ph type="title"/>
          </p:nvPr>
        </p:nvSpPr>
        <p:spPr/>
        <p:txBody>
          <a:bodyPr>
            <a:normAutofit/>
          </a:bodyPr>
          <a:lstStyle/>
          <a:p>
            <a:r>
              <a:rPr lang="en-US" altLang="zh-CN" dirty="0"/>
              <a:t>LLM – Previous work</a:t>
            </a:r>
            <a:endParaRPr lang="zh-CN" altLang="en-US" dirty="0"/>
          </a:p>
        </p:txBody>
      </p:sp>
      <p:sp>
        <p:nvSpPr>
          <p:cNvPr id="3" name="文本框 2">
            <a:extLst>
              <a:ext uri="{FF2B5EF4-FFF2-40B4-BE49-F238E27FC236}">
                <a16:creationId xmlns:a16="http://schemas.microsoft.com/office/drawing/2014/main" id="{0F0BBFDF-A79E-025B-459B-6BC450221426}"/>
              </a:ext>
            </a:extLst>
          </p:cNvPr>
          <p:cNvSpPr txBox="1"/>
          <p:nvPr/>
        </p:nvSpPr>
        <p:spPr>
          <a:xfrm>
            <a:off x="628650" y="857250"/>
            <a:ext cx="5886450" cy="4247317"/>
          </a:xfrm>
          <a:prstGeom prst="rect">
            <a:avLst/>
          </a:prstGeom>
          <a:noFill/>
        </p:spPr>
        <p:txBody>
          <a:bodyPr wrap="square" rtlCol="0">
            <a:spAutoFit/>
          </a:bodyPr>
          <a:lstStyle/>
          <a:p>
            <a:pPr marL="285750" indent="-285750">
              <a:buFont typeface="Wingdings" panose="05000000000000000000" pitchFamily="2" charset="2"/>
              <a:buChar char="Ø"/>
            </a:pPr>
            <a:r>
              <a:rPr lang="en-US" altLang="zh-CN" b="1" dirty="0">
                <a:latin typeface="Times New Roman" panose="02020603050405020304" pitchFamily="18" charset="0"/>
                <a:cs typeface="Times New Roman" panose="02020603050405020304" pitchFamily="18" charset="0"/>
              </a:rPr>
              <a:t>Accelerating sparse attention</a:t>
            </a:r>
          </a:p>
          <a:p>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b="1" dirty="0">
                <a:latin typeface="Times New Roman" panose="02020603050405020304" pitchFamily="18" charset="0"/>
                <a:cs typeface="Times New Roman" panose="02020603050405020304" pitchFamily="18" charset="0"/>
              </a:rPr>
              <a:t>Mixed-precision quantization</a:t>
            </a:r>
          </a:p>
          <a:p>
            <a:pPr marL="285750" indent="-285750">
              <a:buFont typeface="Wingdings" panose="05000000000000000000" pitchFamily="2" charset="2"/>
              <a:buChar char="Ø"/>
            </a:pPr>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b="1" dirty="0">
                <a:latin typeface="Times New Roman" panose="02020603050405020304" pitchFamily="18" charset="0"/>
                <a:cs typeface="Times New Roman" panose="02020603050405020304" pitchFamily="18" charset="0"/>
              </a:rPr>
              <a:t>DFX</a:t>
            </a:r>
            <a:endParaRPr lang="zh-CN" altLang="en-US" b="1"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62B1B70D-F5AB-B166-420D-E9489018B7D0}"/>
              </a:ext>
            </a:extLst>
          </p:cNvPr>
          <p:cNvSpPr txBox="1"/>
          <p:nvPr/>
        </p:nvSpPr>
        <p:spPr>
          <a:xfrm>
            <a:off x="7380513" y="2241096"/>
            <a:ext cx="1453244" cy="3693319"/>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cs typeface="Times New Roman" panose="02020603050405020304" pitchFamily="18" charset="0"/>
              </a:rPr>
              <a:t>Prefill</a:t>
            </a:r>
            <a:r>
              <a:rPr lang="en-US" altLang="zh-CN" dirty="0">
                <a:latin typeface="Times New Roman" panose="02020603050405020304" pitchFamily="18" charset="0"/>
                <a:cs typeface="Times New Roman" panose="02020603050405020304" pitchFamily="18" charset="0"/>
              </a:rPr>
              <a:t> stage</a:t>
            </a: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dirty="0">
                <a:solidFill>
                  <a:srgbClr val="FF0000"/>
                </a:solidFill>
                <a:latin typeface="Times New Roman" panose="02020603050405020304" pitchFamily="18" charset="0"/>
                <a:cs typeface="Times New Roman" panose="02020603050405020304" pitchFamily="18" charset="0"/>
              </a:rPr>
              <a:t>Decode</a:t>
            </a:r>
            <a:r>
              <a:rPr lang="en-US" altLang="zh-CN" dirty="0">
                <a:latin typeface="Times New Roman" panose="02020603050405020304" pitchFamily="18" charset="0"/>
                <a:cs typeface="Times New Roman" panose="02020603050405020304" pitchFamily="18" charset="0"/>
              </a:rPr>
              <a:t> stage</a:t>
            </a:r>
            <a:endParaRPr lang="zh-CN" altLang="en-US" dirty="0">
              <a:latin typeface="Times New Roman" panose="02020603050405020304" pitchFamily="18" charset="0"/>
              <a:cs typeface="Times New Roman" panose="02020603050405020304" pitchFamily="18" charset="0"/>
            </a:endParaRPr>
          </a:p>
        </p:txBody>
      </p:sp>
      <p:pic>
        <p:nvPicPr>
          <p:cNvPr id="9" name="图片 8" descr="图示&#10;&#10;AI 生成的内容可能不正确。">
            <a:extLst>
              <a:ext uri="{FF2B5EF4-FFF2-40B4-BE49-F238E27FC236}">
                <a16:creationId xmlns:a16="http://schemas.microsoft.com/office/drawing/2014/main" id="{AE399BAC-9235-D688-518B-16FF09A8ED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922" y="2068526"/>
            <a:ext cx="6261276" cy="2299822"/>
          </a:xfrm>
          <a:prstGeom prst="rect">
            <a:avLst/>
          </a:prstGeom>
        </p:spPr>
      </p:pic>
      <p:pic>
        <p:nvPicPr>
          <p:cNvPr id="11" name="图片 10" descr="应用程序&#10;&#10;AI 生成的内容可能不正确。">
            <a:extLst>
              <a:ext uri="{FF2B5EF4-FFF2-40B4-BE49-F238E27FC236}">
                <a16:creationId xmlns:a16="http://schemas.microsoft.com/office/drawing/2014/main" id="{F87ABBEF-DD36-8F16-9E92-706E8AAB919B}"/>
              </a:ext>
            </a:extLst>
          </p:cNvPr>
          <p:cNvPicPr>
            <a:picLocks noChangeAspect="1"/>
          </p:cNvPicPr>
          <p:nvPr/>
        </p:nvPicPr>
        <p:blipFill>
          <a:blip r:embed="rId4">
            <a:extLst>
              <a:ext uri="{28A0092B-C50C-407E-A947-70E740481C1C}">
                <a14:useLocalDpi xmlns:a14="http://schemas.microsoft.com/office/drawing/2010/main" val="0"/>
              </a:ext>
            </a:extLst>
          </a:blip>
          <a:srcRect l="73742" t="9626" r="3580" b="48928"/>
          <a:stretch/>
        </p:blipFill>
        <p:spPr>
          <a:xfrm>
            <a:off x="840922" y="5104567"/>
            <a:ext cx="1715469" cy="1567543"/>
          </a:xfrm>
          <a:prstGeom prst="rect">
            <a:avLst/>
          </a:prstGeom>
        </p:spPr>
      </p:pic>
      <p:sp>
        <p:nvSpPr>
          <p:cNvPr id="13" name="右大括号 12">
            <a:extLst>
              <a:ext uri="{FF2B5EF4-FFF2-40B4-BE49-F238E27FC236}">
                <a16:creationId xmlns:a16="http://schemas.microsoft.com/office/drawing/2014/main" id="{0C5BA84C-5A1C-6D18-255E-D5E43536C4D4}"/>
              </a:ext>
            </a:extLst>
          </p:cNvPr>
          <p:cNvSpPr/>
          <p:nvPr/>
        </p:nvSpPr>
        <p:spPr>
          <a:xfrm>
            <a:off x="7013121" y="971550"/>
            <a:ext cx="212272" cy="289832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6" name="直接连接符 5">
            <a:extLst>
              <a:ext uri="{FF2B5EF4-FFF2-40B4-BE49-F238E27FC236}">
                <a16:creationId xmlns:a16="http://schemas.microsoft.com/office/drawing/2014/main" id="{8A0D4D72-BA82-B7C6-7E9B-0CFAF646089A}"/>
              </a:ext>
            </a:extLst>
          </p:cNvPr>
          <p:cNvCxnSpPr/>
          <p:nvPr/>
        </p:nvCxnSpPr>
        <p:spPr>
          <a:xfrm>
            <a:off x="529389" y="4608095"/>
            <a:ext cx="8304368" cy="0"/>
          </a:xfrm>
          <a:prstGeom prst="line">
            <a:avLst/>
          </a:prstGeom>
          <a:ln w="44450">
            <a:solidFill>
              <a:srgbClr val="298DC8"/>
            </a:solidFill>
            <a:prstDash val="dash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2138598"/>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E137CE22-E6E8-1E6E-6EEC-5CF1F2ADAD19}"/>
              </a:ext>
            </a:extLst>
          </p:cNvPr>
          <p:cNvPicPr>
            <a:picLocks noChangeAspect="1"/>
          </p:cNvPicPr>
          <p:nvPr/>
        </p:nvPicPr>
        <p:blipFill>
          <a:blip r:embed="rId3"/>
          <a:srcRect b="67502"/>
          <a:stretch/>
        </p:blipFill>
        <p:spPr>
          <a:xfrm>
            <a:off x="4229100" y="2977896"/>
            <a:ext cx="4419600" cy="1108300"/>
          </a:xfrm>
          <a:prstGeom prst="rect">
            <a:avLst/>
          </a:prstGeom>
        </p:spPr>
      </p:pic>
      <p:sp>
        <p:nvSpPr>
          <p:cNvPr id="2" name="标题 1">
            <a:extLst>
              <a:ext uri="{FF2B5EF4-FFF2-40B4-BE49-F238E27FC236}">
                <a16:creationId xmlns:a16="http://schemas.microsoft.com/office/drawing/2014/main" id="{D5460A8E-D062-4D53-887D-EC08846CA067}"/>
              </a:ext>
            </a:extLst>
          </p:cNvPr>
          <p:cNvSpPr>
            <a:spLocks noGrp="1"/>
          </p:cNvSpPr>
          <p:nvPr>
            <p:ph type="title"/>
          </p:nvPr>
        </p:nvSpPr>
        <p:spPr/>
        <p:txBody>
          <a:bodyPr>
            <a:normAutofit/>
          </a:bodyPr>
          <a:lstStyle/>
          <a:p>
            <a:r>
              <a:rPr lang="en-US" altLang="zh-CN" dirty="0" err="1"/>
              <a:t>SpMV</a:t>
            </a:r>
            <a:r>
              <a:rPr lang="en-US" altLang="zh-CN" dirty="0"/>
              <a:t> - Limitation</a:t>
            </a:r>
            <a:endParaRPr lang="zh-CN" altLang="en-US" dirty="0"/>
          </a:p>
        </p:txBody>
      </p:sp>
      <p:sp>
        <p:nvSpPr>
          <p:cNvPr id="5" name="文本框 4">
            <a:extLst>
              <a:ext uri="{FF2B5EF4-FFF2-40B4-BE49-F238E27FC236}">
                <a16:creationId xmlns:a16="http://schemas.microsoft.com/office/drawing/2014/main" id="{A1FAA5B5-C300-8E84-F1FD-6307B7254D98}"/>
              </a:ext>
            </a:extLst>
          </p:cNvPr>
          <p:cNvSpPr txBox="1"/>
          <p:nvPr/>
        </p:nvSpPr>
        <p:spPr>
          <a:xfrm>
            <a:off x="793569" y="1604010"/>
            <a:ext cx="7274378" cy="3970318"/>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Imbalanced Workload</a:t>
            </a: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Long-Distance RAW Dependency</a:t>
            </a: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The bottleneck of the input vector</a:t>
            </a:r>
            <a:endParaRPr lang="zh-CN" altLang="en-US" dirty="0">
              <a:latin typeface="Times New Roman" panose="02020603050405020304" pitchFamily="18" charset="0"/>
              <a:cs typeface="Times New Roman" panose="02020603050405020304" pitchFamily="18" charset="0"/>
            </a:endParaRPr>
          </a:p>
        </p:txBody>
      </p:sp>
      <p:pic>
        <p:nvPicPr>
          <p:cNvPr id="7" name="图片 6" descr="图示&#10;&#10;AI 生成的内容可能不正确。">
            <a:extLst>
              <a:ext uri="{FF2B5EF4-FFF2-40B4-BE49-F238E27FC236}">
                <a16:creationId xmlns:a16="http://schemas.microsoft.com/office/drawing/2014/main" id="{A6930219-2466-9FD3-F686-2BAFDC6AA2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942335"/>
            <a:ext cx="2720340" cy="1813560"/>
          </a:xfrm>
          <a:prstGeom prst="rect">
            <a:avLst/>
          </a:prstGeom>
        </p:spPr>
      </p:pic>
      <p:pic>
        <p:nvPicPr>
          <p:cNvPr id="6146" name="Picture 2">
            <a:extLst>
              <a:ext uri="{FF2B5EF4-FFF2-40B4-BE49-F238E27FC236}">
                <a16:creationId xmlns:a16="http://schemas.microsoft.com/office/drawing/2014/main" id="{B08D105F-3FBE-70E5-D63F-4FE9A52A3A4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3337"/>
          <a:stretch/>
        </p:blipFill>
        <p:spPr bwMode="auto">
          <a:xfrm>
            <a:off x="4572000" y="4129781"/>
            <a:ext cx="3311842" cy="2470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997062"/>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Memory bottleneck</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1</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sp>
        <p:nvSpPr>
          <p:cNvPr id="2" name="文本框 1">
            <a:extLst>
              <a:ext uri="{FF2B5EF4-FFF2-40B4-BE49-F238E27FC236}">
                <a16:creationId xmlns:a16="http://schemas.microsoft.com/office/drawing/2014/main" id="{4BCFAE88-D836-613B-832D-42709F1E9E55}"/>
              </a:ext>
            </a:extLst>
          </p:cNvPr>
          <p:cNvSpPr txBox="1"/>
          <p:nvPr/>
        </p:nvSpPr>
        <p:spPr>
          <a:xfrm>
            <a:off x="7091494" y="310631"/>
            <a:ext cx="2138081" cy="369332"/>
          </a:xfrm>
          <a:prstGeom prst="rect">
            <a:avLst/>
          </a:prstGeom>
          <a:noFill/>
        </p:spPr>
        <p:txBody>
          <a:bodyPr wrap="square" rtlCol="0">
            <a:spAutoFit/>
          </a:bodyPr>
          <a:lstStyle/>
          <a:p>
            <a:r>
              <a:rPr lang="en-US" altLang="zh-CN" b="1" dirty="0"/>
              <a:t>2024 ACM/SIGDA</a:t>
            </a:r>
          </a:p>
        </p:txBody>
      </p:sp>
      <p:sp>
        <p:nvSpPr>
          <p:cNvPr id="5" name="文本框 4">
            <a:extLst>
              <a:ext uri="{FF2B5EF4-FFF2-40B4-BE49-F238E27FC236}">
                <a16:creationId xmlns:a16="http://schemas.microsoft.com/office/drawing/2014/main" id="{4A03B3B6-3D92-0C85-347A-14CB776203D4}"/>
              </a:ext>
            </a:extLst>
          </p:cNvPr>
          <p:cNvSpPr txBox="1"/>
          <p:nvPr/>
        </p:nvSpPr>
        <p:spPr>
          <a:xfrm>
            <a:off x="705802" y="771850"/>
            <a:ext cx="7732395"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Utilize FP</a:t>
            </a:r>
            <a:r>
              <a:rPr lang="en-US" altLang="zh-CN" dirty="0">
                <a:latin typeface="Times New Roman" panose="02020603050405020304" pitchFamily="18" charset="0"/>
                <a:cs typeface="Times New Roman" panose="02020603050405020304" pitchFamily="18" charset="0"/>
              </a:rPr>
              <a:t>GA</a:t>
            </a:r>
            <a:r>
              <a:rPr lang="zh-CN" altLang="en-US" dirty="0">
                <a:latin typeface="Times New Roman" panose="02020603050405020304" pitchFamily="18" charset="0"/>
                <a:cs typeface="Times New Roman" panose="02020603050405020304" pitchFamily="18" charset="0"/>
              </a:rPr>
              <a:t> equipped with HBM to solve memory bottlenecks in SpMV</a:t>
            </a:r>
          </a:p>
        </p:txBody>
      </p:sp>
      <p:pic>
        <p:nvPicPr>
          <p:cNvPr id="6" name="图片 5">
            <a:extLst>
              <a:ext uri="{FF2B5EF4-FFF2-40B4-BE49-F238E27FC236}">
                <a16:creationId xmlns:a16="http://schemas.microsoft.com/office/drawing/2014/main" id="{067F5503-C4DE-393A-AA6D-184181030664}"/>
              </a:ext>
            </a:extLst>
          </p:cNvPr>
          <p:cNvPicPr>
            <a:picLocks noChangeAspect="1"/>
          </p:cNvPicPr>
          <p:nvPr/>
        </p:nvPicPr>
        <p:blipFill>
          <a:blip r:embed="rId3"/>
          <a:stretch>
            <a:fillRect/>
          </a:stretch>
        </p:blipFill>
        <p:spPr>
          <a:xfrm>
            <a:off x="3686174" y="1412880"/>
            <a:ext cx="1771650" cy="352425"/>
          </a:xfrm>
          <a:prstGeom prst="rect">
            <a:avLst/>
          </a:prstGeom>
        </p:spPr>
      </p:pic>
      <p:pic>
        <p:nvPicPr>
          <p:cNvPr id="7" name="图片 6">
            <a:extLst>
              <a:ext uri="{FF2B5EF4-FFF2-40B4-BE49-F238E27FC236}">
                <a16:creationId xmlns:a16="http://schemas.microsoft.com/office/drawing/2014/main" id="{A65C09ED-654B-4CFA-54C4-255221A5971C}"/>
              </a:ext>
            </a:extLst>
          </p:cNvPr>
          <p:cNvPicPr>
            <a:picLocks noChangeAspect="1"/>
          </p:cNvPicPr>
          <p:nvPr/>
        </p:nvPicPr>
        <p:blipFill>
          <a:blip r:embed="rId4"/>
          <a:stretch>
            <a:fillRect/>
          </a:stretch>
        </p:blipFill>
        <p:spPr>
          <a:xfrm>
            <a:off x="1419224" y="1765305"/>
            <a:ext cx="6305550" cy="2590800"/>
          </a:xfrm>
          <a:prstGeom prst="rect">
            <a:avLst/>
          </a:prstGeom>
        </p:spPr>
      </p:pic>
      <p:sp>
        <p:nvSpPr>
          <p:cNvPr id="8" name="矩形: 圆角 7">
            <a:extLst>
              <a:ext uri="{FF2B5EF4-FFF2-40B4-BE49-F238E27FC236}">
                <a16:creationId xmlns:a16="http://schemas.microsoft.com/office/drawing/2014/main" id="{48FABC1D-5D69-0361-EED5-18EB01B8A5E5}"/>
              </a:ext>
            </a:extLst>
          </p:cNvPr>
          <p:cNvSpPr/>
          <p:nvPr/>
        </p:nvSpPr>
        <p:spPr>
          <a:xfrm>
            <a:off x="1458123" y="1372047"/>
            <a:ext cx="6266651" cy="2984058"/>
          </a:xfrm>
          <a:prstGeom prst="roundRect">
            <a:avLst/>
          </a:prstGeom>
          <a:noFill/>
          <a:ln w="28575">
            <a:solidFill>
              <a:srgbClr val="298DC8"/>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3">
            <a:extLst>
              <a:ext uri="{FF2B5EF4-FFF2-40B4-BE49-F238E27FC236}">
                <a16:creationId xmlns:a16="http://schemas.microsoft.com/office/drawing/2014/main" id="{9AD2E7C8-1716-F9E9-0157-B2867D82DD89}"/>
              </a:ext>
            </a:extLst>
          </p:cNvPr>
          <p:cNvSpPr>
            <a:spLocks noChangeArrowheads="1"/>
          </p:cNvSpPr>
          <p:nvPr/>
        </p:nvSpPr>
        <p:spPr bwMode="auto">
          <a:xfrm>
            <a:off x="402154" y="4506178"/>
            <a:ext cx="348575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600" dirty="0">
                <a:latin typeface="Times New Roman" panose="02020603050405020304" pitchFamily="18" charset="0"/>
                <a:cs typeface="Times New Roman" panose="02020603050405020304" pitchFamily="18" charset="0"/>
              </a:rPr>
              <a:t>P</a:t>
            </a:r>
            <a:r>
              <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artitioning the sparse matrix and its input/output vectors into tiles</a:t>
            </a:r>
            <a:endPar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600" dirty="0">
                <a:latin typeface="Times New Roman" panose="02020603050405020304" pitchFamily="18" charset="0"/>
                <a:cs typeface="Times New Roman" panose="02020603050405020304" pitchFamily="18" charset="0"/>
              </a:rPr>
              <a:t>A</a:t>
            </a:r>
            <a:r>
              <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pipelined manner</a:t>
            </a:r>
            <a:endPar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600" dirty="0">
                <a:latin typeface="Times New Roman" panose="02020603050405020304" pitchFamily="18" charset="0"/>
                <a:cs typeface="Times New Roman" panose="02020603050405020304" pitchFamily="18" charset="0"/>
              </a:rPr>
              <a:t>C</a:t>
            </a:r>
            <a:r>
              <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yclic row assignment and on-chip caching</a:t>
            </a:r>
          </a:p>
        </p:txBody>
      </p:sp>
      <p:sp>
        <p:nvSpPr>
          <p:cNvPr id="11" name="文本框 10">
            <a:extLst>
              <a:ext uri="{FF2B5EF4-FFF2-40B4-BE49-F238E27FC236}">
                <a16:creationId xmlns:a16="http://schemas.microsoft.com/office/drawing/2014/main" id="{3008D53E-9867-7E3E-6A38-E0C72272B6D9}"/>
              </a:ext>
            </a:extLst>
          </p:cNvPr>
          <p:cNvSpPr txBox="1"/>
          <p:nvPr/>
        </p:nvSpPr>
        <p:spPr>
          <a:xfrm>
            <a:off x="5348618" y="4629288"/>
            <a:ext cx="3485752" cy="1077218"/>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M</a:t>
            </a:r>
            <a:r>
              <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aximize the utilization of HBM bandwidth </a:t>
            </a:r>
            <a:endPar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a:t>
            </a:r>
            <a:r>
              <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educe the impact of random accesses.</a:t>
            </a:r>
            <a:endParaRPr lang="zh-CN" altLang="en-US" sz="1600" dirty="0"/>
          </a:p>
        </p:txBody>
      </p:sp>
      <p:cxnSp>
        <p:nvCxnSpPr>
          <p:cNvPr id="13" name="直接箭头连接符 12">
            <a:extLst>
              <a:ext uri="{FF2B5EF4-FFF2-40B4-BE49-F238E27FC236}">
                <a16:creationId xmlns:a16="http://schemas.microsoft.com/office/drawing/2014/main" id="{61EDFCC5-B82D-3BC5-3794-1EB769C17A50}"/>
              </a:ext>
            </a:extLst>
          </p:cNvPr>
          <p:cNvCxnSpPr>
            <a:cxnSpLocks/>
            <a:stCxn id="9" idx="3"/>
            <a:endCxn id="11" idx="1"/>
          </p:cNvCxnSpPr>
          <p:nvPr/>
        </p:nvCxnSpPr>
        <p:spPr>
          <a:xfrm flipV="1">
            <a:off x="3887906" y="5167897"/>
            <a:ext cx="1460712" cy="1"/>
          </a:xfrm>
          <a:prstGeom prst="straightConnector1">
            <a:avLst/>
          </a:prstGeom>
          <a:ln w="76200">
            <a:solidFill>
              <a:srgbClr val="278BC7"/>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9724ACDB-50D5-2981-2748-FCD3A4CA7C47}"/>
              </a:ext>
            </a:extLst>
          </p:cNvPr>
          <p:cNvSpPr txBox="1"/>
          <p:nvPr/>
        </p:nvSpPr>
        <p:spPr>
          <a:xfrm>
            <a:off x="980122" y="5979689"/>
            <a:ext cx="7013258" cy="646331"/>
          </a:xfrm>
          <a:prstGeom prst="rect">
            <a:avLst/>
          </a:prstGeom>
          <a:noFill/>
        </p:spPr>
        <p:txBody>
          <a:bodyPr wrap="square">
            <a:spAutoFit/>
          </a:bodyPr>
          <a:lstStyle/>
          <a:p>
            <a:r>
              <a:rPr lang="zh-CN" altLang="en-US" b="1" dirty="0">
                <a:solidFill>
                  <a:srgbClr val="FF0000"/>
                </a:solidFill>
                <a:latin typeface="Times New Roman" panose="02020603050405020304" pitchFamily="18" charset="0"/>
                <a:cs typeface="Times New Roman" panose="02020603050405020304" pitchFamily="18" charset="0"/>
              </a:rPr>
              <a:t>When dealing with highly unbalanced sparse matrices, the traditional acceleration methods have obvious shortcomings</a:t>
            </a:r>
          </a:p>
        </p:txBody>
      </p:sp>
    </p:spTree>
    <p:extLst>
      <p:ext uri="{BB962C8B-B14F-4D97-AF65-F5344CB8AC3E}">
        <p14:creationId xmlns:p14="http://schemas.microsoft.com/office/powerpoint/2010/main" val="2739805305"/>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Imbalanced Workload</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rPr>
              <a:t>2</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sp>
        <p:nvSpPr>
          <p:cNvPr id="2" name="文本框 1">
            <a:extLst>
              <a:ext uri="{FF2B5EF4-FFF2-40B4-BE49-F238E27FC236}">
                <a16:creationId xmlns:a16="http://schemas.microsoft.com/office/drawing/2014/main" id="{4BCFAE88-D836-613B-832D-42709F1E9E55}"/>
              </a:ext>
            </a:extLst>
          </p:cNvPr>
          <p:cNvSpPr txBox="1"/>
          <p:nvPr/>
        </p:nvSpPr>
        <p:spPr>
          <a:xfrm>
            <a:off x="7091494" y="310631"/>
            <a:ext cx="2138081" cy="369332"/>
          </a:xfrm>
          <a:prstGeom prst="rect">
            <a:avLst/>
          </a:prstGeom>
          <a:noFill/>
        </p:spPr>
        <p:txBody>
          <a:bodyPr wrap="square" rtlCol="0">
            <a:spAutoFit/>
          </a:bodyPr>
          <a:lstStyle/>
          <a:p>
            <a:r>
              <a:rPr lang="en-US" altLang="zh-CN" b="1" dirty="0"/>
              <a:t>2024 ACM/SIGDA</a:t>
            </a:r>
          </a:p>
        </p:txBody>
      </p:sp>
      <p:pic>
        <p:nvPicPr>
          <p:cNvPr id="5122" name="Picture 2">
            <a:extLst>
              <a:ext uri="{FF2B5EF4-FFF2-40B4-BE49-F238E27FC236}">
                <a16:creationId xmlns:a16="http://schemas.microsoft.com/office/drawing/2014/main" id="{18E4B7BF-7E4D-839C-DE52-97C70C7F64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2198" y="1565434"/>
            <a:ext cx="5739603" cy="3727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7664269"/>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err="1"/>
              <a:t>HiSpMV</a:t>
            </a:r>
            <a:endParaRPr lang="en-US" altLang="zh-CN" dirty="0"/>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Timeline</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1</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sp>
        <p:nvSpPr>
          <p:cNvPr id="2" name="文本框 1">
            <a:extLst>
              <a:ext uri="{FF2B5EF4-FFF2-40B4-BE49-F238E27FC236}">
                <a16:creationId xmlns:a16="http://schemas.microsoft.com/office/drawing/2014/main" id="{4BCFAE88-D836-613B-832D-42709F1E9E55}"/>
              </a:ext>
            </a:extLst>
          </p:cNvPr>
          <p:cNvSpPr txBox="1"/>
          <p:nvPr/>
        </p:nvSpPr>
        <p:spPr>
          <a:xfrm>
            <a:off x="7091494" y="310631"/>
            <a:ext cx="2138081" cy="369332"/>
          </a:xfrm>
          <a:prstGeom prst="rect">
            <a:avLst/>
          </a:prstGeom>
          <a:noFill/>
        </p:spPr>
        <p:txBody>
          <a:bodyPr wrap="square" rtlCol="0">
            <a:spAutoFit/>
          </a:bodyPr>
          <a:lstStyle/>
          <a:p>
            <a:r>
              <a:rPr lang="en-US" altLang="zh-CN" b="1" dirty="0"/>
              <a:t>2024 ACM/SIGDA</a:t>
            </a:r>
          </a:p>
        </p:txBody>
      </p:sp>
      <p:pic>
        <p:nvPicPr>
          <p:cNvPr id="4" name="图片 3">
            <a:extLst>
              <a:ext uri="{FF2B5EF4-FFF2-40B4-BE49-F238E27FC236}">
                <a16:creationId xmlns:a16="http://schemas.microsoft.com/office/drawing/2014/main" id="{31740A7A-0FFA-51BE-4AA5-85DEDF06D427}"/>
              </a:ext>
            </a:extLst>
          </p:cNvPr>
          <p:cNvPicPr>
            <a:picLocks noChangeAspect="1"/>
          </p:cNvPicPr>
          <p:nvPr/>
        </p:nvPicPr>
        <p:blipFill>
          <a:blip r:embed="rId3"/>
          <a:stretch>
            <a:fillRect/>
          </a:stretch>
        </p:blipFill>
        <p:spPr>
          <a:xfrm>
            <a:off x="2956050" y="821324"/>
            <a:ext cx="3772919" cy="3611311"/>
          </a:xfrm>
          <a:prstGeom prst="rect">
            <a:avLst/>
          </a:prstGeom>
        </p:spPr>
      </p:pic>
      <p:pic>
        <p:nvPicPr>
          <p:cNvPr id="5" name="图片 4">
            <a:extLst>
              <a:ext uri="{FF2B5EF4-FFF2-40B4-BE49-F238E27FC236}">
                <a16:creationId xmlns:a16="http://schemas.microsoft.com/office/drawing/2014/main" id="{7F5D765E-695E-9C95-3A96-02786DCEAF52}"/>
              </a:ext>
            </a:extLst>
          </p:cNvPr>
          <p:cNvPicPr>
            <a:picLocks noChangeAspect="1"/>
          </p:cNvPicPr>
          <p:nvPr/>
        </p:nvPicPr>
        <p:blipFill>
          <a:blip r:embed="rId4"/>
          <a:stretch>
            <a:fillRect/>
          </a:stretch>
        </p:blipFill>
        <p:spPr>
          <a:xfrm>
            <a:off x="1433830" y="4432635"/>
            <a:ext cx="6819900" cy="2421515"/>
          </a:xfrm>
          <a:prstGeom prst="rect">
            <a:avLst/>
          </a:prstGeom>
        </p:spPr>
      </p:pic>
      <p:sp>
        <p:nvSpPr>
          <p:cNvPr id="7" name="文本框 6">
            <a:extLst>
              <a:ext uri="{FF2B5EF4-FFF2-40B4-BE49-F238E27FC236}">
                <a16:creationId xmlns:a16="http://schemas.microsoft.com/office/drawing/2014/main" id="{C83495BB-DAFB-4D17-CDFD-BDB266932AF5}"/>
              </a:ext>
            </a:extLst>
          </p:cNvPr>
          <p:cNvSpPr txBox="1"/>
          <p:nvPr/>
        </p:nvSpPr>
        <p:spPr>
          <a:xfrm>
            <a:off x="142295" y="1718677"/>
            <a:ext cx="2631656" cy="286232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The HiSpMV scheme greatly improves the performance of </a:t>
            </a:r>
            <a:r>
              <a:rPr lang="zh-CN" altLang="en-US" b="1" dirty="0">
                <a:latin typeface="Times New Roman" panose="02020603050405020304" pitchFamily="18" charset="0"/>
                <a:cs typeface="Times New Roman" panose="02020603050405020304" pitchFamily="18" charset="0"/>
              </a:rPr>
              <a:t>unbalanced</a:t>
            </a:r>
            <a:r>
              <a:rPr lang="zh-CN" altLang="en-US" dirty="0">
                <a:latin typeface="Times New Roman" panose="02020603050405020304" pitchFamily="18" charset="0"/>
                <a:cs typeface="Times New Roman" panose="02020603050405020304" pitchFamily="18" charset="0"/>
              </a:rPr>
              <a:t> and </a:t>
            </a:r>
            <a:r>
              <a:rPr lang="zh-CN" altLang="en-US" b="1" dirty="0">
                <a:latin typeface="Times New Roman" panose="02020603050405020304" pitchFamily="18" charset="0"/>
                <a:cs typeface="Times New Roman" panose="02020603050405020304" pitchFamily="18" charset="0"/>
              </a:rPr>
              <a:t>balanced</a:t>
            </a:r>
            <a:r>
              <a:rPr lang="zh-CN" altLang="en-US" dirty="0">
                <a:latin typeface="Times New Roman" panose="02020603050405020304" pitchFamily="18" charset="0"/>
                <a:cs typeface="Times New Roman" panose="02020603050405020304" pitchFamily="18" charset="0"/>
              </a:rPr>
              <a:t> matrices by introducing new technology based on the existing advanced accelerator </a:t>
            </a:r>
            <a:r>
              <a:rPr lang="zh-CN" altLang="en-US" b="1" dirty="0">
                <a:latin typeface="Times New Roman" panose="02020603050405020304" pitchFamily="18" charset="0"/>
                <a:cs typeface="Times New Roman" panose="02020603050405020304" pitchFamily="18" charset="0"/>
              </a:rPr>
              <a:t>Serpens</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(SOTA)</a:t>
            </a:r>
            <a:endParaRPr lang="zh-CN" altLang="en-US" dirty="0">
              <a:latin typeface="Times New Roman" panose="02020603050405020304" pitchFamily="18" charset="0"/>
              <a:cs typeface="Times New Roman" panose="02020603050405020304" pitchFamily="18" charset="0"/>
            </a:endParaRPr>
          </a:p>
        </p:txBody>
      </p:sp>
      <p:sp>
        <p:nvSpPr>
          <p:cNvPr id="8" name="矩形: 圆角 7">
            <a:extLst>
              <a:ext uri="{FF2B5EF4-FFF2-40B4-BE49-F238E27FC236}">
                <a16:creationId xmlns:a16="http://schemas.microsoft.com/office/drawing/2014/main" id="{C634E121-0CC7-C570-B3E5-A24FEFDB17AB}"/>
              </a:ext>
            </a:extLst>
          </p:cNvPr>
          <p:cNvSpPr/>
          <p:nvPr/>
        </p:nvSpPr>
        <p:spPr>
          <a:xfrm>
            <a:off x="109345" y="1682138"/>
            <a:ext cx="2421584" cy="2866499"/>
          </a:xfrm>
          <a:prstGeom prst="roundRect">
            <a:avLst/>
          </a:prstGeom>
          <a:noFill/>
          <a:ln w="28575">
            <a:solidFill>
              <a:srgbClr val="298DC8"/>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99434102"/>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err="1"/>
              <a:t>HiSpMV</a:t>
            </a:r>
            <a:r>
              <a:rPr lang="en-US" altLang="zh-CN" dirty="0"/>
              <a:t> - Hybrid Row Distribution Network</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Timeline</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1</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sp>
        <p:nvSpPr>
          <p:cNvPr id="5" name="文本框 4">
            <a:extLst>
              <a:ext uri="{FF2B5EF4-FFF2-40B4-BE49-F238E27FC236}">
                <a16:creationId xmlns:a16="http://schemas.microsoft.com/office/drawing/2014/main" id="{3411B8DB-47C2-1772-67B2-0EFC53B1EDB7}"/>
              </a:ext>
            </a:extLst>
          </p:cNvPr>
          <p:cNvSpPr txBox="1"/>
          <p:nvPr/>
        </p:nvSpPr>
        <p:spPr>
          <a:xfrm>
            <a:off x="785024" y="869607"/>
            <a:ext cx="3390736"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1. For imbalanced workload</a:t>
            </a:r>
            <a:endParaRPr lang="zh-CN" altLang="en-US" b="1"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3AB928AA-82FC-49AB-5794-9A2C56BDF459}"/>
              </a:ext>
            </a:extLst>
          </p:cNvPr>
          <p:cNvPicPr>
            <a:picLocks noChangeAspect="1"/>
          </p:cNvPicPr>
          <p:nvPr/>
        </p:nvPicPr>
        <p:blipFill>
          <a:blip r:embed="rId3"/>
          <a:stretch>
            <a:fillRect/>
          </a:stretch>
        </p:blipFill>
        <p:spPr>
          <a:xfrm>
            <a:off x="2724150" y="1238939"/>
            <a:ext cx="3695700" cy="4572000"/>
          </a:xfrm>
          <a:prstGeom prst="rect">
            <a:avLst/>
          </a:prstGeom>
        </p:spPr>
      </p:pic>
    </p:spTree>
    <p:extLst>
      <p:ext uri="{BB962C8B-B14F-4D97-AF65-F5344CB8AC3E}">
        <p14:creationId xmlns:p14="http://schemas.microsoft.com/office/powerpoint/2010/main" val="116839660"/>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A9853418-DF05-5013-A930-4EEF268F92BE}"/>
              </a:ext>
            </a:extLst>
          </p:cNvPr>
          <p:cNvPicPr>
            <a:picLocks noChangeAspect="1"/>
          </p:cNvPicPr>
          <p:nvPr/>
        </p:nvPicPr>
        <p:blipFill>
          <a:blip r:embed="rId3"/>
          <a:srcRect t="32694" b="12612"/>
          <a:stretch/>
        </p:blipFill>
        <p:spPr>
          <a:xfrm>
            <a:off x="5456555" y="4462337"/>
            <a:ext cx="3847465" cy="1623813"/>
          </a:xfrm>
          <a:prstGeom prst="rect">
            <a:avLst/>
          </a:prstGeom>
        </p:spPr>
      </p:pic>
      <p:sp>
        <p:nvSpPr>
          <p:cNvPr id="3" name="标题 2"/>
          <p:cNvSpPr>
            <a:spLocks noGrp="1"/>
          </p:cNvSpPr>
          <p:nvPr>
            <p:ph type="title"/>
          </p:nvPr>
        </p:nvSpPr>
        <p:spPr/>
        <p:txBody>
          <a:bodyPr>
            <a:normAutofit fontScale="90000"/>
          </a:bodyPr>
          <a:lstStyle/>
          <a:p>
            <a:r>
              <a:rPr lang="en-US" altLang="zh-CN" dirty="0" err="1"/>
              <a:t>HiSpMV</a:t>
            </a:r>
            <a:r>
              <a:rPr lang="en-US" altLang="zh-CN" dirty="0"/>
              <a:t> - </a:t>
            </a:r>
            <a:r>
              <a:rPr lang="en-US" altLang="zh-CN" sz="2200" dirty="0"/>
              <a:t>Fully Pipelined Floating-Point Accumulation</a:t>
            </a:r>
            <a:endParaRPr lang="en-US" altLang="zh-CN" dirty="0"/>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Timeline</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1</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4" name="图片 3">
            <a:extLst>
              <a:ext uri="{FF2B5EF4-FFF2-40B4-BE49-F238E27FC236}">
                <a16:creationId xmlns:a16="http://schemas.microsoft.com/office/drawing/2014/main" id="{B8E5E4D1-29A9-9169-323B-5339CBEA7732}"/>
              </a:ext>
            </a:extLst>
          </p:cNvPr>
          <p:cNvPicPr>
            <a:picLocks noChangeAspect="1"/>
          </p:cNvPicPr>
          <p:nvPr/>
        </p:nvPicPr>
        <p:blipFill>
          <a:blip r:embed="rId4"/>
          <a:stretch>
            <a:fillRect/>
          </a:stretch>
        </p:blipFill>
        <p:spPr>
          <a:xfrm>
            <a:off x="224314" y="3228899"/>
            <a:ext cx="5597249" cy="2857251"/>
          </a:xfrm>
          <a:prstGeom prst="rect">
            <a:avLst/>
          </a:prstGeom>
        </p:spPr>
      </p:pic>
      <p:sp>
        <p:nvSpPr>
          <p:cNvPr id="6" name="文本框 5">
            <a:extLst>
              <a:ext uri="{FF2B5EF4-FFF2-40B4-BE49-F238E27FC236}">
                <a16:creationId xmlns:a16="http://schemas.microsoft.com/office/drawing/2014/main" id="{45BAE819-13FC-4FBB-23CC-643D19C1D3DA}"/>
              </a:ext>
            </a:extLst>
          </p:cNvPr>
          <p:cNvSpPr txBox="1"/>
          <p:nvPr/>
        </p:nvSpPr>
        <p:spPr>
          <a:xfrm>
            <a:off x="785024" y="813797"/>
            <a:ext cx="4613910"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2. For l</a:t>
            </a:r>
            <a:r>
              <a:rPr lang="zh-CN" altLang="en-US" b="1" dirty="0">
                <a:latin typeface="Times New Roman" panose="02020603050405020304" pitchFamily="18" charset="0"/>
                <a:cs typeface="Times New Roman" panose="02020603050405020304" pitchFamily="18" charset="0"/>
              </a:rPr>
              <a:t>ong-Distance RAW Dependency</a:t>
            </a:r>
          </a:p>
        </p:txBody>
      </p:sp>
      <p:pic>
        <p:nvPicPr>
          <p:cNvPr id="7" name="图片 6">
            <a:extLst>
              <a:ext uri="{FF2B5EF4-FFF2-40B4-BE49-F238E27FC236}">
                <a16:creationId xmlns:a16="http://schemas.microsoft.com/office/drawing/2014/main" id="{8CF41481-F4E7-E5F8-4C15-9A47D884CDCF}"/>
              </a:ext>
            </a:extLst>
          </p:cNvPr>
          <p:cNvPicPr>
            <a:picLocks noChangeAspect="1"/>
          </p:cNvPicPr>
          <p:nvPr/>
        </p:nvPicPr>
        <p:blipFill>
          <a:blip r:embed="rId5"/>
          <a:stretch>
            <a:fillRect/>
          </a:stretch>
        </p:blipFill>
        <p:spPr>
          <a:xfrm>
            <a:off x="382414" y="1373134"/>
            <a:ext cx="6689558" cy="1623813"/>
          </a:xfrm>
          <a:prstGeom prst="rect">
            <a:avLst/>
          </a:prstGeom>
        </p:spPr>
      </p:pic>
      <p:sp>
        <p:nvSpPr>
          <p:cNvPr id="9" name="文本框 8">
            <a:extLst>
              <a:ext uri="{FF2B5EF4-FFF2-40B4-BE49-F238E27FC236}">
                <a16:creationId xmlns:a16="http://schemas.microsoft.com/office/drawing/2014/main" id="{02842E5F-D7F5-10A5-0A77-AFED2C4AC38E}"/>
              </a:ext>
            </a:extLst>
          </p:cNvPr>
          <p:cNvSpPr txBox="1"/>
          <p:nvPr/>
        </p:nvSpPr>
        <p:spPr>
          <a:xfrm>
            <a:off x="7125312" y="771850"/>
            <a:ext cx="1794374" cy="3385542"/>
          </a:xfrm>
          <a:prstGeom prst="rect">
            <a:avLst/>
          </a:prstGeom>
          <a:noFill/>
        </p:spPr>
        <p:txBody>
          <a:bodyPr wrap="square">
            <a:spAutoFit/>
          </a:bodyPr>
          <a:lstStyle/>
          <a:p>
            <a:pPr marL="285750" indent="-285750">
              <a:buFont typeface="Arial" panose="020B0604020202020204" pitchFamily="34" charset="0"/>
              <a:buChar char="•"/>
            </a:pPr>
            <a:r>
              <a:rPr lang="zh-CN" altLang="en-US" sz="1600" b="1" dirty="0">
                <a:latin typeface="Times New Roman" panose="02020603050405020304" pitchFamily="18" charset="0"/>
                <a:cs typeface="Times New Roman" panose="02020603050405020304" pitchFamily="18" charset="0"/>
              </a:rPr>
              <a:t>Row_idx</a:t>
            </a:r>
            <a:r>
              <a:rPr lang="en-US" altLang="zh-CN" sz="1600" b="1"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"which row" the data comes from </a:t>
            </a:r>
            <a:endParaRPr lang="en-US" altLang="zh-C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zh-CN" altLang="en-US" sz="1600" b="1" dirty="0">
                <a:latin typeface="Times New Roman" panose="02020603050405020304" pitchFamily="18" charset="0"/>
                <a:cs typeface="Times New Roman" panose="02020603050405020304" pitchFamily="18" charset="0"/>
              </a:rPr>
              <a:t>Bank_idx</a:t>
            </a:r>
            <a:r>
              <a:rPr lang="en-US" altLang="zh-CN" sz="1600" b="1"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"which PE (or accumulator) should process" the </a:t>
            </a:r>
            <a:r>
              <a:rPr lang="zh-CN" altLang="en-US" sz="1600" dirty="0">
                <a:latin typeface="Times New Roman" panose="02020603050405020304" pitchFamily="18" charset="0"/>
                <a:cs typeface="Times New Roman" panose="02020603050405020304" pitchFamily="18" charset="0"/>
              </a:rPr>
              <a:t>data,</a:t>
            </a:r>
            <a:endParaRPr lang="en-US" altLang="zh-C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1600" b="1" dirty="0">
                <a:solidFill>
                  <a:srgbClr val="FF0000"/>
                </a:solidFill>
                <a:latin typeface="Times New Roman" panose="02020603050405020304" pitchFamily="18" charset="0"/>
                <a:cs typeface="Times New Roman" panose="02020603050405020304" pitchFamily="18" charset="0"/>
              </a:rPr>
              <a:t>When </a:t>
            </a:r>
            <a:r>
              <a:rPr lang="zh-CN" altLang="en-US" sz="1600" b="1" dirty="0">
                <a:solidFill>
                  <a:srgbClr val="FF0000"/>
                </a:solidFill>
                <a:latin typeface="Times New Roman" panose="02020603050405020304" pitchFamily="18" charset="0"/>
                <a:cs typeface="Times New Roman" panose="02020603050405020304" pitchFamily="18" charset="0"/>
              </a:rPr>
              <a:t>the same row of data needs to be distributed across multiple </a:t>
            </a:r>
            <a:r>
              <a:rPr lang="en-US" altLang="zh-CN" sz="1600" b="1" dirty="0">
                <a:solidFill>
                  <a:srgbClr val="FF0000"/>
                </a:solidFill>
                <a:latin typeface="Times New Roman" panose="02020603050405020304" pitchFamily="18" charset="0"/>
                <a:cs typeface="Times New Roman" panose="02020603050405020304" pitchFamily="18" charset="0"/>
              </a:rPr>
              <a:t>PE</a:t>
            </a:r>
            <a:r>
              <a:rPr lang="zh-CN" altLang="en-US" sz="1600" b="1"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81430751"/>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err="1"/>
              <a:t>HiSpMV</a:t>
            </a:r>
            <a:r>
              <a:rPr lang="en-US" altLang="zh-CN" dirty="0"/>
              <a:t> - Hybrid Buffering for Input Vector</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Timeline</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1</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4" name="图片 3">
            <a:extLst>
              <a:ext uri="{FF2B5EF4-FFF2-40B4-BE49-F238E27FC236}">
                <a16:creationId xmlns:a16="http://schemas.microsoft.com/office/drawing/2014/main" id="{AE7C3FA1-5A0E-859B-84A2-5EA46F3F423C}"/>
              </a:ext>
            </a:extLst>
          </p:cNvPr>
          <p:cNvPicPr>
            <a:picLocks noChangeAspect="1"/>
          </p:cNvPicPr>
          <p:nvPr/>
        </p:nvPicPr>
        <p:blipFill>
          <a:blip r:embed="rId3"/>
          <a:stretch>
            <a:fillRect/>
          </a:stretch>
        </p:blipFill>
        <p:spPr>
          <a:xfrm>
            <a:off x="1800701" y="1030572"/>
            <a:ext cx="5542598" cy="5102575"/>
          </a:xfrm>
          <a:prstGeom prst="rect">
            <a:avLst/>
          </a:prstGeom>
        </p:spPr>
      </p:pic>
      <p:sp>
        <p:nvSpPr>
          <p:cNvPr id="6" name="文本框 5">
            <a:extLst>
              <a:ext uri="{FF2B5EF4-FFF2-40B4-BE49-F238E27FC236}">
                <a16:creationId xmlns:a16="http://schemas.microsoft.com/office/drawing/2014/main" id="{66D2696A-41DA-1AF6-BC24-A96DAA3464EC}"/>
              </a:ext>
            </a:extLst>
          </p:cNvPr>
          <p:cNvSpPr txBox="1"/>
          <p:nvPr/>
        </p:nvSpPr>
        <p:spPr>
          <a:xfrm>
            <a:off x="785024" y="805073"/>
            <a:ext cx="4602480"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3. For </a:t>
            </a:r>
            <a:r>
              <a:rPr lang="en-US" altLang="zh-CN" b="1" dirty="0" err="1">
                <a:latin typeface="Times New Roman" panose="02020603050405020304" pitchFamily="18" charset="0"/>
                <a:cs typeface="Times New Roman" panose="02020603050405020304" pitchFamily="18" charset="0"/>
              </a:rPr>
              <a:t>i</a:t>
            </a:r>
            <a:r>
              <a:rPr lang="zh-CN" altLang="en-US" b="1" dirty="0">
                <a:latin typeface="Times New Roman" panose="02020603050405020304" pitchFamily="18" charset="0"/>
                <a:cs typeface="Times New Roman" panose="02020603050405020304" pitchFamily="18" charset="0"/>
              </a:rPr>
              <a:t>nput Dense Vector Buffering</a:t>
            </a:r>
          </a:p>
        </p:txBody>
      </p:sp>
    </p:spTree>
    <p:extLst>
      <p:ext uri="{BB962C8B-B14F-4D97-AF65-F5344CB8AC3E}">
        <p14:creationId xmlns:p14="http://schemas.microsoft.com/office/powerpoint/2010/main" val="3531338859"/>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err="1"/>
              <a:t>HiSpMV</a:t>
            </a:r>
            <a:endParaRPr lang="en-US" altLang="zh-CN" dirty="0"/>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Timeline</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1</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sp>
        <p:nvSpPr>
          <p:cNvPr id="5" name="文本框 4">
            <a:extLst>
              <a:ext uri="{FF2B5EF4-FFF2-40B4-BE49-F238E27FC236}">
                <a16:creationId xmlns:a16="http://schemas.microsoft.com/office/drawing/2014/main" id="{05B8EBD3-472D-FFBE-1F3E-28614D35661E}"/>
              </a:ext>
            </a:extLst>
          </p:cNvPr>
          <p:cNvSpPr txBox="1"/>
          <p:nvPr/>
        </p:nvSpPr>
        <p:spPr>
          <a:xfrm>
            <a:off x="1173480" y="1417319"/>
            <a:ext cx="6225540" cy="1200329"/>
          </a:xfrm>
          <a:prstGeom prst="rect">
            <a:avLst/>
          </a:prstGeom>
          <a:noFill/>
        </p:spPr>
        <p:txBody>
          <a:bodyPr wrap="square">
            <a:spAutoFit/>
          </a:bodyPr>
          <a:lstStyle/>
          <a:p>
            <a:r>
              <a:rPr lang="en-US" altLang="zh-CN" dirty="0" err="1">
                <a:latin typeface="Times New Roman" panose="02020603050405020304" pitchFamily="18" charset="0"/>
                <a:cs typeface="Times New Roman" panose="02020603050405020304" pitchFamily="18" charset="0"/>
              </a:rPr>
              <a:t>HiSpMV</a:t>
            </a:r>
            <a:r>
              <a:rPr lang="en-US" altLang="zh-CN" dirty="0">
                <a:latin typeface="Times New Roman" panose="02020603050405020304" pitchFamily="18" charset="0"/>
                <a:cs typeface="Times New Roman" panose="02020603050405020304" pitchFamily="18" charset="0"/>
              </a:rPr>
              <a:t> is specifically optimized for </a:t>
            </a:r>
            <a:r>
              <a:rPr lang="en-US" altLang="zh-CN" b="1" dirty="0">
                <a:latin typeface="Times New Roman" panose="02020603050405020304" pitchFamily="18" charset="0"/>
                <a:cs typeface="Times New Roman" panose="02020603050405020304" pitchFamily="18" charset="0"/>
              </a:rPr>
              <a:t>sparse matrix-vector multiplication workloads</a:t>
            </a:r>
            <a:r>
              <a:rPr lang="en-US" altLang="zh-CN" dirty="0">
                <a:latin typeface="Times New Roman" panose="02020603050405020304" pitchFamily="18" charset="0"/>
                <a:cs typeface="Times New Roman" panose="02020603050405020304" pitchFamily="18" charset="0"/>
              </a:rPr>
              <a:t>, where its design focuses on managing </a:t>
            </a:r>
            <a:r>
              <a:rPr lang="en-US" altLang="zh-CN" b="1" dirty="0">
                <a:latin typeface="Times New Roman" panose="02020603050405020304" pitchFamily="18" charset="0"/>
                <a:cs typeface="Times New Roman" panose="02020603050405020304" pitchFamily="18" charset="0"/>
              </a:rPr>
              <a:t>irregular data accesses </a:t>
            </a:r>
            <a:r>
              <a:rPr lang="en-US" altLang="zh-CN" dirty="0">
                <a:latin typeface="Times New Roman" panose="02020603050405020304" pitchFamily="18" charset="0"/>
                <a:cs typeface="Times New Roman" panose="02020603050405020304" pitchFamily="18" charset="0"/>
              </a:rPr>
              <a:t>and hiding </a:t>
            </a:r>
            <a:r>
              <a:rPr lang="en-US" altLang="zh-CN" b="1" dirty="0">
                <a:latin typeface="Times New Roman" panose="02020603050405020304" pitchFamily="18" charset="0"/>
                <a:cs typeface="Times New Roman" panose="02020603050405020304" pitchFamily="18" charset="0"/>
              </a:rPr>
              <a:t>memory latency </a:t>
            </a:r>
            <a:r>
              <a:rPr lang="en-US" altLang="zh-CN" dirty="0">
                <a:latin typeface="Times New Roman" panose="02020603050405020304" pitchFamily="18" charset="0"/>
                <a:cs typeface="Times New Roman" panose="02020603050405020304" pitchFamily="18" charset="0"/>
              </a:rPr>
              <a:t>rather than delivering massive parallel compute for dense multiplications.</a:t>
            </a:r>
            <a:endParaRPr lang="zh-CN" altLang="en-US"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8B0FB9F6-88C9-B57E-7855-C484E0D4B9D4}"/>
              </a:ext>
            </a:extLst>
          </p:cNvPr>
          <p:cNvSpPr txBox="1"/>
          <p:nvPr/>
        </p:nvSpPr>
        <p:spPr>
          <a:xfrm>
            <a:off x="1173480" y="3982981"/>
            <a:ext cx="6499860" cy="923330"/>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Consequently, its </a:t>
            </a:r>
            <a:r>
              <a:rPr lang="en-US" altLang="zh-CN" b="1" dirty="0">
                <a:solidFill>
                  <a:srgbClr val="FF0000"/>
                </a:solidFill>
                <a:latin typeface="Times New Roman" panose="02020603050405020304" pitchFamily="18" charset="0"/>
                <a:cs typeface="Times New Roman" panose="02020603050405020304" pitchFamily="18" charset="0"/>
              </a:rPr>
              <a:t>low parallelism </a:t>
            </a:r>
            <a:r>
              <a:rPr lang="en-US" altLang="zh-CN" dirty="0">
                <a:latin typeface="Times New Roman" panose="02020603050405020304" pitchFamily="18" charset="0"/>
                <a:cs typeface="Times New Roman" panose="02020603050405020304" pitchFamily="18" charset="0"/>
              </a:rPr>
              <a:t>becomes a bottleneck when trying to efficiently handle the high computational load of matrix multiplications in </a:t>
            </a:r>
            <a:r>
              <a:rPr lang="en-US" altLang="zh-CN" b="1" dirty="0">
                <a:latin typeface="Times New Roman" panose="02020603050405020304" pitchFamily="18" charset="0"/>
                <a:cs typeface="Times New Roman" panose="02020603050405020304" pitchFamily="18" charset="0"/>
              </a:rPr>
              <a:t>VGM   </a:t>
            </a:r>
            <a:r>
              <a:rPr lang="zh-CN" altLang="en-US" b="1"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cxnSp>
        <p:nvCxnSpPr>
          <p:cNvPr id="14" name="连接符: 肘形 13">
            <a:extLst>
              <a:ext uri="{FF2B5EF4-FFF2-40B4-BE49-F238E27FC236}">
                <a16:creationId xmlns:a16="http://schemas.microsoft.com/office/drawing/2014/main" id="{BE822822-177F-D043-6315-429228A12A64}"/>
              </a:ext>
            </a:extLst>
          </p:cNvPr>
          <p:cNvCxnSpPr>
            <a:cxnSpLocks/>
          </p:cNvCxnSpPr>
          <p:nvPr/>
        </p:nvCxnSpPr>
        <p:spPr>
          <a:xfrm rot="16200000" flipH="1">
            <a:off x="526391" y="2171341"/>
            <a:ext cx="2993603" cy="2476336"/>
          </a:xfrm>
          <a:prstGeom prst="bentConnector3">
            <a:avLst>
              <a:gd name="adj1" fmla="val 114756"/>
            </a:avLst>
          </a:prstGeom>
          <a:ln w="57150">
            <a:solidFill>
              <a:srgbClr val="278BC7"/>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2A263E17-7DA7-7466-C390-6E84392FF29F}"/>
              </a:ext>
            </a:extLst>
          </p:cNvPr>
          <p:cNvCxnSpPr>
            <a:cxnSpLocks/>
          </p:cNvCxnSpPr>
          <p:nvPr/>
        </p:nvCxnSpPr>
        <p:spPr>
          <a:xfrm>
            <a:off x="760095" y="1941282"/>
            <a:ext cx="413385" cy="2"/>
          </a:xfrm>
          <a:prstGeom prst="line">
            <a:avLst/>
          </a:prstGeom>
          <a:ln w="57150">
            <a:solidFill>
              <a:srgbClr val="278BC7"/>
            </a:solidFill>
          </a:ln>
        </p:spPr>
        <p:style>
          <a:lnRef idx="1">
            <a:schemeClr val="accent1"/>
          </a:lnRef>
          <a:fillRef idx="0">
            <a:schemeClr val="accent1"/>
          </a:fillRef>
          <a:effectRef idx="0">
            <a:schemeClr val="accent1"/>
          </a:effectRef>
          <a:fontRef idx="minor">
            <a:schemeClr val="tx1"/>
          </a:fontRef>
        </p:style>
      </p:cxnSp>
      <p:sp>
        <p:nvSpPr>
          <p:cNvPr id="34" name="不等号 33">
            <a:extLst>
              <a:ext uri="{FF2B5EF4-FFF2-40B4-BE49-F238E27FC236}">
                <a16:creationId xmlns:a16="http://schemas.microsoft.com/office/drawing/2014/main" id="{FCC5F4C7-CC96-7CAC-BF92-1B8751C02F6D}"/>
              </a:ext>
            </a:extLst>
          </p:cNvPr>
          <p:cNvSpPr/>
          <p:nvPr/>
        </p:nvSpPr>
        <p:spPr>
          <a:xfrm>
            <a:off x="475869" y="3429000"/>
            <a:ext cx="618309" cy="398897"/>
          </a:xfrm>
          <a:prstGeom prst="mathNotEqual">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矩形: 圆角 34">
            <a:extLst>
              <a:ext uri="{FF2B5EF4-FFF2-40B4-BE49-F238E27FC236}">
                <a16:creationId xmlns:a16="http://schemas.microsoft.com/office/drawing/2014/main" id="{A80CE4BE-D2DB-E345-7CCB-C04051ECEC9F}"/>
              </a:ext>
            </a:extLst>
          </p:cNvPr>
          <p:cNvSpPr/>
          <p:nvPr/>
        </p:nvSpPr>
        <p:spPr>
          <a:xfrm>
            <a:off x="4759779" y="1417319"/>
            <a:ext cx="2163535" cy="386988"/>
          </a:xfrm>
          <a:prstGeom prst="roundRect">
            <a:avLst/>
          </a:prstGeom>
          <a:noFill/>
          <a:ln w="28575">
            <a:solidFill>
              <a:srgbClr val="298DC8"/>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圆角 35">
            <a:extLst>
              <a:ext uri="{FF2B5EF4-FFF2-40B4-BE49-F238E27FC236}">
                <a16:creationId xmlns:a16="http://schemas.microsoft.com/office/drawing/2014/main" id="{76E9DAC3-A7F1-5EBB-E04D-F8D8D30AADF0}"/>
              </a:ext>
            </a:extLst>
          </p:cNvPr>
          <p:cNvSpPr/>
          <p:nvPr/>
        </p:nvSpPr>
        <p:spPr>
          <a:xfrm>
            <a:off x="2895601" y="4572000"/>
            <a:ext cx="674916" cy="348780"/>
          </a:xfrm>
          <a:prstGeom prst="roundRect">
            <a:avLst/>
          </a:prstGeom>
          <a:noFill/>
          <a:ln w="28575">
            <a:solidFill>
              <a:srgbClr val="298DC8"/>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a16="http://schemas.microsoft.com/office/drawing/2014/main" id="{F6104369-EFB5-F0AC-D24B-EB627A0E6FCB}"/>
              </a:ext>
            </a:extLst>
          </p:cNvPr>
          <p:cNvSpPr/>
          <p:nvPr/>
        </p:nvSpPr>
        <p:spPr>
          <a:xfrm>
            <a:off x="1224477" y="1723848"/>
            <a:ext cx="2514765" cy="348780"/>
          </a:xfrm>
          <a:prstGeom prst="roundRect">
            <a:avLst/>
          </a:prstGeom>
          <a:noFill/>
          <a:ln w="28575">
            <a:solidFill>
              <a:srgbClr val="298DC8"/>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descr="图示&#10;&#10;AI 生成的内容可能不正确。">
            <a:extLst>
              <a:ext uri="{FF2B5EF4-FFF2-40B4-BE49-F238E27FC236}">
                <a16:creationId xmlns:a16="http://schemas.microsoft.com/office/drawing/2014/main" id="{733C8064-7CA4-4291-FC16-7B0FA16A35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500" y="2603490"/>
            <a:ext cx="1297350" cy="1400920"/>
          </a:xfrm>
          <a:prstGeom prst="rect">
            <a:avLst/>
          </a:prstGeom>
        </p:spPr>
      </p:pic>
      <p:pic>
        <p:nvPicPr>
          <p:cNvPr id="41" name="图片 40">
            <a:extLst>
              <a:ext uri="{FF2B5EF4-FFF2-40B4-BE49-F238E27FC236}">
                <a16:creationId xmlns:a16="http://schemas.microsoft.com/office/drawing/2014/main" id="{DE8E6BC2-1D99-1739-649E-C7FD7817452B}"/>
              </a:ext>
            </a:extLst>
          </p:cNvPr>
          <p:cNvPicPr>
            <a:picLocks noChangeAspect="1"/>
          </p:cNvPicPr>
          <p:nvPr/>
        </p:nvPicPr>
        <p:blipFill>
          <a:blip r:embed="rId4">
            <a:extLst>
              <a:ext uri="{28A0092B-C50C-407E-A947-70E740481C1C}">
                <a14:useLocalDpi xmlns:a14="http://schemas.microsoft.com/office/drawing/2010/main" val="0"/>
              </a:ext>
            </a:extLst>
          </a:blip>
          <a:srcRect l="3074" t="17857" r="2842" b="3129"/>
          <a:stretch/>
        </p:blipFill>
        <p:spPr>
          <a:xfrm>
            <a:off x="4350389" y="2617648"/>
            <a:ext cx="2375396" cy="1406185"/>
          </a:xfrm>
          <a:prstGeom prst="rect">
            <a:avLst/>
          </a:prstGeom>
        </p:spPr>
      </p:pic>
    </p:spTree>
    <p:extLst>
      <p:ext uri="{BB962C8B-B14F-4D97-AF65-F5344CB8AC3E}">
        <p14:creationId xmlns:p14="http://schemas.microsoft.com/office/powerpoint/2010/main" val="2164609535"/>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err="1"/>
              <a:t>FlightLLM</a:t>
            </a:r>
            <a:endParaRPr lang="en-US" altLang="zh-CN" dirty="0"/>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Timeline</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2</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9" name="图片 8">
            <a:extLst>
              <a:ext uri="{FF2B5EF4-FFF2-40B4-BE49-F238E27FC236}">
                <a16:creationId xmlns:a16="http://schemas.microsoft.com/office/drawing/2014/main" id="{468DA0A6-19FF-A195-071D-6334DF0738F3}"/>
              </a:ext>
            </a:extLst>
          </p:cNvPr>
          <p:cNvPicPr>
            <a:picLocks noChangeAspect="1"/>
          </p:cNvPicPr>
          <p:nvPr/>
        </p:nvPicPr>
        <p:blipFill>
          <a:blip r:embed="rId3"/>
          <a:stretch>
            <a:fillRect/>
          </a:stretch>
        </p:blipFill>
        <p:spPr>
          <a:xfrm>
            <a:off x="1728390" y="973214"/>
            <a:ext cx="5687219" cy="5401429"/>
          </a:xfrm>
          <a:prstGeom prst="rect">
            <a:avLst/>
          </a:prstGeom>
        </p:spPr>
      </p:pic>
      <p:sp>
        <p:nvSpPr>
          <p:cNvPr id="11" name="文本框 10">
            <a:extLst>
              <a:ext uri="{FF2B5EF4-FFF2-40B4-BE49-F238E27FC236}">
                <a16:creationId xmlns:a16="http://schemas.microsoft.com/office/drawing/2014/main" id="{5A85556F-0460-1EED-E654-96557DB3C867}"/>
              </a:ext>
            </a:extLst>
          </p:cNvPr>
          <p:cNvSpPr txBox="1"/>
          <p:nvPr/>
        </p:nvSpPr>
        <p:spPr>
          <a:xfrm>
            <a:off x="7091494" y="310631"/>
            <a:ext cx="2138081" cy="369332"/>
          </a:xfrm>
          <a:prstGeom prst="rect">
            <a:avLst/>
          </a:prstGeom>
          <a:noFill/>
        </p:spPr>
        <p:txBody>
          <a:bodyPr wrap="square" rtlCol="0">
            <a:spAutoFit/>
          </a:bodyPr>
          <a:lstStyle/>
          <a:p>
            <a:r>
              <a:rPr lang="en-US" altLang="zh-CN" b="1" dirty="0"/>
              <a:t>2024 ACM/SIGDA</a:t>
            </a:r>
          </a:p>
        </p:txBody>
      </p:sp>
    </p:spTree>
    <p:extLst>
      <p:ext uri="{BB962C8B-B14F-4D97-AF65-F5344CB8AC3E}">
        <p14:creationId xmlns:p14="http://schemas.microsoft.com/office/powerpoint/2010/main" val="3628508843"/>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err="1"/>
              <a:t>FlightLLM</a:t>
            </a:r>
            <a:r>
              <a:rPr lang="en-US" altLang="zh-CN" dirty="0"/>
              <a:t> – (CSD-Chain)</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Timeline</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2</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2" name="图片 1">
            <a:extLst>
              <a:ext uri="{FF2B5EF4-FFF2-40B4-BE49-F238E27FC236}">
                <a16:creationId xmlns:a16="http://schemas.microsoft.com/office/drawing/2014/main" id="{22634D86-012F-62DD-3EE0-ACF65E485DFE}"/>
              </a:ext>
            </a:extLst>
          </p:cNvPr>
          <p:cNvPicPr>
            <a:picLocks noChangeAspect="1"/>
          </p:cNvPicPr>
          <p:nvPr/>
        </p:nvPicPr>
        <p:blipFill>
          <a:blip r:embed="rId3"/>
          <a:stretch>
            <a:fillRect/>
          </a:stretch>
        </p:blipFill>
        <p:spPr>
          <a:xfrm>
            <a:off x="536564" y="869607"/>
            <a:ext cx="8070872" cy="3069716"/>
          </a:xfrm>
          <a:prstGeom prst="rect">
            <a:avLst/>
          </a:prstGeom>
        </p:spPr>
      </p:pic>
      <p:pic>
        <p:nvPicPr>
          <p:cNvPr id="4" name="图片 3">
            <a:extLst>
              <a:ext uri="{FF2B5EF4-FFF2-40B4-BE49-F238E27FC236}">
                <a16:creationId xmlns:a16="http://schemas.microsoft.com/office/drawing/2014/main" id="{6584D7B6-D925-6BB7-B734-FC770109F2DD}"/>
              </a:ext>
            </a:extLst>
          </p:cNvPr>
          <p:cNvPicPr>
            <a:picLocks noChangeAspect="1"/>
          </p:cNvPicPr>
          <p:nvPr/>
        </p:nvPicPr>
        <p:blipFill>
          <a:blip r:embed="rId4"/>
          <a:stretch>
            <a:fillRect/>
          </a:stretch>
        </p:blipFill>
        <p:spPr>
          <a:xfrm>
            <a:off x="536564" y="4077913"/>
            <a:ext cx="3571077" cy="2587096"/>
          </a:xfrm>
          <a:prstGeom prst="rect">
            <a:avLst/>
          </a:prstGeom>
        </p:spPr>
      </p:pic>
      <p:sp>
        <p:nvSpPr>
          <p:cNvPr id="5" name="矩形: 圆角 4">
            <a:extLst>
              <a:ext uri="{FF2B5EF4-FFF2-40B4-BE49-F238E27FC236}">
                <a16:creationId xmlns:a16="http://schemas.microsoft.com/office/drawing/2014/main" id="{BAFC1A15-3FC0-73FA-219E-F01B67E6AEF2}"/>
              </a:ext>
            </a:extLst>
          </p:cNvPr>
          <p:cNvSpPr/>
          <p:nvPr/>
        </p:nvSpPr>
        <p:spPr>
          <a:xfrm>
            <a:off x="6724396" y="1349756"/>
            <a:ext cx="408432" cy="451104"/>
          </a:xfrm>
          <a:prstGeom prst="round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9B4DE7AE-DC2E-05E2-9787-6BBAD8BE7049}"/>
              </a:ext>
            </a:extLst>
          </p:cNvPr>
          <p:cNvSpPr/>
          <p:nvPr/>
        </p:nvSpPr>
        <p:spPr>
          <a:xfrm>
            <a:off x="7895336" y="1394460"/>
            <a:ext cx="570484" cy="226060"/>
          </a:xfrm>
          <a:prstGeom prst="roundRect">
            <a:avLst/>
          </a:prstGeom>
          <a:noFill/>
          <a:ln w="38100">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C2B63E07-07F3-E90C-CF7D-DA0F84CF6446}"/>
              </a:ext>
            </a:extLst>
          </p:cNvPr>
          <p:cNvSpPr/>
          <p:nvPr/>
        </p:nvSpPr>
        <p:spPr>
          <a:xfrm>
            <a:off x="7895336" y="2178404"/>
            <a:ext cx="522224" cy="305715"/>
          </a:xfrm>
          <a:prstGeom prst="roundRect">
            <a:avLst/>
          </a:prstGeom>
          <a:noFill/>
          <a:ln w="38100">
            <a:solidFill>
              <a:srgbClr val="FFFF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B050"/>
              </a:solidFill>
            </a:endParaRPr>
          </a:p>
        </p:txBody>
      </p:sp>
      <p:sp>
        <p:nvSpPr>
          <p:cNvPr id="11" name="文本框 10">
            <a:extLst>
              <a:ext uri="{FF2B5EF4-FFF2-40B4-BE49-F238E27FC236}">
                <a16:creationId xmlns:a16="http://schemas.microsoft.com/office/drawing/2014/main" id="{7778FEA4-CE39-1FBE-2F8D-2D50EB125EBC}"/>
              </a:ext>
            </a:extLst>
          </p:cNvPr>
          <p:cNvSpPr txBox="1"/>
          <p:nvPr/>
        </p:nvSpPr>
        <p:spPr>
          <a:xfrm>
            <a:off x="4838554" y="4277138"/>
            <a:ext cx="2294274" cy="1231106"/>
          </a:xfrm>
          <a:prstGeom prst="rect">
            <a:avLst/>
          </a:prstGeom>
          <a:noFill/>
        </p:spPr>
        <p:txBody>
          <a:bodyPr wrap="square" rtlCol="0">
            <a:spAutoFit/>
          </a:bodyPr>
          <a:lstStyle/>
          <a:p>
            <a:r>
              <a:rPr lang="en-US" altLang="zh-CN" sz="1600" b="1" dirty="0">
                <a:solidFill>
                  <a:srgbClr val="00B050"/>
                </a:solidFill>
                <a:latin typeface="Times New Roman" panose="02020603050405020304" pitchFamily="18" charset="0"/>
                <a:cs typeface="Times New Roman" panose="02020603050405020304" pitchFamily="18" charset="0"/>
              </a:rPr>
              <a:t>Hyperparameter search</a:t>
            </a:r>
          </a:p>
          <a:p>
            <a:endParaRPr lang="en-US" altLang="zh-CN" sz="16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Off-chip </a:t>
            </a:r>
            <a:r>
              <a:rPr lang="en-US" altLang="zh-CN" sz="1400" b="1" dirty="0">
                <a:latin typeface="Times New Roman" panose="02020603050405020304" pitchFamily="18" charset="0"/>
                <a:cs typeface="Times New Roman" panose="02020603050405020304" pitchFamily="18" charset="0"/>
              </a:rPr>
              <a:t>bandwidth</a:t>
            </a:r>
          </a:p>
          <a:p>
            <a:r>
              <a:rPr lang="en-US" altLang="zh-CN" sz="1400" dirty="0">
                <a:latin typeface="Times New Roman" panose="02020603050405020304" pitchFamily="18" charset="0"/>
                <a:cs typeface="Times New Roman" panose="02020603050405020304" pitchFamily="18" charset="0"/>
              </a:rPr>
              <a:t>           </a:t>
            </a:r>
            <a:r>
              <a:rPr lang="en-US" altLang="zh-CN" sz="1400" dirty="0" err="1">
                <a:latin typeface="Times New Roman" panose="02020603050405020304" pitchFamily="18" charset="0"/>
                <a:cs typeface="Times New Roman" panose="02020603050405020304" pitchFamily="18" charset="0"/>
              </a:rPr>
              <a:t>v.s</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Computing unit (</a:t>
            </a:r>
            <a:r>
              <a:rPr lang="en-US" altLang="zh-CN" sz="1400" b="1" dirty="0">
                <a:latin typeface="Times New Roman" panose="02020603050405020304" pitchFamily="18" charset="0"/>
                <a:cs typeface="Times New Roman" panose="02020603050405020304" pitchFamily="18" charset="0"/>
              </a:rPr>
              <a:t>VPU</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cxnSp>
        <p:nvCxnSpPr>
          <p:cNvPr id="13" name="直接箭头连接符 12">
            <a:extLst>
              <a:ext uri="{FF2B5EF4-FFF2-40B4-BE49-F238E27FC236}">
                <a16:creationId xmlns:a16="http://schemas.microsoft.com/office/drawing/2014/main" id="{8F106B67-98BD-42E6-A8D3-614801FDBA1E}"/>
              </a:ext>
            </a:extLst>
          </p:cNvPr>
          <p:cNvCxnSpPr/>
          <p:nvPr/>
        </p:nvCxnSpPr>
        <p:spPr>
          <a:xfrm>
            <a:off x="5494564" y="3077936"/>
            <a:ext cx="0" cy="119920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圆角 13">
            <a:extLst>
              <a:ext uri="{FF2B5EF4-FFF2-40B4-BE49-F238E27FC236}">
                <a16:creationId xmlns:a16="http://schemas.microsoft.com/office/drawing/2014/main" id="{D30D03B9-8C67-544E-4B09-045D7FB67BF7}"/>
              </a:ext>
            </a:extLst>
          </p:cNvPr>
          <p:cNvSpPr/>
          <p:nvPr/>
        </p:nvSpPr>
        <p:spPr>
          <a:xfrm>
            <a:off x="4838554" y="4667322"/>
            <a:ext cx="1940123" cy="840922"/>
          </a:xfrm>
          <a:prstGeom prst="roundRect">
            <a:avLst/>
          </a:prstGeom>
          <a:noFill/>
          <a:ln w="28575">
            <a:solidFill>
              <a:srgbClr val="00B05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41155817"/>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err="1"/>
              <a:t>FlightLLM</a:t>
            </a:r>
            <a:r>
              <a:rPr lang="en-US" altLang="zh-CN" dirty="0"/>
              <a:t> – (Always-on-chip decoder)</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Timeline</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2</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2" name="图片 1">
            <a:extLst>
              <a:ext uri="{FF2B5EF4-FFF2-40B4-BE49-F238E27FC236}">
                <a16:creationId xmlns:a16="http://schemas.microsoft.com/office/drawing/2014/main" id="{B094EE76-6868-3C75-ABDA-19D727165869}"/>
              </a:ext>
            </a:extLst>
          </p:cNvPr>
          <p:cNvPicPr>
            <a:picLocks noChangeAspect="1"/>
          </p:cNvPicPr>
          <p:nvPr/>
        </p:nvPicPr>
        <p:blipFill>
          <a:blip r:embed="rId3"/>
          <a:stretch>
            <a:fillRect/>
          </a:stretch>
        </p:blipFill>
        <p:spPr>
          <a:xfrm>
            <a:off x="1458123" y="1247813"/>
            <a:ext cx="6237706" cy="5356187"/>
          </a:xfrm>
          <a:prstGeom prst="rect">
            <a:avLst/>
          </a:prstGeom>
        </p:spPr>
      </p:pic>
      <p:sp>
        <p:nvSpPr>
          <p:cNvPr id="5" name="文本框 4">
            <a:extLst>
              <a:ext uri="{FF2B5EF4-FFF2-40B4-BE49-F238E27FC236}">
                <a16:creationId xmlns:a16="http://schemas.microsoft.com/office/drawing/2014/main" id="{A8CADFB7-7439-1211-66AA-80D967617AD9}"/>
              </a:ext>
            </a:extLst>
          </p:cNvPr>
          <p:cNvSpPr txBox="1"/>
          <p:nvPr/>
        </p:nvSpPr>
        <p:spPr>
          <a:xfrm>
            <a:off x="3649435" y="878481"/>
            <a:ext cx="1845129" cy="369332"/>
          </a:xfrm>
          <a:prstGeom prst="rect">
            <a:avLst/>
          </a:prstGeom>
          <a:noFill/>
        </p:spPr>
        <p:txBody>
          <a:bodyPr wrap="square">
            <a:spAutoFit/>
          </a:bodyPr>
          <a:lstStyle/>
          <a:p>
            <a:r>
              <a:rPr lang="en-US" altLang="zh-CN" b="1" dirty="0">
                <a:solidFill>
                  <a:srgbClr val="FF0000"/>
                </a:solidFill>
                <a:latin typeface="Times New Roman" panose="02020603050405020304" pitchFamily="18" charset="0"/>
                <a:cs typeface="Times New Roman" panose="02020603050405020304" pitchFamily="18" charset="0"/>
              </a:rPr>
              <a:t>M</a:t>
            </a:r>
            <a:r>
              <a:rPr lang="zh-CN" altLang="en-US" b="1" dirty="0">
                <a:solidFill>
                  <a:srgbClr val="FF0000"/>
                </a:solidFill>
                <a:latin typeface="Times New Roman" panose="02020603050405020304" pitchFamily="18" charset="0"/>
                <a:cs typeface="Times New Roman" panose="02020603050405020304" pitchFamily="18" charset="0"/>
              </a:rPr>
              <a:t>emory-</a:t>
            </a:r>
            <a:r>
              <a:rPr lang="en-US" altLang="zh-CN" b="1" dirty="0">
                <a:solidFill>
                  <a:srgbClr val="FF0000"/>
                </a:solidFill>
                <a:latin typeface="Times New Roman" panose="02020603050405020304" pitchFamily="18" charset="0"/>
                <a:cs typeface="Times New Roman" panose="02020603050405020304" pitchFamily="18" charset="0"/>
              </a:rPr>
              <a:t>B</a:t>
            </a:r>
            <a:r>
              <a:rPr lang="zh-CN" altLang="en-US" b="1" dirty="0">
                <a:solidFill>
                  <a:srgbClr val="FF0000"/>
                </a:solidFill>
                <a:latin typeface="Times New Roman" panose="02020603050405020304" pitchFamily="18" charset="0"/>
                <a:cs typeface="Times New Roman" panose="02020603050405020304" pitchFamily="18" charset="0"/>
              </a:rPr>
              <a:t>ound</a:t>
            </a:r>
          </a:p>
        </p:txBody>
      </p:sp>
      <p:sp>
        <p:nvSpPr>
          <p:cNvPr id="6" name="文本框 5">
            <a:extLst>
              <a:ext uri="{FF2B5EF4-FFF2-40B4-BE49-F238E27FC236}">
                <a16:creationId xmlns:a16="http://schemas.microsoft.com/office/drawing/2014/main" id="{A8A0BDD8-5CD3-2F54-364B-0A5B26343D57}"/>
              </a:ext>
            </a:extLst>
          </p:cNvPr>
          <p:cNvSpPr txBox="1"/>
          <p:nvPr/>
        </p:nvSpPr>
        <p:spPr>
          <a:xfrm>
            <a:off x="50584" y="2310565"/>
            <a:ext cx="1663916" cy="2123658"/>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Hybrid memory systems take advantage of both</a:t>
            </a:r>
            <a:endParaRPr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1400" dirty="0">
                <a:latin typeface="Times New Roman" panose="02020603050405020304" pitchFamily="18" charset="0"/>
                <a:cs typeface="Times New Roman" panose="02020603050405020304" pitchFamily="18" charset="0"/>
              </a:rPr>
              <a:t>MPE(MM): </a:t>
            </a:r>
            <a:r>
              <a:rPr lang="en-US" altLang="zh-CN" sz="1400" dirty="0">
                <a:solidFill>
                  <a:srgbClr val="00B050"/>
                </a:solidFill>
                <a:latin typeface="Times New Roman" panose="02020603050405020304" pitchFamily="18" charset="0"/>
                <a:cs typeface="Times New Roman" panose="02020603050405020304" pitchFamily="18" charset="0"/>
              </a:rPr>
              <a:t>HBM</a:t>
            </a:r>
          </a:p>
          <a:p>
            <a:pPr marL="285750" indent="-285750">
              <a:buFont typeface="Arial" panose="020B0604020202020204" pitchFamily="34" charset="0"/>
              <a:buChar char="•"/>
            </a:pPr>
            <a:r>
              <a:rPr lang="en-US" altLang="zh-CN" sz="1400" dirty="0">
                <a:latin typeface="Times New Roman" panose="02020603050405020304" pitchFamily="18" charset="0"/>
                <a:cs typeface="Times New Roman" panose="02020603050405020304" pitchFamily="18" charset="0"/>
              </a:rPr>
              <a:t>SFU: </a:t>
            </a:r>
            <a:r>
              <a:rPr lang="en-US" altLang="zh-CN" sz="1400" dirty="0">
                <a:solidFill>
                  <a:srgbClr val="00B050"/>
                </a:solidFill>
                <a:latin typeface="Times New Roman" panose="02020603050405020304" pitchFamily="18" charset="0"/>
                <a:cs typeface="Times New Roman" panose="02020603050405020304" pitchFamily="18" charset="0"/>
              </a:rPr>
              <a:t>DDR</a:t>
            </a:r>
          </a:p>
          <a:p>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9105893"/>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err="1"/>
              <a:t>FlightLLM</a:t>
            </a:r>
            <a:r>
              <a:rPr lang="en-US" altLang="zh-CN" dirty="0"/>
              <a:t> – (Length Adaptive Compilation)</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Timeline</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2</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sp>
        <p:nvSpPr>
          <p:cNvPr id="5" name="Rectangle 1">
            <a:extLst>
              <a:ext uri="{FF2B5EF4-FFF2-40B4-BE49-F238E27FC236}">
                <a16:creationId xmlns:a16="http://schemas.microsoft.com/office/drawing/2014/main" id="{88B2EABF-8295-9178-0213-F96FF1FF0673}"/>
              </a:ext>
            </a:extLst>
          </p:cNvPr>
          <p:cNvSpPr>
            <a:spLocks noChangeArrowheads="1"/>
          </p:cNvSpPr>
          <p:nvPr/>
        </p:nvSpPr>
        <p:spPr bwMode="auto">
          <a:xfrm>
            <a:off x="259821" y="731017"/>
            <a:ext cx="8375074"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zh-CN" altLang="zh-CN"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zh-CN"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r>
              <a:rPr kumimoji="0" lang="zh-CN" altLang="zh-CN"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hreshold range“</a:t>
            </a:r>
            <a:r>
              <a:rPr kumimoji="0" lang="en-US" altLang="zh-CN"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defTabSz="914400" eaLnBrk="0" fontAlgn="base" hangingPunct="0">
              <a:spcBef>
                <a:spcPct val="0"/>
              </a:spcBef>
              <a:spcAft>
                <a:spcPct val="0"/>
              </a:spcAft>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It</a:t>
            </a:r>
            <a:r>
              <a:rPr kumimoji="0" lang="zh-CN"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defined, within which the same set of instructions is used. </a:t>
            </a:r>
            <a:endPar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defTabSz="914400" eaLnBrk="0" fontAlgn="base" hangingPunct="0">
              <a:spcBef>
                <a:spcPct val="0"/>
              </a:spcBef>
              <a:spcAft>
                <a:spcPct val="0"/>
              </a:spcAft>
              <a:buFont typeface="Wingdings" panose="05000000000000000000" pitchFamily="2" charset="2"/>
              <a:buChar char="ü"/>
            </a:pPr>
            <a:r>
              <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 if the token length is between 1 and 16, the instructions generated for processing 16 tokens can be reused</a:t>
            </a:r>
            <a:endPar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zh-CN" altLang="zh-CN"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Refining the </a:t>
            </a:r>
            <a:r>
              <a:rPr kumimoji="0" lang="zh-CN" altLang="zh-CN" sz="1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Decode Stage</a:t>
            </a:r>
            <a:r>
              <a:rPr kumimoji="0" lang="zh-CN" altLang="zh-CN"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defTabSz="914400" eaLnBrk="0" fontAlgn="base" hangingPunct="0">
              <a:spcBef>
                <a:spcPct val="0"/>
              </a:spcBef>
              <a:spcAft>
                <a:spcPct val="0"/>
              </a:spcAft>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I</a:t>
            </a: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nstructions are executed more frequently in the decode stage.</a:t>
            </a:r>
          </a:p>
          <a:p>
            <a:pPr marL="742950" lvl="1" indent="-285750" defTabSz="914400" eaLnBrk="0" fontAlgn="base" hangingPunct="0">
              <a:spcBef>
                <a:spcPct val="0"/>
              </a:spcBef>
              <a:spcAft>
                <a:spcPct val="0"/>
              </a:spcAft>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M</a:t>
            </a: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emory access ~ The token length</a:t>
            </a:r>
          </a:p>
          <a:p>
            <a:pPr marL="742950" lvl="1" indent="-285750" defTabSz="914400" eaLnBrk="0" fontAlgn="base" hangingPunct="0">
              <a:spcBef>
                <a:spcPct val="0"/>
              </a:spcBef>
              <a:spcAft>
                <a:spcPct val="0"/>
              </a:spcAft>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A</a:t>
            </a:r>
            <a:r>
              <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dopt more refined length thresholds</a:t>
            </a: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avoid too much redundant computation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zh-CN" b="1" dirty="0">
                <a:latin typeface="Times New Roman" panose="02020603050405020304" pitchFamily="18" charset="0"/>
                <a:cs typeface="Times New Roman" panose="02020603050405020304" pitchFamily="18" charset="0"/>
              </a:rPr>
              <a:t>Multi-Region Reuse:</a:t>
            </a:r>
            <a:endParaRPr kumimoji="0" lang="en-US" altLang="zh-CN"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defTabSz="914400" eaLnBrk="0" fontAlgn="base" hangingPunct="0">
              <a:spcBef>
                <a:spcPct val="0"/>
              </a:spcBef>
              <a:spcAft>
                <a:spcPct val="0"/>
              </a:spcAft>
              <a:buFont typeface="Wingdings" panose="05000000000000000000" pitchFamily="2" charset="2"/>
              <a:buChar char="ü"/>
            </a:pP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t>
            </a:r>
            <a:r>
              <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different </a:t>
            </a:r>
            <a:r>
              <a:rPr kumimoji="0" lang="zh-CN"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SLRs</a:t>
            </a:r>
            <a:r>
              <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use the same instruction file</a:t>
            </a: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zh-CN" altLang="zh-CN"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Merging HBM Channel Instructions:</a:t>
            </a:r>
            <a:endPar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defTabSz="914400" eaLnBrk="0" fontAlgn="base" hangingPunct="0">
              <a:spcBef>
                <a:spcPct val="0"/>
              </a:spcBef>
              <a:spcAft>
                <a:spcPct val="0"/>
              </a:spcAft>
              <a:buFont typeface="Wingdings" panose="05000000000000000000" pitchFamily="2" charset="2"/>
              <a:buChar char="ü"/>
            </a:pPr>
            <a:r>
              <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each </a:t>
            </a: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a:t>
            </a:r>
            <a:r>
              <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transfers from off-chip memory (HBM) to on-chip buffers require LD/ST instructions. Since each PE has 8 HBM channels, 8 similar instructions would originally be needed.</a:t>
            </a:r>
          </a:p>
          <a:p>
            <a:pPr marL="742950" lvl="1" indent="-285750" defTabSz="914400" eaLnBrk="0" fontAlgn="base" hangingPunct="0">
              <a:spcBef>
                <a:spcPct val="0"/>
              </a:spcBef>
              <a:spcAft>
                <a:spcPct val="0"/>
              </a:spcAft>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M</a:t>
            </a:r>
            <a:r>
              <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erged into a single instruction, which is then decoded by the hardware decoder into 8 hardware instructions that are launched simultaneously on the 8 HBM channels</a:t>
            </a:r>
            <a:r>
              <a:rPr kumimoji="0" lang="en-US"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40515DC2-BFA1-C903-27AA-FD76AA1E1907}"/>
              </a:ext>
            </a:extLst>
          </p:cNvPr>
          <p:cNvSpPr txBox="1"/>
          <p:nvPr/>
        </p:nvSpPr>
        <p:spPr>
          <a:xfrm>
            <a:off x="259820" y="5639862"/>
            <a:ext cx="8375073" cy="646331"/>
          </a:xfrm>
          <a:prstGeom prst="rect">
            <a:avLst/>
          </a:prstGeom>
          <a:noFill/>
        </p:spPr>
        <p:txBody>
          <a:bodyPr wrap="square">
            <a:spAutoFit/>
          </a:bodyPr>
          <a:lstStyle/>
          <a:p>
            <a:r>
              <a:rPr lang="en-US" altLang="zh-CN" b="1" dirty="0">
                <a:solidFill>
                  <a:srgbClr val="FF0000"/>
                </a:solidFill>
                <a:latin typeface="Times New Roman" panose="02020603050405020304" pitchFamily="18" charset="0"/>
                <a:cs typeface="Times New Roman" panose="02020603050405020304" pitchFamily="18" charset="0"/>
              </a:rPr>
              <a:t>Limitation</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FlightLLM cannot effectively support </a:t>
            </a:r>
            <a:r>
              <a:rPr lang="zh-CN" altLang="en-US" b="1" dirty="0">
                <a:latin typeface="Times New Roman" panose="02020603050405020304" pitchFamily="18" charset="0"/>
                <a:cs typeface="Times New Roman" panose="02020603050405020304" pitchFamily="18" charset="0"/>
              </a:rPr>
              <a:t>online sparsification</a:t>
            </a:r>
            <a:r>
              <a:rPr lang="zh-CN" altLang="en-US" dirty="0">
                <a:latin typeface="Times New Roman" panose="02020603050405020304" pitchFamily="18" charset="0"/>
                <a:cs typeface="Times New Roman" panose="02020603050405020304" pitchFamily="18" charset="0"/>
              </a:rPr>
              <a:t> and lacks optimization in </a:t>
            </a:r>
            <a:r>
              <a:rPr lang="zh-CN" altLang="en-US" b="1" dirty="0">
                <a:latin typeface="Times New Roman" panose="02020603050405020304" pitchFamily="18" charset="0"/>
                <a:cs typeface="Times New Roman" panose="02020603050405020304" pitchFamily="18" charset="0"/>
              </a:rPr>
              <a:t>computing performance </a:t>
            </a:r>
            <a:r>
              <a:rPr lang="en-US" altLang="zh-CN" b="1"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6649046"/>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903EF8C-13D3-422C-9C3F-5EECC23210A7}"/>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66D773D4-1EAF-4F9F-8F72-7F1400FEED3D}"/>
              </a:ext>
            </a:extLst>
          </p:cNvPr>
          <p:cNvGrpSpPr/>
          <p:nvPr/>
        </p:nvGrpSpPr>
        <p:grpSpPr>
          <a:xfrm>
            <a:off x="2476501" y="4083591"/>
            <a:ext cx="4487372" cy="494767"/>
            <a:chOff x="2254250" y="3340100"/>
            <a:chExt cx="4811810" cy="712614"/>
          </a:xfrm>
        </p:grpSpPr>
        <p:sp>
          <p:nvSpPr>
            <p:cNvPr id="27"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1215BA3E-7692-4205-997B-ABC7094D720C}"/>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err="1">
                  <a:solidFill>
                    <a:schemeClr val="accent2"/>
                  </a:solidFill>
                  <a:latin typeface="Arial"/>
                  <a:ea typeface="微软雅黑"/>
                </a:rPr>
                <a:t>FlightVGM</a:t>
              </a:r>
              <a:endParaRPr lang="en-US" altLang="zh-CN" sz="2400" b="1" dirty="0">
                <a:solidFill>
                  <a:schemeClr val="accent2"/>
                </a:solidFill>
                <a:latin typeface="Arial"/>
                <a:ea typeface="微软雅黑"/>
              </a:endParaRPr>
            </a:p>
          </p:txBody>
        </p:sp>
        <p:sp>
          <p:nvSpPr>
            <p:cNvPr id="28"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四</a:t>
              </a:r>
            </a:p>
          </p:txBody>
        </p:sp>
      </p:grpSp>
      <p:grpSp>
        <p:nvGrpSpPr>
          <p:cNvPr id="2" name="组合 1">
            <a:extLst>
              <a:ext uri="{FF2B5EF4-FFF2-40B4-BE49-F238E27FC236}">
                <a16:creationId xmlns:a16="http://schemas.microsoft.com/office/drawing/2014/main" id="{37694966-2907-4426-A062-130A961177FE}"/>
              </a:ext>
            </a:extLst>
          </p:cNvPr>
          <p:cNvGrpSpPr/>
          <p:nvPr/>
        </p:nvGrpSpPr>
        <p:grpSpPr>
          <a:xfrm>
            <a:off x="2476502" y="4767077"/>
            <a:ext cx="4487372" cy="494767"/>
            <a:chOff x="2254250" y="4293307"/>
            <a:chExt cx="4635500" cy="712614"/>
          </a:xfrm>
        </p:grpSpPr>
        <p:sp>
          <p:nvSpPr>
            <p:cNvPr id="30" name="矩形: 圆角 29">
              <a:extLst>
                <a:ext uri="{FF2B5EF4-FFF2-40B4-BE49-F238E27FC236}">
                  <a16:creationId xmlns:a16="http://schemas.microsoft.com/office/drawing/2014/main" id="{6E6D3661-6F3C-42F9-943D-06B5502C0D49}"/>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89370DE9-AA64-4B9B-B0D7-52179A05A705}"/>
                </a:ext>
              </a:extLst>
            </p:cNvPr>
            <p:cNvSpPr txBox="1"/>
            <p:nvPr/>
          </p:nvSpPr>
          <p:spPr>
            <a:xfrm>
              <a:off x="2874435" y="4315015"/>
              <a:ext cx="3728366" cy="664938"/>
            </a:xfrm>
            <a:prstGeom prst="rect">
              <a:avLst/>
            </a:prstGeom>
            <a:noFill/>
          </p:spPr>
          <p:txBody>
            <a:bodyPr wrap="square">
              <a:spAutoFit/>
            </a:bodyPr>
            <a:lstStyle/>
            <a:p>
              <a:pPr>
                <a:defRPr/>
              </a:pPr>
              <a:r>
                <a:rPr lang="en-US" altLang="zh-CN" sz="2400" b="1" dirty="0">
                  <a:solidFill>
                    <a:schemeClr val="accent2"/>
                  </a:solidFill>
                  <a:latin typeface="Arial"/>
                  <a:ea typeface="微软雅黑"/>
                </a:rPr>
                <a:t>Evaluation</a:t>
              </a:r>
            </a:p>
          </p:txBody>
        </p:sp>
        <p:sp>
          <p:nvSpPr>
            <p:cNvPr id="31" name="矩形: 圆角 30">
              <a:extLst>
                <a:ext uri="{FF2B5EF4-FFF2-40B4-BE49-F238E27FC236}">
                  <a16:creationId xmlns:a16="http://schemas.microsoft.com/office/drawing/2014/main" id="{6853312C-FE7E-43A1-8259-2E8524987954}"/>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五</a:t>
              </a:r>
            </a:p>
          </p:txBody>
        </p:sp>
      </p:grpSp>
      <p:pic>
        <p:nvPicPr>
          <p:cNvPr id="35" name="图片 34">
            <a:extLst>
              <a:ext uri="{FF2B5EF4-FFF2-40B4-BE49-F238E27FC236}">
                <a16:creationId xmlns:a16="http://schemas.microsoft.com/office/drawing/2014/main" id="{B3D4F314-124A-40B2-A730-A29E4C6616E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F02B1E6C-1DF5-4B5B-8154-6A921C91B413}"/>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Arial"/>
                <a:ea typeface="微软雅黑"/>
                <a:cs typeface="+mn-cs"/>
              </a:rPr>
              <a:t>Content</a:t>
            </a:r>
            <a:endParaRPr kumimoji="0" lang="zh-CN" altLang="en-US" sz="4800" b="1" i="0" u="none" strike="noStrike" kern="1200" cap="none" spc="600" normalizeH="0" baseline="0" noProof="0" dirty="0">
              <a:ln>
                <a:noFill/>
              </a:ln>
              <a:solidFill>
                <a:srgbClr val="082E72"/>
              </a:solidFill>
              <a:effectLst/>
              <a:uLnTx/>
              <a:uFillTx/>
              <a:latin typeface="Arial"/>
              <a:ea typeface="微软雅黑"/>
              <a:cs typeface="+mn-cs"/>
            </a:endParaRPr>
          </a:p>
        </p:txBody>
      </p:sp>
      <p:grpSp>
        <p:nvGrpSpPr>
          <p:cNvPr id="21" name="组合 20">
            <a:extLst>
              <a:ext uri="{FF2B5EF4-FFF2-40B4-BE49-F238E27FC236}">
                <a16:creationId xmlns:a16="http://schemas.microsoft.com/office/drawing/2014/main" id="{F903167E-F437-400B-8A0D-F2E6B88BA5DE}"/>
              </a:ext>
            </a:extLst>
          </p:cNvPr>
          <p:cNvGrpSpPr/>
          <p:nvPr/>
        </p:nvGrpSpPr>
        <p:grpSpPr>
          <a:xfrm>
            <a:off x="2476501" y="2728700"/>
            <a:ext cx="4610098" cy="494767"/>
            <a:chOff x="2254250" y="2386893"/>
            <a:chExt cx="4762276" cy="712614"/>
          </a:xfrm>
        </p:grpSpPr>
        <p:sp>
          <p:nvSpPr>
            <p:cNvPr id="38" name="矩形: 圆角 40">
              <a:extLst>
                <a:ext uri="{FF2B5EF4-FFF2-40B4-BE49-F238E27FC236}">
                  <a16:creationId xmlns:a16="http://schemas.microsoft.com/office/drawing/2014/main" id="{ABF40475-9EC0-4D47-B264-39E638B68E01}"/>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AF45E508-A19F-4202-BB28-E21D9F4E7C8B}"/>
                </a:ext>
              </a:extLst>
            </p:cNvPr>
            <p:cNvSpPr txBox="1"/>
            <p:nvPr/>
          </p:nvSpPr>
          <p:spPr>
            <a:xfrm>
              <a:off x="2898023" y="2410730"/>
              <a:ext cx="4118503" cy="664937"/>
            </a:xfrm>
            <a:prstGeom prst="rect">
              <a:avLst/>
            </a:prstGeom>
            <a:noFill/>
          </p:spPr>
          <p:txBody>
            <a:bodyPr wrap="square">
              <a:spAutoFit/>
            </a:bodyPr>
            <a:lstStyle/>
            <a:p>
              <a:pPr lvl="0">
                <a:defRPr/>
              </a:pPr>
              <a:r>
                <a:rPr lang="en-US" altLang="zh-CN" sz="2400" b="1" dirty="0">
                  <a:solidFill>
                    <a:srgbClr val="FFFFFF"/>
                  </a:solidFill>
                </a:rPr>
                <a:t>Background &amp; Motivation</a:t>
              </a:r>
            </a:p>
          </p:txBody>
        </p:sp>
        <p:sp>
          <p:nvSpPr>
            <p:cNvPr id="40" name="矩形: 圆角 42">
              <a:extLst>
                <a:ext uri="{FF2B5EF4-FFF2-40B4-BE49-F238E27FC236}">
                  <a16:creationId xmlns:a16="http://schemas.microsoft.com/office/drawing/2014/main" id="{ED033169-BE0B-4F71-9E1E-894B8CF2C89A}"/>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rPr>
                <a:t>二</a:t>
              </a:r>
            </a:p>
          </p:txBody>
        </p:sp>
      </p:grpSp>
      <p:grpSp>
        <p:nvGrpSpPr>
          <p:cNvPr id="11" name="组合 10">
            <a:extLst>
              <a:ext uri="{FF2B5EF4-FFF2-40B4-BE49-F238E27FC236}">
                <a16:creationId xmlns:a16="http://schemas.microsoft.com/office/drawing/2014/main" id="{40AE37FC-664D-98F8-C0A7-0A6FF148E558}"/>
              </a:ext>
            </a:extLst>
          </p:cNvPr>
          <p:cNvGrpSpPr/>
          <p:nvPr/>
        </p:nvGrpSpPr>
        <p:grpSpPr>
          <a:xfrm>
            <a:off x="2476502" y="2040879"/>
            <a:ext cx="4487372" cy="494767"/>
            <a:chOff x="2254250" y="3340100"/>
            <a:chExt cx="4811810" cy="712614"/>
          </a:xfrm>
        </p:grpSpPr>
        <p:sp>
          <p:nvSpPr>
            <p:cNvPr id="12" name="矩形: 圆角 11">
              <a:extLst>
                <a:ext uri="{FF2B5EF4-FFF2-40B4-BE49-F238E27FC236}">
                  <a16:creationId xmlns:a16="http://schemas.microsoft.com/office/drawing/2014/main" id="{76D997D2-7A29-B398-A3C5-5947265FF039}"/>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39E69941-F7B3-8E3B-55DE-2838BAB4308D}"/>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Previous Work</a:t>
              </a:r>
            </a:p>
          </p:txBody>
        </p:sp>
        <p:sp>
          <p:nvSpPr>
            <p:cNvPr id="14" name="矩形: 圆角 13">
              <a:extLst>
                <a:ext uri="{FF2B5EF4-FFF2-40B4-BE49-F238E27FC236}">
                  <a16:creationId xmlns:a16="http://schemas.microsoft.com/office/drawing/2014/main" id="{5BAD0A7F-C731-6777-D77D-990726F7BE02}"/>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一</a:t>
              </a:r>
            </a:p>
          </p:txBody>
        </p:sp>
      </p:grpSp>
      <p:grpSp>
        <p:nvGrpSpPr>
          <p:cNvPr id="9" name="组合 8">
            <a:extLst>
              <a:ext uri="{FF2B5EF4-FFF2-40B4-BE49-F238E27FC236}">
                <a16:creationId xmlns:a16="http://schemas.microsoft.com/office/drawing/2014/main" id="{DE0572F3-1C4E-5411-6192-162C7DFEEB0D}"/>
              </a:ext>
            </a:extLst>
          </p:cNvPr>
          <p:cNvGrpSpPr/>
          <p:nvPr/>
        </p:nvGrpSpPr>
        <p:grpSpPr>
          <a:xfrm>
            <a:off x="2476502" y="5452119"/>
            <a:ext cx="4487372" cy="494767"/>
            <a:chOff x="2254250" y="4293307"/>
            <a:chExt cx="4635500" cy="712614"/>
          </a:xfrm>
        </p:grpSpPr>
        <p:sp>
          <p:nvSpPr>
            <p:cNvPr id="10" name="矩形: 圆角 9">
              <a:extLst>
                <a:ext uri="{FF2B5EF4-FFF2-40B4-BE49-F238E27FC236}">
                  <a16:creationId xmlns:a16="http://schemas.microsoft.com/office/drawing/2014/main" id="{6153F4FF-C377-2144-8559-D439255DEF3F}"/>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5" name="文本框 14">
              <a:extLst>
                <a:ext uri="{FF2B5EF4-FFF2-40B4-BE49-F238E27FC236}">
                  <a16:creationId xmlns:a16="http://schemas.microsoft.com/office/drawing/2014/main" id="{505C0E8E-287E-4F94-9D0C-3E0A9C27F24E}"/>
                </a:ext>
              </a:extLst>
            </p:cNvPr>
            <p:cNvSpPr txBox="1"/>
            <p:nvPr/>
          </p:nvSpPr>
          <p:spPr>
            <a:xfrm>
              <a:off x="2874435" y="4315015"/>
              <a:ext cx="3728366" cy="664938"/>
            </a:xfrm>
            <a:prstGeom prst="rect">
              <a:avLst/>
            </a:prstGeom>
            <a:noFill/>
          </p:spPr>
          <p:txBody>
            <a:bodyPr wrap="square">
              <a:spAutoFit/>
            </a:bodyPr>
            <a:lstStyle/>
            <a:p>
              <a:pPr lvl="0">
                <a:defRPr/>
              </a:pPr>
              <a:r>
                <a:rPr lang="en-US" altLang="zh-CN" sz="2400" b="1" dirty="0">
                  <a:solidFill>
                    <a:srgbClr val="082E72"/>
                  </a:solidFill>
                </a:rPr>
                <a:t>Exploration</a:t>
              </a:r>
            </a:p>
          </p:txBody>
        </p:sp>
        <p:sp>
          <p:nvSpPr>
            <p:cNvPr id="16" name="矩形: 圆角 15">
              <a:extLst>
                <a:ext uri="{FF2B5EF4-FFF2-40B4-BE49-F238E27FC236}">
                  <a16:creationId xmlns:a16="http://schemas.microsoft.com/office/drawing/2014/main" id="{63117EFA-0312-DE9A-45F4-8628AF1AFE15}"/>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六</a:t>
              </a:r>
            </a:p>
          </p:txBody>
        </p:sp>
      </p:grpSp>
      <p:grpSp>
        <p:nvGrpSpPr>
          <p:cNvPr id="4" name="组合 3">
            <a:extLst>
              <a:ext uri="{FF2B5EF4-FFF2-40B4-BE49-F238E27FC236}">
                <a16:creationId xmlns:a16="http://schemas.microsoft.com/office/drawing/2014/main" id="{6611E212-0F72-2EFF-2001-31E31A6287A0}"/>
              </a:ext>
            </a:extLst>
          </p:cNvPr>
          <p:cNvGrpSpPr/>
          <p:nvPr/>
        </p:nvGrpSpPr>
        <p:grpSpPr>
          <a:xfrm>
            <a:off x="2476501" y="3398549"/>
            <a:ext cx="4487372" cy="494767"/>
            <a:chOff x="2254250" y="3340100"/>
            <a:chExt cx="4811810" cy="712614"/>
          </a:xfrm>
        </p:grpSpPr>
        <p:sp>
          <p:nvSpPr>
            <p:cNvPr id="6" name="矩形: 圆角 5">
              <a:extLst>
                <a:ext uri="{FF2B5EF4-FFF2-40B4-BE49-F238E27FC236}">
                  <a16:creationId xmlns:a16="http://schemas.microsoft.com/office/drawing/2014/main" id="{66F28D88-FAB8-23A0-3D8C-FF1EA04DCA70}"/>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7" name="文本框 6">
              <a:extLst>
                <a:ext uri="{FF2B5EF4-FFF2-40B4-BE49-F238E27FC236}">
                  <a16:creationId xmlns:a16="http://schemas.microsoft.com/office/drawing/2014/main" id="{CB974039-0246-FF67-1791-F5C250847674}"/>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Challenge</a:t>
              </a:r>
            </a:p>
          </p:txBody>
        </p:sp>
        <p:sp>
          <p:nvSpPr>
            <p:cNvPr id="8" name="矩形: 圆角 7">
              <a:extLst>
                <a:ext uri="{FF2B5EF4-FFF2-40B4-BE49-F238E27FC236}">
                  <a16:creationId xmlns:a16="http://schemas.microsoft.com/office/drawing/2014/main" id="{C3C870B4-BF9F-2B38-F805-8B31394BFD30}"/>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Arial"/>
                  <a:ea typeface="微软雅黑"/>
                </a:rPr>
                <a:t>三</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spTree>
    <p:extLst>
      <p:ext uri="{BB962C8B-B14F-4D97-AF65-F5344CB8AC3E}">
        <p14:creationId xmlns:p14="http://schemas.microsoft.com/office/powerpoint/2010/main" val="642514256"/>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60A8E-D062-4D53-887D-EC08846CA067}"/>
              </a:ext>
            </a:extLst>
          </p:cNvPr>
          <p:cNvSpPr>
            <a:spLocks noGrp="1"/>
          </p:cNvSpPr>
          <p:nvPr>
            <p:ph type="title"/>
          </p:nvPr>
        </p:nvSpPr>
        <p:spPr/>
        <p:txBody>
          <a:bodyPr>
            <a:normAutofit/>
          </a:bodyPr>
          <a:lstStyle/>
          <a:p>
            <a:r>
              <a:rPr lang="en-US" altLang="zh-CN" dirty="0" err="1"/>
              <a:t>BackGround</a:t>
            </a:r>
            <a:r>
              <a:rPr lang="en-US" altLang="zh-CN" dirty="0"/>
              <a:t> &amp; Motivation</a:t>
            </a:r>
            <a:endParaRPr lang="zh-CN" altLang="en-US" dirty="0"/>
          </a:p>
        </p:txBody>
      </p:sp>
      <p:sp>
        <p:nvSpPr>
          <p:cNvPr id="3" name="文本框 2">
            <a:extLst>
              <a:ext uri="{FF2B5EF4-FFF2-40B4-BE49-F238E27FC236}">
                <a16:creationId xmlns:a16="http://schemas.microsoft.com/office/drawing/2014/main" id="{B4740A33-FC34-CE63-52BD-67552E79D11F}"/>
              </a:ext>
            </a:extLst>
          </p:cNvPr>
          <p:cNvSpPr txBox="1"/>
          <p:nvPr/>
        </p:nvSpPr>
        <p:spPr>
          <a:xfrm>
            <a:off x="240269" y="996202"/>
            <a:ext cx="4888683" cy="5262979"/>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600" dirty="0" err="1">
                <a:latin typeface="Times New Roman" panose="02020603050405020304" pitchFamily="18" charset="0"/>
                <a:cs typeface="Times New Roman" panose="02020603050405020304" pitchFamily="18" charset="0"/>
              </a:rPr>
              <a:t>Backgound</a:t>
            </a:r>
            <a:endParaRPr lang="en-US" altLang="zh-CN"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altLang="zh-CN" sz="1600" dirty="0">
                <a:latin typeface="Times New Roman" panose="02020603050405020304" pitchFamily="18" charset="0"/>
                <a:cs typeface="Times New Roman" panose="02020603050405020304" pitchFamily="18" charset="0"/>
              </a:rPr>
              <a:t>Due to the </a:t>
            </a:r>
            <a:r>
              <a:rPr lang="en-US" altLang="zh-CN" sz="1600" b="1" dirty="0">
                <a:latin typeface="Times New Roman" panose="02020603050405020304" pitchFamily="18" charset="0"/>
                <a:cs typeface="Times New Roman" panose="02020603050405020304" pitchFamily="18" charset="0"/>
              </a:rPr>
              <a:t>computational intensity</a:t>
            </a:r>
            <a:r>
              <a:rPr lang="en-US" altLang="zh-CN" sz="1600" dirty="0">
                <a:latin typeface="Times New Roman" panose="02020603050405020304" pitchFamily="18" charset="0"/>
                <a:cs typeface="Times New Roman" panose="02020603050405020304" pitchFamily="18" charset="0"/>
              </a:rPr>
              <a:t> introduced by the </a:t>
            </a:r>
            <a:r>
              <a:rPr lang="en-US" altLang="zh-CN" sz="1600" dirty="0" err="1">
                <a:latin typeface="Times New Roman" panose="02020603050405020304" pitchFamily="18" charset="0"/>
                <a:cs typeface="Times New Roman" panose="02020603050405020304" pitchFamily="18" charset="0"/>
              </a:rPr>
              <a:t>DiT</a:t>
            </a:r>
            <a:r>
              <a:rPr lang="en-US" altLang="zh-CN" sz="1600" dirty="0">
                <a:latin typeface="Times New Roman" panose="02020603050405020304" pitchFamily="18" charset="0"/>
                <a:cs typeface="Times New Roman" panose="02020603050405020304" pitchFamily="18" charset="0"/>
              </a:rPr>
              <a:t> structure, VGM requires substantial computational power during inference, thus being referred to as </a:t>
            </a:r>
            <a:r>
              <a:rPr lang="en-US" altLang="zh-CN" sz="1600" dirty="0" err="1">
                <a:latin typeface="Times New Roman" panose="02020603050405020304" pitchFamily="18" charset="0"/>
                <a:cs typeface="Times New Roman" panose="02020603050405020304" pitchFamily="18" charset="0"/>
              </a:rPr>
              <a:t>a“</a:t>
            </a:r>
            <a:r>
              <a:rPr lang="en-US" altLang="zh-CN" sz="1600" b="1" dirty="0" err="1">
                <a:latin typeface="Times New Roman" panose="02020603050405020304" pitchFamily="18" charset="0"/>
                <a:cs typeface="Times New Roman" panose="02020603050405020304" pitchFamily="18" charset="0"/>
              </a:rPr>
              <a:t>compute-bound”</a:t>
            </a:r>
            <a:r>
              <a:rPr lang="en-US" altLang="zh-CN" sz="1600" dirty="0" err="1">
                <a:latin typeface="Times New Roman" panose="02020603050405020304" pitchFamily="18" charset="0"/>
                <a:cs typeface="Times New Roman" panose="02020603050405020304" pitchFamily="18" charset="0"/>
              </a:rPr>
              <a:t>model</a:t>
            </a:r>
            <a:r>
              <a:rPr lang="en-US" altLang="zh-CN" sz="1600" dirty="0">
                <a:latin typeface="Times New Roman" panose="02020603050405020304" pitchFamily="18" charset="0"/>
                <a:cs typeface="Times New Roman" panose="02020603050405020304" pitchFamily="18" charset="0"/>
              </a:rPr>
              <a:t>. </a:t>
            </a:r>
          </a:p>
          <a:p>
            <a:pPr marL="742950" lvl="1" indent="-285750">
              <a:buFont typeface="Wingdings" panose="05000000000000000000" pitchFamily="2" charset="2"/>
              <a:buChar char="ü"/>
            </a:pPr>
            <a:r>
              <a:rPr lang="en-US" altLang="zh-CN" sz="1600" dirty="0">
                <a:latin typeface="Times New Roman" panose="02020603050405020304" pitchFamily="18" charset="0"/>
                <a:cs typeface="Times New Roman" panose="02020603050405020304" pitchFamily="18" charset="0"/>
              </a:rPr>
              <a:t>Although </a:t>
            </a:r>
            <a:r>
              <a:rPr lang="en-US" altLang="zh-CN" sz="1600" b="1" dirty="0" err="1">
                <a:latin typeface="Times New Roman" panose="02020603050405020304" pitchFamily="18" charset="0"/>
                <a:cs typeface="Times New Roman" panose="02020603050405020304" pitchFamily="18" charset="0"/>
              </a:rPr>
              <a:t>sparsification</a:t>
            </a:r>
            <a:r>
              <a:rPr lang="en-US" altLang="zh-CN" sz="1600" dirty="0">
                <a:latin typeface="Times New Roman" panose="02020603050405020304" pitchFamily="18" charset="0"/>
                <a:cs typeface="Times New Roman" panose="02020603050405020304" pitchFamily="18" charset="0"/>
              </a:rPr>
              <a:t> methods can be employed to reduce computational load, the </a:t>
            </a:r>
            <a:r>
              <a:rPr lang="en-US" altLang="zh-CN" sz="1600" dirty="0" err="1">
                <a:latin typeface="Times New Roman" panose="02020603050405020304" pitchFamily="18" charset="0"/>
                <a:cs typeface="Times New Roman" panose="02020603050405020304" pitchFamily="18" charset="0"/>
              </a:rPr>
              <a:t>sparsified</a:t>
            </a:r>
            <a:r>
              <a:rPr lang="en-US" altLang="zh-CN" sz="1600" dirty="0">
                <a:latin typeface="Times New Roman" panose="02020603050405020304" pitchFamily="18" charset="0"/>
                <a:cs typeface="Times New Roman" panose="02020603050405020304" pitchFamily="18" charset="0"/>
              </a:rPr>
              <a:t> VGM still fails to </a:t>
            </a:r>
            <a:r>
              <a:rPr lang="en-US" altLang="zh-CN" sz="1600" b="1" dirty="0">
                <a:latin typeface="Times New Roman" panose="02020603050405020304" pitchFamily="18" charset="0"/>
                <a:cs typeface="Times New Roman" panose="02020603050405020304" pitchFamily="18" charset="0"/>
              </a:rPr>
              <a:t>fully utilize the effective throughput</a:t>
            </a:r>
            <a:r>
              <a:rPr lang="en-US" altLang="zh-CN" sz="1600" dirty="0">
                <a:latin typeface="Times New Roman" panose="02020603050405020304" pitchFamily="18" charset="0"/>
                <a:cs typeface="Times New Roman" panose="02020603050405020304" pitchFamily="18" charset="0"/>
              </a:rPr>
              <a:t> (TOPS) of the GPU.</a:t>
            </a:r>
            <a:br>
              <a:rPr lang="en-US" altLang="zh-CN" sz="1600" dirty="0">
                <a:latin typeface="Times New Roman" panose="02020603050405020304" pitchFamily="18" charset="0"/>
                <a:cs typeface="Times New Roman" panose="02020603050405020304" pitchFamily="18" charset="0"/>
              </a:rPr>
            </a:br>
            <a:br>
              <a:rPr lang="en-US" altLang="zh-CN" sz="1600" dirty="0">
                <a:latin typeface="Times New Roman" panose="02020603050405020304" pitchFamily="18" charset="0"/>
                <a:cs typeface="Times New Roman" panose="02020603050405020304" pitchFamily="18" charset="0"/>
              </a:rPr>
            </a:br>
            <a:r>
              <a:rPr lang="en-US" altLang="zh-CN" sz="1600" dirty="0">
                <a:latin typeface="Times New Roman" panose="02020603050405020304" pitchFamily="18" charset="0"/>
                <a:cs typeface="Times New Roman" panose="02020603050405020304" pitchFamily="18" charset="0"/>
              </a:rPr>
              <a:t>Due to the additional overhead introduced by GPUs when handling </a:t>
            </a:r>
            <a:r>
              <a:rPr lang="en-US" altLang="zh-CN" sz="1600" b="1" dirty="0">
                <a:latin typeface="Times New Roman" panose="02020603050405020304" pitchFamily="18" charset="0"/>
                <a:cs typeface="Times New Roman" panose="02020603050405020304" pitchFamily="18" charset="0"/>
              </a:rPr>
              <a:t>irregular memory accesses</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sparsification</a:t>
            </a:r>
            <a:r>
              <a:rPr lang="en-US" altLang="zh-CN" sz="1600" dirty="0">
                <a:latin typeface="Times New Roman" panose="02020603050405020304" pitchFamily="18" charset="0"/>
                <a:cs typeface="Times New Roman" panose="02020603050405020304" pitchFamily="18" charset="0"/>
              </a:rPr>
              <a:t> does not result in a significant performance improvement.</a:t>
            </a:r>
          </a:p>
          <a:p>
            <a:pPr lvl="1"/>
            <a:endParaRPr lang="en-US" altLang="zh-C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sz="1600" dirty="0">
                <a:latin typeface="Times New Roman" panose="02020603050405020304" pitchFamily="18" charset="0"/>
                <a:cs typeface="Times New Roman" panose="02020603050405020304" pitchFamily="18" charset="0"/>
              </a:rPr>
              <a:t>Motivation</a:t>
            </a:r>
          </a:p>
          <a:p>
            <a:pPr marL="742950" lvl="1" indent="-285750">
              <a:buFont typeface="Wingdings" panose="05000000000000000000" pitchFamily="2" charset="2"/>
              <a:buChar char="ü"/>
            </a:pPr>
            <a:r>
              <a:rPr lang="en-US" altLang="zh-CN" sz="1600" dirty="0">
                <a:latin typeface="Times New Roman" panose="02020603050405020304" pitchFamily="18" charset="0"/>
                <a:cs typeface="Times New Roman" panose="02020603050405020304" pitchFamily="18" charset="0"/>
              </a:rPr>
              <a:t>FPGAs (Field Programmable Gate Arrays) offer advantages in accelerating sparse deep learning models due to </a:t>
            </a:r>
            <a:r>
              <a:rPr lang="en-US" altLang="zh-CN" sz="1600" b="1" dirty="0">
                <a:latin typeface="Times New Roman" panose="02020603050405020304" pitchFamily="18" charset="0"/>
                <a:cs typeface="Times New Roman" panose="02020603050405020304" pitchFamily="18" charset="0"/>
              </a:rPr>
              <a:t>their reconfigurability and parallelism</a:t>
            </a:r>
            <a:r>
              <a:rPr lang="en-US" altLang="zh-CN" sz="1600" dirty="0">
                <a:latin typeface="Times New Roman" panose="02020603050405020304" pitchFamily="18" charset="0"/>
                <a:cs typeface="Times New Roman" panose="02020603050405020304" pitchFamily="18" charset="0"/>
              </a:rPr>
              <a:t>, which can be optimized for specific tasks.</a:t>
            </a:r>
            <a:endParaRPr lang="zh-CN" altLang="en-US" sz="160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8E84D4C0-6490-6710-867E-57D11FB6E032}"/>
              </a:ext>
            </a:extLst>
          </p:cNvPr>
          <p:cNvPicPr>
            <a:picLocks noChangeAspect="1"/>
          </p:cNvPicPr>
          <p:nvPr/>
        </p:nvPicPr>
        <p:blipFill>
          <a:blip r:embed="rId3"/>
          <a:stretch>
            <a:fillRect/>
          </a:stretch>
        </p:blipFill>
        <p:spPr>
          <a:xfrm>
            <a:off x="5505534" y="1365188"/>
            <a:ext cx="2790567" cy="4525006"/>
          </a:xfrm>
          <a:prstGeom prst="rect">
            <a:avLst/>
          </a:prstGeom>
        </p:spPr>
      </p:pic>
    </p:spTree>
    <p:extLst>
      <p:ext uri="{BB962C8B-B14F-4D97-AF65-F5344CB8AC3E}">
        <p14:creationId xmlns:p14="http://schemas.microsoft.com/office/powerpoint/2010/main" val="2107621656"/>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903EF8C-13D3-422C-9C3F-5EECC23210A7}"/>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66D773D4-1EAF-4F9F-8F72-7F1400FEED3D}"/>
              </a:ext>
            </a:extLst>
          </p:cNvPr>
          <p:cNvGrpSpPr/>
          <p:nvPr/>
        </p:nvGrpSpPr>
        <p:grpSpPr>
          <a:xfrm>
            <a:off x="2476501" y="4083591"/>
            <a:ext cx="4487372" cy="494767"/>
            <a:chOff x="2254250" y="3340100"/>
            <a:chExt cx="4811810" cy="712614"/>
          </a:xfrm>
        </p:grpSpPr>
        <p:sp>
          <p:nvSpPr>
            <p:cNvPr id="27"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1215BA3E-7692-4205-997B-ABC7094D720C}"/>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err="1">
                  <a:solidFill>
                    <a:schemeClr val="accent2"/>
                  </a:solidFill>
                  <a:latin typeface="Arial"/>
                  <a:ea typeface="微软雅黑"/>
                </a:rPr>
                <a:t>FlightVGM</a:t>
              </a:r>
              <a:endParaRPr lang="en-US" altLang="zh-CN" sz="2400" b="1" dirty="0">
                <a:solidFill>
                  <a:schemeClr val="accent2"/>
                </a:solidFill>
                <a:latin typeface="Arial"/>
                <a:ea typeface="微软雅黑"/>
              </a:endParaRPr>
            </a:p>
          </p:txBody>
        </p:sp>
        <p:sp>
          <p:nvSpPr>
            <p:cNvPr id="28"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四</a:t>
              </a:r>
            </a:p>
          </p:txBody>
        </p:sp>
      </p:grpSp>
      <p:grpSp>
        <p:nvGrpSpPr>
          <p:cNvPr id="2" name="组合 1">
            <a:extLst>
              <a:ext uri="{FF2B5EF4-FFF2-40B4-BE49-F238E27FC236}">
                <a16:creationId xmlns:a16="http://schemas.microsoft.com/office/drawing/2014/main" id="{37694966-2907-4426-A062-130A961177FE}"/>
              </a:ext>
            </a:extLst>
          </p:cNvPr>
          <p:cNvGrpSpPr/>
          <p:nvPr/>
        </p:nvGrpSpPr>
        <p:grpSpPr>
          <a:xfrm>
            <a:off x="2476502" y="4767077"/>
            <a:ext cx="4487372" cy="494767"/>
            <a:chOff x="2254250" y="4293307"/>
            <a:chExt cx="4635500" cy="712614"/>
          </a:xfrm>
        </p:grpSpPr>
        <p:sp>
          <p:nvSpPr>
            <p:cNvPr id="30" name="矩形: 圆角 29">
              <a:extLst>
                <a:ext uri="{FF2B5EF4-FFF2-40B4-BE49-F238E27FC236}">
                  <a16:creationId xmlns:a16="http://schemas.microsoft.com/office/drawing/2014/main" id="{6E6D3661-6F3C-42F9-943D-06B5502C0D49}"/>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89370DE9-AA64-4B9B-B0D7-52179A05A705}"/>
                </a:ext>
              </a:extLst>
            </p:cNvPr>
            <p:cNvSpPr txBox="1"/>
            <p:nvPr/>
          </p:nvSpPr>
          <p:spPr>
            <a:xfrm>
              <a:off x="2874435" y="4315015"/>
              <a:ext cx="3728366" cy="664938"/>
            </a:xfrm>
            <a:prstGeom prst="rect">
              <a:avLst/>
            </a:prstGeom>
            <a:noFill/>
          </p:spPr>
          <p:txBody>
            <a:bodyPr wrap="square">
              <a:spAutoFit/>
            </a:bodyPr>
            <a:lstStyle/>
            <a:p>
              <a:pPr>
                <a:defRPr/>
              </a:pPr>
              <a:r>
                <a:rPr lang="en-US" altLang="zh-CN" sz="2400" b="1" dirty="0">
                  <a:solidFill>
                    <a:schemeClr val="accent2"/>
                  </a:solidFill>
                  <a:latin typeface="Arial"/>
                  <a:ea typeface="微软雅黑"/>
                </a:rPr>
                <a:t>Evaluation</a:t>
              </a:r>
            </a:p>
          </p:txBody>
        </p:sp>
        <p:sp>
          <p:nvSpPr>
            <p:cNvPr id="31" name="矩形: 圆角 30">
              <a:extLst>
                <a:ext uri="{FF2B5EF4-FFF2-40B4-BE49-F238E27FC236}">
                  <a16:creationId xmlns:a16="http://schemas.microsoft.com/office/drawing/2014/main" id="{6853312C-FE7E-43A1-8259-2E8524987954}"/>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五</a:t>
              </a:r>
            </a:p>
          </p:txBody>
        </p:sp>
      </p:grpSp>
      <p:pic>
        <p:nvPicPr>
          <p:cNvPr id="35" name="图片 34">
            <a:extLst>
              <a:ext uri="{FF2B5EF4-FFF2-40B4-BE49-F238E27FC236}">
                <a16:creationId xmlns:a16="http://schemas.microsoft.com/office/drawing/2014/main" id="{B3D4F314-124A-40B2-A730-A29E4C6616E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F02B1E6C-1DF5-4B5B-8154-6A921C91B413}"/>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Arial"/>
                <a:ea typeface="微软雅黑"/>
                <a:cs typeface="+mn-cs"/>
              </a:rPr>
              <a:t>Content</a:t>
            </a:r>
            <a:endParaRPr kumimoji="0" lang="zh-CN" altLang="en-US" sz="4800" b="1" i="0" u="none" strike="noStrike" kern="1200" cap="none" spc="600" normalizeH="0" baseline="0" noProof="0" dirty="0">
              <a:ln>
                <a:noFill/>
              </a:ln>
              <a:solidFill>
                <a:srgbClr val="082E72"/>
              </a:solidFill>
              <a:effectLst/>
              <a:uLnTx/>
              <a:uFillTx/>
              <a:latin typeface="Arial"/>
              <a:ea typeface="微软雅黑"/>
              <a:cs typeface="+mn-cs"/>
            </a:endParaRPr>
          </a:p>
        </p:txBody>
      </p:sp>
      <p:grpSp>
        <p:nvGrpSpPr>
          <p:cNvPr id="32" name="组合 31">
            <a:extLst>
              <a:ext uri="{FF2B5EF4-FFF2-40B4-BE49-F238E27FC236}">
                <a16:creationId xmlns:a16="http://schemas.microsoft.com/office/drawing/2014/main" id="{66D773D4-1EAF-4F9F-8F72-7F1400FEED3D}"/>
              </a:ext>
            </a:extLst>
          </p:cNvPr>
          <p:cNvGrpSpPr/>
          <p:nvPr/>
        </p:nvGrpSpPr>
        <p:grpSpPr>
          <a:xfrm>
            <a:off x="2476504" y="2725921"/>
            <a:ext cx="4487372" cy="494767"/>
            <a:chOff x="2254250" y="3340100"/>
            <a:chExt cx="4811810" cy="712614"/>
          </a:xfrm>
        </p:grpSpPr>
        <p:sp>
          <p:nvSpPr>
            <p:cNvPr id="33"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7"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二</a:t>
              </a:r>
            </a:p>
          </p:txBody>
        </p:sp>
      </p:grpSp>
      <p:grpSp>
        <p:nvGrpSpPr>
          <p:cNvPr id="21" name="组合 20">
            <a:extLst>
              <a:ext uri="{FF2B5EF4-FFF2-40B4-BE49-F238E27FC236}">
                <a16:creationId xmlns:a16="http://schemas.microsoft.com/office/drawing/2014/main" id="{F903167E-F437-400B-8A0D-F2E6B88BA5DE}"/>
              </a:ext>
            </a:extLst>
          </p:cNvPr>
          <p:cNvGrpSpPr/>
          <p:nvPr/>
        </p:nvGrpSpPr>
        <p:grpSpPr>
          <a:xfrm>
            <a:off x="2476501" y="3405320"/>
            <a:ext cx="4487373" cy="494767"/>
            <a:chOff x="2254250" y="2386893"/>
            <a:chExt cx="4635500" cy="712614"/>
          </a:xfrm>
        </p:grpSpPr>
        <p:sp>
          <p:nvSpPr>
            <p:cNvPr id="38" name="矩形: 圆角 40">
              <a:extLst>
                <a:ext uri="{FF2B5EF4-FFF2-40B4-BE49-F238E27FC236}">
                  <a16:creationId xmlns:a16="http://schemas.microsoft.com/office/drawing/2014/main" id="{ABF40475-9EC0-4D47-B264-39E638B68E01}"/>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AF45E508-A19F-4202-BB28-E21D9F4E7C8B}"/>
                </a:ext>
              </a:extLst>
            </p:cNvPr>
            <p:cNvSpPr txBox="1"/>
            <p:nvPr/>
          </p:nvSpPr>
          <p:spPr>
            <a:xfrm>
              <a:off x="2898024" y="2410730"/>
              <a:ext cx="3800641" cy="664937"/>
            </a:xfrm>
            <a:prstGeom prst="rect">
              <a:avLst/>
            </a:prstGeom>
            <a:noFill/>
          </p:spPr>
          <p:txBody>
            <a:bodyPr wrap="square">
              <a:spAutoFit/>
            </a:bodyPr>
            <a:lstStyle/>
            <a:p>
              <a:pPr lvl="0">
                <a:defRPr/>
              </a:pPr>
              <a:r>
                <a:rPr lang="en-US" altLang="zh-CN" sz="2400" b="1" dirty="0">
                  <a:solidFill>
                    <a:srgbClr val="FFFFFF"/>
                  </a:solidFill>
                </a:rPr>
                <a:t>Challenge</a:t>
              </a:r>
            </a:p>
          </p:txBody>
        </p:sp>
        <p:sp>
          <p:nvSpPr>
            <p:cNvPr id="40" name="矩形: 圆角 42">
              <a:extLst>
                <a:ext uri="{FF2B5EF4-FFF2-40B4-BE49-F238E27FC236}">
                  <a16:creationId xmlns:a16="http://schemas.microsoft.com/office/drawing/2014/main" id="{ED033169-BE0B-4F71-9E1E-894B8CF2C89A}"/>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2400" b="1" dirty="0">
                  <a:solidFill>
                    <a:schemeClr val="accent2"/>
                  </a:solidFill>
                  <a:latin typeface="Arial"/>
                  <a:ea typeface="微软雅黑"/>
                </a:rPr>
                <a:t>三</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
        <p:nvSpPr>
          <p:cNvPr id="3" name="文本框 2">
            <a:extLst>
              <a:ext uri="{FF2B5EF4-FFF2-40B4-BE49-F238E27FC236}">
                <a16:creationId xmlns:a16="http://schemas.microsoft.com/office/drawing/2014/main" id="{DE1F79F8-8A5C-B9E9-B2B4-C002E211124D}"/>
              </a:ext>
            </a:extLst>
          </p:cNvPr>
          <p:cNvSpPr txBox="1"/>
          <p:nvPr/>
        </p:nvSpPr>
        <p:spPr>
          <a:xfrm>
            <a:off x="3076869" y="2739467"/>
            <a:ext cx="4087315" cy="461665"/>
          </a:xfrm>
          <a:prstGeom prst="rect">
            <a:avLst/>
          </a:prstGeom>
          <a:noFill/>
        </p:spPr>
        <p:txBody>
          <a:bodyPr wrap="square">
            <a:spAutoFit/>
          </a:bodyPr>
          <a:lstStyle/>
          <a:p>
            <a:pPr lvl="0">
              <a:defRPr/>
            </a:pPr>
            <a:r>
              <a:rPr lang="en-US" altLang="zh-CN" sz="2400" b="1" dirty="0" err="1">
                <a:solidFill>
                  <a:schemeClr val="accent2"/>
                </a:solidFill>
              </a:rPr>
              <a:t>BackGround</a:t>
            </a:r>
            <a:r>
              <a:rPr lang="en-US" altLang="zh-CN" sz="2400" b="1" dirty="0">
                <a:solidFill>
                  <a:schemeClr val="accent2"/>
                </a:solidFill>
              </a:rPr>
              <a:t> &amp; Motivation</a:t>
            </a:r>
          </a:p>
        </p:txBody>
      </p:sp>
      <p:grpSp>
        <p:nvGrpSpPr>
          <p:cNvPr id="11" name="组合 10">
            <a:extLst>
              <a:ext uri="{FF2B5EF4-FFF2-40B4-BE49-F238E27FC236}">
                <a16:creationId xmlns:a16="http://schemas.microsoft.com/office/drawing/2014/main" id="{40AE37FC-664D-98F8-C0A7-0A6FF148E558}"/>
              </a:ext>
            </a:extLst>
          </p:cNvPr>
          <p:cNvGrpSpPr/>
          <p:nvPr/>
        </p:nvGrpSpPr>
        <p:grpSpPr>
          <a:xfrm>
            <a:off x="2476502" y="2040879"/>
            <a:ext cx="4487372" cy="494767"/>
            <a:chOff x="2254250" y="3340100"/>
            <a:chExt cx="4811810" cy="712614"/>
          </a:xfrm>
        </p:grpSpPr>
        <p:sp>
          <p:nvSpPr>
            <p:cNvPr id="12" name="矩形: 圆角 11">
              <a:extLst>
                <a:ext uri="{FF2B5EF4-FFF2-40B4-BE49-F238E27FC236}">
                  <a16:creationId xmlns:a16="http://schemas.microsoft.com/office/drawing/2014/main" id="{76D997D2-7A29-B398-A3C5-5947265FF039}"/>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39E69941-F7B3-8E3B-55DE-2838BAB4308D}"/>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Previous Work</a:t>
              </a:r>
            </a:p>
          </p:txBody>
        </p:sp>
        <p:sp>
          <p:nvSpPr>
            <p:cNvPr id="14" name="矩形: 圆角 13">
              <a:extLst>
                <a:ext uri="{FF2B5EF4-FFF2-40B4-BE49-F238E27FC236}">
                  <a16:creationId xmlns:a16="http://schemas.microsoft.com/office/drawing/2014/main" id="{5BAD0A7F-C731-6777-D77D-990726F7BE02}"/>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一</a:t>
              </a:r>
            </a:p>
          </p:txBody>
        </p:sp>
      </p:grpSp>
      <p:grpSp>
        <p:nvGrpSpPr>
          <p:cNvPr id="9" name="组合 8">
            <a:extLst>
              <a:ext uri="{FF2B5EF4-FFF2-40B4-BE49-F238E27FC236}">
                <a16:creationId xmlns:a16="http://schemas.microsoft.com/office/drawing/2014/main" id="{DE0572F3-1C4E-5411-6192-162C7DFEEB0D}"/>
              </a:ext>
            </a:extLst>
          </p:cNvPr>
          <p:cNvGrpSpPr/>
          <p:nvPr/>
        </p:nvGrpSpPr>
        <p:grpSpPr>
          <a:xfrm>
            <a:off x="2476502" y="5452119"/>
            <a:ext cx="4487372" cy="494767"/>
            <a:chOff x="2254250" y="4293307"/>
            <a:chExt cx="4635500" cy="712614"/>
          </a:xfrm>
        </p:grpSpPr>
        <p:sp>
          <p:nvSpPr>
            <p:cNvPr id="10" name="矩形: 圆角 9">
              <a:extLst>
                <a:ext uri="{FF2B5EF4-FFF2-40B4-BE49-F238E27FC236}">
                  <a16:creationId xmlns:a16="http://schemas.microsoft.com/office/drawing/2014/main" id="{6153F4FF-C377-2144-8559-D439255DEF3F}"/>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5" name="文本框 14">
              <a:extLst>
                <a:ext uri="{FF2B5EF4-FFF2-40B4-BE49-F238E27FC236}">
                  <a16:creationId xmlns:a16="http://schemas.microsoft.com/office/drawing/2014/main" id="{505C0E8E-287E-4F94-9D0C-3E0A9C27F24E}"/>
                </a:ext>
              </a:extLst>
            </p:cNvPr>
            <p:cNvSpPr txBox="1"/>
            <p:nvPr/>
          </p:nvSpPr>
          <p:spPr>
            <a:xfrm>
              <a:off x="2874435" y="4315015"/>
              <a:ext cx="3728366" cy="664938"/>
            </a:xfrm>
            <a:prstGeom prst="rect">
              <a:avLst/>
            </a:prstGeom>
            <a:noFill/>
          </p:spPr>
          <p:txBody>
            <a:bodyPr wrap="square">
              <a:spAutoFit/>
            </a:bodyPr>
            <a:lstStyle/>
            <a:p>
              <a:pPr lvl="0">
                <a:defRPr/>
              </a:pPr>
              <a:r>
                <a:rPr lang="en-US" altLang="zh-CN" sz="2400" b="1" dirty="0">
                  <a:solidFill>
                    <a:srgbClr val="082E72"/>
                  </a:solidFill>
                </a:rPr>
                <a:t>Exploration</a:t>
              </a:r>
            </a:p>
          </p:txBody>
        </p:sp>
        <p:sp>
          <p:nvSpPr>
            <p:cNvPr id="16" name="矩形: 圆角 15">
              <a:extLst>
                <a:ext uri="{FF2B5EF4-FFF2-40B4-BE49-F238E27FC236}">
                  <a16:creationId xmlns:a16="http://schemas.microsoft.com/office/drawing/2014/main" id="{63117EFA-0312-DE9A-45F4-8628AF1AFE15}"/>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六</a:t>
              </a:r>
            </a:p>
          </p:txBody>
        </p:sp>
      </p:grpSp>
    </p:spTree>
    <p:extLst>
      <p:ext uri="{BB962C8B-B14F-4D97-AF65-F5344CB8AC3E}">
        <p14:creationId xmlns:p14="http://schemas.microsoft.com/office/powerpoint/2010/main" val="261696110"/>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60A8E-D062-4D53-887D-EC08846CA067}"/>
              </a:ext>
            </a:extLst>
          </p:cNvPr>
          <p:cNvSpPr>
            <a:spLocks noGrp="1"/>
          </p:cNvSpPr>
          <p:nvPr>
            <p:ph type="title"/>
          </p:nvPr>
        </p:nvSpPr>
        <p:spPr/>
        <p:txBody>
          <a:bodyPr>
            <a:normAutofit/>
          </a:bodyPr>
          <a:lstStyle/>
          <a:p>
            <a:r>
              <a:rPr lang="en-US" altLang="zh-CN" dirty="0"/>
              <a:t>Challenge</a:t>
            </a:r>
            <a:endParaRPr lang="zh-CN" altLang="en-US" dirty="0"/>
          </a:p>
        </p:txBody>
      </p:sp>
      <p:sp>
        <p:nvSpPr>
          <p:cNvPr id="5" name="文本框 4">
            <a:extLst>
              <a:ext uri="{FF2B5EF4-FFF2-40B4-BE49-F238E27FC236}">
                <a16:creationId xmlns:a16="http://schemas.microsoft.com/office/drawing/2014/main" id="{7FF914E0-5D41-C020-071F-F6DD6D55B4E1}"/>
              </a:ext>
            </a:extLst>
          </p:cNvPr>
          <p:cNvSpPr txBox="1"/>
          <p:nvPr/>
        </p:nvSpPr>
        <p:spPr>
          <a:xfrm>
            <a:off x="3455445" y="1036999"/>
            <a:ext cx="5272919" cy="5016758"/>
          </a:xfrm>
          <a:prstGeom prst="rect">
            <a:avLst/>
          </a:prstGeom>
          <a:noFill/>
        </p:spPr>
        <p:txBody>
          <a:bodyPr wrap="square" rtlCol="0">
            <a:spAutoFit/>
          </a:bodyPr>
          <a:lstStyle/>
          <a:p>
            <a:pPr marL="285750" indent="-285750">
              <a:buFont typeface="Wingdings" panose="05000000000000000000" pitchFamily="2" charset="2"/>
              <a:buChar char="ü"/>
            </a:pPr>
            <a:r>
              <a:rPr lang="en-US" altLang="zh-CN" sz="1600" dirty="0">
                <a:solidFill>
                  <a:srgbClr val="FF0000"/>
                </a:solidFill>
                <a:latin typeface="Times New Roman" panose="02020603050405020304" pitchFamily="18" charset="0"/>
                <a:cs typeface="Times New Roman" panose="02020603050405020304" pitchFamily="18" charset="0"/>
              </a:rPr>
              <a:t>Challenge 1: Excessive Activation Redundancy </a:t>
            </a:r>
          </a:p>
          <a:p>
            <a:pPr marL="7429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A significant amount of underutilized redundant </a:t>
            </a:r>
          </a:p>
          <a:p>
            <a:pPr marL="7429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Similarities in both temporal and spatial domains</a:t>
            </a:r>
            <a:br>
              <a:rPr lang="en-US" altLang="zh-CN" sz="1600" dirty="0">
                <a:latin typeface="Times New Roman" panose="02020603050405020304" pitchFamily="18" charset="0"/>
                <a:cs typeface="Times New Roman" panose="02020603050405020304" pitchFamily="18" charset="0"/>
              </a:rPr>
            </a:br>
            <a:r>
              <a:rPr lang="en-US" altLang="zh-CN" sz="1600" dirty="0">
                <a:latin typeface="Times New Roman" panose="02020603050405020304" pitchFamily="18" charset="0"/>
                <a:cs typeface="Times New Roman" panose="02020603050405020304" pitchFamily="18" charset="0"/>
              </a:rPr>
              <a:t>The additional irregular memory access and synchronization</a:t>
            </a:r>
          </a:p>
          <a:p>
            <a:pPr marL="285750" indent="-285750">
              <a:buFont typeface="Wingdings" panose="05000000000000000000" pitchFamily="2" charset="2"/>
              <a:buChar char="ü"/>
            </a:pPr>
            <a:r>
              <a:rPr lang="en-US" altLang="zh-CN" sz="1600" dirty="0">
                <a:solidFill>
                  <a:srgbClr val="FF0000"/>
                </a:solidFill>
                <a:latin typeface="Times New Roman" panose="02020603050405020304" pitchFamily="18" charset="0"/>
                <a:cs typeface="Times New Roman" panose="02020603050405020304" pitchFamily="18" charset="0"/>
              </a:rPr>
              <a:t>Challenge 2: Low DSP Performance in Mixed Precision  </a:t>
            </a:r>
          </a:p>
          <a:p>
            <a:pPr marL="7429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Cannot provide full computational performance in mixed precision. </a:t>
            </a:r>
          </a:p>
          <a:p>
            <a:pPr marL="7429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Use INT8 for linear operations </a:t>
            </a:r>
          </a:p>
          <a:p>
            <a:pPr marL="7429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Use FP16 for attention map operations. </a:t>
            </a:r>
          </a:p>
          <a:p>
            <a:pPr marL="7429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Severely underutilizes resources.</a:t>
            </a:r>
          </a:p>
          <a:p>
            <a:pPr marL="285750" indent="-285750">
              <a:buFont typeface="Wingdings" panose="05000000000000000000" pitchFamily="2" charset="2"/>
              <a:buChar char="ü"/>
            </a:pPr>
            <a:r>
              <a:rPr lang="en-US" altLang="zh-CN" sz="1600" dirty="0">
                <a:solidFill>
                  <a:srgbClr val="FF0000"/>
                </a:solidFill>
                <a:latin typeface="Times New Roman" panose="02020603050405020304" pitchFamily="18" charset="0"/>
                <a:cs typeface="Times New Roman" panose="02020603050405020304" pitchFamily="18" charset="0"/>
              </a:rPr>
              <a:t>Challenge 3: Low Resource Utilization in Static Compilation for Online Compression  </a:t>
            </a:r>
          </a:p>
          <a:p>
            <a:pPr marL="7429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Static scheduling relies on offline operator latency prediction, which is unavailable during online </a:t>
            </a:r>
            <a:r>
              <a:rPr lang="en-US" altLang="zh-CN" sz="1600" dirty="0" err="1">
                <a:latin typeface="Times New Roman" panose="02020603050405020304" pitchFamily="18" charset="0"/>
                <a:cs typeface="Times New Roman" panose="02020603050405020304" pitchFamily="18" charset="0"/>
              </a:rPr>
              <a:t>sparsification</a:t>
            </a:r>
            <a:r>
              <a:rPr lang="en-US" altLang="zh-CN"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Dynamic scheduling, due to the limited performance of embedded CPUs on FPGAs and the complexity of sparse </a:t>
            </a:r>
            <a:r>
              <a:rPr lang="en-US" altLang="zh-CN" sz="1600" dirty="0" err="1">
                <a:latin typeface="Times New Roman" panose="02020603050405020304" pitchFamily="18" charset="0"/>
                <a:cs typeface="Times New Roman" panose="02020603050405020304" pitchFamily="18" charset="0"/>
              </a:rPr>
              <a:t>DiT</a:t>
            </a:r>
            <a:r>
              <a:rPr lang="en-US" altLang="zh-CN" sz="1600" dirty="0">
                <a:latin typeface="Times New Roman" panose="02020603050405020304" pitchFamily="18" charset="0"/>
                <a:cs typeface="Times New Roman" panose="02020603050405020304" pitchFamily="18" charset="0"/>
              </a:rPr>
              <a:t> structures, introduces unacceptable additional overhead. </a:t>
            </a:r>
            <a:endParaRPr lang="zh-CN" altLang="en-US" sz="160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88B0C4B7-9839-DD44-61BD-EEA617B7C0CF}"/>
              </a:ext>
            </a:extLst>
          </p:cNvPr>
          <p:cNvPicPr>
            <a:picLocks noChangeAspect="1"/>
          </p:cNvPicPr>
          <p:nvPr/>
        </p:nvPicPr>
        <p:blipFill>
          <a:blip r:embed="rId3"/>
          <a:stretch>
            <a:fillRect/>
          </a:stretch>
        </p:blipFill>
        <p:spPr>
          <a:xfrm>
            <a:off x="264125" y="1199839"/>
            <a:ext cx="3191320" cy="4458322"/>
          </a:xfrm>
          <a:prstGeom prst="rect">
            <a:avLst/>
          </a:prstGeom>
        </p:spPr>
      </p:pic>
    </p:spTree>
    <p:extLst>
      <p:ext uri="{BB962C8B-B14F-4D97-AF65-F5344CB8AC3E}">
        <p14:creationId xmlns:p14="http://schemas.microsoft.com/office/powerpoint/2010/main" val="2775387473"/>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903EF8C-13D3-422C-9C3F-5EECC23210A7}"/>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66D773D4-1EAF-4F9F-8F72-7F1400FEED3D}"/>
              </a:ext>
            </a:extLst>
          </p:cNvPr>
          <p:cNvGrpSpPr/>
          <p:nvPr/>
        </p:nvGrpSpPr>
        <p:grpSpPr>
          <a:xfrm>
            <a:off x="2476503" y="3407470"/>
            <a:ext cx="4487372" cy="494767"/>
            <a:chOff x="2254250" y="3340100"/>
            <a:chExt cx="4811810" cy="712614"/>
          </a:xfrm>
        </p:grpSpPr>
        <p:sp>
          <p:nvSpPr>
            <p:cNvPr id="27"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1215BA3E-7692-4205-997B-ABC7094D720C}"/>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Challenge</a:t>
              </a:r>
            </a:p>
          </p:txBody>
        </p:sp>
        <p:sp>
          <p:nvSpPr>
            <p:cNvPr id="28"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Arial"/>
                  <a:ea typeface="微软雅黑"/>
                </a:rPr>
                <a:t>三</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 name="组合 1">
            <a:extLst>
              <a:ext uri="{FF2B5EF4-FFF2-40B4-BE49-F238E27FC236}">
                <a16:creationId xmlns:a16="http://schemas.microsoft.com/office/drawing/2014/main" id="{37694966-2907-4426-A062-130A961177FE}"/>
              </a:ext>
            </a:extLst>
          </p:cNvPr>
          <p:cNvGrpSpPr/>
          <p:nvPr/>
        </p:nvGrpSpPr>
        <p:grpSpPr>
          <a:xfrm>
            <a:off x="2476502" y="4767077"/>
            <a:ext cx="4487372" cy="494767"/>
            <a:chOff x="2254250" y="4293307"/>
            <a:chExt cx="4635500" cy="712614"/>
          </a:xfrm>
        </p:grpSpPr>
        <p:sp>
          <p:nvSpPr>
            <p:cNvPr id="30" name="矩形: 圆角 29">
              <a:extLst>
                <a:ext uri="{FF2B5EF4-FFF2-40B4-BE49-F238E27FC236}">
                  <a16:creationId xmlns:a16="http://schemas.microsoft.com/office/drawing/2014/main" id="{6E6D3661-6F3C-42F9-943D-06B5502C0D49}"/>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89370DE9-AA64-4B9B-B0D7-52179A05A705}"/>
                </a:ext>
              </a:extLst>
            </p:cNvPr>
            <p:cNvSpPr txBox="1"/>
            <p:nvPr/>
          </p:nvSpPr>
          <p:spPr>
            <a:xfrm>
              <a:off x="2874435" y="4315015"/>
              <a:ext cx="3728366" cy="664938"/>
            </a:xfrm>
            <a:prstGeom prst="rect">
              <a:avLst/>
            </a:prstGeom>
            <a:noFill/>
          </p:spPr>
          <p:txBody>
            <a:bodyPr wrap="square">
              <a:spAutoFit/>
            </a:bodyPr>
            <a:lstStyle/>
            <a:p>
              <a:pPr>
                <a:defRPr/>
              </a:pPr>
              <a:r>
                <a:rPr lang="en-US" altLang="zh-CN" sz="2400" b="1" dirty="0">
                  <a:solidFill>
                    <a:schemeClr val="accent2"/>
                  </a:solidFill>
                  <a:latin typeface="Arial"/>
                  <a:ea typeface="微软雅黑"/>
                </a:rPr>
                <a:t>Evaluation</a:t>
              </a:r>
            </a:p>
          </p:txBody>
        </p:sp>
        <p:sp>
          <p:nvSpPr>
            <p:cNvPr id="31" name="矩形: 圆角 30">
              <a:extLst>
                <a:ext uri="{FF2B5EF4-FFF2-40B4-BE49-F238E27FC236}">
                  <a16:creationId xmlns:a16="http://schemas.microsoft.com/office/drawing/2014/main" id="{6853312C-FE7E-43A1-8259-2E8524987954}"/>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五</a:t>
              </a:r>
            </a:p>
          </p:txBody>
        </p:sp>
      </p:grpSp>
      <p:pic>
        <p:nvPicPr>
          <p:cNvPr id="35" name="图片 34">
            <a:extLst>
              <a:ext uri="{FF2B5EF4-FFF2-40B4-BE49-F238E27FC236}">
                <a16:creationId xmlns:a16="http://schemas.microsoft.com/office/drawing/2014/main" id="{B3D4F314-124A-40B2-A730-A29E4C6616E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F02B1E6C-1DF5-4B5B-8154-6A921C91B413}"/>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Arial"/>
                <a:ea typeface="微软雅黑"/>
                <a:cs typeface="+mn-cs"/>
              </a:rPr>
              <a:t>Content</a:t>
            </a:r>
            <a:endParaRPr kumimoji="0" lang="zh-CN" altLang="en-US" sz="4800" b="1" i="0" u="none" strike="noStrike" kern="1200" cap="none" spc="600" normalizeH="0" baseline="0" noProof="0" dirty="0">
              <a:ln>
                <a:noFill/>
              </a:ln>
              <a:solidFill>
                <a:srgbClr val="082E72"/>
              </a:solidFill>
              <a:effectLst/>
              <a:uLnTx/>
              <a:uFillTx/>
              <a:latin typeface="Arial"/>
              <a:ea typeface="微软雅黑"/>
              <a:cs typeface="+mn-cs"/>
            </a:endParaRPr>
          </a:p>
        </p:txBody>
      </p:sp>
      <p:grpSp>
        <p:nvGrpSpPr>
          <p:cNvPr id="32" name="组合 31">
            <a:extLst>
              <a:ext uri="{FF2B5EF4-FFF2-40B4-BE49-F238E27FC236}">
                <a16:creationId xmlns:a16="http://schemas.microsoft.com/office/drawing/2014/main" id="{66D773D4-1EAF-4F9F-8F72-7F1400FEED3D}"/>
              </a:ext>
            </a:extLst>
          </p:cNvPr>
          <p:cNvGrpSpPr/>
          <p:nvPr/>
        </p:nvGrpSpPr>
        <p:grpSpPr>
          <a:xfrm>
            <a:off x="2476504" y="2725921"/>
            <a:ext cx="4487372" cy="494767"/>
            <a:chOff x="2254250" y="3340100"/>
            <a:chExt cx="4811810" cy="712614"/>
          </a:xfrm>
        </p:grpSpPr>
        <p:sp>
          <p:nvSpPr>
            <p:cNvPr id="33"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7"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二</a:t>
              </a:r>
            </a:p>
          </p:txBody>
        </p:sp>
      </p:grpSp>
      <p:grpSp>
        <p:nvGrpSpPr>
          <p:cNvPr id="21" name="组合 20">
            <a:extLst>
              <a:ext uri="{FF2B5EF4-FFF2-40B4-BE49-F238E27FC236}">
                <a16:creationId xmlns:a16="http://schemas.microsoft.com/office/drawing/2014/main" id="{F903167E-F437-400B-8A0D-F2E6B88BA5DE}"/>
              </a:ext>
            </a:extLst>
          </p:cNvPr>
          <p:cNvGrpSpPr/>
          <p:nvPr/>
        </p:nvGrpSpPr>
        <p:grpSpPr>
          <a:xfrm>
            <a:off x="2476502" y="4092512"/>
            <a:ext cx="4487373" cy="494767"/>
            <a:chOff x="2254250" y="2386893"/>
            <a:chExt cx="4635500" cy="712614"/>
          </a:xfrm>
        </p:grpSpPr>
        <p:sp>
          <p:nvSpPr>
            <p:cNvPr id="38" name="矩形: 圆角 40">
              <a:extLst>
                <a:ext uri="{FF2B5EF4-FFF2-40B4-BE49-F238E27FC236}">
                  <a16:creationId xmlns:a16="http://schemas.microsoft.com/office/drawing/2014/main" id="{ABF40475-9EC0-4D47-B264-39E638B68E01}"/>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AF45E508-A19F-4202-BB28-E21D9F4E7C8B}"/>
                </a:ext>
              </a:extLst>
            </p:cNvPr>
            <p:cNvSpPr txBox="1"/>
            <p:nvPr/>
          </p:nvSpPr>
          <p:spPr>
            <a:xfrm>
              <a:off x="2898024" y="2410730"/>
              <a:ext cx="3800641" cy="664937"/>
            </a:xfrm>
            <a:prstGeom prst="rect">
              <a:avLst/>
            </a:prstGeom>
            <a:noFill/>
          </p:spPr>
          <p:txBody>
            <a:bodyPr wrap="square">
              <a:spAutoFit/>
            </a:bodyPr>
            <a:lstStyle/>
            <a:p>
              <a:pPr lvl="0">
                <a:defRPr/>
              </a:pPr>
              <a:r>
                <a:rPr lang="en-US" altLang="zh-CN" sz="2400" b="1" dirty="0" err="1">
                  <a:solidFill>
                    <a:srgbClr val="FFFFFF"/>
                  </a:solidFill>
                </a:rPr>
                <a:t>FlightVGM</a:t>
              </a:r>
              <a:endParaRPr lang="en-US" altLang="zh-CN" sz="2400" b="1" dirty="0">
                <a:solidFill>
                  <a:srgbClr val="FFFFFF"/>
                </a:solidFill>
              </a:endParaRPr>
            </a:p>
          </p:txBody>
        </p:sp>
        <p:sp>
          <p:nvSpPr>
            <p:cNvPr id="40" name="矩形: 圆角 42">
              <a:extLst>
                <a:ext uri="{FF2B5EF4-FFF2-40B4-BE49-F238E27FC236}">
                  <a16:creationId xmlns:a16="http://schemas.microsoft.com/office/drawing/2014/main" id="{ED033169-BE0B-4F71-9E1E-894B8CF2C89A}"/>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rPr>
                <a:t>四</a:t>
              </a:r>
            </a:p>
          </p:txBody>
        </p:sp>
      </p:grpSp>
      <p:sp>
        <p:nvSpPr>
          <p:cNvPr id="3" name="文本框 2">
            <a:extLst>
              <a:ext uri="{FF2B5EF4-FFF2-40B4-BE49-F238E27FC236}">
                <a16:creationId xmlns:a16="http://schemas.microsoft.com/office/drawing/2014/main" id="{DE1F79F8-8A5C-B9E9-B2B4-C002E211124D}"/>
              </a:ext>
            </a:extLst>
          </p:cNvPr>
          <p:cNvSpPr txBox="1"/>
          <p:nvPr/>
        </p:nvSpPr>
        <p:spPr>
          <a:xfrm>
            <a:off x="3076869" y="2739467"/>
            <a:ext cx="4087315" cy="461665"/>
          </a:xfrm>
          <a:prstGeom prst="rect">
            <a:avLst/>
          </a:prstGeom>
          <a:noFill/>
        </p:spPr>
        <p:txBody>
          <a:bodyPr wrap="square">
            <a:spAutoFit/>
          </a:bodyPr>
          <a:lstStyle/>
          <a:p>
            <a:pPr lvl="0">
              <a:defRPr/>
            </a:pPr>
            <a:r>
              <a:rPr lang="en-US" altLang="zh-CN" sz="2400" b="1" dirty="0" err="1">
                <a:solidFill>
                  <a:schemeClr val="accent2"/>
                </a:solidFill>
              </a:rPr>
              <a:t>BackGround</a:t>
            </a:r>
            <a:r>
              <a:rPr lang="en-US" altLang="zh-CN" sz="2400" b="1" dirty="0">
                <a:solidFill>
                  <a:schemeClr val="accent2"/>
                </a:solidFill>
              </a:rPr>
              <a:t> &amp; Motivation</a:t>
            </a:r>
          </a:p>
        </p:txBody>
      </p:sp>
      <p:grpSp>
        <p:nvGrpSpPr>
          <p:cNvPr id="11" name="组合 10">
            <a:extLst>
              <a:ext uri="{FF2B5EF4-FFF2-40B4-BE49-F238E27FC236}">
                <a16:creationId xmlns:a16="http://schemas.microsoft.com/office/drawing/2014/main" id="{40AE37FC-664D-98F8-C0A7-0A6FF148E558}"/>
              </a:ext>
            </a:extLst>
          </p:cNvPr>
          <p:cNvGrpSpPr/>
          <p:nvPr/>
        </p:nvGrpSpPr>
        <p:grpSpPr>
          <a:xfrm>
            <a:off x="2476502" y="2040879"/>
            <a:ext cx="4487372" cy="494767"/>
            <a:chOff x="2254250" y="3340100"/>
            <a:chExt cx="4811810" cy="712614"/>
          </a:xfrm>
        </p:grpSpPr>
        <p:sp>
          <p:nvSpPr>
            <p:cNvPr id="12" name="矩形: 圆角 11">
              <a:extLst>
                <a:ext uri="{FF2B5EF4-FFF2-40B4-BE49-F238E27FC236}">
                  <a16:creationId xmlns:a16="http://schemas.microsoft.com/office/drawing/2014/main" id="{76D997D2-7A29-B398-A3C5-5947265FF039}"/>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39E69941-F7B3-8E3B-55DE-2838BAB4308D}"/>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Previous Work</a:t>
              </a:r>
            </a:p>
          </p:txBody>
        </p:sp>
        <p:sp>
          <p:nvSpPr>
            <p:cNvPr id="14" name="矩形: 圆角 13">
              <a:extLst>
                <a:ext uri="{FF2B5EF4-FFF2-40B4-BE49-F238E27FC236}">
                  <a16:creationId xmlns:a16="http://schemas.microsoft.com/office/drawing/2014/main" id="{5BAD0A7F-C731-6777-D77D-990726F7BE02}"/>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一</a:t>
              </a:r>
            </a:p>
          </p:txBody>
        </p:sp>
      </p:grpSp>
      <p:grpSp>
        <p:nvGrpSpPr>
          <p:cNvPr id="9" name="组合 8">
            <a:extLst>
              <a:ext uri="{FF2B5EF4-FFF2-40B4-BE49-F238E27FC236}">
                <a16:creationId xmlns:a16="http://schemas.microsoft.com/office/drawing/2014/main" id="{DE0572F3-1C4E-5411-6192-162C7DFEEB0D}"/>
              </a:ext>
            </a:extLst>
          </p:cNvPr>
          <p:cNvGrpSpPr/>
          <p:nvPr/>
        </p:nvGrpSpPr>
        <p:grpSpPr>
          <a:xfrm>
            <a:off x="2476502" y="5452119"/>
            <a:ext cx="4487372" cy="494767"/>
            <a:chOff x="2254250" y="4293307"/>
            <a:chExt cx="4635500" cy="712614"/>
          </a:xfrm>
        </p:grpSpPr>
        <p:sp>
          <p:nvSpPr>
            <p:cNvPr id="10" name="矩形: 圆角 9">
              <a:extLst>
                <a:ext uri="{FF2B5EF4-FFF2-40B4-BE49-F238E27FC236}">
                  <a16:creationId xmlns:a16="http://schemas.microsoft.com/office/drawing/2014/main" id="{6153F4FF-C377-2144-8559-D439255DEF3F}"/>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5" name="文本框 14">
              <a:extLst>
                <a:ext uri="{FF2B5EF4-FFF2-40B4-BE49-F238E27FC236}">
                  <a16:creationId xmlns:a16="http://schemas.microsoft.com/office/drawing/2014/main" id="{505C0E8E-287E-4F94-9D0C-3E0A9C27F24E}"/>
                </a:ext>
              </a:extLst>
            </p:cNvPr>
            <p:cNvSpPr txBox="1"/>
            <p:nvPr/>
          </p:nvSpPr>
          <p:spPr>
            <a:xfrm>
              <a:off x="2874435" y="4315015"/>
              <a:ext cx="3728366" cy="664938"/>
            </a:xfrm>
            <a:prstGeom prst="rect">
              <a:avLst/>
            </a:prstGeom>
            <a:noFill/>
          </p:spPr>
          <p:txBody>
            <a:bodyPr wrap="square">
              <a:spAutoFit/>
            </a:bodyPr>
            <a:lstStyle/>
            <a:p>
              <a:pPr lvl="0">
                <a:defRPr/>
              </a:pPr>
              <a:r>
                <a:rPr lang="en-US" altLang="zh-CN" sz="2400" b="1" dirty="0">
                  <a:solidFill>
                    <a:srgbClr val="082E72"/>
                  </a:solidFill>
                </a:rPr>
                <a:t>Exploration</a:t>
              </a:r>
            </a:p>
          </p:txBody>
        </p:sp>
        <p:sp>
          <p:nvSpPr>
            <p:cNvPr id="16" name="矩形: 圆角 15">
              <a:extLst>
                <a:ext uri="{FF2B5EF4-FFF2-40B4-BE49-F238E27FC236}">
                  <a16:creationId xmlns:a16="http://schemas.microsoft.com/office/drawing/2014/main" id="{63117EFA-0312-DE9A-45F4-8628AF1AFE15}"/>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六</a:t>
              </a:r>
            </a:p>
          </p:txBody>
        </p:sp>
      </p:grpSp>
    </p:spTree>
    <p:extLst>
      <p:ext uri="{BB962C8B-B14F-4D97-AF65-F5344CB8AC3E}">
        <p14:creationId xmlns:p14="http://schemas.microsoft.com/office/powerpoint/2010/main" val="458818846"/>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60A8E-D062-4D53-887D-EC08846CA067}"/>
              </a:ext>
            </a:extLst>
          </p:cNvPr>
          <p:cNvSpPr>
            <a:spLocks noGrp="1"/>
          </p:cNvSpPr>
          <p:nvPr>
            <p:ph type="title"/>
          </p:nvPr>
        </p:nvSpPr>
        <p:spPr/>
        <p:txBody>
          <a:bodyPr>
            <a:normAutofit/>
          </a:bodyPr>
          <a:lstStyle/>
          <a:p>
            <a:r>
              <a:rPr lang="en-US" altLang="zh-CN" dirty="0" err="1"/>
              <a:t>FlightVGM</a:t>
            </a:r>
            <a:endParaRPr lang="zh-CN" altLang="en-US" dirty="0"/>
          </a:p>
        </p:txBody>
      </p:sp>
      <p:pic>
        <p:nvPicPr>
          <p:cNvPr id="3" name="图片 2">
            <a:extLst>
              <a:ext uri="{FF2B5EF4-FFF2-40B4-BE49-F238E27FC236}">
                <a16:creationId xmlns:a16="http://schemas.microsoft.com/office/drawing/2014/main" id="{9679A767-2544-22A8-3672-3424276323E2}"/>
              </a:ext>
            </a:extLst>
          </p:cNvPr>
          <p:cNvPicPr>
            <a:picLocks noChangeAspect="1"/>
          </p:cNvPicPr>
          <p:nvPr/>
        </p:nvPicPr>
        <p:blipFill>
          <a:blip r:embed="rId3"/>
          <a:stretch>
            <a:fillRect/>
          </a:stretch>
        </p:blipFill>
        <p:spPr>
          <a:xfrm>
            <a:off x="1349081" y="1137985"/>
            <a:ext cx="6032621" cy="5198203"/>
          </a:xfrm>
          <a:prstGeom prst="rect">
            <a:avLst/>
          </a:prstGeom>
        </p:spPr>
      </p:pic>
    </p:spTree>
    <p:extLst>
      <p:ext uri="{BB962C8B-B14F-4D97-AF65-F5344CB8AC3E}">
        <p14:creationId xmlns:p14="http://schemas.microsoft.com/office/powerpoint/2010/main" val="2386686196"/>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0E599-24DF-4553-A4F9-74788A2D699E}"/>
              </a:ext>
            </a:extLst>
          </p:cNvPr>
          <p:cNvSpPr>
            <a:spLocks noGrp="1"/>
          </p:cNvSpPr>
          <p:nvPr>
            <p:ph type="title"/>
          </p:nvPr>
        </p:nvSpPr>
        <p:spPr>
          <a:xfrm>
            <a:off x="2145030" y="254000"/>
            <a:ext cx="5277746" cy="517850"/>
          </a:xfrm>
        </p:spPr>
        <p:txBody>
          <a:bodyPr>
            <a:normAutofit/>
          </a:bodyPr>
          <a:lstStyle/>
          <a:p>
            <a:r>
              <a:rPr lang="en-US" altLang="zh-CN" dirty="0"/>
              <a:t>Objective</a:t>
            </a:r>
            <a:endParaRPr lang="zh-CN" altLang="en-US" dirty="0"/>
          </a:p>
        </p:txBody>
      </p:sp>
      <p:sp>
        <p:nvSpPr>
          <p:cNvPr id="14" name="椭圆 13">
            <a:extLst>
              <a:ext uri="{FF2B5EF4-FFF2-40B4-BE49-F238E27FC236}">
                <a16:creationId xmlns:a16="http://schemas.microsoft.com/office/drawing/2014/main" id="{BDAF421D-180A-46C2-A546-827AABFFB914}"/>
              </a:ext>
            </a:extLst>
          </p:cNvPr>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82E72"/>
                </a:solidFill>
                <a:effectLst/>
                <a:uLnTx/>
                <a:uFillTx/>
                <a:latin typeface="Arial"/>
                <a:ea typeface="微软雅黑"/>
                <a:cs typeface="+mn-cs"/>
              </a:rPr>
              <a:t>1</a:t>
            </a:r>
            <a:endParaRPr kumimoji="0" lang="zh-CN" altLang="en-US" sz="2000" b="1" i="0" u="none" strike="noStrike" kern="1200" cap="none" spc="0" normalizeH="0" baseline="0" noProof="0" dirty="0">
              <a:ln>
                <a:noFill/>
              </a:ln>
              <a:solidFill>
                <a:srgbClr val="082E72"/>
              </a:solidFill>
              <a:effectLst/>
              <a:uLnTx/>
              <a:uFillTx/>
              <a:latin typeface="Arial"/>
              <a:ea typeface="微软雅黑"/>
              <a:cs typeface="+mn-cs"/>
            </a:endParaRPr>
          </a:p>
        </p:txBody>
      </p:sp>
      <p:sp>
        <p:nvSpPr>
          <p:cNvPr id="16" name="文本框 15">
            <a:extLst>
              <a:ext uri="{FF2B5EF4-FFF2-40B4-BE49-F238E27FC236}">
                <a16:creationId xmlns:a16="http://schemas.microsoft.com/office/drawing/2014/main" id="{865FC186-B496-4154-A44E-2FC566730C3E}"/>
              </a:ext>
            </a:extLst>
          </p:cNvPr>
          <p:cNvSpPr txBox="1"/>
          <p:nvPr/>
        </p:nvSpPr>
        <p:spPr>
          <a:xfrm>
            <a:off x="1" y="295242"/>
            <a:ext cx="1587500"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srgbClr val="FFFFFF"/>
                </a:solidFill>
                <a:effectLst/>
                <a:uLnTx/>
                <a:uFillTx/>
                <a:latin typeface="Arial"/>
                <a:ea typeface="微软雅黑"/>
                <a:cs typeface="+mn-cs"/>
              </a:rPr>
              <a:t>FlightVGM</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333C8001-8BC2-0873-CDBF-027433E83BB0}"/>
              </a:ext>
            </a:extLst>
          </p:cNvPr>
          <p:cNvSpPr txBox="1"/>
          <p:nvPr/>
        </p:nvSpPr>
        <p:spPr>
          <a:xfrm>
            <a:off x="0" y="930447"/>
            <a:ext cx="4946074" cy="5909310"/>
          </a:xfrm>
          <a:prstGeom prst="rect">
            <a:avLst/>
          </a:prstGeom>
          <a:noFill/>
        </p:spPr>
        <p:txBody>
          <a:bodyPr wrap="square" rtlCol="0">
            <a:spAutoFit/>
          </a:bodyPr>
          <a:lstStyle/>
          <a:p>
            <a:pPr marL="342900" indent="-342900">
              <a:buFont typeface="Wingdings" panose="05000000000000000000" pitchFamily="2" charset="2"/>
              <a:buChar char="ü"/>
            </a:pPr>
            <a:r>
              <a:rPr lang="en-US" altLang="zh-CN" b="1" dirty="0">
                <a:solidFill>
                  <a:schemeClr val="accent3">
                    <a:lumMod val="75000"/>
                  </a:schemeClr>
                </a:solidFill>
                <a:latin typeface="Times New Roman" panose="02020603050405020304" pitchFamily="18" charset="0"/>
                <a:cs typeface="Times New Roman" panose="02020603050405020304" pitchFamily="18" charset="0"/>
              </a:rPr>
              <a:t>Reduction of Computational Cost (Computation Reduction, CR) </a:t>
            </a:r>
          </a:p>
          <a:p>
            <a:pPr marL="800100" lvl="1" indent="-34290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Customized </a:t>
            </a:r>
            <a:r>
              <a:rPr lang="en-US" altLang="zh-CN" dirty="0" err="1">
                <a:latin typeface="Times New Roman" panose="02020603050405020304" pitchFamily="18" charset="0"/>
                <a:cs typeface="Times New Roman" panose="02020603050405020304" pitchFamily="18" charset="0"/>
              </a:rPr>
              <a:t>sparsification</a:t>
            </a:r>
            <a:r>
              <a:rPr lang="en-US" altLang="zh-CN" dirty="0">
                <a:latin typeface="Times New Roman" panose="02020603050405020304" pitchFamily="18" charset="0"/>
                <a:cs typeface="Times New Roman" panose="02020603050405020304" pitchFamily="18" charset="0"/>
              </a:rPr>
              <a:t> unit and recovery unit monitor the similarity of activations at runtime</a:t>
            </a:r>
          </a:p>
          <a:p>
            <a:pPr marL="800100" lvl="1" indent="-34290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Dynamically discarding redundant computations.</a:t>
            </a:r>
          </a:p>
          <a:p>
            <a:pPr marL="342900" indent="-342900">
              <a:buFont typeface="Wingdings" panose="05000000000000000000" pitchFamily="2" charset="2"/>
              <a:buChar char="ü"/>
            </a:pPr>
            <a:r>
              <a:rPr lang="en-US" altLang="zh-CN" b="1" dirty="0">
                <a:solidFill>
                  <a:schemeClr val="accent3">
                    <a:lumMod val="75000"/>
                  </a:schemeClr>
                </a:solidFill>
                <a:latin typeface="Times New Roman" panose="02020603050405020304" pitchFamily="18" charset="0"/>
                <a:cs typeface="Times New Roman" panose="02020603050405020304" pitchFamily="18" charset="0"/>
              </a:rPr>
              <a:t>Improvement of Peak Computational Performance (PCP)</a:t>
            </a:r>
          </a:p>
          <a:p>
            <a:pPr marL="800100" lvl="1" indent="-34290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Construct a hybrid FP16-INT8 DSP58 expansion architecture</a:t>
            </a:r>
          </a:p>
          <a:p>
            <a:pPr marL="342900" indent="-342900">
              <a:buFont typeface="Wingdings" panose="05000000000000000000" pitchFamily="2" charset="2"/>
              <a:buChar char="ü"/>
            </a:pPr>
            <a:r>
              <a:rPr lang="en-US" altLang="zh-CN" b="1" dirty="0">
                <a:solidFill>
                  <a:schemeClr val="accent3">
                    <a:lumMod val="75000"/>
                  </a:schemeClr>
                </a:solidFill>
                <a:latin typeface="Times New Roman" panose="02020603050405020304" pitchFamily="18" charset="0"/>
                <a:cs typeface="Times New Roman" panose="02020603050405020304" pitchFamily="18" charset="0"/>
              </a:rPr>
              <a:t>Enhancement of Computational Utilization (Utilization, Util)</a:t>
            </a:r>
          </a:p>
          <a:p>
            <a:pPr marL="800100" lvl="1" indent="-34290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Static compilation stage: performs operator fusion and weight quantization pre-processing </a:t>
            </a:r>
          </a:p>
          <a:p>
            <a:pPr marL="800100" lvl="1" indent="-34290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Dynamic scheduling stage: adjusts the execution order of operators in real time through early weight preloading and priority-based scheduling to maximize utilization.</a:t>
            </a:r>
            <a:endParaRPr lang="zh-CN" altLang="en-US"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51059A64-4A2A-5A4E-6E14-2616C7156C5A}"/>
              </a:ext>
            </a:extLst>
          </p:cNvPr>
          <p:cNvPicPr>
            <a:picLocks noChangeAspect="1"/>
          </p:cNvPicPr>
          <p:nvPr/>
        </p:nvPicPr>
        <p:blipFill>
          <a:blip r:embed="rId3"/>
          <a:stretch>
            <a:fillRect/>
          </a:stretch>
        </p:blipFill>
        <p:spPr>
          <a:xfrm>
            <a:off x="4946074" y="1667503"/>
            <a:ext cx="4088507" cy="3522994"/>
          </a:xfrm>
          <a:prstGeom prst="rect">
            <a:avLst/>
          </a:prstGeom>
        </p:spPr>
      </p:pic>
    </p:spTree>
    <p:extLst>
      <p:ext uri="{BB962C8B-B14F-4D97-AF65-F5344CB8AC3E}">
        <p14:creationId xmlns:p14="http://schemas.microsoft.com/office/powerpoint/2010/main" val="2726684354"/>
      </p:ext>
    </p:extLst>
  </p:cSld>
  <p:clrMapOvr>
    <a:masterClrMapping/>
  </p:clrMapOvr>
  <mc:AlternateContent xmlns:mc="http://schemas.openxmlformats.org/markup-compatibility/2006" xmlns:p14="http://schemas.microsoft.com/office/powerpoint/2010/main">
    <mc:Choice Requires="p14">
      <p:transition spd="slow" p14:dur="2000" advTm="33490"/>
    </mc:Choice>
    <mc:Fallback xmlns="">
      <p:transition spd="slow" advTm="3349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1AA26C1-54BD-305F-E099-16ED5DC08562}"/>
              </a:ext>
            </a:extLst>
          </p:cNvPr>
          <p:cNvPicPr>
            <a:picLocks noChangeAspect="1"/>
          </p:cNvPicPr>
          <p:nvPr/>
        </p:nvPicPr>
        <p:blipFill>
          <a:blip r:embed="rId3"/>
          <a:srcRect t="33581"/>
          <a:stretch/>
        </p:blipFill>
        <p:spPr>
          <a:xfrm>
            <a:off x="2010723" y="920387"/>
            <a:ext cx="4880612" cy="2793281"/>
          </a:xfrm>
          <a:prstGeom prst="rect">
            <a:avLst/>
          </a:prstGeom>
        </p:spPr>
      </p:pic>
      <p:sp>
        <p:nvSpPr>
          <p:cNvPr id="2" name="标题 1">
            <a:extLst>
              <a:ext uri="{FF2B5EF4-FFF2-40B4-BE49-F238E27FC236}">
                <a16:creationId xmlns:a16="http://schemas.microsoft.com/office/drawing/2014/main" id="{3A00E599-24DF-4553-A4F9-74788A2D699E}"/>
              </a:ext>
            </a:extLst>
          </p:cNvPr>
          <p:cNvSpPr>
            <a:spLocks noGrp="1"/>
          </p:cNvSpPr>
          <p:nvPr>
            <p:ph type="title"/>
          </p:nvPr>
        </p:nvSpPr>
        <p:spPr>
          <a:xfrm>
            <a:off x="2145030" y="254000"/>
            <a:ext cx="5277746" cy="517850"/>
          </a:xfrm>
        </p:spPr>
        <p:txBody>
          <a:bodyPr>
            <a:normAutofit/>
          </a:bodyPr>
          <a:lstStyle/>
          <a:p>
            <a:r>
              <a:rPr lang="en-US" altLang="zh-CN" dirty="0"/>
              <a:t>Architecture</a:t>
            </a:r>
            <a:endParaRPr lang="zh-CN" altLang="en-US" dirty="0"/>
          </a:p>
        </p:txBody>
      </p:sp>
      <p:sp>
        <p:nvSpPr>
          <p:cNvPr id="14" name="椭圆 13">
            <a:extLst>
              <a:ext uri="{FF2B5EF4-FFF2-40B4-BE49-F238E27FC236}">
                <a16:creationId xmlns:a16="http://schemas.microsoft.com/office/drawing/2014/main" id="{BDAF421D-180A-46C2-A546-827AABFFB914}"/>
              </a:ext>
            </a:extLst>
          </p:cNvPr>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a:ea typeface="微软雅黑"/>
              </a:rPr>
              <a:t>2</a:t>
            </a:r>
            <a:endParaRPr kumimoji="0" lang="zh-CN" altLang="en-US" sz="2000" b="1" i="0" u="none" strike="noStrike" kern="1200" cap="none" spc="0" normalizeH="0" baseline="0" noProof="0" dirty="0">
              <a:ln>
                <a:noFill/>
              </a:ln>
              <a:solidFill>
                <a:srgbClr val="082E72"/>
              </a:solidFill>
              <a:effectLst/>
              <a:uLnTx/>
              <a:uFillTx/>
              <a:latin typeface="Arial"/>
              <a:ea typeface="微软雅黑"/>
              <a:cs typeface="+mn-cs"/>
            </a:endParaRPr>
          </a:p>
        </p:txBody>
      </p:sp>
      <p:sp>
        <p:nvSpPr>
          <p:cNvPr id="16" name="文本框 15">
            <a:extLst>
              <a:ext uri="{FF2B5EF4-FFF2-40B4-BE49-F238E27FC236}">
                <a16:creationId xmlns:a16="http://schemas.microsoft.com/office/drawing/2014/main" id="{865FC186-B496-4154-A44E-2FC566730C3E}"/>
              </a:ext>
            </a:extLst>
          </p:cNvPr>
          <p:cNvSpPr txBox="1"/>
          <p:nvPr/>
        </p:nvSpPr>
        <p:spPr>
          <a:xfrm>
            <a:off x="1" y="295242"/>
            <a:ext cx="1587500"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srgbClr val="FFFFFF"/>
                </a:solidFill>
                <a:effectLst/>
                <a:uLnTx/>
                <a:uFillTx/>
                <a:latin typeface="Arial"/>
                <a:ea typeface="微软雅黑"/>
                <a:cs typeface="+mn-cs"/>
              </a:rPr>
              <a:t>FlightVGM</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4" name="文本框 3">
            <a:extLst>
              <a:ext uri="{FF2B5EF4-FFF2-40B4-BE49-F238E27FC236}">
                <a16:creationId xmlns:a16="http://schemas.microsoft.com/office/drawing/2014/main" id="{CFA191D1-1EEE-4CF8-FDA5-D576DE2345E4}"/>
              </a:ext>
            </a:extLst>
          </p:cNvPr>
          <p:cNvSpPr txBox="1"/>
          <p:nvPr/>
        </p:nvSpPr>
        <p:spPr>
          <a:xfrm>
            <a:off x="207382" y="3524751"/>
            <a:ext cx="8487295" cy="2646878"/>
          </a:xfrm>
          <a:prstGeom prst="rect">
            <a:avLst/>
          </a:prstGeom>
          <a:noFill/>
        </p:spPr>
        <p:txBody>
          <a:bodyPr wrap="square" rtlCol="0">
            <a:spAutoFit/>
          </a:bodyPr>
          <a:lstStyle/>
          <a:p>
            <a:pPr marL="342900" indent="-342900">
              <a:buFont typeface="Wingdings" panose="05000000000000000000" pitchFamily="2" charset="2"/>
              <a:buChar char="ü"/>
            </a:pPr>
            <a:r>
              <a:rPr lang="en-US" altLang="zh-CN" b="1" dirty="0">
                <a:solidFill>
                  <a:schemeClr val="accent3">
                    <a:lumMod val="75000"/>
                  </a:schemeClr>
                </a:solidFill>
                <a:latin typeface="Times New Roman" panose="02020603050405020304" pitchFamily="18" charset="0"/>
                <a:cs typeface="Times New Roman" panose="02020603050405020304" pitchFamily="18" charset="0"/>
              </a:rPr>
              <a:t>Embedded CPU: </a:t>
            </a:r>
          </a:p>
          <a:p>
            <a:pPr marL="7429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Provides online scheduling capabilities, dynamically assigning operator execution in real time to ensure load balancing.</a:t>
            </a:r>
            <a:endParaRPr lang="en-US" altLang="zh-CN" sz="1600" b="1" dirty="0">
              <a:solidFill>
                <a:schemeClr val="accent3">
                  <a:lumMod val="7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altLang="zh-CN" b="1" dirty="0">
                <a:solidFill>
                  <a:schemeClr val="accent3">
                    <a:lumMod val="75000"/>
                  </a:schemeClr>
                </a:solidFill>
                <a:latin typeface="Times New Roman" panose="02020603050405020304" pitchFamily="18" charset="0"/>
                <a:cs typeface="Times New Roman" panose="02020603050405020304" pitchFamily="18" charset="0"/>
              </a:rPr>
              <a:t>Off-chip Memory: </a:t>
            </a:r>
          </a:p>
          <a:p>
            <a:pPr marL="7429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Combines high-speed (HBM) and high-capacity (DDR) memory, which communicates with the FPGA internally via a Memory Controller.</a:t>
            </a:r>
            <a:endParaRPr lang="en-US" altLang="zh-CN" sz="1600" b="1" dirty="0">
              <a:solidFill>
                <a:schemeClr val="accent3">
                  <a:lumMod val="7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altLang="zh-CN" b="1" dirty="0">
                <a:solidFill>
                  <a:schemeClr val="accent3">
                    <a:lumMod val="75000"/>
                  </a:schemeClr>
                </a:solidFill>
                <a:latin typeface="Times New Roman" panose="02020603050405020304" pitchFamily="18" charset="0"/>
                <a:cs typeface="Times New Roman" panose="02020603050405020304" pitchFamily="18" charset="0"/>
              </a:rPr>
              <a:t>On-chip Execution Unit: </a:t>
            </a:r>
          </a:p>
          <a:p>
            <a:pPr marL="742950" lvl="1"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Divided into multiple computing cores (SLRs), each integrating functional modules such as the </a:t>
            </a:r>
            <a:r>
              <a:rPr lang="en-US" altLang="zh-CN" sz="1600" dirty="0" err="1">
                <a:latin typeface="Times New Roman" panose="02020603050405020304" pitchFamily="18" charset="0"/>
                <a:cs typeface="Times New Roman" panose="02020603050405020304" pitchFamily="18" charset="0"/>
              </a:rPr>
              <a:t>Sparsification</a:t>
            </a:r>
            <a:r>
              <a:rPr lang="en-US" altLang="zh-CN" sz="1600" dirty="0">
                <a:latin typeface="Times New Roman" panose="02020603050405020304" pitchFamily="18" charset="0"/>
                <a:cs typeface="Times New Roman" panose="02020603050405020304" pitchFamily="18" charset="0"/>
              </a:rPr>
              <a:t> Unit (SU), Matrix Processing Engine (MPE), Recovery Unit (RU), and Special Function Unit (SFU), with data flow managed centrally by the MMU.</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4693369"/>
      </p:ext>
    </p:extLst>
  </p:cSld>
  <p:clrMapOvr>
    <a:masterClrMapping/>
  </p:clrMapOvr>
  <mc:AlternateContent xmlns:mc="http://schemas.openxmlformats.org/markup-compatibility/2006" xmlns:p14="http://schemas.microsoft.com/office/powerpoint/2010/main">
    <mc:Choice Requires="p14">
      <p:transition spd="slow" p14:dur="2000" advTm="33490"/>
    </mc:Choice>
    <mc:Fallback xmlns="">
      <p:transition spd="slow" advTm="3349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0E599-24DF-4553-A4F9-74788A2D699E}"/>
              </a:ext>
            </a:extLst>
          </p:cNvPr>
          <p:cNvSpPr>
            <a:spLocks noGrp="1"/>
          </p:cNvSpPr>
          <p:nvPr>
            <p:ph type="title"/>
          </p:nvPr>
        </p:nvSpPr>
        <p:spPr>
          <a:xfrm>
            <a:off x="2145030" y="254000"/>
            <a:ext cx="6766214" cy="517850"/>
          </a:xfrm>
        </p:spPr>
        <p:txBody>
          <a:bodyPr>
            <a:normAutofit fontScale="90000"/>
          </a:bodyPr>
          <a:lstStyle/>
          <a:p>
            <a:r>
              <a:rPr lang="en-US" altLang="zh-CN" dirty="0"/>
              <a:t>Spatial-Temporal Activation </a:t>
            </a:r>
            <a:r>
              <a:rPr lang="en-US" altLang="zh-CN" dirty="0" err="1"/>
              <a:t>Sparsification</a:t>
            </a:r>
            <a:endParaRPr lang="zh-CN" altLang="en-US" dirty="0"/>
          </a:p>
        </p:txBody>
      </p:sp>
      <p:sp>
        <p:nvSpPr>
          <p:cNvPr id="14" name="椭圆 13">
            <a:extLst>
              <a:ext uri="{FF2B5EF4-FFF2-40B4-BE49-F238E27FC236}">
                <a16:creationId xmlns:a16="http://schemas.microsoft.com/office/drawing/2014/main" id="{BDAF421D-180A-46C2-A546-827AABFFB914}"/>
              </a:ext>
            </a:extLst>
          </p:cNvPr>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82E72"/>
                </a:solidFill>
                <a:effectLst/>
                <a:uLnTx/>
                <a:uFillTx/>
                <a:latin typeface="Arial"/>
                <a:ea typeface="微软雅黑"/>
                <a:cs typeface="+mn-cs"/>
              </a:rPr>
              <a:t>3</a:t>
            </a:r>
            <a:endParaRPr kumimoji="0" lang="zh-CN" altLang="en-US" sz="2000" b="1" i="0" u="none" strike="noStrike" kern="1200" cap="none" spc="0" normalizeH="0" baseline="0" noProof="0" dirty="0">
              <a:ln>
                <a:noFill/>
              </a:ln>
              <a:solidFill>
                <a:srgbClr val="082E72"/>
              </a:solidFill>
              <a:effectLst/>
              <a:uLnTx/>
              <a:uFillTx/>
              <a:latin typeface="Arial"/>
              <a:ea typeface="微软雅黑"/>
              <a:cs typeface="+mn-cs"/>
            </a:endParaRPr>
          </a:p>
        </p:txBody>
      </p:sp>
      <p:sp>
        <p:nvSpPr>
          <p:cNvPr id="16" name="文本框 15">
            <a:extLst>
              <a:ext uri="{FF2B5EF4-FFF2-40B4-BE49-F238E27FC236}">
                <a16:creationId xmlns:a16="http://schemas.microsoft.com/office/drawing/2014/main" id="{865FC186-B496-4154-A44E-2FC566730C3E}"/>
              </a:ext>
            </a:extLst>
          </p:cNvPr>
          <p:cNvSpPr txBox="1"/>
          <p:nvPr/>
        </p:nvSpPr>
        <p:spPr>
          <a:xfrm>
            <a:off x="1" y="295242"/>
            <a:ext cx="1587500"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srgbClr val="FFFFFF"/>
                </a:solidFill>
                <a:effectLst/>
                <a:uLnTx/>
                <a:uFillTx/>
                <a:latin typeface="Arial"/>
                <a:ea typeface="微软雅黑"/>
                <a:cs typeface="+mn-cs"/>
              </a:rPr>
              <a:t>FlightVGM</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pic>
        <p:nvPicPr>
          <p:cNvPr id="3" name="图片 2">
            <a:extLst>
              <a:ext uri="{FF2B5EF4-FFF2-40B4-BE49-F238E27FC236}">
                <a16:creationId xmlns:a16="http://schemas.microsoft.com/office/drawing/2014/main" id="{68EDA42D-0ACE-3DFF-7184-26D8137780F9}"/>
              </a:ext>
            </a:extLst>
          </p:cNvPr>
          <p:cNvPicPr>
            <a:picLocks noChangeAspect="1"/>
          </p:cNvPicPr>
          <p:nvPr/>
        </p:nvPicPr>
        <p:blipFill>
          <a:blip r:embed="rId3"/>
          <a:stretch>
            <a:fillRect/>
          </a:stretch>
        </p:blipFill>
        <p:spPr>
          <a:xfrm>
            <a:off x="207819" y="1539306"/>
            <a:ext cx="8703425" cy="3206526"/>
          </a:xfrm>
          <a:prstGeom prst="rect">
            <a:avLst/>
          </a:prstGeom>
        </p:spPr>
      </p:pic>
      <p:pic>
        <p:nvPicPr>
          <p:cNvPr id="6" name="图片 5">
            <a:extLst>
              <a:ext uri="{FF2B5EF4-FFF2-40B4-BE49-F238E27FC236}">
                <a16:creationId xmlns:a16="http://schemas.microsoft.com/office/drawing/2014/main" id="{12071D8F-8FC3-6F99-CD78-A36CE08D966F}"/>
              </a:ext>
            </a:extLst>
          </p:cNvPr>
          <p:cNvPicPr>
            <a:picLocks noChangeAspect="1"/>
          </p:cNvPicPr>
          <p:nvPr/>
        </p:nvPicPr>
        <p:blipFill>
          <a:blip r:embed="rId4"/>
          <a:stretch>
            <a:fillRect/>
          </a:stretch>
        </p:blipFill>
        <p:spPr>
          <a:xfrm>
            <a:off x="1662112" y="4929530"/>
            <a:ext cx="5819775" cy="904875"/>
          </a:xfrm>
          <a:prstGeom prst="rect">
            <a:avLst/>
          </a:prstGeom>
        </p:spPr>
      </p:pic>
    </p:spTree>
    <p:extLst>
      <p:ext uri="{BB962C8B-B14F-4D97-AF65-F5344CB8AC3E}">
        <p14:creationId xmlns:p14="http://schemas.microsoft.com/office/powerpoint/2010/main" val="3385075492"/>
      </p:ext>
    </p:extLst>
  </p:cSld>
  <p:clrMapOvr>
    <a:masterClrMapping/>
  </p:clrMapOvr>
  <mc:AlternateContent xmlns:mc="http://schemas.openxmlformats.org/markup-compatibility/2006" xmlns:p14="http://schemas.microsoft.com/office/powerpoint/2010/main">
    <mc:Choice Requires="p14">
      <p:transition spd="slow" p14:dur="2000" advTm="33490"/>
    </mc:Choice>
    <mc:Fallback xmlns="">
      <p:transition spd="slow" advTm="3349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0E599-24DF-4553-A4F9-74788A2D699E}"/>
              </a:ext>
            </a:extLst>
          </p:cNvPr>
          <p:cNvSpPr>
            <a:spLocks noGrp="1"/>
          </p:cNvSpPr>
          <p:nvPr>
            <p:ph type="title"/>
          </p:nvPr>
        </p:nvSpPr>
        <p:spPr>
          <a:xfrm>
            <a:off x="2145030" y="254000"/>
            <a:ext cx="6766214" cy="517850"/>
          </a:xfrm>
        </p:spPr>
        <p:txBody>
          <a:bodyPr>
            <a:normAutofit fontScale="90000"/>
          </a:bodyPr>
          <a:lstStyle/>
          <a:p>
            <a:r>
              <a:rPr lang="en-US" altLang="zh-CN" dirty="0"/>
              <a:t>Spatial-Temporal Activation </a:t>
            </a:r>
            <a:r>
              <a:rPr lang="en-US" altLang="zh-CN" dirty="0" err="1"/>
              <a:t>Sparsification</a:t>
            </a:r>
            <a:endParaRPr lang="zh-CN" altLang="en-US" dirty="0"/>
          </a:p>
        </p:txBody>
      </p:sp>
      <p:sp>
        <p:nvSpPr>
          <p:cNvPr id="14" name="椭圆 13">
            <a:extLst>
              <a:ext uri="{FF2B5EF4-FFF2-40B4-BE49-F238E27FC236}">
                <a16:creationId xmlns:a16="http://schemas.microsoft.com/office/drawing/2014/main" id="{BDAF421D-180A-46C2-A546-827AABFFB914}"/>
              </a:ext>
            </a:extLst>
          </p:cNvPr>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82E72"/>
                </a:solidFill>
                <a:effectLst/>
                <a:uLnTx/>
                <a:uFillTx/>
                <a:latin typeface="Arial"/>
                <a:ea typeface="微软雅黑"/>
                <a:cs typeface="+mn-cs"/>
              </a:rPr>
              <a:t>3</a:t>
            </a:r>
            <a:endParaRPr kumimoji="0" lang="zh-CN" altLang="en-US" sz="2000" b="1" i="0" u="none" strike="noStrike" kern="1200" cap="none" spc="0" normalizeH="0" baseline="0" noProof="0" dirty="0">
              <a:ln>
                <a:noFill/>
              </a:ln>
              <a:solidFill>
                <a:srgbClr val="082E72"/>
              </a:solidFill>
              <a:effectLst/>
              <a:uLnTx/>
              <a:uFillTx/>
              <a:latin typeface="Arial"/>
              <a:ea typeface="微软雅黑"/>
              <a:cs typeface="+mn-cs"/>
            </a:endParaRPr>
          </a:p>
        </p:txBody>
      </p:sp>
      <p:sp>
        <p:nvSpPr>
          <p:cNvPr id="16" name="文本框 15">
            <a:extLst>
              <a:ext uri="{FF2B5EF4-FFF2-40B4-BE49-F238E27FC236}">
                <a16:creationId xmlns:a16="http://schemas.microsoft.com/office/drawing/2014/main" id="{865FC186-B496-4154-A44E-2FC566730C3E}"/>
              </a:ext>
            </a:extLst>
          </p:cNvPr>
          <p:cNvSpPr txBox="1"/>
          <p:nvPr/>
        </p:nvSpPr>
        <p:spPr>
          <a:xfrm>
            <a:off x="1" y="295242"/>
            <a:ext cx="1587500"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srgbClr val="FFFFFF"/>
                </a:solidFill>
                <a:effectLst/>
                <a:uLnTx/>
                <a:uFillTx/>
                <a:latin typeface="Arial"/>
                <a:ea typeface="微软雅黑"/>
                <a:cs typeface="+mn-cs"/>
              </a:rPr>
              <a:t>FlightVGM</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pic>
        <p:nvPicPr>
          <p:cNvPr id="4" name="图片 3">
            <a:extLst>
              <a:ext uri="{FF2B5EF4-FFF2-40B4-BE49-F238E27FC236}">
                <a16:creationId xmlns:a16="http://schemas.microsoft.com/office/drawing/2014/main" id="{3F7875FA-0E96-DB8F-6CC6-E7BBF5D743C8}"/>
              </a:ext>
            </a:extLst>
          </p:cNvPr>
          <p:cNvPicPr>
            <a:picLocks noChangeAspect="1"/>
          </p:cNvPicPr>
          <p:nvPr/>
        </p:nvPicPr>
        <p:blipFill>
          <a:blip r:embed="rId3"/>
          <a:stretch>
            <a:fillRect/>
          </a:stretch>
        </p:blipFill>
        <p:spPr>
          <a:xfrm>
            <a:off x="143535" y="1281440"/>
            <a:ext cx="8856930" cy="4295120"/>
          </a:xfrm>
          <a:prstGeom prst="rect">
            <a:avLst/>
          </a:prstGeom>
        </p:spPr>
      </p:pic>
    </p:spTree>
    <p:extLst>
      <p:ext uri="{BB962C8B-B14F-4D97-AF65-F5344CB8AC3E}">
        <p14:creationId xmlns:p14="http://schemas.microsoft.com/office/powerpoint/2010/main" val="2249733399"/>
      </p:ext>
    </p:extLst>
  </p:cSld>
  <p:clrMapOvr>
    <a:masterClrMapping/>
  </p:clrMapOvr>
  <mc:AlternateContent xmlns:mc="http://schemas.openxmlformats.org/markup-compatibility/2006" xmlns:p14="http://schemas.microsoft.com/office/powerpoint/2010/main">
    <mc:Choice Requires="p14">
      <p:transition spd="slow" p14:dur="2000" advTm="33490"/>
    </mc:Choice>
    <mc:Fallback xmlns="">
      <p:transition spd="slow" advTm="3349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err="1"/>
              <a:t>HeatViT</a:t>
            </a:r>
            <a:endParaRPr lang="en-US" altLang="zh-CN" dirty="0"/>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Related</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rPr>
              <a:t>1</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4" name="图片 3" descr="图形用户界面, 图示&#10;&#10;AI 生成的内容可能不正确。">
            <a:extLst>
              <a:ext uri="{FF2B5EF4-FFF2-40B4-BE49-F238E27FC236}">
                <a16:creationId xmlns:a16="http://schemas.microsoft.com/office/drawing/2014/main" id="{CA08845C-10CB-5C7C-7E5A-5FD31B3E40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875" y="1209675"/>
            <a:ext cx="8096250" cy="2990850"/>
          </a:xfrm>
          <a:prstGeom prst="rect">
            <a:avLst/>
          </a:prstGeom>
        </p:spPr>
      </p:pic>
      <p:sp>
        <p:nvSpPr>
          <p:cNvPr id="6" name="文本框 5">
            <a:extLst>
              <a:ext uri="{FF2B5EF4-FFF2-40B4-BE49-F238E27FC236}">
                <a16:creationId xmlns:a16="http://schemas.microsoft.com/office/drawing/2014/main" id="{20768DCA-C4B2-B203-11FC-5E4CAF647D6A}"/>
              </a:ext>
            </a:extLst>
          </p:cNvPr>
          <p:cNvSpPr txBox="1"/>
          <p:nvPr/>
        </p:nvSpPr>
        <p:spPr>
          <a:xfrm>
            <a:off x="594360" y="4272677"/>
            <a:ext cx="3429000" cy="2246769"/>
          </a:xfrm>
          <a:prstGeom prst="rect">
            <a:avLst/>
          </a:prstGeom>
          <a:noFill/>
        </p:spPr>
        <p:txBody>
          <a:bodyPr wrap="square">
            <a:spAutoFit/>
          </a:bodyPr>
          <a:lstStyle/>
          <a:p>
            <a:pPr marL="285750" indent="-285750">
              <a:buFont typeface="Wingdings" panose="05000000000000000000" pitchFamily="2" charset="2"/>
              <a:buChar char="ü"/>
            </a:pPr>
            <a:r>
              <a:rPr lang="en-US" altLang="zh-CN" sz="1400" b="1" dirty="0">
                <a:latin typeface="Times New Roman" panose="02020603050405020304" pitchFamily="18" charset="0"/>
                <a:cs typeface="Times New Roman" panose="02020603050405020304" pitchFamily="18" charset="0"/>
              </a:rPr>
              <a:t>Efficient Adaptive Token Pruning</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altLang="zh-CN" sz="1400" dirty="0">
                <a:latin typeface="Times New Roman" panose="02020603050405020304" pitchFamily="18" charset="0"/>
                <a:cs typeface="Times New Roman" panose="02020603050405020304" pitchFamily="18" charset="0"/>
              </a:rPr>
              <a:t>The input image is divided into multiple tokens</a:t>
            </a:r>
          </a:p>
          <a:p>
            <a:pPr marL="742950" lvl="1" indent="-285750">
              <a:buFont typeface="Arial" panose="020B0604020202020204" pitchFamily="34" charset="0"/>
              <a:buChar char="•"/>
            </a:pPr>
            <a:r>
              <a:rPr lang="en-US" altLang="zh-CN" sz="1400" dirty="0">
                <a:latin typeface="Times New Roman" panose="02020603050405020304" pitchFamily="18" charset="0"/>
                <a:cs typeface="Times New Roman" panose="02020603050405020304" pitchFamily="18" charset="0"/>
              </a:rPr>
              <a:t>Then processed through a series of </a:t>
            </a:r>
            <a:r>
              <a:rPr lang="en-US" altLang="zh-CN" sz="1200" dirty="0">
                <a:latin typeface="Times New Roman" panose="02020603050405020304" pitchFamily="18" charset="0"/>
                <a:cs typeface="Times New Roman" panose="02020603050405020304" pitchFamily="18" charset="0"/>
              </a:rPr>
              <a:t>transformer</a:t>
            </a:r>
            <a:r>
              <a:rPr lang="en-US" altLang="zh-CN" sz="1400" dirty="0">
                <a:latin typeface="Times New Roman" panose="02020603050405020304" pitchFamily="18" charset="0"/>
                <a:cs typeface="Times New Roman" panose="02020603050405020304" pitchFamily="18" charset="0"/>
              </a:rPr>
              <a:t> layers. </a:t>
            </a:r>
            <a:r>
              <a:rPr lang="en-US" altLang="zh-CN" sz="1400" dirty="0">
                <a:solidFill>
                  <a:srgbClr val="00B050"/>
                </a:solidFill>
                <a:latin typeface="Times New Roman" panose="02020603050405020304" pitchFamily="18" charset="0"/>
                <a:cs typeface="Times New Roman" panose="02020603050405020304" pitchFamily="18" charset="0"/>
              </a:rPr>
              <a:t>Not all tokens contribute equally to the final inference result.</a:t>
            </a:r>
          </a:p>
          <a:p>
            <a:pPr lvl="1"/>
            <a:endParaRPr lang="en-US" altLang="zh-CN" sz="1400" dirty="0">
              <a:solidFill>
                <a:srgbClr val="00B050"/>
              </a:solidFill>
              <a:latin typeface="Times New Roman" panose="02020603050405020304" pitchFamily="18" charset="0"/>
              <a:cs typeface="Times New Roman" panose="02020603050405020304" pitchFamily="18" charset="0"/>
            </a:endParaRPr>
          </a:p>
          <a:p>
            <a:pPr marL="285750" lvl="1" indent="-285750">
              <a:buFont typeface="Wingdings" panose="05000000000000000000" pitchFamily="2" charset="2"/>
              <a:buChar char="ü"/>
            </a:pPr>
            <a:r>
              <a:rPr lang="en-US" altLang="zh-CN" sz="1400" b="1" dirty="0">
                <a:latin typeface="Times New Roman" panose="02020603050405020304" pitchFamily="18" charset="0"/>
                <a:cs typeface="Times New Roman" panose="02020603050405020304" pitchFamily="18" charset="0"/>
              </a:rPr>
              <a:t>8-bit quantization on weight and activation </a:t>
            </a:r>
            <a:r>
              <a:rPr lang="zh-CN" altLang="en-US" sz="1400" b="1" dirty="0">
                <a:latin typeface="Times New Roman" panose="02020603050405020304" pitchFamily="18" charset="0"/>
                <a:cs typeface="Times New Roman" panose="02020603050405020304" pitchFamily="18" charset="0"/>
              </a:rPr>
              <a:t>：</a:t>
            </a:r>
          </a:p>
        </p:txBody>
      </p:sp>
      <p:sp>
        <p:nvSpPr>
          <p:cNvPr id="8" name="文本框 7">
            <a:extLst>
              <a:ext uri="{FF2B5EF4-FFF2-40B4-BE49-F238E27FC236}">
                <a16:creationId xmlns:a16="http://schemas.microsoft.com/office/drawing/2014/main" id="{A5BDAAEA-CFAC-3037-A8A6-2F124CD4082E}"/>
              </a:ext>
            </a:extLst>
          </p:cNvPr>
          <p:cNvSpPr txBox="1"/>
          <p:nvPr/>
        </p:nvSpPr>
        <p:spPr>
          <a:xfrm>
            <a:off x="5120642" y="4595842"/>
            <a:ext cx="3223260" cy="2031325"/>
          </a:xfrm>
          <a:prstGeom prst="rect">
            <a:avLst/>
          </a:prstGeom>
          <a:noFill/>
        </p:spPr>
        <p:txBody>
          <a:bodyPr wrap="square">
            <a:spAutoFit/>
          </a:bodyPr>
          <a:lstStyle/>
          <a:p>
            <a:r>
              <a:rPr lang="en-US" altLang="zh-CN" sz="1400" dirty="0">
                <a:latin typeface="Times New Roman" panose="02020603050405020304" pitchFamily="18" charset="0"/>
                <a:cs typeface="Times New Roman" panose="02020603050405020304" pitchFamily="18" charset="0"/>
              </a:rPr>
              <a:t>Dynamically remove tokens that are </a:t>
            </a:r>
            <a:r>
              <a:rPr lang="en-US" altLang="zh-CN" sz="1400" b="1" dirty="0">
                <a:latin typeface="Times New Roman" panose="02020603050405020304" pitchFamily="18" charset="0"/>
                <a:cs typeface="Times New Roman" panose="02020603050405020304" pitchFamily="18" charset="0"/>
              </a:rPr>
              <a:t>less contributive or redundant</a:t>
            </a:r>
            <a:r>
              <a:rPr lang="en-US" altLang="zh-CN" sz="1400" dirty="0">
                <a:latin typeface="Times New Roman" panose="02020603050405020304" pitchFamily="18" charset="0"/>
                <a:cs typeface="Times New Roman" panose="02020603050405020304" pitchFamily="18" charset="0"/>
              </a:rPr>
              <a:t> during computation, thereby reducing both </a:t>
            </a:r>
            <a:r>
              <a:rPr lang="en-US" altLang="zh-CN" sz="1400" b="1" dirty="0">
                <a:latin typeface="Times New Roman" panose="02020603050405020304" pitchFamily="18" charset="0"/>
                <a:cs typeface="Times New Roman" panose="02020603050405020304" pitchFamily="18" charset="0"/>
              </a:rPr>
              <a:t>computational load and memory usage</a:t>
            </a:r>
            <a:r>
              <a:rPr lang="en-US" altLang="zh-CN" sz="1400" dirty="0">
                <a:latin typeface="Times New Roman" panose="02020603050405020304" pitchFamily="18" charset="0"/>
                <a:cs typeface="Times New Roman" panose="02020603050405020304" pitchFamily="18" charset="0"/>
              </a:rPr>
              <a:t>.</a:t>
            </a:r>
          </a:p>
          <a:p>
            <a:endParaRPr lang="en-US" altLang="zh-CN" sz="1400" dirty="0">
              <a:latin typeface="Times New Roman" panose="02020603050405020304" pitchFamily="18" charset="0"/>
              <a:cs typeface="Times New Roman" panose="02020603050405020304" pitchFamily="18" charset="0"/>
            </a:endParaRPr>
          </a:p>
          <a:p>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Significantly reduce </a:t>
            </a:r>
            <a:r>
              <a:rPr lang="en-US" altLang="zh-CN" sz="1400" b="1" dirty="0">
                <a:latin typeface="Times New Roman" panose="02020603050405020304" pitchFamily="18" charset="0"/>
                <a:cs typeface="Times New Roman" panose="02020603050405020304" pitchFamily="18" charset="0"/>
              </a:rPr>
              <a:t>compute resources </a:t>
            </a:r>
            <a:r>
              <a:rPr lang="en-US" altLang="zh-CN" sz="1400" dirty="0">
                <a:latin typeface="Times New Roman" panose="02020603050405020304" pitchFamily="18" charset="0"/>
                <a:cs typeface="Times New Roman" panose="02020603050405020304" pitchFamily="18" charset="0"/>
              </a:rPr>
              <a:t>and </a:t>
            </a:r>
            <a:r>
              <a:rPr lang="en-US" altLang="zh-CN" sz="1400" b="1" dirty="0">
                <a:latin typeface="Times New Roman" panose="02020603050405020304" pitchFamily="18" charset="0"/>
                <a:cs typeface="Times New Roman" panose="02020603050405020304" pitchFamily="18" charset="0"/>
              </a:rPr>
              <a:t>storage requirements </a:t>
            </a:r>
            <a:r>
              <a:rPr lang="en-US" altLang="zh-CN" sz="1400" dirty="0">
                <a:latin typeface="Times New Roman" panose="02020603050405020304" pitchFamily="18" charset="0"/>
                <a:cs typeface="Times New Roman" panose="02020603050405020304" pitchFamily="18" charset="0"/>
              </a:rPr>
              <a:t>while executing faster on hardware </a:t>
            </a:r>
            <a:endParaRPr lang="zh-CN" altLang="en-US" sz="1400" dirty="0"/>
          </a:p>
        </p:txBody>
      </p:sp>
      <p:sp>
        <p:nvSpPr>
          <p:cNvPr id="9" name="箭头: 右 8">
            <a:extLst>
              <a:ext uri="{FF2B5EF4-FFF2-40B4-BE49-F238E27FC236}">
                <a16:creationId xmlns:a16="http://schemas.microsoft.com/office/drawing/2014/main" id="{41FDA271-1B2F-19C4-2871-57FA95D2FA53}"/>
              </a:ext>
            </a:extLst>
          </p:cNvPr>
          <p:cNvSpPr/>
          <p:nvPr/>
        </p:nvSpPr>
        <p:spPr>
          <a:xfrm>
            <a:off x="4130040" y="4924305"/>
            <a:ext cx="883920" cy="2971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右 9">
            <a:extLst>
              <a:ext uri="{FF2B5EF4-FFF2-40B4-BE49-F238E27FC236}">
                <a16:creationId xmlns:a16="http://schemas.microsoft.com/office/drawing/2014/main" id="{F840E066-13CB-2D78-A1B6-06DD2BB89E81}"/>
              </a:ext>
            </a:extLst>
          </p:cNvPr>
          <p:cNvSpPr/>
          <p:nvPr/>
        </p:nvSpPr>
        <p:spPr>
          <a:xfrm>
            <a:off x="4130040" y="6120645"/>
            <a:ext cx="883920" cy="297180"/>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810236023"/>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SSR</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Related</a:t>
            </a: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2</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4" name="图片 3" descr="图示&#10;&#10;AI 生成的内容可能不正确。">
            <a:extLst>
              <a:ext uri="{FF2B5EF4-FFF2-40B4-BE49-F238E27FC236}">
                <a16:creationId xmlns:a16="http://schemas.microsoft.com/office/drawing/2014/main" id="{20C0CBF2-575F-DFA9-88CF-222797D8E8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073" y="1011951"/>
            <a:ext cx="3849053" cy="1906314"/>
          </a:xfrm>
          <a:prstGeom prst="rect">
            <a:avLst/>
          </a:prstGeom>
        </p:spPr>
      </p:pic>
      <p:pic>
        <p:nvPicPr>
          <p:cNvPr id="5" name="图片 4">
            <a:extLst>
              <a:ext uri="{FF2B5EF4-FFF2-40B4-BE49-F238E27FC236}">
                <a16:creationId xmlns:a16="http://schemas.microsoft.com/office/drawing/2014/main" id="{96561D48-1C59-D654-C501-0B1F72DD18B9}"/>
              </a:ext>
            </a:extLst>
          </p:cNvPr>
          <p:cNvPicPr>
            <a:picLocks noChangeAspect="1"/>
          </p:cNvPicPr>
          <p:nvPr/>
        </p:nvPicPr>
        <p:blipFill>
          <a:blip r:embed="rId4"/>
          <a:stretch>
            <a:fillRect/>
          </a:stretch>
        </p:blipFill>
        <p:spPr>
          <a:xfrm>
            <a:off x="567073" y="3117533"/>
            <a:ext cx="8009854" cy="3668306"/>
          </a:xfrm>
          <a:prstGeom prst="rect">
            <a:avLst/>
          </a:prstGeom>
        </p:spPr>
      </p:pic>
      <p:sp>
        <p:nvSpPr>
          <p:cNvPr id="7" name="Rectangle 2">
            <a:extLst>
              <a:ext uri="{FF2B5EF4-FFF2-40B4-BE49-F238E27FC236}">
                <a16:creationId xmlns:a16="http://schemas.microsoft.com/office/drawing/2014/main" id="{B711F4DB-E9B9-DE1C-6BD1-8CECC133444F}"/>
              </a:ext>
            </a:extLst>
          </p:cNvPr>
          <p:cNvSpPr>
            <a:spLocks noChangeArrowheads="1"/>
          </p:cNvSpPr>
          <p:nvPr/>
        </p:nvSpPr>
        <p:spPr bwMode="auto">
          <a:xfrm>
            <a:off x="4727877" y="1159862"/>
            <a:ext cx="367698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combines both methods by running parallel computations on </a:t>
            </a:r>
            <a:r>
              <a:rPr kumimoji="0" lang="zh-CN" altLang="zh-CN"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spatial accelerators</a:t>
            </a:r>
            <a:r>
              <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pipelining </a:t>
            </a:r>
            <a:r>
              <a:rPr kumimoji="0" lang="zh-CN" altLang="zh-CN"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sequential tasks</a:t>
            </a:r>
            <a:r>
              <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boosting throughput and efficiency while maintaining accuracy.</a:t>
            </a:r>
          </a:p>
        </p:txBody>
      </p:sp>
    </p:spTree>
    <p:extLst>
      <p:ext uri="{BB962C8B-B14F-4D97-AF65-F5344CB8AC3E}">
        <p14:creationId xmlns:p14="http://schemas.microsoft.com/office/powerpoint/2010/main" val="3641800324"/>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0E599-24DF-4553-A4F9-74788A2D699E}"/>
              </a:ext>
            </a:extLst>
          </p:cNvPr>
          <p:cNvSpPr>
            <a:spLocks noGrp="1"/>
          </p:cNvSpPr>
          <p:nvPr>
            <p:ph type="title"/>
          </p:nvPr>
        </p:nvSpPr>
        <p:spPr>
          <a:xfrm>
            <a:off x="2145030" y="254000"/>
            <a:ext cx="6766214" cy="517850"/>
          </a:xfrm>
        </p:spPr>
        <p:txBody>
          <a:bodyPr>
            <a:normAutofit/>
          </a:bodyPr>
          <a:lstStyle/>
          <a:p>
            <a:r>
              <a:rPr lang="en-US" altLang="zh-CN" dirty="0"/>
              <a:t>Hybrid Precision DSP58 Architecture</a:t>
            </a:r>
            <a:endParaRPr lang="zh-CN" altLang="en-US" dirty="0"/>
          </a:p>
        </p:txBody>
      </p:sp>
      <p:sp>
        <p:nvSpPr>
          <p:cNvPr id="14" name="椭圆 13">
            <a:extLst>
              <a:ext uri="{FF2B5EF4-FFF2-40B4-BE49-F238E27FC236}">
                <a16:creationId xmlns:a16="http://schemas.microsoft.com/office/drawing/2014/main" id="{BDAF421D-180A-46C2-A546-827AABFFB914}"/>
              </a:ext>
            </a:extLst>
          </p:cNvPr>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82E72"/>
                </a:solidFill>
                <a:effectLst/>
                <a:uLnTx/>
                <a:uFillTx/>
                <a:latin typeface="Arial"/>
                <a:ea typeface="微软雅黑"/>
                <a:cs typeface="+mn-cs"/>
              </a:rPr>
              <a:t>3</a:t>
            </a:r>
            <a:endParaRPr kumimoji="0" lang="zh-CN" altLang="en-US" sz="2000" b="1" i="0" u="none" strike="noStrike" kern="1200" cap="none" spc="0" normalizeH="0" baseline="0" noProof="0" dirty="0">
              <a:ln>
                <a:noFill/>
              </a:ln>
              <a:solidFill>
                <a:srgbClr val="082E72"/>
              </a:solidFill>
              <a:effectLst/>
              <a:uLnTx/>
              <a:uFillTx/>
              <a:latin typeface="Arial"/>
              <a:ea typeface="微软雅黑"/>
              <a:cs typeface="+mn-cs"/>
            </a:endParaRPr>
          </a:p>
        </p:txBody>
      </p:sp>
      <p:sp>
        <p:nvSpPr>
          <p:cNvPr id="16" name="文本框 15">
            <a:extLst>
              <a:ext uri="{FF2B5EF4-FFF2-40B4-BE49-F238E27FC236}">
                <a16:creationId xmlns:a16="http://schemas.microsoft.com/office/drawing/2014/main" id="{865FC186-B496-4154-A44E-2FC566730C3E}"/>
              </a:ext>
            </a:extLst>
          </p:cNvPr>
          <p:cNvSpPr txBox="1"/>
          <p:nvPr/>
        </p:nvSpPr>
        <p:spPr>
          <a:xfrm>
            <a:off x="1" y="295242"/>
            <a:ext cx="1587500"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srgbClr val="FFFFFF"/>
                </a:solidFill>
                <a:effectLst/>
                <a:uLnTx/>
                <a:uFillTx/>
                <a:latin typeface="Arial"/>
                <a:ea typeface="微软雅黑"/>
                <a:cs typeface="+mn-cs"/>
              </a:rPr>
              <a:t>FlightVGM</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pic>
        <p:nvPicPr>
          <p:cNvPr id="3" name="图片 2">
            <a:extLst>
              <a:ext uri="{FF2B5EF4-FFF2-40B4-BE49-F238E27FC236}">
                <a16:creationId xmlns:a16="http://schemas.microsoft.com/office/drawing/2014/main" id="{53C58D95-95DE-4FEC-C873-8E90B95EB5F1}"/>
              </a:ext>
            </a:extLst>
          </p:cNvPr>
          <p:cNvPicPr>
            <a:picLocks noChangeAspect="1"/>
          </p:cNvPicPr>
          <p:nvPr/>
        </p:nvPicPr>
        <p:blipFill>
          <a:blip r:embed="rId3"/>
          <a:stretch>
            <a:fillRect/>
          </a:stretch>
        </p:blipFill>
        <p:spPr>
          <a:xfrm>
            <a:off x="3112161" y="1403172"/>
            <a:ext cx="5867400" cy="4505325"/>
          </a:xfrm>
          <a:prstGeom prst="rect">
            <a:avLst/>
          </a:prstGeom>
        </p:spPr>
      </p:pic>
      <p:sp>
        <p:nvSpPr>
          <p:cNvPr id="5" name="文本框 4">
            <a:extLst>
              <a:ext uri="{FF2B5EF4-FFF2-40B4-BE49-F238E27FC236}">
                <a16:creationId xmlns:a16="http://schemas.microsoft.com/office/drawing/2014/main" id="{4DA3D8E2-CCE7-D0D2-596F-38225D9A4713}"/>
              </a:ext>
            </a:extLst>
          </p:cNvPr>
          <p:cNvSpPr txBox="1"/>
          <p:nvPr/>
        </p:nvSpPr>
        <p:spPr>
          <a:xfrm>
            <a:off x="235791" y="949503"/>
            <a:ext cx="2444664"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Design Theory</a:t>
            </a:r>
            <a:endParaRPr lang="zh-CN" altLang="en-US" sz="24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7636D1A2-EF8A-D310-58A0-69EF9512E968}"/>
              </a:ext>
            </a:extLst>
          </p:cNvPr>
          <p:cNvSpPr txBox="1"/>
          <p:nvPr/>
        </p:nvSpPr>
        <p:spPr>
          <a:xfrm>
            <a:off x="235791" y="1589993"/>
            <a:ext cx="2926802" cy="5139869"/>
          </a:xfrm>
          <a:prstGeom prst="rect">
            <a:avLst/>
          </a:prstGeom>
          <a:noFill/>
        </p:spPr>
        <p:txBody>
          <a:bodyPr wrap="square" rtlCol="0">
            <a:spAutoFit/>
          </a:bodyPr>
          <a:lstStyle/>
          <a:p>
            <a:r>
              <a:rPr lang="en-US" altLang="zh-CN" sz="2000" b="1" dirty="0">
                <a:solidFill>
                  <a:srgbClr val="C00000"/>
                </a:solidFill>
                <a:latin typeface="Times New Roman" panose="02020603050405020304" pitchFamily="18" charset="0"/>
                <a:cs typeface="Times New Roman" panose="02020603050405020304" pitchFamily="18" charset="0"/>
              </a:rPr>
              <a:t>Before</a:t>
            </a:r>
          </a:p>
          <a:p>
            <a:r>
              <a:rPr lang="en-US" altLang="zh-CN" dirty="0">
                <a:latin typeface="Times New Roman" panose="02020603050405020304" pitchFamily="18" charset="0"/>
                <a:cs typeface="Times New Roman" panose="02020603050405020304" pitchFamily="18" charset="0"/>
              </a:rPr>
              <a:t>A standard DSP packing approach would require at least a </a:t>
            </a:r>
            <a:r>
              <a:rPr lang="en-US" altLang="zh-CN" b="1" dirty="0">
                <a:latin typeface="Times New Roman" panose="02020603050405020304" pitchFamily="18" charset="0"/>
                <a:cs typeface="Times New Roman" panose="02020603050405020304" pitchFamily="18" charset="0"/>
              </a:rPr>
              <a:t>33×11-bit</a:t>
            </a:r>
            <a:r>
              <a:rPr lang="en-US" altLang="zh-CN" dirty="0">
                <a:latin typeface="Times New Roman" panose="02020603050405020304" pitchFamily="18" charset="0"/>
                <a:cs typeface="Times New Roman" panose="02020603050405020304" pitchFamily="18" charset="0"/>
              </a:rPr>
              <a:t> multiplication to achieve two clean products.</a:t>
            </a:r>
          </a:p>
          <a:p>
            <a:endParaRPr lang="en-US" altLang="zh-CN" dirty="0">
              <a:latin typeface="Times New Roman" panose="02020603050405020304" pitchFamily="18" charset="0"/>
              <a:cs typeface="Times New Roman" panose="02020603050405020304" pitchFamily="18" charset="0"/>
            </a:endParaRPr>
          </a:p>
          <a:p>
            <a:r>
              <a:rPr lang="en-US" altLang="zh-CN" sz="2000" b="1" dirty="0">
                <a:solidFill>
                  <a:srgbClr val="C00000"/>
                </a:solidFill>
                <a:latin typeface="Times New Roman" panose="02020603050405020304" pitchFamily="18" charset="0"/>
                <a:cs typeface="Times New Roman" panose="02020603050405020304" pitchFamily="18" charset="0"/>
              </a:rPr>
              <a:t>Now</a:t>
            </a:r>
          </a:p>
          <a:p>
            <a:r>
              <a:rPr lang="en-US" altLang="zh-CN" dirty="0">
                <a:latin typeface="Times New Roman" panose="02020603050405020304" pitchFamily="18" charset="0"/>
                <a:cs typeface="Times New Roman" panose="02020603050405020304" pitchFamily="18" charset="0"/>
              </a:rPr>
              <a:t>Overpacking </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Employing</a:t>
            </a:r>
            <a:r>
              <a:rPr lang="en-US" altLang="zh-CN" b="1" dirty="0">
                <a:latin typeface="Times New Roman" panose="02020603050405020304" pitchFamily="18" charset="0"/>
                <a:cs typeface="Times New Roman" panose="02020603050405020304" pitchFamily="18" charset="0"/>
              </a:rPr>
              <a:t> bit-shifting and compensation</a:t>
            </a:r>
            <a:r>
              <a:rPr lang="en-US" altLang="zh-CN" dirty="0">
                <a:latin typeface="Times New Roman" panose="02020603050405020304" pitchFamily="18" charset="0"/>
                <a:cs typeface="Times New Roman" panose="02020603050405020304" pitchFamily="18" charset="0"/>
              </a:rPr>
              <a:t> to merge parallel computations.</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 single DSP58 to simultaneously execute two FP16 multiplications</a:t>
            </a:r>
            <a:r>
              <a:rPr lang="zh-CN" altLang="en-US"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Enhancing computational parallelism.</a:t>
            </a:r>
            <a:endParaRPr lang="zh-CN"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2451765"/>
      </p:ext>
    </p:extLst>
  </p:cSld>
  <p:clrMapOvr>
    <a:masterClrMapping/>
  </p:clrMapOvr>
  <mc:AlternateContent xmlns:mc="http://schemas.openxmlformats.org/markup-compatibility/2006" xmlns:p14="http://schemas.microsoft.com/office/powerpoint/2010/main">
    <mc:Choice Requires="p14">
      <p:transition spd="slow" p14:dur="2000" advTm="33490"/>
    </mc:Choice>
    <mc:Fallback xmlns="">
      <p:transition spd="slow" advTm="3349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0E599-24DF-4553-A4F9-74788A2D699E}"/>
              </a:ext>
            </a:extLst>
          </p:cNvPr>
          <p:cNvSpPr>
            <a:spLocks noGrp="1"/>
          </p:cNvSpPr>
          <p:nvPr>
            <p:ph type="title"/>
          </p:nvPr>
        </p:nvSpPr>
        <p:spPr>
          <a:xfrm>
            <a:off x="2145030" y="254000"/>
            <a:ext cx="6766214" cy="517850"/>
          </a:xfrm>
        </p:spPr>
        <p:txBody>
          <a:bodyPr>
            <a:normAutofit/>
          </a:bodyPr>
          <a:lstStyle/>
          <a:p>
            <a:r>
              <a:rPr lang="en-US" altLang="zh-CN" dirty="0"/>
              <a:t>Hybrid Precision DSP58 Architecture</a:t>
            </a:r>
            <a:endParaRPr lang="zh-CN" altLang="en-US" dirty="0"/>
          </a:p>
        </p:txBody>
      </p:sp>
      <p:sp>
        <p:nvSpPr>
          <p:cNvPr id="14" name="椭圆 13">
            <a:extLst>
              <a:ext uri="{FF2B5EF4-FFF2-40B4-BE49-F238E27FC236}">
                <a16:creationId xmlns:a16="http://schemas.microsoft.com/office/drawing/2014/main" id="{BDAF421D-180A-46C2-A546-827AABFFB914}"/>
              </a:ext>
            </a:extLst>
          </p:cNvPr>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82E72"/>
                </a:solidFill>
                <a:effectLst/>
                <a:uLnTx/>
                <a:uFillTx/>
                <a:latin typeface="Arial"/>
                <a:ea typeface="微软雅黑"/>
                <a:cs typeface="+mn-cs"/>
              </a:rPr>
              <a:t>3</a:t>
            </a:r>
            <a:endParaRPr kumimoji="0" lang="zh-CN" altLang="en-US" sz="2000" b="1" i="0" u="none" strike="noStrike" kern="1200" cap="none" spc="0" normalizeH="0" baseline="0" noProof="0" dirty="0">
              <a:ln>
                <a:noFill/>
              </a:ln>
              <a:solidFill>
                <a:srgbClr val="082E72"/>
              </a:solidFill>
              <a:effectLst/>
              <a:uLnTx/>
              <a:uFillTx/>
              <a:latin typeface="Arial"/>
              <a:ea typeface="微软雅黑"/>
              <a:cs typeface="+mn-cs"/>
            </a:endParaRPr>
          </a:p>
        </p:txBody>
      </p:sp>
      <p:sp>
        <p:nvSpPr>
          <p:cNvPr id="16" name="文本框 15">
            <a:extLst>
              <a:ext uri="{FF2B5EF4-FFF2-40B4-BE49-F238E27FC236}">
                <a16:creationId xmlns:a16="http://schemas.microsoft.com/office/drawing/2014/main" id="{865FC186-B496-4154-A44E-2FC566730C3E}"/>
              </a:ext>
            </a:extLst>
          </p:cNvPr>
          <p:cNvSpPr txBox="1"/>
          <p:nvPr/>
        </p:nvSpPr>
        <p:spPr>
          <a:xfrm>
            <a:off x="1" y="295242"/>
            <a:ext cx="1587500"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srgbClr val="FFFFFF"/>
                </a:solidFill>
                <a:effectLst/>
                <a:uLnTx/>
                <a:uFillTx/>
                <a:latin typeface="Arial"/>
                <a:ea typeface="微软雅黑"/>
                <a:cs typeface="+mn-cs"/>
              </a:rPr>
              <a:t>FlightVGM</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5" name="文本框 4">
            <a:extLst>
              <a:ext uri="{FF2B5EF4-FFF2-40B4-BE49-F238E27FC236}">
                <a16:creationId xmlns:a16="http://schemas.microsoft.com/office/drawing/2014/main" id="{4DA3D8E2-CCE7-D0D2-596F-38225D9A4713}"/>
              </a:ext>
            </a:extLst>
          </p:cNvPr>
          <p:cNvSpPr txBox="1"/>
          <p:nvPr/>
        </p:nvSpPr>
        <p:spPr>
          <a:xfrm>
            <a:off x="235791" y="949503"/>
            <a:ext cx="2444664"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Architecture</a:t>
            </a:r>
            <a:endParaRPr lang="zh-CN" altLang="en-US" sz="2400" b="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F9CA3CBF-3609-07DA-8A2B-9E97FBDE207B}"/>
              </a:ext>
            </a:extLst>
          </p:cNvPr>
          <p:cNvPicPr>
            <a:picLocks noChangeAspect="1"/>
          </p:cNvPicPr>
          <p:nvPr/>
        </p:nvPicPr>
        <p:blipFill>
          <a:blip r:embed="rId3"/>
          <a:stretch>
            <a:fillRect/>
          </a:stretch>
        </p:blipFill>
        <p:spPr>
          <a:xfrm>
            <a:off x="564543" y="1511237"/>
            <a:ext cx="4488950" cy="4875802"/>
          </a:xfrm>
          <a:prstGeom prst="rect">
            <a:avLst/>
          </a:prstGeom>
        </p:spPr>
      </p:pic>
      <p:sp>
        <p:nvSpPr>
          <p:cNvPr id="7" name="文本框 6">
            <a:extLst>
              <a:ext uri="{FF2B5EF4-FFF2-40B4-BE49-F238E27FC236}">
                <a16:creationId xmlns:a16="http://schemas.microsoft.com/office/drawing/2014/main" id="{0A14B179-B351-0577-2239-194D9B8612B3}"/>
              </a:ext>
            </a:extLst>
          </p:cNvPr>
          <p:cNvSpPr txBox="1"/>
          <p:nvPr/>
        </p:nvSpPr>
        <p:spPr>
          <a:xfrm>
            <a:off x="5285604" y="3441306"/>
            <a:ext cx="3608369" cy="1015663"/>
          </a:xfrm>
          <a:prstGeom prst="rect">
            <a:avLst/>
          </a:prstGeom>
          <a:noFill/>
        </p:spPr>
        <p:txBody>
          <a:bodyPr wrap="square">
            <a:spAutoFit/>
          </a:bodyPr>
          <a:lstStyle/>
          <a:p>
            <a:r>
              <a:rPr lang="en-US" altLang="zh-CN" sz="2000" dirty="0">
                <a:latin typeface="Times New Roman" panose="02020603050405020304" pitchFamily="18" charset="0"/>
                <a:cs typeface="Times New Roman" panose="02020603050405020304" pitchFamily="18" charset="0"/>
              </a:rPr>
              <a:t>A single DSP58 core can execute </a:t>
            </a:r>
          </a:p>
          <a:p>
            <a:r>
              <a:rPr lang="en-US" altLang="zh-CN" sz="2000" b="1" dirty="0">
                <a:latin typeface="Times New Roman" panose="02020603050405020304" pitchFamily="18" charset="0"/>
                <a:cs typeface="Times New Roman" panose="02020603050405020304" pitchFamily="18" charset="0"/>
              </a:rPr>
              <a:t>two FP16 MACs </a:t>
            </a:r>
            <a:r>
              <a:rPr lang="en-US" altLang="zh-CN" sz="2000" dirty="0">
                <a:latin typeface="Times New Roman" panose="02020603050405020304" pitchFamily="18" charset="0"/>
                <a:cs typeface="Times New Roman" panose="02020603050405020304" pitchFamily="18" charset="0"/>
              </a:rPr>
              <a:t>in FP16 mode, </a:t>
            </a:r>
          </a:p>
          <a:p>
            <a:r>
              <a:rPr lang="en-US" altLang="zh-CN" sz="2000" b="1" dirty="0">
                <a:latin typeface="Times New Roman" panose="02020603050405020304" pitchFamily="18" charset="0"/>
                <a:cs typeface="Times New Roman" panose="02020603050405020304" pitchFamily="18" charset="0"/>
              </a:rPr>
              <a:t>four INT8 </a:t>
            </a:r>
            <a:r>
              <a:rPr lang="en-US" altLang="zh-CN" sz="2000" dirty="0">
                <a:latin typeface="Times New Roman" panose="02020603050405020304" pitchFamily="18" charset="0"/>
                <a:cs typeface="Times New Roman" panose="02020603050405020304" pitchFamily="18" charset="0"/>
              </a:rPr>
              <a:t>MACs in INT8 mode.</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649731"/>
      </p:ext>
    </p:extLst>
  </p:cSld>
  <p:clrMapOvr>
    <a:masterClrMapping/>
  </p:clrMapOvr>
  <mc:AlternateContent xmlns:mc="http://schemas.openxmlformats.org/markup-compatibility/2006" xmlns:p14="http://schemas.microsoft.com/office/powerpoint/2010/main">
    <mc:Choice Requires="p14">
      <p:transition spd="slow" p14:dur="2000" advTm="33490"/>
    </mc:Choice>
    <mc:Fallback xmlns="">
      <p:transition spd="slow" advTm="3349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0E599-24DF-4553-A4F9-74788A2D699E}"/>
              </a:ext>
            </a:extLst>
          </p:cNvPr>
          <p:cNvSpPr>
            <a:spLocks noGrp="1"/>
          </p:cNvSpPr>
          <p:nvPr>
            <p:ph type="title"/>
          </p:nvPr>
        </p:nvSpPr>
        <p:spPr>
          <a:xfrm>
            <a:off x="2145030" y="254000"/>
            <a:ext cx="6766214" cy="517850"/>
          </a:xfrm>
        </p:spPr>
        <p:txBody>
          <a:bodyPr>
            <a:normAutofit/>
          </a:bodyPr>
          <a:lstStyle/>
          <a:p>
            <a:r>
              <a:rPr lang="en-US" altLang="zh-CN" dirty="0"/>
              <a:t>Dynamic-Static Adaptive Scheduling</a:t>
            </a:r>
            <a:endParaRPr lang="zh-CN" altLang="en-US" dirty="0"/>
          </a:p>
        </p:txBody>
      </p:sp>
      <p:sp>
        <p:nvSpPr>
          <p:cNvPr id="14" name="椭圆 13">
            <a:extLst>
              <a:ext uri="{FF2B5EF4-FFF2-40B4-BE49-F238E27FC236}">
                <a16:creationId xmlns:a16="http://schemas.microsoft.com/office/drawing/2014/main" id="{BDAF421D-180A-46C2-A546-827AABFFB914}"/>
              </a:ext>
            </a:extLst>
          </p:cNvPr>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82E72"/>
                </a:solidFill>
                <a:effectLst/>
                <a:uLnTx/>
                <a:uFillTx/>
                <a:latin typeface="Arial"/>
                <a:ea typeface="微软雅黑"/>
                <a:cs typeface="+mn-cs"/>
              </a:rPr>
              <a:t>3</a:t>
            </a:r>
            <a:endParaRPr kumimoji="0" lang="zh-CN" altLang="en-US" sz="2000" b="1" i="0" u="none" strike="noStrike" kern="1200" cap="none" spc="0" normalizeH="0" baseline="0" noProof="0" dirty="0">
              <a:ln>
                <a:noFill/>
              </a:ln>
              <a:solidFill>
                <a:srgbClr val="082E72"/>
              </a:solidFill>
              <a:effectLst/>
              <a:uLnTx/>
              <a:uFillTx/>
              <a:latin typeface="Arial"/>
              <a:ea typeface="微软雅黑"/>
              <a:cs typeface="+mn-cs"/>
            </a:endParaRPr>
          </a:p>
        </p:txBody>
      </p:sp>
      <p:sp>
        <p:nvSpPr>
          <p:cNvPr id="16" name="文本框 15">
            <a:extLst>
              <a:ext uri="{FF2B5EF4-FFF2-40B4-BE49-F238E27FC236}">
                <a16:creationId xmlns:a16="http://schemas.microsoft.com/office/drawing/2014/main" id="{865FC186-B496-4154-A44E-2FC566730C3E}"/>
              </a:ext>
            </a:extLst>
          </p:cNvPr>
          <p:cNvSpPr txBox="1"/>
          <p:nvPr/>
        </p:nvSpPr>
        <p:spPr>
          <a:xfrm>
            <a:off x="1" y="295242"/>
            <a:ext cx="1587500"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srgbClr val="FFFFFF"/>
                </a:solidFill>
                <a:effectLst/>
                <a:uLnTx/>
                <a:uFillTx/>
                <a:latin typeface="Arial"/>
                <a:ea typeface="微软雅黑"/>
                <a:cs typeface="+mn-cs"/>
              </a:rPr>
              <a:t>FlightVGM</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pic>
        <p:nvPicPr>
          <p:cNvPr id="3" name="图片 2">
            <a:extLst>
              <a:ext uri="{FF2B5EF4-FFF2-40B4-BE49-F238E27FC236}">
                <a16:creationId xmlns:a16="http://schemas.microsoft.com/office/drawing/2014/main" id="{001D6E00-7D93-7C73-CE34-FC521845BF9A}"/>
              </a:ext>
            </a:extLst>
          </p:cNvPr>
          <p:cNvPicPr>
            <a:picLocks noChangeAspect="1"/>
          </p:cNvPicPr>
          <p:nvPr/>
        </p:nvPicPr>
        <p:blipFill>
          <a:blip r:embed="rId3"/>
          <a:stretch>
            <a:fillRect/>
          </a:stretch>
        </p:blipFill>
        <p:spPr>
          <a:xfrm>
            <a:off x="111436" y="1039089"/>
            <a:ext cx="8921128" cy="2896743"/>
          </a:xfrm>
          <a:prstGeom prst="rect">
            <a:avLst/>
          </a:prstGeom>
        </p:spPr>
      </p:pic>
      <p:sp>
        <p:nvSpPr>
          <p:cNvPr id="6" name="文本框 5">
            <a:extLst>
              <a:ext uri="{FF2B5EF4-FFF2-40B4-BE49-F238E27FC236}">
                <a16:creationId xmlns:a16="http://schemas.microsoft.com/office/drawing/2014/main" id="{B8C78DA4-B3E6-AF6D-2567-B26F36E5FC65}"/>
              </a:ext>
            </a:extLst>
          </p:cNvPr>
          <p:cNvSpPr txBox="1"/>
          <p:nvPr/>
        </p:nvSpPr>
        <p:spPr>
          <a:xfrm>
            <a:off x="425334" y="4203071"/>
            <a:ext cx="8293331" cy="2031325"/>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WL</a:t>
            </a:r>
            <a:r>
              <a:rPr lang="en-US" altLang="zh-CN" dirty="0">
                <a:latin typeface="Times New Roman" panose="02020603050405020304" pitchFamily="18" charset="0"/>
                <a:cs typeface="Times New Roman" panose="02020603050405020304" pitchFamily="18" charset="0"/>
              </a:rPr>
              <a:t> Instruction Sequence: </a:t>
            </a:r>
            <a:r>
              <a:rPr lang="en-US" altLang="zh-CN" b="1" dirty="0">
                <a:latin typeface="Times New Roman" panose="02020603050405020304" pitchFamily="18" charset="0"/>
                <a:cs typeface="Times New Roman" panose="02020603050405020304" pitchFamily="18" charset="0"/>
              </a:rPr>
              <a:t>`LD → (MOVE)`</a:t>
            </a:r>
            <a:r>
              <a:rPr lang="en-US" altLang="zh-CN" dirty="0">
                <a:latin typeface="Times New Roman" panose="02020603050405020304" pitchFamily="18" charset="0"/>
                <a:cs typeface="Times New Roman" panose="02020603050405020304" pitchFamily="18" charset="0"/>
              </a:rPr>
              <a:t>, which includes two phases: weight loading and on-chip weight movement (the instruction in parentheses is optional).</a:t>
            </a:r>
          </a:p>
          <a:p>
            <a:r>
              <a:rPr lang="en-US" altLang="zh-CN" b="1" dirty="0">
                <a:latin typeface="Times New Roman" panose="02020603050405020304" pitchFamily="18" charset="0"/>
                <a:cs typeface="Times New Roman" panose="02020603050405020304" pitchFamily="18" charset="0"/>
              </a:rPr>
              <a:t>COM</a:t>
            </a:r>
            <a:r>
              <a:rPr lang="en-US" altLang="zh-CN" dirty="0">
                <a:latin typeface="Times New Roman" panose="02020603050405020304" pitchFamily="18" charset="0"/>
                <a:cs typeface="Times New Roman" panose="02020603050405020304" pitchFamily="18" charset="0"/>
              </a:rPr>
              <a:t> Instruction Sequence: </a:t>
            </a:r>
            <a:r>
              <a:rPr lang="en-US" altLang="zh-CN" b="1" dirty="0">
                <a:latin typeface="Times New Roman" panose="02020603050405020304" pitchFamily="18" charset="0"/>
                <a:cs typeface="Times New Roman" panose="02020603050405020304" pitchFamily="18" charset="0"/>
              </a:rPr>
              <a:t>`(LD) → MM/SF → TLT → (ST)`</a:t>
            </a:r>
            <a:r>
              <a:rPr lang="en-US" altLang="zh-CN"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which completes the time-consuming computational tasks as well as data recovery.</a:t>
            </a:r>
          </a:p>
          <a:p>
            <a:r>
              <a:rPr lang="en-US" altLang="zh-CN" b="1" dirty="0">
                <a:latin typeface="Times New Roman" panose="02020603050405020304" pitchFamily="18" charset="0"/>
                <a:cs typeface="Times New Roman" panose="02020603050405020304" pitchFamily="18" charset="0"/>
              </a:rPr>
              <a:t>TP </a:t>
            </a:r>
            <a:r>
              <a:rPr lang="en-US" altLang="zh-CN" dirty="0">
                <a:latin typeface="Times New Roman" panose="02020603050405020304" pitchFamily="18" charset="0"/>
                <a:cs typeface="Times New Roman" panose="02020603050405020304" pitchFamily="18" charset="0"/>
              </a:rPr>
              <a:t>Instruction Sequence: </a:t>
            </a:r>
            <a:r>
              <a:rPr lang="en-US" altLang="zh-CN" b="1" dirty="0">
                <a:latin typeface="Times New Roman" panose="02020603050405020304" pitchFamily="18" charset="0"/>
                <a:cs typeface="Times New Roman" panose="02020603050405020304" pitchFamily="18" charset="0"/>
              </a:rPr>
              <a:t>`(LD) → TS → TLT → (ST)`</a:t>
            </a:r>
            <a:r>
              <a:rPr lang="en-US" altLang="zh-CN" dirty="0">
                <a:latin typeface="Times New Roman" panose="02020603050405020304" pitchFamily="18" charset="0"/>
                <a:cs typeface="Times New Roman" panose="02020603050405020304" pitchFamily="18" charset="0"/>
              </a:rPr>
              <a:t>, which performs activation </a:t>
            </a:r>
            <a:r>
              <a:rPr lang="en-US" altLang="zh-CN" dirty="0" err="1">
                <a:latin typeface="Times New Roman" panose="02020603050405020304" pitchFamily="18" charset="0"/>
                <a:cs typeface="Times New Roman" panose="02020603050405020304" pitchFamily="18" charset="0"/>
              </a:rPr>
              <a:t>sparsification</a:t>
            </a:r>
            <a:r>
              <a:rPr lang="en-US" altLang="zh-CN" dirty="0">
                <a:latin typeface="Times New Roman" panose="02020603050405020304" pitchFamily="18" charset="0"/>
                <a:cs typeface="Times New Roman" panose="02020603050405020304" pitchFamily="18" charset="0"/>
              </a:rPr>
              <a:t> and converts the compressed tensor into a dense matrix format usable by the MPE.</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3834713"/>
      </p:ext>
    </p:extLst>
  </p:cSld>
  <p:clrMapOvr>
    <a:masterClrMapping/>
  </p:clrMapOvr>
  <mc:AlternateContent xmlns:mc="http://schemas.openxmlformats.org/markup-compatibility/2006" xmlns:p14="http://schemas.microsoft.com/office/powerpoint/2010/main">
    <mc:Choice Requires="p14">
      <p:transition spd="slow" p14:dur="2000" advTm="33490"/>
    </mc:Choice>
    <mc:Fallback xmlns="">
      <p:transition spd="slow" advTm="3349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903EF8C-13D3-422C-9C3F-5EECC23210A7}"/>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66D773D4-1EAF-4F9F-8F72-7F1400FEED3D}"/>
              </a:ext>
            </a:extLst>
          </p:cNvPr>
          <p:cNvGrpSpPr/>
          <p:nvPr/>
        </p:nvGrpSpPr>
        <p:grpSpPr>
          <a:xfrm>
            <a:off x="2476503" y="3407470"/>
            <a:ext cx="4487372" cy="494767"/>
            <a:chOff x="2254250" y="3340100"/>
            <a:chExt cx="4811810" cy="712614"/>
          </a:xfrm>
        </p:grpSpPr>
        <p:sp>
          <p:nvSpPr>
            <p:cNvPr id="27"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1215BA3E-7692-4205-997B-ABC7094D720C}"/>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Challenge</a:t>
              </a:r>
            </a:p>
          </p:txBody>
        </p:sp>
        <p:sp>
          <p:nvSpPr>
            <p:cNvPr id="28"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Arial"/>
                  <a:ea typeface="微软雅黑"/>
                </a:rPr>
                <a:t>三</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 name="组合 1">
            <a:extLst>
              <a:ext uri="{FF2B5EF4-FFF2-40B4-BE49-F238E27FC236}">
                <a16:creationId xmlns:a16="http://schemas.microsoft.com/office/drawing/2014/main" id="{37694966-2907-4426-A062-130A961177FE}"/>
              </a:ext>
            </a:extLst>
          </p:cNvPr>
          <p:cNvGrpSpPr/>
          <p:nvPr/>
        </p:nvGrpSpPr>
        <p:grpSpPr>
          <a:xfrm>
            <a:off x="2476503" y="4089020"/>
            <a:ext cx="4487372" cy="494767"/>
            <a:chOff x="2254250" y="4293307"/>
            <a:chExt cx="4635500" cy="712614"/>
          </a:xfrm>
        </p:grpSpPr>
        <p:sp>
          <p:nvSpPr>
            <p:cNvPr id="30" name="矩形: 圆角 29">
              <a:extLst>
                <a:ext uri="{FF2B5EF4-FFF2-40B4-BE49-F238E27FC236}">
                  <a16:creationId xmlns:a16="http://schemas.microsoft.com/office/drawing/2014/main" id="{6E6D3661-6F3C-42F9-943D-06B5502C0D49}"/>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89370DE9-AA64-4B9B-B0D7-52179A05A705}"/>
                </a:ext>
              </a:extLst>
            </p:cNvPr>
            <p:cNvSpPr txBox="1"/>
            <p:nvPr/>
          </p:nvSpPr>
          <p:spPr>
            <a:xfrm>
              <a:off x="2874435" y="4315015"/>
              <a:ext cx="3728366" cy="664938"/>
            </a:xfrm>
            <a:prstGeom prst="rect">
              <a:avLst/>
            </a:prstGeom>
            <a:noFill/>
          </p:spPr>
          <p:txBody>
            <a:bodyPr wrap="square">
              <a:spAutoFit/>
            </a:bodyPr>
            <a:lstStyle/>
            <a:p>
              <a:pPr>
                <a:defRPr/>
              </a:pPr>
              <a:r>
                <a:rPr lang="en-US" altLang="zh-CN" sz="2400" b="1" dirty="0" err="1">
                  <a:solidFill>
                    <a:schemeClr val="accent2"/>
                  </a:solidFill>
                  <a:latin typeface="Arial"/>
                  <a:ea typeface="微软雅黑"/>
                </a:rPr>
                <a:t>FlightVGM</a:t>
              </a:r>
              <a:endParaRPr lang="en-US" altLang="zh-CN" sz="2400" b="1" dirty="0">
                <a:solidFill>
                  <a:schemeClr val="accent2"/>
                </a:solidFill>
                <a:latin typeface="Arial"/>
                <a:ea typeface="微软雅黑"/>
              </a:endParaRPr>
            </a:p>
          </p:txBody>
        </p:sp>
        <p:sp>
          <p:nvSpPr>
            <p:cNvPr id="31" name="矩形: 圆角 30">
              <a:extLst>
                <a:ext uri="{FF2B5EF4-FFF2-40B4-BE49-F238E27FC236}">
                  <a16:creationId xmlns:a16="http://schemas.microsoft.com/office/drawing/2014/main" id="{6853312C-FE7E-43A1-8259-2E8524987954}"/>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Arial"/>
                  <a:ea typeface="微软雅黑"/>
                </a:rPr>
                <a:t>四</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B3D4F314-124A-40B2-A730-A29E4C6616E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F02B1E6C-1DF5-4B5B-8154-6A921C91B413}"/>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Arial"/>
                <a:ea typeface="微软雅黑"/>
                <a:cs typeface="+mn-cs"/>
              </a:rPr>
              <a:t>Content</a:t>
            </a:r>
            <a:endParaRPr kumimoji="0" lang="zh-CN" altLang="en-US" sz="4800" b="1" i="0" u="none" strike="noStrike" kern="1200" cap="none" spc="600" normalizeH="0" baseline="0" noProof="0" dirty="0">
              <a:ln>
                <a:noFill/>
              </a:ln>
              <a:solidFill>
                <a:srgbClr val="082E72"/>
              </a:solidFill>
              <a:effectLst/>
              <a:uLnTx/>
              <a:uFillTx/>
              <a:latin typeface="Arial"/>
              <a:ea typeface="微软雅黑"/>
              <a:cs typeface="+mn-cs"/>
            </a:endParaRPr>
          </a:p>
        </p:txBody>
      </p:sp>
      <p:grpSp>
        <p:nvGrpSpPr>
          <p:cNvPr id="32" name="组合 31">
            <a:extLst>
              <a:ext uri="{FF2B5EF4-FFF2-40B4-BE49-F238E27FC236}">
                <a16:creationId xmlns:a16="http://schemas.microsoft.com/office/drawing/2014/main" id="{66D773D4-1EAF-4F9F-8F72-7F1400FEED3D}"/>
              </a:ext>
            </a:extLst>
          </p:cNvPr>
          <p:cNvGrpSpPr/>
          <p:nvPr/>
        </p:nvGrpSpPr>
        <p:grpSpPr>
          <a:xfrm>
            <a:off x="2476504" y="2725921"/>
            <a:ext cx="4487372" cy="494767"/>
            <a:chOff x="2254250" y="3340100"/>
            <a:chExt cx="4811810" cy="712614"/>
          </a:xfrm>
        </p:grpSpPr>
        <p:sp>
          <p:nvSpPr>
            <p:cNvPr id="33"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7"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二</a:t>
              </a:r>
            </a:p>
          </p:txBody>
        </p:sp>
      </p:grpSp>
      <p:grpSp>
        <p:nvGrpSpPr>
          <p:cNvPr id="21" name="组合 20">
            <a:extLst>
              <a:ext uri="{FF2B5EF4-FFF2-40B4-BE49-F238E27FC236}">
                <a16:creationId xmlns:a16="http://schemas.microsoft.com/office/drawing/2014/main" id="{F903167E-F437-400B-8A0D-F2E6B88BA5DE}"/>
              </a:ext>
            </a:extLst>
          </p:cNvPr>
          <p:cNvGrpSpPr/>
          <p:nvPr/>
        </p:nvGrpSpPr>
        <p:grpSpPr>
          <a:xfrm>
            <a:off x="2476502" y="4770570"/>
            <a:ext cx="4487373" cy="494767"/>
            <a:chOff x="2254250" y="2386893"/>
            <a:chExt cx="4635500" cy="712614"/>
          </a:xfrm>
        </p:grpSpPr>
        <p:sp>
          <p:nvSpPr>
            <p:cNvPr id="38" name="矩形: 圆角 40">
              <a:extLst>
                <a:ext uri="{FF2B5EF4-FFF2-40B4-BE49-F238E27FC236}">
                  <a16:creationId xmlns:a16="http://schemas.microsoft.com/office/drawing/2014/main" id="{ABF40475-9EC0-4D47-B264-39E638B68E01}"/>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AF45E508-A19F-4202-BB28-E21D9F4E7C8B}"/>
                </a:ext>
              </a:extLst>
            </p:cNvPr>
            <p:cNvSpPr txBox="1"/>
            <p:nvPr/>
          </p:nvSpPr>
          <p:spPr>
            <a:xfrm>
              <a:off x="2898024" y="2410730"/>
              <a:ext cx="3800641" cy="664937"/>
            </a:xfrm>
            <a:prstGeom prst="rect">
              <a:avLst/>
            </a:prstGeom>
            <a:noFill/>
          </p:spPr>
          <p:txBody>
            <a:bodyPr wrap="square">
              <a:spAutoFit/>
            </a:bodyPr>
            <a:lstStyle/>
            <a:p>
              <a:pPr lvl="0">
                <a:defRPr/>
              </a:pPr>
              <a:r>
                <a:rPr lang="en-US" altLang="zh-CN" sz="2400" b="1" dirty="0">
                  <a:solidFill>
                    <a:srgbClr val="FFFFFF"/>
                  </a:solidFill>
                </a:rPr>
                <a:t>Evaluation</a:t>
              </a:r>
            </a:p>
          </p:txBody>
        </p:sp>
        <p:sp>
          <p:nvSpPr>
            <p:cNvPr id="40" name="矩形: 圆角 42">
              <a:extLst>
                <a:ext uri="{FF2B5EF4-FFF2-40B4-BE49-F238E27FC236}">
                  <a16:creationId xmlns:a16="http://schemas.microsoft.com/office/drawing/2014/main" id="{ED033169-BE0B-4F71-9E1E-894B8CF2C89A}"/>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2400" b="1" dirty="0">
                  <a:solidFill>
                    <a:schemeClr val="accent2"/>
                  </a:solidFill>
                  <a:latin typeface="Arial"/>
                  <a:ea typeface="微软雅黑"/>
                </a:rPr>
                <a:t>五</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
        <p:nvSpPr>
          <p:cNvPr id="3" name="文本框 2">
            <a:extLst>
              <a:ext uri="{FF2B5EF4-FFF2-40B4-BE49-F238E27FC236}">
                <a16:creationId xmlns:a16="http://schemas.microsoft.com/office/drawing/2014/main" id="{DE1F79F8-8A5C-B9E9-B2B4-C002E211124D}"/>
              </a:ext>
            </a:extLst>
          </p:cNvPr>
          <p:cNvSpPr txBox="1"/>
          <p:nvPr/>
        </p:nvSpPr>
        <p:spPr>
          <a:xfrm>
            <a:off x="3076869" y="2739467"/>
            <a:ext cx="4087315" cy="461665"/>
          </a:xfrm>
          <a:prstGeom prst="rect">
            <a:avLst/>
          </a:prstGeom>
          <a:noFill/>
        </p:spPr>
        <p:txBody>
          <a:bodyPr wrap="square">
            <a:spAutoFit/>
          </a:bodyPr>
          <a:lstStyle/>
          <a:p>
            <a:pPr lvl="0">
              <a:defRPr/>
            </a:pPr>
            <a:r>
              <a:rPr lang="en-US" altLang="zh-CN" sz="2400" b="1" dirty="0" err="1">
                <a:solidFill>
                  <a:schemeClr val="accent2"/>
                </a:solidFill>
              </a:rPr>
              <a:t>BackGround</a:t>
            </a:r>
            <a:r>
              <a:rPr lang="en-US" altLang="zh-CN" sz="2400" b="1" dirty="0">
                <a:solidFill>
                  <a:schemeClr val="accent2"/>
                </a:solidFill>
              </a:rPr>
              <a:t> &amp; Motivation</a:t>
            </a:r>
          </a:p>
        </p:txBody>
      </p:sp>
      <p:grpSp>
        <p:nvGrpSpPr>
          <p:cNvPr id="11" name="组合 10">
            <a:extLst>
              <a:ext uri="{FF2B5EF4-FFF2-40B4-BE49-F238E27FC236}">
                <a16:creationId xmlns:a16="http://schemas.microsoft.com/office/drawing/2014/main" id="{40AE37FC-664D-98F8-C0A7-0A6FF148E558}"/>
              </a:ext>
            </a:extLst>
          </p:cNvPr>
          <p:cNvGrpSpPr/>
          <p:nvPr/>
        </p:nvGrpSpPr>
        <p:grpSpPr>
          <a:xfrm>
            <a:off x="2476502" y="2040879"/>
            <a:ext cx="4487372" cy="494767"/>
            <a:chOff x="2254250" y="3340100"/>
            <a:chExt cx="4811810" cy="712614"/>
          </a:xfrm>
        </p:grpSpPr>
        <p:sp>
          <p:nvSpPr>
            <p:cNvPr id="12" name="矩形: 圆角 11">
              <a:extLst>
                <a:ext uri="{FF2B5EF4-FFF2-40B4-BE49-F238E27FC236}">
                  <a16:creationId xmlns:a16="http://schemas.microsoft.com/office/drawing/2014/main" id="{76D997D2-7A29-B398-A3C5-5947265FF039}"/>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39E69941-F7B3-8E3B-55DE-2838BAB4308D}"/>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Previous Work</a:t>
              </a:r>
            </a:p>
          </p:txBody>
        </p:sp>
        <p:sp>
          <p:nvSpPr>
            <p:cNvPr id="14" name="矩形: 圆角 13">
              <a:extLst>
                <a:ext uri="{FF2B5EF4-FFF2-40B4-BE49-F238E27FC236}">
                  <a16:creationId xmlns:a16="http://schemas.microsoft.com/office/drawing/2014/main" id="{5BAD0A7F-C731-6777-D77D-990726F7BE02}"/>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一</a:t>
              </a:r>
            </a:p>
          </p:txBody>
        </p:sp>
      </p:grpSp>
      <p:grpSp>
        <p:nvGrpSpPr>
          <p:cNvPr id="9" name="组合 8">
            <a:extLst>
              <a:ext uri="{FF2B5EF4-FFF2-40B4-BE49-F238E27FC236}">
                <a16:creationId xmlns:a16="http://schemas.microsoft.com/office/drawing/2014/main" id="{DE0572F3-1C4E-5411-6192-162C7DFEEB0D}"/>
              </a:ext>
            </a:extLst>
          </p:cNvPr>
          <p:cNvGrpSpPr/>
          <p:nvPr/>
        </p:nvGrpSpPr>
        <p:grpSpPr>
          <a:xfrm>
            <a:off x="2476502" y="5452119"/>
            <a:ext cx="4487372" cy="494767"/>
            <a:chOff x="2254250" y="4293307"/>
            <a:chExt cx="4635500" cy="712614"/>
          </a:xfrm>
        </p:grpSpPr>
        <p:sp>
          <p:nvSpPr>
            <p:cNvPr id="10" name="矩形: 圆角 9">
              <a:extLst>
                <a:ext uri="{FF2B5EF4-FFF2-40B4-BE49-F238E27FC236}">
                  <a16:creationId xmlns:a16="http://schemas.microsoft.com/office/drawing/2014/main" id="{6153F4FF-C377-2144-8559-D439255DEF3F}"/>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5" name="文本框 14">
              <a:extLst>
                <a:ext uri="{FF2B5EF4-FFF2-40B4-BE49-F238E27FC236}">
                  <a16:creationId xmlns:a16="http://schemas.microsoft.com/office/drawing/2014/main" id="{505C0E8E-287E-4F94-9D0C-3E0A9C27F24E}"/>
                </a:ext>
              </a:extLst>
            </p:cNvPr>
            <p:cNvSpPr txBox="1"/>
            <p:nvPr/>
          </p:nvSpPr>
          <p:spPr>
            <a:xfrm>
              <a:off x="2874435" y="4315015"/>
              <a:ext cx="3728366" cy="664938"/>
            </a:xfrm>
            <a:prstGeom prst="rect">
              <a:avLst/>
            </a:prstGeom>
            <a:noFill/>
          </p:spPr>
          <p:txBody>
            <a:bodyPr wrap="square">
              <a:spAutoFit/>
            </a:bodyPr>
            <a:lstStyle/>
            <a:p>
              <a:pPr lvl="0">
                <a:defRPr/>
              </a:pPr>
              <a:r>
                <a:rPr lang="en-US" altLang="zh-CN" sz="2400" b="1" dirty="0">
                  <a:solidFill>
                    <a:srgbClr val="082E72"/>
                  </a:solidFill>
                </a:rPr>
                <a:t>Exploration</a:t>
              </a:r>
            </a:p>
          </p:txBody>
        </p:sp>
        <p:sp>
          <p:nvSpPr>
            <p:cNvPr id="16" name="矩形: 圆角 15">
              <a:extLst>
                <a:ext uri="{FF2B5EF4-FFF2-40B4-BE49-F238E27FC236}">
                  <a16:creationId xmlns:a16="http://schemas.microsoft.com/office/drawing/2014/main" id="{63117EFA-0312-DE9A-45F4-8628AF1AFE15}"/>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六</a:t>
              </a:r>
            </a:p>
          </p:txBody>
        </p:sp>
      </p:grpSp>
    </p:spTree>
    <p:extLst>
      <p:ext uri="{BB962C8B-B14F-4D97-AF65-F5344CB8AC3E}">
        <p14:creationId xmlns:p14="http://schemas.microsoft.com/office/powerpoint/2010/main" val="3965789931"/>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Baseline</a:t>
            </a:r>
          </a:p>
        </p:txBody>
      </p:sp>
      <p:sp>
        <p:nvSpPr>
          <p:cNvPr id="20" name="文本框 19"/>
          <p:cNvSpPr txBox="1"/>
          <p:nvPr/>
        </p:nvSpPr>
        <p:spPr>
          <a:xfrm>
            <a:off x="50584" y="269352"/>
            <a:ext cx="1468880"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Evaluation</a:t>
            </a:r>
            <a:endParaRPr kumimoji="0" lang="zh-CN" altLang="en-US" sz="20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rPr>
              <a:t>1</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2" name="图片 1">
            <a:extLst>
              <a:ext uri="{FF2B5EF4-FFF2-40B4-BE49-F238E27FC236}">
                <a16:creationId xmlns:a16="http://schemas.microsoft.com/office/drawing/2014/main" id="{414A0E1F-3916-6867-373B-B1D329217C19}"/>
              </a:ext>
            </a:extLst>
          </p:cNvPr>
          <p:cNvPicPr>
            <a:picLocks noChangeAspect="1"/>
          </p:cNvPicPr>
          <p:nvPr/>
        </p:nvPicPr>
        <p:blipFill>
          <a:blip r:embed="rId3"/>
          <a:stretch>
            <a:fillRect/>
          </a:stretch>
        </p:blipFill>
        <p:spPr>
          <a:xfrm>
            <a:off x="2074441" y="899574"/>
            <a:ext cx="4995117" cy="5058851"/>
          </a:xfrm>
          <a:prstGeom prst="rect">
            <a:avLst/>
          </a:prstGeom>
        </p:spPr>
      </p:pic>
    </p:spTree>
    <p:extLst>
      <p:ext uri="{BB962C8B-B14F-4D97-AF65-F5344CB8AC3E}">
        <p14:creationId xmlns:p14="http://schemas.microsoft.com/office/powerpoint/2010/main" val="3530544471"/>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Model Accuracy</a:t>
            </a:r>
          </a:p>
        </p:txBody>
      </p:sp>
      <p:sp>
        <p:nvSpPr>
          <p:cNvPr id="20" name="文本框 19"/>
          <p:cNvSpPr txBox="1"/>
          <p:nvPr/>
        </p:nvSpPr>
        <p:spPr>
          <a:xfrm>
            <a:off x="50584" y="269352"/>
            <a:ext cx="1468880"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Evaluation</a:t>
            </a:r>
            <a:endParaRPr kumimoji="0" lang="zh-CN" altLang="en-US" sz="20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2</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6" name="Picture 2">
            <a:extLst>
              <a:ext uri="{FF2B5EF4-FFF2-40B4-BE49-F238E27FC236}">
                <a16:creationId xmlns:a16="http://schemas.microsoft.com/office/drawing/2014/main" id="{14EEC2AB-4E0F-61FA-5802-056B09ED37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4422"/>
          <a:stretch/>
        </p:blipFill>
        <p:spPr bwMode="auto">
          <a:xfrm>
            <a:off x="73820" y="1464556"/>
            <a:ext cx="8996359" cy="2633617"/>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D098B88E-16A4-760C-F4B2-1184A794BDCF}"/>
              </a:ext>
            </a:extLst>
          </p:cNvPr>
          <p:cNvSpPr txBox="1"/>
          <p:nvPr/>
        </p:nvSpPr>
        <p:spPr>
          <a:xfrm>
            <a:off x="460828" y="4354658"/>
            <a:ext cx="9215562" cy="1077218"/>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Metrics: </a:t>
            </a:r>
          </a:p>
          <a:p>
            <a:r>
              <a:rPr lang="en-US" altLang="zh-CN" sz="2000" b="1" dirty="0">
                <a:latin typeface="Times New Roman" panose="02020603050405020304" pitchFamily="18" charset="0"/>
                <a:cs typeface="Times New Roman" panose="02020603050405020304" pitchFamily="18" charset="0"/>
              </a:rPr>
              <a:t>CLIPSIM: </a:t>
            </a:r>
            <a:r>
              <a:rPr lang="en-US" altLang="zh-CN" sz="2000" dirty="0">
                <a:latin typeface="Times New Roman" panose="02020603050405020304" pitchFamily="18" charset="0"/>
                <a:cs typeface="Times New Roman" panose="02020603050405020304" pitchFamily="18" charset="0"/>
              </a:rPr>
              <a:t>measure the alignment between a given prompt and the video </a:t>
            </a:r>
          </a:p>
          <a:p>
            <a:r>
              <a:rPr lang="en-US" altLang="zh-CN" sz="2000" b="1" dirty="0" err="1">
                <a:latin typeface="Times New Roman" panose="02020603050405020304" pitchFamily="18" charset="0"/>
                <a:cs typeface="Times New Roman" panose="02020603050405020304" pitchFamily="18" charset="0"/>
              </a:rPr>
              <a:t>Vbench</a:t>
            </a:r>
            <a:r>
              <a:rPr lang="en-US" altLang="zh-CN" sz="2000" b="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evaluate the overall quality of the generated videos</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3047806"/>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Performance</a:t>
            </a:r>
          </a:p>
        </p:txBody>
      </p:sp>
      <p:sp>
        <p:nvSpPr>
          <p:cNvPr id="20" name="文本框 19"/>
          <p:cNvSpPr txBox="1"/>
          <p:nvPr/>
        </p:nvSpPr>
        <p:spPr>
          <a:xfrm>
            <a:off x="50584" y="269352"/>
            <a:ext cx="1468880"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Evaluation</a:t>
            </a:r>
            <a:endParaRPr kumimoji="0" lang="zh-CN" altLang="en-US" sz="20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3</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2" name="Picture 2">
            <a:extLst>
              <a:ext uri="{FF2B5EF4-FFF2-40B4-BE49-F238E27FC236}">
                <a16:creationId xmlns:a16="http://schemas.microsoft.com/office/drawing/2014/main" id="{64170B54-AFCA-EA5F-6E44-EB5EF94A41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29" t="47122" r="4329" b="11203"/>
          <a:stretch/>
        </p:blipFill>
        <p:spPr bwMode="auto">
          <a:xfrm>
            <a:off x="127462" y="3277192"/>
            <a:ext cx="8889075" cy="2604839"/>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a:extLst>
              <a:ext uri="{FF2B5EF4-FFF2-40B4-BE49-F238E27FC236}">
                <a16:creationId xmlns:a16="http://schemas.microsoft.com/office/drawing/2014/main" id="{6089CB23-6865-F07A-3271-3CE907D5C450}"/>
              </a:ext>
            </a:extLst>
          </p:cNvPr>
          <p:cNvPicPr>
            <a:picLocks noChangeAspect="1"/>
          </p:cNvPicPr>
          <p:nvPr/>
        </p:nvPicPr>
        <p:blipFill>
          <a:blip r:embed="rId4"/>
          <a:stretch>
            <a:fillRect/>
          </a:stretch>
        </p:blipFill>
        <p:spPr>
          <a:xfrm>
            <a:off x="1993980" y="975969"/>
            <a:ext cx="5156037" cy="2097104"/>
          </a:xfrm>
          <a:prstGeom prst="rect">
            <a:avLst/>
          </a:prstGeom>
        </p:spPr>
      </p:pic>
    </p:spTree>
    <p:extLst>
      <p:ext uri="{BB962C8B-B14F-4D97-AF65-F5344CB8AC3E}">
        <p14:creationId xmlns:p14="http://schemas.microsoft.com/office/powerpoint/2010/main" val="1337986514"/>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903EF8C-13D3-422C-9C3F-5EECC23210A7}"/>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66D773D4-1EAF-4F9F-8F72-7F1400FEED3D}"/>
              </a:ext>
            </a:extLst>
          </p:cNvPr>
          <p:cNvGrpSpPr/>
          <p:nvPr/>
        </p:nvGrpSpPr>
        <p:grpSpPr>
          <a:xfrm>
            <a:off x="2476503" y="3407470"/>
            <a:ext cx="4487372" cy="494767"/>
            <a:chOff x="2254250" y="3340100"/>
            <a:chExt cx="4811810" cy="712614"/>
          </a:xfrm>
        </p:grpSpPr>
        <p:sp>
          <p:nvSpPr>
            <p:cNvPr id="27"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1215BA3E-7692-4205-997B-ABC7094D720C}"/>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Challenge</a:t>
              </a:r>
            </a:p>
          </p:txBody>
        </p:sp>
        <p:sp>
          <p:nvSpPr>
            <p:cNvPr id="28"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Arial"/>
                  <a:ea typeface="微软雅黑"/>
                </a:rPr>
                <a:t>三</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 name="组合 1">
            <a:extLst>
              <a:ext uri="{FF2B5EF4-FFF2-40B4-BE49-F238E27FC236}">
                <a16:creationId xmlns:a16="http://schemas.microsoft.com/office/drawing/2014/main" id="{37694966-2907-4426-A062-130A961177FE}"/>
              </a:ext>
            </a:extLst>
          </p:cNvPr>
          <p:cNvGrpSpPr/>
          <p:nvPr/>
        </p:nvGrpSpPr>
        <p:grpSpPr>
          <a:xfrm>
            <a:off x="2476503" y="4089020"/>
            <a:ext cx="4487372" cy="494767"/>
            <a:chOff x="2254250" y="4293307"/>
            <a:chExt cx="4635500" cy="712614"/>
          </a:xfrm>
        </p:grpSpPr>
        <p:sp>
          <p:nvSpPr>
            <p:cNvPr id="30" name="矩形: 圆角 29">
              <a:extLst>
                <a:ext uri="{FF2B5EF4-FFF2-40B4-BE49-F238E27FC236}">
                  <a16:creationId xmlns:a16="http://schemas.microsoft.com/office/drawing/2014/main" id="{6E6D3661-6F3C-42F9-943D-06B5502C0D49}"/>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89370DE9-AA64-4B9B-B0D7-52179A05A705}"/>
                </a:ext>
              </a:extLst>
            </p:cNvPr>
            <p:cNvSpPr txBox="1"/>
            <p:nvPr/>
          </p:nvSpPr>
          <p:spPr>
            <a:xfrm>
              <a:off x="2874435" y="4315015"/>
              <a:ext cx="3728366" cy="664938"/>
            </a:xfrm>
            <a:prstGeom prst="rect">
              <a:avLst/>
            </a:prstGeom>
            <a:noFill/>
          </p:spPr>
          <p:txBody>
            <a:bodyPr wrap="square">
              <a:spAutoFit/>
            </a:bodyPr>
            <a:lstStyle/>
            <a:p>
              <a:pPr>
                <a:defRPr/>
              </a:pPr>
              <a:r>
                <a:rPr lang="en-US" altLang="zh-CN" sz="2400" b="1" dirty="0" err="1">
                  <a:solidFill>
                    <a:schemeClr val="accent2"/>
                  </a:solidFill>
                  <a:latin typeface="Arial"/>
                  <a:ea typeface="微软雅黑"/>
                </a:rPr>
                <a:t>FlightVGM</a:t>
              </a:r>
              <a:endParaRPr lang="en-US" altLang="zh-CN" sz="2400" b="1" dirty="0">
                <a:solidFill>
                  <a:schemeClr val="accent2"/>
                </a:solidFill>
                <a:latin typeface="Arial"/>
                <a:ea typeface="微软雅黑"/>
              </a:endParaRPr>
            </a:p>
          </p:txBody>
        </p:sp>
        <p:sp>
          <p:nvSpPr>
            <p:cNvPr id="31" name="矩形: 圆角 30">
              <a:extLst>
                <a:ext uri="{FF2B5EF4-FFF2-40B4-BE49-F238E27FC236}">
                  <a16:creationId xmlns:a16="http://schemas.microsoft.com/office/drawing/2014/main" id="{6853312C-FE7E-43A1-8259-2E8524987954}"/>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Arial"/>
                  <a:ea typeface="微软雅黑"/>
                </a:rPr>
                <a:t>四</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B3D4F314-124A-40B2-A730-A29E4C6616E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F02B1E6C-1DF5-4B5B-8154-6A921C91B413}"/>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Arial"/>
                <a:ea typeface="微软雅黑"/>
                <a:cs typeface="+mn-cs"/>
              </a:rPr>
              <a:t>Content</a:t>
            </a:r>
            <a:endParaRPr kumimoji="0" lang="zh-CN" altLang="en-US" sz="4800" b="1" i="0" u="none" strike="noStrike" kern="1200" cap="none" spc="600" normalizeH="0" baseline="0" noProof="0" dirty="0">
              <a:ln>
                <a:noFill/>
              </a:ln>
              <a:solidFill>
                <a:srgbClr val="082E72"/>
              </a:solidFill>
              <a:effectLst/>
              <a:uLnTx/>
              <a:uFillTx/>
              <a:latin typeface="Arial"/>
              <a:ea typeface="微软雅黑"/>
              <a:cs typeface="+mn-cs"/>
            </a:endParaRPr>
          </a:p>
        </p:txBody>
      </p:sp>
      <p:grpSp>
        <p:nvGrpSpPr>
          <p:cNvPr id="32" name="组合 31">
            <a:extLst>
              <a:ext uri="{FF2B5EF4-FFF2-40B4-BE49-F238E27FC236}">
                <a16:creationId xmlns:a16="http://schemas.microsoft.com/office/drawing/2014/main" id="{66D773D4-1EAF-4F9F-8F72-7F1400FEED3D}"/>
              </a:ext>
            </a:extLst>
          </p:cNvPr>
          <p:cNvGrpSpPr/>
          <p:nvPr/>
        </p:nvGrpSpPr>
        <p:grpSpPr>
          <a:xfrm>
            <a:off x="2476504" y="2725921"/>
            <a:ext cx="4487372" cy="494767"/>
            <a:chOff x="2254250" y="3340100"/>
            <a:chExt cx="4811810" cy="712614"/>
          </a:xfrm>
        </p:grpSpPr>
        <p:sp>
          <p:nvSpPr>
            <p:cNvPr id="33"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7"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二</a:t>
              </a:r>
            </a:p>
          </p:txBody>
        </p:sp>
      </p:grpSp>
      <p:grpSp>
        <p:nvGrpSpPr>
          <p:cNvPr id="21" name="组合 20">
            <a:extLst>
              <a:ext uri="{FF2B5EF4-FFF2-40B4-BE49-F238E27FC236}">
                <a16:creationId xmlns:a16="http://schemas.microsoft.com/office/drawing/2014/main" id="{F903167E-F437-400B-8A0D-F2E6B88BA5DE}"/>
              </a:ext>
            </a:extLst>
          </p:cNvPr>
          <p:cNvGrpSpPr/>
          <p:nvPr/>
        </p:nvGrpSpPr>
        <p:grpSpPr>
          <a:xfrm>
            <a:off x="2476502" y="5454262"/>
            <a:ext cx="4487373" cy="494767"/>
            <a:chOff x="2254250" y="2386893"/>
            <a:chExt cx="4635500" cy="712614"/>
          </a:xfrm>
        </p:grpSpPr>
        <p:sp>
          <p:nvSpPr>
            <p:cNvPr id="38" name="矩形: 圆角 40">
              <a:extLst>
                <a:ext uri="{FF2B5EF4-FFF2-40B4-BE49-F238E27FC236}">
                  <a16:creationId xmlns:a16="http://schemas.microsoft.com/office/drawing/2014/main" id="{ABF40475-9EC0-4D47-B264-39E638B68E01}"/>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AF45E508-A19F-4202-BB28-E21D9F4E7C8B}"/>
                </a:ext>
              </a:extLst>
            </p:cNvPr>
            <p:cNvSpPr txBox="1"/>
            <p:nvPr/>
          </p:nvSpPr>
          <p:spPr>
            <a:xfrm>
              <a:off x="2898024" y="2410730"/>
              <a:ext cx="3800641" cy="664937"/>
            </a:xfrm>
            <a:prstGeom prst="rect">
              <a:avLst/>
            </a:prstGeom>
            <a:noFill/>
          </p:spPr>
          <p:txBody>
            <a:bodyPr wrap="square">
              <a:spAutoFit/>
            </a:bodyPr>
            <a:lstStyle/>
            <a:p>
              <a:pPr lvl="0">
                <a:defRPr/>
              </a:pPr>
              <a:r>
                <a:rPr lang="en-US" altLang="zh-CN" sz="2400" b="1" dirty="0">
                  <a:solidFill>
                    <a:srgbClr val="FFFFFF"/>
                  </a:solidFill>
                </a:rPr>
                <a:t>Exploration</a:t>
              </a:r>
            </a:p>
          </p:txBody>
        </p:sp>
        <p:sp>
          <p:nvSpPr>
            <p:cNvPr id="40" name="矩形: 圆角 42">
              <a:extLst>
                <a:ext uri="{FF2B5EF4-FFF2-40B4-BE49-F238E27FC236}">
                  <a16:creationId xmlns:a16="http://schemas.microsoft.com/office/drawing/2014/main" id="{ED033169-BE0B-4F71-9E1E-894B8CF2C89A}"/>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rPr>
                <a:t>六</a:t>
              </a:r>
            </a:p>
          </p:txBody>
        </p:sp>
      </p:grpSp>
      <p:sp>
        <p:nvSpPr>
          <p:cNvPr id="3" name="文本框 2">
            <a:extLst>
              <a:ext uri="{FF2B5EF4-FFF2-40B4-BE49-F238E27FC236}">
                <a16:creationId xmlns:a16="http://schemas.microsoft.com/office/drawing/2014/main" id="{DE1F79F8-8A5C-B9E9-B2B4-C002E211124D}"/>
              </a:ext>
            </a:extLst>
          </p:cNvPr>
          <p:cNvSpPr txBox="1"/>
          <p:nvPr/>
        </p:nvSpPr>
        <p:spPr>
          <a:xfrm>
            <a:off x="3076869" y="2739467"/>
            <a:ext cx="4087315" cy="461665"/>
          </a:xfrm>
          <a:prstGeom prst="rect">
            <a:avLst/>
          </a:prstGeom>
          <a:noFill/>
        </p:spPr>
        <p:txBody>
          <a:bodyPr wrap="square">
            <a:spAutoFit/>
          </a:bodyPr>
          <a:lstStyle/>
          <a:p>
            <a:pPr lvl="0">
              <a:defRPr/>
            </a:pPr>
            <a:r>
              <a:rPr lang="en-US" altLang="zh-CN" sz="2400" b="1" dirty="0" err="1">
                <a:solidFill>
                  <a:schemeClr val="accent2"/>
                </a:solidFill>
              </a:rPr>
              <a:t>BackGround</a:t>
            </a:r>
            <a:r>
              <a:rPr lang="en-US" altLang="zh-CN" sz="2400" b="1" dirty="0">
                <a:solidFill>
                  <a:schemeClr val="accent2"/>
                </a:solidFill>
              </a:rPr>
              <a:t> &amp; Motivation</a:t>
            </a:r>
          </a:p>
        </p:txBody>
      </p:sp>
      <p:grpSp>
        <p:nvGrpSpPr>
          <p:cNvPr id="4" name="组合 3">
            <a:extLst>
              <a:ext uri="{FF2B5EF4-FFF2-40B4-BE49-F238E27FC236}">
                <a16:creationId xmlns:a16="http://schemas.microsoft.com/office/drawing/2014/main" id="{33978278-FF95-2B9B-B798-F1D0785C5F71}"/>
              </a:ext>
            </a:extLst>
          </p:cNvPr>
          <p:cNvGrpSpPr/>
          <p:nvPr/>
        </p:nvGrpSpPr>
        <p:grpSpPr>
          <a:xfrm>
            <a:off x="2476503" y="4771641"/>
            <a:ext cx="4487372" cy="846069"/>
            <a:chOff x="2254250" y="4293307"/>
            <a:chExt cx="4635500" cy="1218595"/>
          </a:xfrm>
        </p:grpSpPr>
        <p:sp>
          <p:nvSpPr>
            <p:cNvPr id="6" name="矩形: 圆角 5">
              <a:extLst>
                <a:ext uri="{FF2B5EF4-FFF2-40B4-BE49-F238E27FC236}">
                  <a16:creationId xmlns:a16="http://schemas.microsoft.com/office/drawing/2014/main" id="{64D1F5DF-AEAA-426F-5377-908E4994BC8C}"/>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7" name="文本框 6">
              <a:extLst>
                <a:ext uri="{FF2B5EF4-FFF2-40B4-BE49-F238E27FC236}">
                  <a16:creationId xmlns:a16="http://schemas.microsoft.com/office/drawing/2014/main" id="{247AACF7-3C32-5E03-DD92-7E7CDAE259DA}"/>
                </a:ext>
              </a:extLst>
            </p:cNvPr>
            <p:cNvSpPr txBox="1"/>
            <p:nvPr/>
          </p:nvSpPr>
          <p:spPr>
            <a:xfrm>
              <a:off x="2874435" y="4315015"/>
              <a:ext cx="3728366" cy="1196887"/>
            </a:xfrm>
            <a:prstGeom prst="rect">
              <a:avLst/>
            </a:prstGeom>
            <a:noFill/>
          </p:spPr>
          <p:txBody>
            <a:bodyPr wrap="square">
              <a:spAutoFit/>
            </a:bodyPr>
            <a:lstStyle/>
            <a:p>
              <a:pPr>
                <a:defRPr/>
              </a:pPr>
              <a:r>
                <a:rPr lang="en-US" altLang="zh-CN" sz="2400" b="1" dirty="0">
                  <a:solidFill>
                    <a:schemeClr val="accent2"/>
                  </a:solidFill>
                  <a:latin typeface="Arial"/>
                  <a:ea typeface="微软雅黑"/>
                </a:rPr>
                <a:t>Evaluation</a:t>
              </a:r>
            </a:p>
            <a:p>
              <a:pPr>
                <a:defRPr/>
              </a:pPr>
              <a:endParaRPr lang="en-US" altLang="zh-CN" sz="2400" b="1" dirty="0">
                <a:solidFill>
                  <a:schemeClr val="accent2"/>
                </a:solidFill>
                <a:latin typeface="Arial"/>
                <a:ea typeface="微软雅黑"/>
              </a:endParaRPr>
            </a:p>
          </p:txBody>
        </p:sp>
        <p:sp>
          <p:nvSpPr>
            <p:cNvPr id="8" name="矩形: 圆角 7">
              <a:extLst>
                <a:ext uri="{FF2B5EF4-FFF2-40B4-BE49-F238E27FC236}">
                  <a16:creationId xmlns:a16="http://schemas.microsoft.com/office/drawing/2014/main" id="{4DA7F6A2-6F2D-9D07-2791-C15CBB321C56}"/>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五</a:t>
              </a:r>
            </a:p>
          </p:txBody>
        </p:sp>
      </p:grpSp>
      <p:grpSp>
        <p:nvGrpSpPr>
          <p:cNvPr id="11" name="组合 10">
            <a:extLst>
              <a:ext uri="{FF2B5EF4-FFF2-40B4-BE49-F238E27FC236}">
                <a16:creationId xmlns:a16="http://schemas.microsoft.com/office/drawing/2014/main" id="{40AE37FC-664D-98F8-C0A7-0A6FF148E558}"/>
              </a:ext>
            </a:extLst>
          </p:cNvPr>
          <p:cNvGrpSpPr/>
          <p:nvPr/>
        </p:nvGrpSpPr>
        <p:grpSpPr>
          <a:xfrm>
            <a:off x="2476502" y="2040879"/>
            <a:ext cx="4487372" cy="494767"/>
            <a:chOff x="2254250" y="3340100"/>
            <a:chExt cx="4811810" cy="712614"/>
          </a:xfrm>
        </p:grpSpPr>
        <p:sp>
          <p:nvSpPr>
            <p:cNvPr id="12" name="矩形: 圆角 11">
              <a:extLst>
                <a:ext uri="{FF2B5EF4-FFF2-40B4-BE49-F238E27FC236}">
                  <a16:creationId xmlns:a16="http://schemas.microsoft.com/office/drawing/2014/main" id="{76D997D2-7A29-B398-A3C5-5947265FF039}"/>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39E69941-F7B3-8E3B-55DE-2838BAB4308D}"/>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Previous Work</a:t>
              </a:r>
            </a:p>
          </p:txBody>
        </p:sp>
        <p:sp>
          <p:nvSpPr>
            <p:cNvPr id="14" name="矩形: 圆角 13">
              <a:extLst>
                <a:ext uri="{FF2B5EF4-FFF2-40B4-BE49-F238E27FC236}">
                  <a16:creationId xmlns:a16="http://schemas.microsoft.com/office/drawing/2014/main" id="{5BAD0A7F-C731-6777-D77D-990726F7BE02}"/>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Arial"/>
                  <a:ea typeface="微软雅黑"/>
                  <a:cs typeface="+mn-cs"/>
                </a:rPr>
                <a:t>一</a:t>
              </a:r>
            </a:p>
          </p:txBody>
        </p:sp>
      </p:grpSp>
    </p:spTree>
    <p:extLst>
      <p:ext uri="{BB962C8B-B14F-4D97-AF65-F5344CB8AC3E}">
        <p14:creationId xmlns:p14="http://schemas.microsoft.com/office/powerpoint/2010/main" val="1500990858"/>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Exploration</a:t>
            </a:r>
          </a:p>
        </p:txBody>
      </p:sp>
      <p:sp>
        <p:nvSpPr>
          <p:cNvPr id="20" name="文本框 19"/>
          <p:cNvSpPr txBox="1"/>
          <p:nvPr/>
        </p:nvSpPr>
        <p:spPr>
          <a:xfrm>
            <a:off x="50584" y="269352"/>
            <a:ext cx="1468880"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Evaluation</a:t>
            </a:r>
            <a:endParaRPr kumimoji="0" lang="zh-CN" altLang="en-US" sz="20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rPr>
              <a:t>4</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4" name="图片 3">
            <a:extLst>
              <a:ext uri="{FF2B5EF4-FFF2-40B4-BE49-F238E27FC236}">
                <a16:creationId xmlns:a16="http://schemas.microsoft.com/office/drawing/2014/main" id="{2AAFB949-58F9-C7B4-89DA-33155B088064}"/>
              </a:ext>
            </a:extLst>
          </p:cNvPr>
          <p:cNvPicPr>
            <a:picLocks noChangeAspect="1"/>
          </p:cNvPicPr>
          <p:nvPr/>
        </p:nvPicPr>
        <p:blipFill>
          <a:blip r:embed="rId3"/>
          <a:stretch>
            <a:fillRect/>
          </a:stretch>
        </p:blipFill>
        <p:spPr>
          <a:xfrm>
            <a:off x="50584" y="1319174"/>
            <a:ext cx="8988142" cy="2109826"/>
          </a:xfrm>
          <a:prstGeom prst="rect">
            <a:avLst/>
          </a:prstGeom>
        </p:spPr>
      </p:pic>
      <p:sp>
        <p:nvSpPr>
          <p:cNvPr id="5" name="文本框 4">
            <a:extLst>
              <a:ext uri="{FF2B5EF4-FFF2-40B4-BE49-F238E27FC236}">
                <a16:creationId xmlns:a16="http://schemas.microsoft.com/office/drawing/2014/main" id="{DAE3B3D3-FE48-1764-8E76-9171D2467AEF}"/>
              </a:ext>
            </a:extLst>
          </p:cNvPr>
          <p:cNvSpPr txBox="1"/>
          <p:nvPr/>
        </p:nvSpPr>
        <p:spPr>
          <a:xfrm>
            <a:off x="378171" y="3429000"/>
            <a:ext cx="3235459" cy="1754326"/>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When the ratio is 6, it means that under the load characteristics of the VGM, the parallelism between INT8 and FP16 is well </a:t>
            </a:r>
            <a:r>
              <a:rPr lang="en-US" altLang="zh-CN" b="1" dirty="0">
                <a:latin typeface="Times New Roman" panose="02020603050405020304" pitchFamily="18" charset="0"/>
                <a:cs typeface="Times New Roman" panose="02020603050405020304" pitchFamily="18" charset="0"/>
              </a:rPr>
              <a:t>balanced</a:t>
            </a:r>
            <a:r>
              <a:rPr lang="en-US" altLang="zh-CN" dirty="0">
                <a:latin typeface="Times New Roman" panose="02020603050405020304" pitchFamily="18" charset="0"/>
                <a:cs typeface="Times New Roman" panose="02020603050405020304" pitchFamily="18" charset="0"/>
              </a:rPr>
              <a:t>, resulting in the </a:t>
            </a:r>
            <a:r>
              <a:rPr lang="en-US" altLang="zh-CN" b="1" dirty="0">
                <a:latin typeface="Times New Roman" panose="02020603050405020304" pitchFamily="18" charset="0"/>
                <a:cs typeface="Times New Roman" panose="02020603050405020304" pitchFamily="18" charset="0"/>
              </a:rPr>
              <a:t>lowest overall latency</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BF7DBB05-A299-0ED4-510F-B80DF244D23E}"/>
              </a:ext>
            </a:extLst>
          </p:cNvPr>
          <p:cNvSpPr txBox="1"/>
          <p:nvPr/>
        </p:nvSpPr>
        <p:spPr>
          <a:xfrm>
            <a:off x="3613630" y="3414092"/>
            <a:ext cx="2152996" cy="2031325"/>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The scheduling itself does </a:t>
            </a:r>
            <a:r>
              <a:rPr lang="en-US" altLang="zh-CN" b="1" dirty="0">
                <a:latin typeface="Times New Roman" panose="02020603050405020304" pitchFamily="18" charset="0"/>
                <a:cs typeface="Times New Roman" panose="02020603050405020304" pitchFamily="18" charset="0"/>
              </a:rPr>
              <a:t>not introduce significant time or bandwidth overhead</a:t>
            </a:r>
            <a:r>
              <a:rPr lang="en-US" altLang="zh-CN" dirty="0">
                <a:latin typeface="Times New Roman" panose="02020603050405020304" pitchFamily="18" charset="0"/>
                <a:cs typeface="Times New Roman" panose="02020603050405020304" pitchFamily="18" charset="0"/>
              </a:rPr>
              <a:t>, and the benefits far outweigh the costs.</a:t>
            </a:r>
          </a:p>
        </p:txBody>
      </p:sp>
      <p:sp>
        <p:nvSpPr>
          <p:cNvPr id="7" name="文本框 6">
            <a:extLst>
              <a:ext uri="{FF2B5EF4-FFF2-40B4-BE49-F238E27FC236}">
                <a16:creationId xmlns:a16="http://schemas.microsoft.com/office/drawing/2014/main" id="{D975CB83-6EF0-FB31-90EF-5B8F2E899FBC}"/>
              </a:ext>
            </a:extLst>
          </p:cNvPr>
          <p:cNvSpPr txBox="1"/>
          <p:nvPr/>
        </p:nvSpPr>
        <p:spPr>
          <a:xfrm>
            <a:off x="5766626" y="3429000"/>
            <a:ext cx="3092334" cy="286232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Even if the AIE provides higher computational power, if the bandwidth is insufficient, the actual acceleration </a:t>
            </a:r>
            <a:r>
              <a:rPr lang="en-US" altLang="zh-CN" b="1" dirty="0">
                <a:latin typeface="Times New Roman" panose="02020603050405020304" pitchFamily="18" charset="0"/>
                <a:cs typeface="Times New Roman" panose="02020603050405020304" pitchFamily="18" charset="0"/>
              </a:rPr>
              <a:t>effect will be limited</a:t>
            </a:r>
            <a:r>
              <a:rPr lang="en-US" altLang="zh-CN" dirty="0">
                <a:latin typeface="Times New Roman" panose="02020603050405020304" pitchFamily="18" charset="0"/>
                <a:cs typeface="Times New Roman" panose="02020603050405020304" pitchFamily="18" charset="0"/>
              </a:rPr>
              <a:t>; however, if it is combined with high-bandwidth memory (</a:t>
            </a:r>
            <a:r>
              <a:rPr lang="en-US" altLang="zh-CN" b="1" dirty="0">
                <a:latin typeface="Times New Roman" panose="02020603050405020304" pitchFamily="18" charset="0"/>
                <a:cs typeface="Times New Roman" panose="02020603050405020304" pitchFamily="18" charset="0"/>
              </a:rPr>
              <a:t>HBM</a:t>
            </a:r>
            <a:r>
              <a:rPr lang="en-US" altLang="zh-CN" dirty="0">
                <a:latin typeface="Times New Roman" panose="02020603050405020304" pitchFamily="18" charset="0"/>
                <a:cs typeface="Times New Roman" panose="02020603050405020304" pitchFamily="18" charset="0"/>
              </a:rPr>
              <a:t>) or similar storage, further acceleration can theoretically be achieved.</a:t>
            </a:r>
          </a:p>
        </p:txBody>
      </p:sp>
    </p:spTree>
    <p:extLst>
      <p:ext uri="{BB962C8B-B14F-4D97-AF65-F5344CB8AC3E}">
        <p14:creationId xmlns:p14="http://schemas.microsoft.com/office/powerpoint/2010/main" val="1013242828"/>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SSR – AIE + FPGA</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Related</a:t>
            </a:r>
          </a:p>
        </p:txBody>
      </p:sp>
      <p:sp>
        <p:nvSpPr>
          <p:cNvPr id="21" name="椭圆 20"/>
          <p:cNvSpPr/>
          <p:nvPr/>
        </p:nvSpPr>
        <p:spPr>
          <a:xfrm>
            <a:off x="1458123" y="367109"/>
            <a:ext cx="256377" cy="2563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b="1" dirty="0">
                <a:solidFill>
                  <a:srgbClr val="082E72"/>
                </a:solidFill>
                <a:latin typeface="Arial" panose="020B0604020202020204"/>
                <a:ea typeface="微软雅黑" panose="020B0503020204020204" charset="-122"/>
              </a:rPr>
              <a:t>2</a:t>
            </a:r>
            <a:endParaRPr kumimoji="0" lang="zh-CN" altLang="en-US" sz="2000" b="1" i="0" u="none" strike="noStrike" kern="1200" cap="none" spc="0" normalizeH="0" baseline="0" noProof="0" dirty="0">
              <a:ln>
                <a:noFill/>
              </a:ln>
              <a:solidFill>
                <a:srgbClr val="082E72"/>
              </a:solidFill>
              <a:effectLst/>
              <a:uLnTx/>
              <a:uFillTx/>
              <a:latin typeface="Arial" panose="020B0604020202020204"/>
              <a:ea typeface="微软雅黑" panose="020B0503020204020204" charset="-122"/>
              <a:cs typeface="+mn-cs"/>
            </a:endParaRPr>
          </a:p>
        </p:txBody>
      </p:sp>
      <p:pic>
        <p:nvPicPr>
          <p:cNvPr id="5" name="图片 4">
            <a:extLst>
              <a:ext uri="{FF2B5EF4-FFF2-40B4-BE49-F238E27FC236}">
                <a16:creationId xmlns:a16="http://schemas.microsoft.com/office/drawing/2014/main" id="{96561D48-1C59-D654-C501-0B1F72DD18B9}"/>
              </a:ext>
            </a:extLst>
          </p:cNvPr>
          <p:cNvPicPr>
            <a:picLocks noChangeAspect="1"/>
          </p:cNvPicPr>
          <p:nvPr/>
        </p:nvPicPr>
        <p:blipFill>
          <a:blip r:embed="rId3"/>
          <a:stretch>
            <a:fillRect/>
          </a:stretch>
        </p:blipFill>
        <p:spPr>
          <a:xfrm>
            <a:off x="567073" y="1784033"/>
            <a:ext cx="8009854" cy="3668306"/>
          </a:xfrm>
          <a:prstGeom prst="rect">
            <a:avLst/>
          </a:prstGeom>
        </p:spPr>
      </p:pic>
    </p:spTree>
    <p:extLst>
      <p:ext uri="{BB962C8B-B14F-4D97-AF65-F5344CB8AC3E}">
        <p14:creationId xmlns:p14="http://schemas.microsoft.com/office/powerpoint/2010/main" val="747318792"/>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C4997693-0404-4E02-A731-A03D5EE9B0CD}"/>
              </a:ext>
            </a:extLst>
          </p:cNvPr>
          <p:cNvGrpSpPr/>
          <p:nvPr/>
        </p:nvGrpSpPr>
        <p:grpSpPr>
          <a:xfrm>
            <a:off x="0" y="1809280"/>
            <a:ext cx="9144000" cy="3655907"/>
            <a:chOff x="0" y="1854055"/>
            <a:chExt cx="9144000" cy="3149891"/>
          </a:xfrm>
        </p:grpSpPr>
        <p:sp>
          <p:nvSpPr>
            <p:cNvPr id="7" name="任意多边形: 形状 6">
              <a:extLst>
                <a:ext uri="{FF2B5EF4-FFF2-40B4-BE49-F238E27FC236}">
                  <a16:creationId xmlns:a16="http://schemas.microsoft.com/office/drawing/2014/main" id="{48F55F44-093B-4A22-BCCD-8A1284DE467A}"/>
                </a:ext>
              </a:extLst>
            </p:cNvPr>
            <p:cNvSpPr/>
            <p:nvPr/>
          </p:nvSpPr>
          <p:spPr>
            <a:xfrm flipV="1">
              <a:off x="0" y="1854055"/>
              <a:ext cx="9144000" cy="3149891"/>
            </a:xfrm>
            <a:custGeom>
              <a:avLst/>
              <a:gdLst>
                <a:gd name="connsiteX0" fmla="*/ 0 w 9144000"/>
                <a:gd name="connsiteY0" fmla="*/ 3022396 h 3022396"/>
                <a:gd name="connsiteX1" fmla="*/ 182855 w 9144000"/>
                <a:gd name="connsiteY1" fmla="*/ 2991446 h 3022396"/>
                <a:gd name="connsiteX2" fmla="*/ 4572000 w 9144000"/>
                <a:gd name="connsiteY2" fmla="*/ 2690394 h 3022396"/>
                <a:gd name="connsiteX3" fmla="*/ 8961145 w 9144000"/>
                <a:gd name="connsiteY3" fmla="*/ 2991446 h 3022396"/>
                <a:gd name="connsiteX4" fmla="*/ 9144000 w 9144000"/>
                <a:gd name="connsiteY4" fmla="*/ 3022396 h 3022396"/>
                <a:gd name="connsiteX5" fmla="*/ 9144000 w 9144000"/>
                <a:gd name="connsiteY5" fmla="*/ 2113213 h 3022396"/>
                <a:gd name="connsiteX6" fmla="*/ 9144000 w 9144000"/>
                <a:gd name="connsiteY6" fmla="*/ 909183 h 3022396"/>
                <a:gd name="connsiteX7" fmla="*/ 9144000 w 9144000"/>
                <a:gd name="connsiteY7" fmla="*/ 0 h 3022396"/>
                <a:gd name="connsiteX8" fmla="*/ 8961145 w 9144000"/>
                <a:gd name="connsiteY8" fmla="*/ 30950 h 3022396"/>
                <a:gd name="connsiteX9" fmla="*/ 4572000 w 9144000"/>
                <a:gd name="connsiteY9" fmla="*/ 332003 h 3022396"/>
                <a:gd name="connsiteX10" fmla="*/ 182855 w 9144000"/>
                <a:gd name="connsiteY10" fmla="*/ 30950 h 3022396"/>
                <a:gd name="connsiteX11" fmla="*/ 0 w 9144000"/>
                <a:gd name="connsiteY11" fmla="*/ 0 h 3022396"/>
                <a:gd name="connsiteX12" fmla="*/ 0 w 9144000"/>
                <a:gd name="connsiteY12" fmla="*/ 909183 h 3022396"/>
                <a:gd name="connsiteX13" fmla="*/ 0 w 9144000"/>
                <a:gd name="connsiteY13" fmla="*/ 2113213 h 3022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3022396">
                  <a:moveTo>
                    <a:pt x="0" y="3022396"/>
                  </a:moveTo>
                  <a:lnTo>
                    <a:pt x="182855" y="2991446"/>
                  </a:lnTo>
                  <a:cubicBezTo>
                    <a:pt x="1342108" y="2804396"/>
                    <a:pt x="2882061" y="2690394"/>
                    <a:pt x="4572000" y="2690394"/>
                  </a:cubicBezTo>
                  <a:cubicBezTo>
                    <a:pt x="6261940" y="2690394"/>
                    <a:pt x="7801892" y="2804396"/>
                    <a:pt x="8961145" y="2991446"/>
                  </a:cubicBezTo>
                  <a:lnTo>
                    <a:pt x="9144000" y="3022396"/>
                  </a:lnTo>
                  <a:lnTo>
                    <a:pt x="9144000" y="2113213"/>
                  </a:lnTo>
                  <a:lnTo>
                    <a:pt x="9144000" y="909183"/>
                  </a:lnTo>
                  <a:lnTo>
                    <a:pt x="9144000" y="0"/>
                  </a:lnTo>
                  <a:lnTo>
                    <a:pt x="8961145" y="30950"/>
                  </a:lnTo>
                  <a:cubicBezTo>
                    <a:pt x="7801892" y="218000"/>
                    <a:pt x="6261940" y="332003"/>
                    <a:pt x="4572000" y="332003"/>
                  </a:cubicBezTo>
                  <a:cubicBezTo>
                    <a:pt x="2882061" y="332003"/>
                    <a:pt x="1342108" y="218000"/>
                    <a:pt x="182855" y="30950"/>
                  </a:cubicBezTo>
                  <a:lnTo>
                    <a:pt x="0" y="0"/>
                  </a:lnTo>
                  <a:lnTo>
                    <a:pt x="0" y="909183"/>
                  </a:lnTo>
                  <a:lnTo>
                    <a:pt x="0" y="2113213"/>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8" name="任意多边形: 形状 7">
              <a:extLst>
                <a:ext uri="{FF2B5EF4-FFF2-40B4-BE49-F238E27FC236}">
                  <a16:creationId xmlns:a16="http://schemas.microsoft.com/office/drawing/2014/main" id="{C4736510-80CE-4E5E-9CF7-FA3CC063264E}"/>
                </a:ext>
              </a:extLst>
            </p:cNvPr>
            <p:cNvSpPr/>
            <p:nvPr/>
          </p:nvSpPr>
          <p:spPr>
            <a:xfrm flipV="1">
              <a:off x="0" y="2051052"/>
              <a:ext cx="9144000" cy="2755896"/>
            </a:xfrm>
            <a:custGeom>
              <a:avLst/>
              <a:gdLst>
                <a:gd name="connsiteX0" fmla="*/ 0 w 9144000"/>
                <a:gd name="connsiteY0" fmla="*/ 2617516 h 2617516"/>
                <a:gd name="connsiteX1" fmla="*/ 182855 w 9144000"/>
                <a:gd name="connsiteY1" fmla="*/ 2600232 h 2617516"/>
                <a:gd name="connsiteX2" fmla="*/ 4572000 w 9144000"/>
                <a:gd name="connsiteY2" fmla="*/ 2432109 h 2617516"/>
                <a:gd name="connsiteX3" fmla="*/ 8961145 w 9144000"/>
                <a:gd name="connsiteY3" fmla="*/ 2600232 h 2617516"/>
                <a:gd name="connsiteX4" fmla="*/ 9144000 w 9144000"/>
                <a:gd name="connsiteY4" fmla="*/ 2617516 h 2617516"/>
                <a:gd name="connsiteX5" fmla="*/ 9144000 w 9144000"/>
                <a:gd name="connsiteY5" fmla="*/ 2109782 h 2617516"/>
                <a:gd name="connsiteX6" fmla="*/ 9144000 w 9144000"/>
                <a:gd name="connsiteY6" fmla="*/ 507734 h 2617516"/>
                <a:gd name="connsiteX7" fmla="*/ 9144000 w 9144000"/>
                <a:gd name="connsiteY7" fmla="*/ 0 h 2617516"/>
                <a:gd name="connsiteX8" fmla="*/ 8961145 w 9144000"/>
                <a:gd name="connsiteY8" fmla="*/ 17284 h 2617516"/>
                <a:gd name="connsiteX9" fmla="*/ 4572000 w 9144000"/>
                <a:gd name="connsiteY9" fmla="*/ 185407 h 2617516"/>
                <a:gd name="connsiteX10" fmla="*/ 182855 w 9144000"/>
                <a:gd name="connsiteY10" fmla="*/ 17284 h 2617516"/>
                <a:gd name="connsiteX11" fmla="*/ 0 w 9144000"/>
                <a:gd name="connsiteY11" fmla="*/ 0 h 2617516"/>
                <a:gd name="connsiteX12" fmla="*/ 0 w 9144000"/>
                <a:gd name="connsiteY12" fmla="*/ 507734 h 2617516"/>
                <a:gd name="connsiteX13" fmla="*/ 0 w 9144000"/>
                <a:gd name="connsiteY13" fmla="*/ 2109782 h 2617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2617516">
                  <a:moveTo>
                    <a:pt x="0" y="2617516"/>
                  </a:moveTo>
                  <a:lnTo>
                    <a:pt x="182855" y="2600232"/>
                  </a:lnTo>
                  <a:cubicBezTo>
                    <a:pt x="1342108" y="2495774"/>
                    <a:pt x="2882061" y="2432109"/>
                    <a:pt x="4572000" y="2432109"/>
                  </a:cubicBezTo>
                  <a:cubicBezTo>
                    <a:pt x="6261940" y="2432109"/>
                    <a:pt x="7801892" y="2495774"/>
                    <a:pt x="8961145" y="2600232"/>
                  </a:cubicBezTo>
                  <a:lnTo>
                    <a:pt x="9144000" y="2617516"/>
                  </a:lnTo>
                  <a:lnTo>
                    <a:pt x="9144000" y="2109782"/>
                  </a:lnTo>
                  <a:lnTo>
                    <a:pt x="9144000" y="507734"/>
                  </a:lnTo>
                  <a:lnTo>
                    <a:pt x="9144000" y="0"/>
                  </a:lnTo>
                  <a:lnTo>
                    <a:pt x="8961145" y="17284"/>
                  </a:lnTo>
                  <a:cubicBezTo>
                    <a:pt x="7801892" y="121742"/>
                    <a:pt x="6261940" y="185407"/>
                    <a:pt x="4572000" y="185407"/>
                  </a:cubicBezTo>
                  <a:cubicBezTo>
                    <a:pt x="2882061" y="185407"/>
                    <a:pt x="1342108" y="121742"/>
                    <a:pt x="182855" y="17284"/>
                  </a:cubicBezTo>
                  <a:lnTo>
                    <a:pt x="0" y="0"/>
                  </a:lnTo>
                  <a:lnTo>
                    <a:pt x="0" y="507734"/>
                  </a:lnTo>
                  <a:lnTo>
                    <a:pt x="0" y="21097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9" name="图片 8" descr="图片包含 游戏机, 电子, 电路&#10;&#10;描述已自动生成">
              <a:extLst>
                <a:ext uri="{FF2B5EF4-FFF2-40B4-BE49-F238E27FC236}">
                  <a16:creationId xmlns:a16="http://schemas.microsoft.com/office/drawing/2014/main" id="{A267D6E2-4DEE-421B-8C3F-D18FBFE890DB}"/>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t="21235" b="33550"/>
            <a:stretch>
              <a:fillRect/>
            </a:stretch>
          </p:blipFill>
          <p:spPr>
            <a:xfrm>
              <a:off x="0" y="2051052"/>
              <a:ext cx="9144000" cy="2755896"/>
            </a:xfrm>
            <a:custGeom>
              <a:avLst/>
              <a:gdLst>
                <a:gd name="connsiteX0" fmla="*/ 0 w 9144000"/>
                <a:gd name="connsiteY0" fmla="*/ 0 h 2755896"/>
                <a:gd name="connsiteX1" fmla="*/ 182855 w 9144000"/>
                <a:gd name="connsiteY1" fmla="*/ 18198 h 2755896"/>
                <a:gd name="connsiteX2" fmla="*/ 4572000 w 9144000"/>
                <a:gd name="connsiteY2" fmla="*/ 195209 h 2755896"/>
                <a:gd name="connsiteX3" fmla="*/ 8961145 w 9144000"/>
                <a:gd name="connsiteY3" fmla="*/ 18198 h 2755896"/>
                <a:gd name="connsiteX4" fmla="*/ 9144000 w 9144000"/>
                <a:gd name="connsiteY4" fmla="*/ 0 h 2755896"/>
                <a:gd name="connsiteX5" fmla="*/ 9144000 w 9144000"/>
                <a:gd name="connsiteY5" fmla="*/ 534576 h 2755896"/>
                <a:gd name="connsiteX6" fmla="*/ 9144000 w 9144000"/>
                <a:gd name="connsiteY6" fmla="*/ 2221320 h 2755896"/>
                <a:gd name="connsiteX7" fmla="*/ 9144000 w 9144000"/>
                <a:gd name="connsiteY7" fmla="*/ 2755896 h 2755896"/>
                <a:gd name="connsiteX8" fmla="*/ 8961145 w 9144000"/>
                <a:gd name="connsiteY8" fmla="*/ 2737698 h 2755896"/>
                <a:gd name="connsiteX9" fmla="*/ 4572000 w 9144000"/>
                <a:gd name="connsiteY9" fmla="*/ 2560687 h 2755896"/>
                <a:gd name="connsiteX10" fmla="*/ 182855 w 9144000"/>
                <a:gd name="connsiteY10" fmla="*/ 2737698 h 2755896"/>
                <a:gd name="connsiteX11" fmla="*/ 0 w 9144000"/>
                <a:gd name="connsiteY11" fmla="*/ 2755896 h 2755896"/>
                <a:gd name="connsiteX12" fmla="*/ 0 w 9144000"/>
                <a:gd name="connsiteY12" fmla="*/ 2221320 h 2755896"/>
                <a:gd name="connsiteX13" fmla="*/ 0 w 9144000"/>
                <a:gd name="connsiteY13" fmla="*/ 534576 h 275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2755896">
                  <a:moveTo>
                    <a:pt x="0" y="0"/>
                  </a:moveTo>
                  <a:lnTo>
                    <a:pt x="182855" y="18198"/>
                  </a:lnTo>
                  <a:cubicBezTo>
                    <a:pt x="1342108" y="128178"/>
                    <a:pt x="2882061" y="195209"/>
                    <a:pt x="4572000" y="195209"/>
                  </a:cubicBezTo>
                  <a:cubicBezTo>
                    <a:pt x="6261940" y="195209"/>
                    <a:pt x="7801892" y="128178"/>
                    <a:pt x="8961145" y="18198"/>
                  </a:cubicBezTo>
                  <a:lnTo>
                    <a:pt x="9144000" y="0"/>
                  </a:lnTo>
                  <a:lnTo>
                    <a:pt x="9144000" y="534576"/>
                  </a:lnTo>
                  <a:lnTo>
                    <a:pt x="9144000" y="2221320"/>
                  </a:lnTo>
                  <a:lnTo>
                    <a:pt x="9144000" y="2755896"/>
                  </a:lnTo>
                  <a:lnTo>
                    <a:pt x="8961145" y="2737698"/>
                  </a:lnTo>
                  <a:cubicBezTo>
                    <a:pt x="7801892" y="2627718"/>
                    <a:pt x="6261940" y="2560687"/>
                    <a:pt x="4572000" y="2560687"/>
                  </a:cubicBezTo>
                  <a:cubicBezTo>
                    <a:pt x="2882061" y="2560687"/>
                    <a:pt x="1342108" y="2627718"/>
                    <a:pt x="182855" y="2737698"/>
                  </a:cubicBezTo>
                  <a:lnTo>
                    <a:pt x="0" y="2755896"/>
                  </a:lnTo>
                  <a:lnTo>
                    <a:pt x="0" y="2221320"/>
                  </a:lnTo>
                  <a:lnTo>
                    <a:pt x="0" y="534576"/>
                  </a:lnTo>
                  <a:close/>
                </a:path>
              </a:pathLst>
            </a:custGeom>
          </p:spPr>
        </p:pic>
      </p:grpSp>
      <p:sp>
        <p:nvSpPr>
          <p:cNvPr id="10" name="文本框 9">
            <a:extLst>
              <a:ext uri="{FF2B5EF4-FFF2-40B4-BE49-F238E27FC236}">
                <a16:creationId xmlns:a16="http://schemas.microsoft.com/office/drawing/2014/main" id="{41B38898-C56C-4BE6-B481-6558D753729A}"/>
              </a:ext>
            </a:extLst>
          </p:cNvPr>
          <p:cNvSpPr txBox="1"/>
          <p:nvPr/>
        </p:nvSpPr>
        <p:spPr>
          <a:xfrm>
            <a:off x="1385091" y="2927196"/>
            <a:ext cx="6367814" cy="1003608"/>
          </a:xfrm>
          <a:prstGeom prst="rect">
            <a:avLst/>
          </a:prstGeom>
          <a:noFill/>
        </p:spPr>
        <p:txBody>
          <a:bodyPr wrap="square">
            <a:spAutoFit/>
          </a:bodyPr>
          <a:lstStyle/>
          <a:p>
            <a:pPr marL="0" marR="0" lvl="0" indent="0" algn="ctr" defTabSz="457200" rtl="0" eaLnBrk="1" fontAlgn="auto" latinLnBrk="0" hangingPunct="1">
              <a:lnSpc>
                <a:spcPct val="120000"/>
              </a:lnSpc>
              <a:spcBef>
                <a:spcPts val="0"/>
              </a:spcBef>
              <a:spcAft>
                <a:spcPts val="0"/>
              </a:spcAft>
              <a:buClrTx/>
              <a:buSzTx/>
              <a:buFontTx/>
              <a:buNone/>
              <a:tabLst/>
              <a:defRPr/>
            </a:pPr>
            <a:r>
              <a:rPr kumimoji="0" lang="en-US" altLang="zh-CN" sz="5400" b="1" i="0" u="none" strike="noStrike" kern="1200" cap="none" spc="0" normalizeH="0" baseline="0" noProof="0" dirty="0">
                <a:ln>
                  <a:noFill/>
                </a:ln>
                <a:solidFill>
                  <a:srgbClr val="FFFFFF"/>
                </a:solidFill>
                <a:effectLst/>
                <a:uLnTx/>
                <a:uFillTx/>
                <a:latin typeface="Arial"/>
                <a:ea typeface="微软雅黑"/>
                <a:cs typeface="+mn-cs"/>
              </a:rPr>
              <a:t>Thanks</a:t>
            </a:r>
            <a:r>
              <a:rPr kumimoji="0" lang="zh-CN" altLang="en-US" sz="5400" b="1" i="0" u="none" strike="noStrike" kern="1200" cap="none" spc="0" normalizeH="0" baseline="0" noProof="0" dirty="0">
                <a:ln>
                  <a:noFill/>
                </a:ln>
                <a:solidFill>
                  <a:srgbClr val="FFFFFF"/>
                </a:solidFill>
                <a:effectLst/>
                <a:uLnTx/>
                <a:uFillTx/>
                <a:latin typeface="Arial"/>
                <a:ea typeface="微软雅黑"/>
                <a:cs typeface="+mn-cs"/>
              </a:rPr>
              <a:t>！</a:t>
            </a:r>
            <a:endParaRPr kumimoji="0" lang="en-US" altLang="zh-CN" sz="54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12" name="任意多边形: 形状 43">
            <a:extLst>
              <a:ext uri="{FF2B5EF4-FFF2-40B4-BE49-F238E27FC236}">
                <a16:creationId xmlns:a16="http://schemas.microsoft.com/office/drawing/2014/main" id="{F903EF8C-13D3-422C-9C3F-5EECC23210A7}"/>
              </a:ext>
            </a:extLst>
          </p:cNvPr>
          <p:cNvSpPr/>
          <p:nvPr/>
        </p:nvSpPr>
        <p:spPr>
          <a:xfrm>
            <a:off x="-3002" y="70339"/>
            <a:ext cx="9144000" cy="1972884"/>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15" name="图片 14">
            <a:extLst>
              <a:ext uri="{FF2B5EF4-FFF2-40B4-BE49-F238E27FC236}">
                <a16:creationId xmlns:a16="http://schemas.microsoft.com/office/drawing/2014/main" id="{1231364E-8AAF-49F2-8815-7E0B216382A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481853" y="5693831"/>
            <a:ext cx="3039847" cy="815686"/>
          </a:xfrm>
          <a:prstGeom prst="rect">
            <a:avLst/>
          </a:prstGeom>
        </p:spPr>
      </p:pic>
      <p:sp>
        <p:nvSpPr>
          <p:cNvPr id="16" name="文本框 15"/>
          <p:cNvSpPr txBox="1"/>
          <p:nvPr/>
        </p:nvSpPr>
        <p:spPr>
          <a:xfrm>
            <a:off x="1428830" y="5859243"/>
            <a:ext cx="2079141" cy="369332"/>
          </a:xfrm>
          <a:prstGeom prst="rect">
            <a:avLst/>
          </a:prstGeom>
          <a:noFill/>
        </p:spPr>
        <p:txBody>
          <a:bodyPr wrap="square" rtlCol="0">
            <a:spAutoFit/>
          </a:bodyPr>
          <a:lstStyle/>
          <a:p>
            <a:r>
              <a:rPr lang="en-US" altLang="zh-CN" b="1" dirty="0"/>
              <a:t>2025 ACM/SIGDA</a:t>
            </a:r>
          </a:p>
        </p:txBody>
      </p:sp>
    </p:spTree>
    <p:extLst>
      <p:ext uri="{BB962C8B-B14F-4D97-AF65-F5344CB8AC3E}">
        <p14:creationId xmlns:p14="http://schemas.microsoft.com/office/powerpoint/2010/main" val="4267402064"/>
      </p:ext>
    </p:extLst>
  </p:cSld>
  <p:clrMapOvr>
    <a:masterClrMapping/>
  </p:clrMapOvr>
  <mc:AlternateContent xmlns:mc="http://schemas.openxmlformats.org/markup-compatibility/2006" xmlns:p14="http://schemas.microsoft.com/office/powerpoint/2010/main">
    <mc:Choice Requires="p14">
      <p:transition spd="slow" p14:dur="2000" advTm="2523"/>
    </mc:Choice>
    <mc:Fallback xmlns="">
      <p:transition spd="slow" advTm="2523"/>
    </mc:Fallback>
  </mc:AlternateContent>
</p:sld>
</file>

<file path=ppt/theme/theme1.xml><?xml version="1.0" encoding="utf-8"?>
<a:theme xmlns:a="http://schemas.openxmlformats.org/drawingml/2006/main" name="Office 主题​​">
  <a:themeElements>
    <a:clrScheme name="自定义 27">
      <a:dk1>
        <a:srgbClr val="000000"/>
      </a:dk1>
      <a:lt1>
        <a:srgbClr val="FFFFFF"/>
      </a:lt1>
      <a:dk2>
        <a:srgbClr val="768394"/>
      </a:dk2>
      <a:lt2>
        <a:srgbClr val="F0F0F0"/>
      </a:lt2>
      <a:accent1>
        <a:srgbClr val="0070C0"/>
      </a:accent1>
      <a:accent2>
        <a:srgbClr val="082E72"/>
      </a:accent2>
      <a:accent3>
        <a:srgbClr val="D6ECFA"/>
      </a:accent3>
      <a:accent4>
        <a:srgbClr val="C8000B"/>
      </a:accent4>
      <a:accent5>
        <a:srgbClr val="FFC000"/>
      </a:accent5>
      <a:accent6>
        <a:srgbClr val="008080"/>
      </a:accent6>
      <a:hlink>
        <a:srgbClr val="00FFFF"/>
      </a:hlink>
      <a:folHlink>
        <a:srgbClr val="BFBFBF"/>
      </a:folHlink>
    </a:clrScheme>
    <a:fontScheme name="雅黑+arial">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23747</TotalTime>
  <Words>14335</Words>
  <Application>Microsoft Office PowerPoint</Application>
  <PresentationFormat>全屏显示(4:3)</PresentationFormat>
  <Paragraphs>811</Paragraphs>
  <Slides>40</Slides>
  <Notes>40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40</vt:i4>
      </vt:variant>
    </vt:vector>
  </HeadingPairs>
  <TitlesOfParts>
    <vt:vector size="45" baseType="lpstr">
      <vt:lpstr>等线</vt:lpstr>
      <vt:lpstr>Arial</vt:lpstr>
      <vt:lpstr>Times New Roman</vt:lpstr>
      <vt:lpstr>Wingdings</vt:lpstr>
      <vt:lpstr>Office 主题​​</vt:lpstr>
      <vt:lpstr>PowerPoint 演示文稿</vt:lpstr>
      <vt:lpstr>PowerPoint 演示文稿</vt:lpstr>
      <vt:lpstr>Transformer</vt:lpstr>
      <vt:lpstr>Transformer - Efficiency</vt:lpstr>
      <vt:lpstr>LLM – Previous work</vt:lpstr>
      <vt:lpstr>SpMV - Limitation</vt:lpstr>
      <vt:lpstr>Memory bottleneck</vt:lpstr>
      <vt:lpstr>Imbalanced Workload</vt:lpstr>
      <vt:lpstr>HiSpMV</vt:lpstr>
      <vt:lpstr>HiSpMV - Hybrid Row Distribution Network</vt:lpstr>
      <vt:lpstr>HiSpMV - Fully Pipelined Floating-Point Accumulation</vt:lpstr>
      <vt:lpstr>HiSpMV - Hybrid Buffering for Input Vector</vt:lpstr>
      <vt:lpstr>HiSpMV</vt:lpstr>
      <vt:lpstr>FlightLLM</vt:lpstr>
      <vt:lpstr>FlightLLM – (CSD-Chain)</vt:lpstr>
      <vt:lpstr>FlightLLM – (Always-on-chip decoder)</vt:lpstr>
      <vt:lpstr>FlightLLM – (Length Adaptive Compilation)</vt:lpstr>
      <vt:lpstr>PowerPoint 演示文稿</vt:lpstr>
      <vt:lpstr>BackGround &amp; Motivation</vt:lpstr>
      <vt:lpstr>PowerPoint 演示文稿</vt:lpstr>
      <vt:lpstr>Challenge</vt:lpstr>
      <vt:lpstr>PowerPoint 演示文稿</vt:lpstr>
      <vt:lpstr>FlightVGM</vt:lpstr>
      <vt:lpstr>Objective</vt:lpstr>
      <vt:lpstr>Architecture</vt:lpstr>
      <vt:lpstr>Spatial-Temporal Activation Sparsification</vt:lpstr>
      <vt:lpstr>Spatial-Temporal Activation Sparsification</vt:lpstr>
      <vt:lpstr>HeatViT</vt:lpstr>
      <vt:lpstr>SSR</vt:lpstr>
      <vt:lpstr>Hybrid Precision DSP58 Architecture</vt:lpstr>
      <vt:lpstr>Hybrid Precision DSP58 Architecture</vt:lpstr>
      <vt:lpstr>Dynamic-Static Adaptive Scheduling</vt:lpstr>
      <vt:lpstr>PowerPoint 演示文稿</vt:lpstr>
      <vt:lpstr>Baseline</vt:lpstr>
      <vt:lpstr>Model Accuracy</vt:lpstr>
      <vt:lpstr>Performance</vt:lpstr>
      <vt:lpstr>PowerPoint 演示文稿</vt:lpstr>
      <vt:lpstr>Exploration</vt:lpstr>
      <vt:lpstr>SSR – AIE + FPGA</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Hongwei Miao</cp:lastModifiedBy>
  <cp:revision>1550</cp:revision>
  <cp:lastPrinted>2021-11-03T08:01:40Z</cp:lastPrinted>
  <dcterms:created xsi:type="dcterms:W3CDTF">2021-05-30T09:40:00Z</dcterms:created>
  <dcterms:modified xsi:type="dcterms:W3CDTF">2025-04-07T06:27:32Z</dcterms:modified>
</cp:coreProperties>
</file>