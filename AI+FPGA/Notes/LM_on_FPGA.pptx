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57" r:id="rId2"/>
    <p:sldId id="258" r:id="rId3"/>
    <p:sldId id="396" r:id="rId4"/>
    <p:sldId id="435" r:id="rId5"/>
    <p:sldId id="386" r:id="rId6"/>
    <p:sldId id="427" r:id="rId7"/>
    <p:sldId id="393" r:id="rId8"/>
    <p:sldId id="415" r:id="rId9"/>
    <p:sldId id="428" r:id="rId10"/>
    <p:sldId id="429" r:id="rId11"/>
    <p:sldId id="430" r:id="rId12"/>
    <p:sldId id="431" r:id="rId13"/>
    <p:sldId id="432" r:id="rId14"/>
    <p:sldId id="433" r:id="rId15"/>
    <p:sldId id="392" r:id="rId16"/>
    <p:sldId id="416" r:id="rId17"/>
    <p:sldId id="418" r:id="rId18"/>
    <p:sldId id="419" r:id="rId19"/>
    <p:sldId id="420" r:id="rId20"/>
    <p:sldId id="421" r:id="rId21"/>
    <p:sldId id="422" r:id="rId22"/>
    <p:sldId id="423" r:id="rId23"/>
    <p:sldId id="424" r:id="rId24"/>
    <p:sldId id="425" r:id="rId25"/>
    <p:sldId id="394" r:id="rId26"/>
    <p:sldId id="398" r:id="rId27"/>
    <p:sldId id="399" r:id="rId28"/>
    <p:sldId id="400" r:id="rId29"/>
    <p:sldId id="401" r:id="rId30"/>
    <p:sldId id="402" r:id="rId31"/>
    <p:sldId id="403" r:id="rId32"/>
    <p:sldId id="404" r:id="rId33"/>
    <p:sldId id="405" r:id="rId34"/>
    <p:sldId id="406" r:id="rId35"/>
    <p:sldId id="407" r:id="rId36"/>
    <p:sldId id="408" r:id="rId37"/>
    <p:sldId id="389" r:id="rId38"/>
    <p:sldId id="409" r:id="rId39"/>
    <p:sldId id="434" r:id="rId40"/>
    <p:sldId id="411" r:id="rId41"/>
    <p:sldId id="426" r:id="rId42"/>
    <p:sldId id="412" r:id="rId43"/>
    <p:sldId id="413" r:id="rId44"/>
    <p:sldId id="414" r:id="rId45"/>
    <p:sldId id="390" r:id="rId46"/>
    <p:sldId id="410" r:id="rId47"/>
    <p:sldId id="315" r:id="rId4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B2F516B-D53D-4BDA-8D81-3A2E4CAD51A8}">
          <p14:sldIdLst>
            <p14:sldId id="257"/>
            <p14:sldId id="258"/>
            <p14:sldId id="396"/>
            <p14:sldId id="435"/>
            <p14:sldId id="386"/>
            <p14:sldId id="427"/>
            <p14:sldId id="393"/>
            <p14:sldId id="415"/>
            <p14:sldId id="428"/>
            <p14:sldId id="429"/>
            <p14:sldId id="430"/>
            <p14:sldId id="431"/>
            <p14:sldId id="432"/>
            <p14:sldId id="433"/>
            <p14:sldId id="392"/>
            <p14:sldId id="416"/>
            <p14:sldId id="418"/>
            <p14:sldId id="419"/>
            <p14:sldId id="420"/>
            <p14:sldId id="421"/>
            <p14:sldId id="422"/>
            <p14:sldId id="423"/>
            <p14:sldId id="424"/>
            <p14:sldId id="425"/>
            <p14:sldId id="394"/>
            <p14:sldId id="398"/>
            <p14:sldId id="399"/>
            <p14:sldId id="400"/>
            <p14:sldId id="401"/>
            <p14:sldId id="402"/>
            <p14:sldId id="403"/>
            <p14:sldId id="404"/>
            <p14:sldId id="405"/>
            <p14:sldId id="406"/>
            <p14:sldId id="407"/>
            <p14:sldId id="408"/>
            <p14:sldId id="389"/>
            <p14:sldId id="409"/>
            <p14:sldId id="434"/>
            <p14:sldId id="411"/>
            <p14:sldId id="426"/>
            <p14:sldId id="412"/>
            <p14:sldId id="413"/>
            <p14:sldId id="414"/>
            <p14:sldId id="390"/>
            <p14:sldId id="410"/>
            <p14:sldId id="315"/>
          </p14:sldIdLst>
        </p14:section>
      </p14:sectionLst>
    </p:ext>
    <p:ext uri="{EFAFB233-063F-42B5-8137-9DF3F51BA10A}">
      <p15:sldGuideLst xmlns:p15="http://schemas.microsoft.com/office/powerpoint/2012/main">
        <p15:guide id="1" pos="226" userDrawn="1">
          <p15:clr>
            <a:srgbClr val="A4A3A4"/>
          </p15:clr>
        </p15:guide>
        <p15:guide id="2" pos="5534" userDrawn="1">
          <p15:clr>
            <a:srgbClr val="A4A3A4"/>
          </p15:clr>
        </p15:guide>
        <p15:guide id="3" orient="horz" pos="40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2E72"/>
    <a:srgbClr val="FFFFFF"/>
    <a:srgbClr val="278BC7"/>
    <a:srgbClr val="C8000B"/>
    <a:srgbClr val="A3BCED"/>
    <a:srgbClr val="F1F0D1"/>
    <a:srgbClr val="FFFF00"/>
    <a:srgbClr val="D2E6F3"/>
    <a:srgbClr val="298DC8"/>
    <a:srgbClr val="2A8E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54" autoAdjust="0"/>
    <p:restoredTop sz="92420" autoAdjust="0"/>
  </p:normalViewPr>
  <p:slideViewPr>
    <p:cSldViewPr snapToGrid="0">
      <p:cViewPr varScale="1">
        <p:scale>
          <a:sx n="114" d="100"/>
          <a:sy n="114" d="100"/>
        </p:scale>
        <p:origin x="1088" y="76"/>
      </p:cViewPr>
      <p:guideLst>
        <p:guide pos="226"/>
        <p:guide pos="5534"/>
        <p:guide orient="horz" pos="4020"/>
      </p:guideLst>
    </p:cSldViewPr>
  </p:slideViewPr>
  <p:notesTextViewPr>
    <p:cViewPr>
      <p:scale>
        <a:sx n="150" d="100"/>
        <a:sy n="15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95D683-E511-4D6B-B63F-83FAA512802B}"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zh-CN" altLang="en-US"/>
        </a:p>
      </dgm:t>
    </dgm:pt>
    <dgm:pt modelId="{07C48A35-9ACF-4556-87E3-D63489F04A60}">
      <dgm:prSet/>
      <dgm:spPr/>
      <dgm:t>
        <a:bodyPr/>
        <a:lstStyle/>
        <a:p>
          <a:r>
            <a:rPr lang="en-US" altLang="zh-CN" dirty="0"/>
            <a:t>ML Models on FPGA</a:t>
          </a:r>
          <a:endParaRPr lang="zh-CN" dirty="0"/>
        </a:p>
      </dgm:t>
    </dgm:pt>
    <dgm:pt modelId="{56C70802-062F-4B96-9210-E45EF758B70E}" type="parTrans" cxnId="{AD806AFA-A888-4D24-9620-9000C4829F36}">
      <dgm:prSet/>
      <dgm:spPr/>
      <dgm:t>
        <a:bodyPr/>
        <a:lstStyle/>
        <a:p>
          <a:endParaRPr lang="zh-CN" altLang="en-US"/>
        </a:p>
      </dgm:t>
    </dgm:pt>
    <dgm:pt modelId="{82809B26-8DDE-4DC7-81C8-56DA805505E7}" type="sibTrans" cxnId="{AD806AFA-A888-4D24-9620-9000C4829F36}">
      <dgm:prSet/>
      <dgm:spPr/>
      <dgm:t>
        <a:bodyPr/>
        <a:lstStyle/>
        <a:p>
          <a:endParaRPr lang="zh-CN" altLang="en-US"/>
        </a:p>
      </dgm:t>
    </dgm:pt>
    <dgm:pt modelId="{552CC7C7-D7FB-485F-8E2B-9B9D678E4839}">
      <dgm:prSet/>
      <dgm:spPr/>
      <dgm:t>
        <a:bodyPr/>
        <a:lstStyle/>
        <a:p>
          <a:r>
            <a:rPr lang="en-US" altLang="zh-CN" dirty="0"/>
            <a:t>Previous Work</a:t>
          </a:r>
          <a:endParaRPr lang="zh-CN" dirty="0"/>
        </a:p>
      </dgm:t>
    </dgm:pt>
    <dgm:pt modelId="{C08C1FB3-692F-4D7A-B5A0-3063261B062B}" type="parTrans" cxnId="{74A88994-2B3A-42CE-A917-2763EC50EAD4}">
      <dgm:prSet/>
      <dgm:spPr/>
      <dgm:t>
        <a:bodyPr/>
        <a:lstStyle/>
        <a:p>
          <a:endParaRPr lang="zh-CN" altLang="en-US"/>
        </a:p>
      </dgm:t>
    </dgm:pt>
    <dgm:pt modelId="{1CA7AA92-F49F-4A08-BE0F-CB5E9075336F}" type="sibTrans" cxnId="{74A88994-2B3A-42CE-A917-2763EC50EAD4}">
      <dgm:prSet/>
      <dgm:spPr/>
      <dgm:t>
        <a:bodyPr/>
        <a:lstStyle/>
        <a:p>
          <a:endParaRPr lang="zh-CN" altLang="en-US"/>
        </a:p>
      </dgm:t>
    </dgm:pt>
    <dgm:pt modelId="{108A6E9C-F4EF-4BF4-A5CE-5CE5D97A20BF}">
      <dgm:prSet/>
      <dgm:spPr/>
      <dgm:t>
        <a:bodyPr/>
        <a:lstStyle/>
        <a:p>
          <a:r>
            <a:rPr lang="en-US" altLang="zh-CN" dirty="0"/>
            <a:t>Overhead Boom</a:t>
          </a:r>
          <a:endParaRPr lang="zh-CN" dirty="0"/>
        </a:p>
      </dgm:t>
    </dgm:pt>
    <dgm:pt modelId="{7FC16F19-82EF-4258-A481-6E3588C732C3}" type="parTrans" cxnId="{E517BB5F-84C6-4D16-ACA3-84F17A0484BB}">
      <dgm:prSet/>
      <dgm:spPr/>
      <dgm:t>
        <a:bodyPr/>
        <a:lstStyle/>
        <a:p>
          <a:endParaRPr lang="zh-CN" altLang="en-US"/>
        </a:p>
      </dgm:t>
    </dgm:pt>
    <dgm:pt modelId="{50AB3629-3F1B-4B7B-B7ED-FE3A0D68EEC4}" type="sibTrans" cxnId="{E517BB5F-84C6-4D16-ACA3-84F17A0484BB}">
      <dgm:prSet/>
      <dgm:spPr/>
      <dgm:t>
        <a:bodyPr/>
        <a:lstStyle/>
        <a:p>
          <a:endParaRPr lang="zh-CN" altLang="en-US"/>
        </a:p>
      </dgm:t>
    </dgm:pt>
    <dgm:pt modelId="{64BEE9CB-A56B-4322-8470-FCBCEBD4BC6C}">
      <dgm:prSet custT="1"/>
      <dgm:spPr/>
      <dgm:t>
        <a:bodyPr/>
        <a:lstStyle/>
        <a:p>
          <a:r>
            <a:rPr lang="en-US" sz="1100" b="1" kern="1200" dirty="0">
              <a:solidFill>
                <a:schemeClr val="tx1"/>
              </a:solidFill>
              <a:latin typeface="Times New Roman" panose="02020603050405020304" pitchFamily="18" charset="0"/>
              <a:ea typeface="+mn-ea"/>
              <a:cs typeface="Times New Roman" panose="02020603050405020304" pitchFamily="18" charset="0"/>
            </a:rPr>
            <a:t>Extremely high throughput and low latency </a:t>
          </a:r>
          <a:r>
            <a:rPr lang="en-US" sz="1100" kern="1200" dirty="0">
              <a:solidFill>
                <a:schemeClr val="tx1"/>
              </a:solidFill>
              <a:latin typeface="Times New Roman" panose="02020603050405020304" pitchFamily="18" charset="0"/>
              <a:ea typeface="+mn-ea"/>
              <a:cs typeface="Times New Roman" panose="02020603050405020304" pitchFamily="18" charset="0"/>
            </a:rPr>
            <a:t>ML models’ implementations are required in high-energy physics, cybersecurity and autonomous vehicles </a:t>
          </a:r>
          <a:endParaRPr lang="zh-CN" altLang="en-US" sz="1100" kern="1200" dirty="0">
            <a:solidFill>
              <a:schemeClr val="tx1"/>
            </a:solidFill>
            <a:latin typeface="Times New Roman" panose="02020603050405020304" pitchFamily="18" charset="0"/>
            <a:ea typeface="+mn-ea"/>
            <a:cs typeface="Times New Roman" panose="02020603050405020304" pitchFamily="18" charset="0"/>
          </a:endParaRPr>
        </a:p>
      </dgm:t>
    </dgm:pt>
    <dgm:pt modelId="{F6A3016D-AB8F-4CA0-892B-45EFB5BD20D3}" type="parTrans" cxnId="{E98E089B-35F2-4AFF-BFC0-C64432D40C73}">
      <dgm:prSet/>
      <dgm:spPr/>
      <dgm:t>
        <a:bodyPr/>
        <a:lstStyle/>
        <a:p>
          <a:endParaRPr lang="zh-CN" altLang="en-US"/>
        </a:p>
      </dgm:t>
    </dgm:pt>
    <dgm:pt modelId="{E173F331-7743-4268-A928-E68B9FF0B930}" type="sibTrans" cxnId="{E98E089B-35F2-4AFF-BFC0-C64432D40C73}">
      <dgm:prSet/>
      <dgm:spPr/>
      <dgm:t>
        <a:bodyPr/>
        <a:lstStyle/>
        <a:p>
          <a:endParaRPr lang="zh-CN" altLang="en-US"/>
        </a:p>
      </dgm:t>
    </dgm:pt>
    <dgm:pt modelId="{B96525D2-D86F-4860-AF5A-CF0DD5D01CC9}">
      <dgm:prSet custT="1"/>
      <dgm:spPr/>
      <dgm:t>
        <a:bodyPr/>
        <a:lstStyle/>
        <a:p>
          <a:r>
            <a:rPr lang="en-US" sz="1100" kern="1200" dirty="0">
              <a:solidFill>
                <a:schemeClr val="tx1"/>
              </a:solidFill>
              <a:latin typeface="Times New Roman" panose="02020603050405020304" pitchFamily="18" charset="0"/>
              <a:ea typeface="+mn-ea"/>
              <a:cs typeface="Times New Roman" panose="02020603050405020304" pitchFamily="18" charset="0"/>
            </a:rPr>
            <a:t>Previous LUT-based NNs like </a:t>
          </a:r>
          <a:r>
            <a:rPr lang="en-US" sz="1100" b="1" i="1" kern="1200" dirty="0" err="1">
              <a:solidFill>
                <a:schemeClr val="tx1"/>
              </a:solidFill>
              <a:latin typeface="Times New Roman" panose="02020603050405020304" pitchFamily="18" charset="0"/>
              <a:ea typeface="+mn-ea"/>
              <a:cs typeface="Times New Roman" panose="02020603050405020304" pitchFamily="18" charset="0"/>
            </a:rPr>
            <a:t>LogicNets</a:t>
          </a:r>
          <a:r>
            <a:rPr lang="en-US" sz="1100" kern="1200" dirty="0">
              <a:solidFill>
                <a:schemeClr val="tx1"/>
              </a:solidFill>
              <a:latin typeface="Times New Roman" panose="02020603050405020304" pitchFamily="18" charset="0"/>
              <a:ea typeface="+mn-ea"/>
              <a:cs typeface="Times New Roman" panose="02020603050405020304" pitchFamily="18" charset="0"/>
            </a:rPr>
            <a:t> and </a:t>
          </a:r>
          <a:r>
            <a:rPr lang="en-US" sz="1100" b="1" i="1" kern="1200" dirty="0" err="1">
              <a:solidFill>
                <a:schemeClr val="tx1"/>
              </a:solidFill>
              <a:latin typeface="Times New Roman" panose="02020603050405020304" pitchFamily="18" charset="0"/>
              <a:ea typeface="+mn-ea"/>
              <a:cs typeface="Times New Roman" panose="02020603050405020304" pitchFamily="18" charset="0"/>
            </a:rPr>
            <a:t>NeuralLUT</a:t>
          </a:r>
          <a:r>
            <a:rPr lang="en-US" sz="1100" kern="1200" dirty="0">
              <a:solidFill>
                <a:schemeClr val="tx1"/>
              </a:solidFill>
              <a:latin typeface="Times New Roman" panose="02020603050405020304" pitchFamily="18" charset="0"/>
              <a:ea typeface="+mn-ea"/>
              <a:cs typeface="Times New Roman" panose="02020603050405020304" pitchFamily="18" charset="0"/>
            </a:rPr>
            <a:t> meet this demand by carefully mapping neurons to LUTs.  </a:t>
          </a:r>
          <a:endParaRPr lang="zh-CN" sz="1100" kern="1200" dirty="0">
            <a:solidFill>
              <a:schemeClr val="tx1"/>
            </a:solidFill>
            <a:latin typeface="Times New Roman" panose="02020603050405020304" pitchFamily="18" charset="0"/>
            <a:ea typeface="+mn-ea"/>
            <a:cs typeface="Times New Roman" panose="02020603050405020304" pitchFamily="18" charset="0"/>
          </a:endParaRPr>
        </a:p>
      </dgm:t>
    </dgm:pt>
    <dgm:pt modelId="{6CEF587B-E7B6-45D8-AF5D-36F6B0BF8342}" type="parTrans" cxnId="{2FED25BA-7335-49B9-9253-628A774DE27E}">
      <dgm:prSet/>
      <dgm:spPr/>
      <dgm:t>
        <a:bodyPr/>
        <a:lstStyle/>
        <a:p>
          <a:endParaRPr lang="zh-CN" altLang="en-US"/>
        </a:p>
      </dgm:t>
    </dgm:pt>
    <dgm:pt modelId="{3A3D0E06-D444-4663-83CE-838BBCF77503}" type="sibTrans" cxnId="{2FED25BA-7335-49B9-9253-628A774DE27E}">
      <dgm:prSet/>
      <dgm:spPr/>
      <dgm:t>
        <a:bodyPr/>
        <a:lstStyle/>
        <a:p>
          <a:endParaRPr lang="zh-CN" altLang="en-US"/>
        </a:p>
      </dgm:t>
    </dgm:pt>
    <dgm:pt modelId="{DD604F47-F54B-4DCA-BDD0-06187568A437}">
      <dgm:prSet custT="1"/>
      <dgm:spPr/>
      <dgm:t>
        <a:bodyPr/>
        <a:lstStyle/>
        <a:p>
          <a:r>
            <a:rPr lang="en-US" sz="1200" kern="1200" dirty="0">
              <a:solidFill>
                <a:schemeClr val="tx1"/>
              </a:solidFill>
              <a:latin typeface="Times New Roman" panose="02020603050405020304" pitchFamily="18" charset="0"/>
              <a:ea typeface="+mn-ea"/>
              <a:cs typeface="Times New Roman" panose="02020603050405020304" pitchFamily="18" charset="0"/>
            </a:rPr>
            <a:t>LUT-based NN has </a:t>
          </a:r>
          <a:r>
            <a:rPr lang="en-US" sz="1200" b="1" kern="1200" dirty="0">
              <a:solidFill>
                <a:srgbClr val="FF0000"/>
              </a:solidFill>
              <a:latin typeface="Times New Roman" panose="02020603050405020304" pitchFamily="18" charset="0"/>
              <a:ea typeface="+mn-ea"/>
              <a:cs typeface="Times New Roman" panose="02020603050405020304" pitchFamily="18" charset="0"/>
            </a:rPr>
            <a:t>EXPONENTIAL</a:t>
          </a:r>
          <a:r>
            <a:rPr lang="en-US" sz="1200" kern="1200" dirty="0">
              <a:solidFill>
                <a:schemeClr val="tx1"/>
              </a:solidFill>
              <a:latin typeface="Times New Roman" panose="02020603050405020304" pitchFamily="18" charset="0"/>
              <a:ea typeface="+mn-ea"/>
              <a:cs typeface="Times New Roman" panose="02020603050405020304" pitchFamily="18" charset="0"/>
            </a:rPr>
            <a:t> LUT usage with respect to neuron’s fan-in. </a:t>
          </a:r>
          <a:endParaRPr lang="zh-CN" altLang="en-US" sz="1200" kern="1200" dirty="0">
            <a:solidFill>
              <a:schemeClr val="tx1"/>
            </a:solidFill>
            <a:latin typeface="Times New Roman" panose="02020603050405020304" pitchFamily="18" charset="0"/>
            <a:ea typeface="+mn-ea"/>
            <a:cs typeface="Times New Roman" panose="02020603050405020304" pitchFamily="18" charset="0"/>
          </a:endParaRPr>
        </a:p>
      </dgm:t>
    </dgm:pt>
    <dgm:pt modelId="{77FFD743-18BC-4EDD-A0DC-9A3CD60C5978}" type="parTrans" cxnId="{E4746ABE-9979-4C85-902B-4D5D0EBAA795}">
      <dgm:prSet/>
      <dgm:spPr/>
      <dgm:t>
        <a:bodyPr/>
        <a:lstStyle/>
        <a:p>
          <a:endParaRPr lang="zh-CN" altLang="en-US"/>
        </a:p>
      </dgm:t>
    </dgm:pt>
    <dgm:pt modelId="{D7B55D26-0743-4CD1-81DA-CA88547D2327}" type="sibTrans" cxnId="{E4746ABE-9979-4C85-902B-4D5D0EBAA795}">
      <dgm:prSet/>
      <dgm:spPr/>
      <dgm:t>
        <a:bodyPr/>
        <a:lstStyle/>
        <a:p>
          <a:endParaRPr lang="zh-CN" altLang="en-US"/>
        </a:p>
      </dgm:t>
    </dgm:pt>
    <dgm:pt modelId="{6ACBD168-8E53-4960-B34D-9F5CE270AE98}">
      <dgm:prSet custT="1"/>
      <dgm:spPr/>
      <dgm:t>
        <a:bodyPr/>
        <a:lstStyle/>
        <a:p>
          <a:r>
            <a:rPr lang="en-US" sz="1100" kern="1200" dirty="0">
              <a:solidFill>
                <a:schemeClr val="tx1"/>
              </a:solidFill>
              <a:latin typeface="Times New Roman" panose="02020603050405020304" pitchFamily="18" charset="0"/>
              <a:ea typeface="+mn-ea"/>
              <a:cs typeface="Times New Roman" panose="02020603050405020304" pitchFamily="18" charset="0"/>
            </a:rPr>
            <a:t>FPGA becomes an ideal candidate.</a:t>
          </a:r>
          <a:endParaRPr lang="zh-CN" sz="1100" kern="1200" dirty="0">
            <a:solidFill>
              <a:schemeClr val="tx1"/>
            </a:solidFill>
            <a:latin typeface="Times New Roman" panose="02020603050405020304" pitchFamily="18" charset="0"/>
            <a:ea typeface="+mn-ea"/>
            <a:cs typeface="Times New Roman" panose="02020603050405020304" pitchFamily="18" charset="0"/>
          </a:endParaRPr>
        </a:p>
      </dgm:t>
    </dgm:pt>
    <dgm:pt modelId="{36277846-D864-4D17-9201-D353A33726AE}" type="parTrans" cxnId="{C416B842-F1ED-4BA7-B28D-79ECF41F7893}">
      <dgm:prSet/>
      <dgm:spPr/>
      <dgm:t>
        <a:bodyPr/>
        <a:lstStyle/>
        <a:p>
          <a:endParaRPr lang="zh-CN" altLang="en-US"/>
        </a:p>
      </dgm:t>
    </dgm:pt>
    <dgm:pt modelId="{52EAB51E-FFB3-4C5C-B327-EBA62FB12662}" type="sibTrans" cxnId="{C416B842-F1ED-4BA7-B28D-79ECF41F7893}">
      <dgm:prSet/>
      <dgm:spPr/>
      <dgm:t>
        <a:bodyPr/>
        <a:lstStyle/>
        <a:p>
          <a:endParaRPr lang="zh-CN" altLang="en-US"/>
        </a:p>
      </dgm:t>
    </dgm:pt>
    <dgm:pt modelId="{5811AB70-2359-4A47-852B-88EA496CC0E9}">
      <dgm:prSet custT="1"/>
      <dgm:spPr/>
      <dgm:t>
        <a:bodyPr/>
        <a:lstStyle/>
        <a:p>
          <a:endParaRPr lang="zh-CN" altLang="en-US" sz="1100" kern="1200" dirty="0">
            <a:solidFill>
              <a:schemeClr val="tx1"/>
            </a:solidFill>
            <a:latin typeface="Times New Roman" panose="02020603050405020304" pitchFamily="18" charset="0"/>
            <a:ea typeface="+mn-ea"/>
            <a:cs typeface="Times New Roman" panose="02020603050405020304" pitchFamily="18" charset="0"/>
          </a:endParaRPr>
        </a:p>
      </dgm:t>
    </dgm:pt>
    <dgm:pt modelId="{495A3713-2265-4C53-A827-B7EBAAE07D02}" type="parTrans" cxnId="{E59BB870-742B-432C-83FB-3ADA4EFC5987}">
      <dgm:prSet/>
      <dgm:spPr/>
      <dgm:t>
        <a:bodyPr/>
        <a:lstStyle/>
        <a:p>
          <a:endParaRPr lang="zh-CN" altLang="en-US"/>
        </a:p>
      </dgm:t>
    </dgm:pt>
    <dgm:pt modelId="{2D950A54-74FF-43B4-B069-EC960C6DD260}" type="sibTrans" cxnId="{E59BB870-742B-432C-83FB-3ADA4EFC5987}">
      <dgm:prSet/>
      <dgm:spPr/>
      <dgm:t>
        <a:bodyPr/>
        <a:lstStyle/>
        <a:p>
          <a:endParaRPr lang="zh-CN" altLang="en-US"/>
        </a:p>
      </dgm:t>
    </dgm:pt>
    <dgm:pt modelId="{C7440D97-BA40-47AE-BEF5-147DE7DD6CF8}">
      <dgm:prSet custT="1"/>
      <dgm:spPr/>
      <dgm:t>
        <a:bodyPr/>
        <a:lstStyle/>
        <a:p>
          <a:r>
            <a:rPr lang="en-US" sz="1200" kern="1200" dirty="0">
              <a:solidFill>
                <a:schemeClr val="tx1"/>
              </a:solidFill>
              <a:latin typeface="Times New Roman" panose="02020603050405020304" pitchFamily="18" charset="0"/>
              <a:ea typeface="+mn-ea"/>
              <a:cs typeface="Times New Roman" panose="02020603050405020304" pitchFamily="18" charset="0"/>
            </a:rPr>
            <a:t>A minimal accuracy increase of a denser NN utilizes far more LUT resource on a FPGA. (throughput also decreases)</a:t>
          </a:r>
          <a:endParaRPr lang="zh-CN" sz="1200" kern="1200" dirty="0">
            <a:solidFill>
              <a:schemeClr val="tx1"/>
            </a:solidFill>
            <a:latin typeface="Times New Roman" panose="02020603050405020304" pitchFamily="18" charset="0"/>
            <a:ea typeface="+mn-ea"/>
            <a:cs typeface="Times New Roman" panose="02020603050405020304" pitchFamily="18" charset="0"/>
          </a:endParaRPr>
        </a:p>
      </dgm:t>
    </dgm:pt>
    <dgm:pt modelId="{4BB6B041-CDEB-4AD7-A6D9-03A013E5905E}" type="parTrans" cxnId="{A6720322-FD57-4AE6-88B7-E26859BCA3E0}">
      <dgm:prSet/>
      <dgm:spPr/>
      <dgm:t>
        <a:bodyPr/>
        <a:lstStyle/>
        <a:p>
          <a:endParaRPr lang="zh-CN" altLang="en-US"/>
        </a:p>
      </dgm:t>
    </dgm:pt>
    <dgm:pt modelId="{71DFABAC-A73E-4A3C-B42C-3F64699EE64C}" type="sibTrans" cxnId="{A6720322-FD57-4AE6-88B7-E26859BCA3E0}">
      <dgm:prSet/>
      <dgm:spPr/>
      <dgm:t>
        <a:bodyPr/>
        <a:lstStyle/>
        <a:p>
          <a:endParaRPr lang="zh-CN" altLang="en-US"/>
        </a:p>
      </dgm:t>
    </dgm:pt>
    <dgm:pt modelId="{443C213D-A694-499C-AAA2-113FDB8EC866}">
      <dgm:prSet custT="1"/>
      <dgm:spPr/>
      <dgm:t>
        <a:bodyPr/>
        <a:lstStyle/>
        <a:p>
          <a:endParaRPr lang="zh-CN" altLang="en-US" sz="1200" kern="1200" dirty="0">
            <a:solidFill>
              <a:schemeClr val="tx1"/>
            </a:solidFill>
            <a:latin typeface="Times New Roman" panose="02020603050405020304" pitchFamily="18" charset="0"/>
            <a:ea typeface="+mn-ea"/>
            <a:cs typeface="Times New Roman" panose="02020603050405020304" pitchFamily="18" charset="0"/>
          </a:endParaRPr>
        </a:p>
      </dgm:t>
    </dgm:pt>
    <dgm:pt modelId="{C6A5424F-E080-40FC-9458-49C27FA26825}" type="parTrans" cxnId="{50434996-481B-4D87-B54E-E7C8DB4F9BF7}">
      <dgm:prSet/>
      <dgm:spPr/>
      <dgm:t>
        <a:bodyPr/>
        <a:lstStyle/>
        <a:p>
          <a:endParaRPr lang="zh-CN" altLang="en-US"/>
        </a:p>
      </dgm:t>
    </dgm:pt>
    <dgm:pt modelId="{936E0B06-E293-4548-81C1-4714678D826D}" type="sibTrans" cxnId="{50434996-481B-4D87-B54E-E7C8DB4F9BF7}">
      <dgm:prSet/>
      <dgm:spPr/>
      <dgm:t>
        <a:bodyPr/>
        <a:lstStyle/>
        <a:p>
          <a:endParaRPr lang="zh-CN" altLang="en-US"/>
        </a:p>
      </dgm:t>
    </dgm:pt>
    <dgm:pt modelId="{81753D37-A729-4055-A6A7-9244C16D692A}">
      <dgm:prSet custT="1"/>
      <dgm:spPr/>
      <dgm:t>
        <a:bodyPr/>
        <a:lstStyle/>
        <a:p>
          <a:r>
            <a:rPr lang="en-US" sz="1100" kern="1200" dirty="0">
              <a:solidFill>
                <a:schemeClr val="tx1"/>
              </a:solidFill>
              <a:latin typeface="Times New Roman" panose="02020603050405020304" pitchFamily="18" charset="0"/>
              <a:ea typeface="+mn-ea"/>
              <a:cs typeface="Times New Roman" panose="02020603050405020304" pitchFamily="18" charset="0"/>
            </a:rPr>
            <a:t>  </a:t>
          </a:r>
          <a:r>
            <a:rPr lang="en-US" sz="1100" b="1" kern="1200" dirty="0">
              <a:solidFill>
                <a:schemeClr val="tx1"/>
              </a:solidFill>
              <a:latin typeface="Times New Roman" panose="02020603050405020304" pitchFamily="18" charset="0"/>
              <a:ea typeface="+mn-ea"/>
              <a:cs typeface="Times New Roman" panose="02020603050405020304" pitchFamily="18" charset="0"/>
            </a:rPr>
            <a:t>L-LUT</a:t>
          </a:r>
          <a:r>
            <a:rPr lang="en-US" sz="1100" kern="1200" dirty="0">
              <a:solidFill>
                <a:schemeClr val="tx1"/>
              </a:solidFill>
              <a:latin typeface="Times New Roman" panose="02020603050405020304" pitchFamily="18" charset="0"/>
              <a:ea typeface="+mn-ea"/>
              <a:cs typeface="Times New Roman" panose="02020603050405020304" pitchFamily="18" charset="0"/>
            </a:rPr>
            <a:t> (logic LUT) is composed of many </a:t>
          </a:r>
          <a:r>
            <a:rPr lang="en-US" sz="1100" b="1" kern="1200" dirty="0">
              <a:solidFill>
                <a:schemeClr val="tx1"/>
              </a:solidFill>
              <a:latin typeface="Times New Roman" panose="02020603050405020304" pitchFamily="18" charset="0"/>
              <a:ea typeface="+mn-ea"/>
              <a:cs typeface="Times New Roman" panose="02020603050405020304" pitchFamily="18" charset="0"/>
            </a:rPr>
            <a:t>P-LUT</a:t>
          </a:r>
          <a:r>
            <a:rPr lang="en-US" altLang="zh-CN" sz="1100" b="1" kern="1200" dirty="0">
              <a:solidFill>
                <a:schemeClr val="tx1"/>
              </a:solidFill>
              <a:latin typeface="Times New Roman" panose="02020603050405020304" pitchFamily="18" charset="0"/>
              <a:ea typeface="+mn-ea"/>
              <a:cs typeface="Times New Roman" panose="02020603050405020304" pitchFamily="18" charset="0"/>
            </a:rPr>
            <a:t>s</a:t>
          </a:r>
          <a:r>
            <a:rPr lang="en-US" sz="1100" b="1" kern="1200" dirty="0">
              <a:solidFill>
                <a:schemeClr val="tx1"/>
              </a:solidFill>
              <a:latin typeface="Times New Roman" panose="02020603050405020304" pitchFamily="18" charset="0"/>
              <a:ea typeface="+mn-ea"/>
              <a:cs typeface="Times New Roman" panose="02020603050405020304" pitchFamily="18" charset="0"/>
            </a:rPr>
            <a:t> </a:t>
          </a:r>
          <a:r>
            <a:rPr lang="en-US" sz="1100" kern="1200" dirty="0">
              <a:solidFill>
                <a:schemeClr val="tx1"/>
              </a:solidFill>
              <a:latin typeface="Times New Roman" panose="02020603050405020304" pitchFamily="18" charset="0"/>
              <a:ea typeface="+mn-ea"/>
              <a:cs typeface="Times New Roman" panose="02020603050405020304" pitchFamily="18" charset="0"/>
            </a:rPr>
            <a:t>(physical LUT)</a:t>
          </a:r>
          <a:endParaRPr lang="zh-CN" sz="1100" kern="1200" dirty="0">
            <a:solidFill>
              <a:schemeClr val="tx1"/>
            </a:solidFill>
            <a:latin typeface="Times New Roman" panose="02020603050405020304" pitchFamily="18" charset="0"/>
            <a:ea typeface="+mn-ea"/>
            <a:cs typeface="Times New Roman" panose="02020603050405020304" pitchFamily="18" charset="0"/>
          </a:endParaRPr>
        </a:p>
      </dgm:t>
    </dgm:pt>
    <dgm:pt modelId="{F9DE2B58-F8CA-4ACC-B069-88665FFBF0DF}" type="parTrans" cxnId="{FC69FFA5-8570-4DDA-AE42-7F17D6E4FCE3}">
      <dgm:prSet/>
      <dgm:spPr/>
      <dgm:t>
        <a:bodyPr/>
        <a:lstStyle/>
        <a:p>
          <a:endParaRPr lang="zh-CN" altLang="en-US"/>
        </a:p>
      </dgm:t>
    </dgm:pt>
    <dgm:pt modelId="{4763FC2A-B2DB-4F12-8DE1-43A58102EFEE}" type="sibTrans" cxnId="{FC69FFA5-8570-4DDA-AE42-7F17D6E4FCE3}">
      <dgm:prSet/>
      <dgm:spPr/>
      <dgm:t>
        <a:bodyPr/>
        <a:lstStyle/>
        <a:p>
          <a:endParaRPr lang="zh-CN" altLang="en-US"/>
        </a:p>
      </dgm:t>
    </dgm:pt>
    <dgm:pt modelId="{FA2CD19A-E41F-4F22-ACBB-AAD3860316B5}">
      <dgm:prSet custT="1"/>
      <dgm:spPr/>
      <dgm:t>
        <a:bodyPr/>
        <a:lstStyle/>
        <a:p>
          <a:endParaRPr lang="zh-CN" altLang="en-US" sz="1100" kern="1200" dirty="0">
            <a:solidFill>
              <a:schemeClr val="tx1"/>
            </a:solidFill>
            <a:latin typeface="Times New Roman" panose="02020603050405020304" pitchFamily="18" charset="0"/>
            <a:ea typeface="+mn-ea"/>
            <a:cs typeface="Times New Roman" panose="02020603050405020304" pitchFamily="18" charset="0"/>
          </a:endParaRPr>
        </a:p>
      </dgm:t>
    </dgm:pt>
    <dgm:pt modelId="{F56C09E3-6777-4C40-9A82-2E7234089735}" type="parTrans" cxnId="{14A3AF1A-BC66-4D43-94E3-4EB44E057851}">
      <dgm:prSet/>
      <dgm:spPr/>
      <dgm:t>
        <a:bodyPr/>
        <a:lstStyle/>
        <a:p>
          <a:endParaRPr lang="zh-CN" altLang="en-US"/>
        </a:p>
      </dgm:t>
    </dgm:pt>
    <dgm:pt modelId="{1509183A-C40E-47AE-A6A6-254C0BD00016}" type="sibTrans" cxnId="{14A3AF1A-BC66-4D43-94E3-4EB44E057851}">
      <dgm:prSet/>
      <dgm:spPr/>
      <dgm:t>
        <a:bodyPr/>
        <a:lstStyle/>
        <a:p>
          <a:endParaRPr lang="zh-CN" altLang="en-US"/>
        </a:p>
      </dgm:t>
    </dgm:pt>
    <dgm:pt modelId="{936800B2-FEDD-480A-9C5F-70D51E68F715}" type="pres">
      <dgm:prSet presAssocID="{F595D683-E511-4D6B-B63F-83FAA512802B}" presName="Name0" presStyleCnt="0">
        <dgm:presLayoutVars>
          <dgm:dir/>
          <dgm:animLvl val="lvl"/>
          <dgm:resizeHandles val="exact"/>
        </dgm:presLayoutVars>
      </dgm:prSet>
      <dgm:spPr/>
    </dgm:pt>
    <dgm:pt modelId="{7666808F-EF6C-478A-A89D-B032ECF61BCB}" type="pres">
      <dgm:prSet presAssocID="{F595D683-E511-4D6B-B63F-83FAA512802B}" presName="tSp" presStyleCnt="0"/>
      <dgm:spPr/>
    </dgm:pt>
    <dgm:pt modelId="{F1D4FA18-B457-49E4-BF2C-F02E05A260A6}" type="pres">
      <dgm:prSet presAssocID="{F595D683-E511-4D6B-B63F-83FAA512802B}" presName="bSp" presStyleCnt="0"/>
      <dgm:spPr/>
    </dgm:pt>
    <dgm:pt modelId="{50D2DEF4-EF2B-45C5-B2F6-5320A1DC1B59}" type="pres">
      <dgm:prSet presAssocID="{F595D683-E511-4D6B-B63F-83FAA512802B}" presName="process" presStyleCnt="0"/>
      <dgm:spPr/>
    </dgm:pt>
    <dgm:pt modelId="{9B813D71-7A5F-45B4-9585-C909C6F0D628}" type="pres">
      <dgm:prSet presAssocID="{07C48A35-9ACF-4556-87E3-D63489F04A60}" presName="composite1" presStyleCnt="0"/>
      <dgm:spPr/>
    </dgm:pt>
    <dgm:pt modelId="{98272B87-93E4-4EF2-8E3D-B6EE11E46BFF}" type="pres">
      <dgm:prSet presAssocID="{07C48A35-9ACF-4556-87E3-D63489F04A60}" presName="dummyNode1" presStyleLbl="node1" presStyleIdx="0" presStyleCnt="3"/>
      <dgm:spPr/>
    </dgm:pt>
    <dgm:pt modelId="{D53DCE8D-39F1-4CBC-93B7-DC3AB5B130B8}" type="pres">
      <dgm:prSet presAssocID="{07C48A35-9ACF-4556-87E3-D63489F04A60}" presName="childNode1" presStyleLbl="bgAcc1" presStyleIdx="0" presStyleCnt="3">
        <dgm:presLayoutVars>
          <dgm:bulletEnabled val="1"/>
        </dgm:presLayoutVars>
      </dgm:prSet>
      <dgm:spPr/>
    </dgm:pt>
    <dgm:pt modelId="{9F5CE3F0-5C7C-48CE-ACE3-7FF87709412A}" type="pres">
      <dgm:prSet presAssocID="{07C48A35-9ACF-4556-87E3-D63489F04A60}" presName="childNode1tx" presStyleLbl="bgAcc1" presStyleIdx="0" presStyleCnt="3">
        <dgm:presLayoutVars>
          <dgm:bulletEnabled val="1"/>
        </dgm:presLayoutVars>
      </dgm:prSet>
      <dgm:spPr/>
    </dgm:pt>
    <dgm:pt modelId="{3CC0834E-A679-4258-8262-F1741F896831}" type="pres">
      <dgm:prSet presAssocID="{07C48A35-9ACF-4556-87E3-D63489F04A60}" presName="parentNode1" presStyleLbl="node1" presStyleIdx="0" presStyleCnt="3" custScaleY="60899">
        <dgm:presLayoutVars>
          <dgm:chMax val="1"/>
          <dgm:bulletEnabled val="1"/>
        </dgm:presLayoutVars>
      </dgm:prSet>
      <dgm:spPr/>
    </dgm:pt>
    <dgm:pt modelId="{34A6ACC2-25C3-48FD-A66B-6B0AE6FD0671}" type="pres">
      <dgm:prSet presAssocID="{07C48A35-9ACF-4556-87E3-D63489F04A60}" presName="connSite1" presStyleCnt="0"/>
      <dgm:spPr/>
    </dgm:pt>
    <dgm:pt modelId="{488F0129-6420-4AB3-8934-1F040FF50CF1}" type="pres">
      <dgm:prSet presAssocID="{82809B26-8DDE-4DC7-81C8-56DA805505E7}" presName="Name9" presStyleLbl="sibTrans2D1" presStyleIdx="0" presStyleCnt="2"/>
      <dgm:spPr/>
    </dgm:pt>
    <dgm:pt modelId="{E4C93328-AF04-4637-B54C-46F35ECD71FB}" type="pres">
      <dgm:prSet presAssocID="{552CC7C7-D7FB-485F-8E2B-9B9D678E4839}" presName="composite2" presStyleCnt="0"/>
      <dgm:spPr/>
    </dgm:pt>
    <dgm:pt modelId="{ABA7B730-EAEC-46D3-8970-59E02F8E96BA}" type="pres">
      <dgm:prSet presAssocID="{552CC7C7-D7FB-485F-8E2B-9B9D678E4839}" presName="dummyNode2" presStyleLbl="node1" presStyleIdx="0" presStyleCnt="3"/>
      <dgm:spPr/>
    </dgm:pt>
    <dgm:pt modelId="{6CBC3E52-14F1-4851-A2A2-470AE7DC1A5A}" type="pres">
      <dgm:prSet presAssocID="{552CC7C7-D7FB-485F-8E2B-9B9D678E4839}" presName="childNode2" presStyleLbl="bgAcc1" presStyleIdx="1" presStyleCnt="3">
        <dgm:presLayoutVars>
          <dgm:bulletEnabled val="1"/>
        </dgm:presLayoutVars>
      </dgm:prSet>
      <dgm:spPr/>
    </dgm:pt>
    <dgm:pt modelId="{3AD1ED48-67A4-4D35-B057-585344EAD0BE}" type="pres">
      <dgm:prSet presAssocID="{552CC7C7-D7FB-485F-8E2B-9B9D678E4839}" presName="childNode2tx" presStyleLbl="bgAcc1" presStyleIdx="1" presStyleCnt="3">
        <dgm:presLayoutVars>
          <dgm:bulletEnabled val="1"/>
        </dgm:presLayoutVars>
      </dgm:prSet>
      <dgm:spPr/>
    </dgm:pt>
    <dgm:pt modelId="{3DC2E9EF-7381-4FBF-9DB6-9CB7DCDBB882}" type="pres">
      <dgm:prSet presAssocID="{552CC7C7-D7FB-485F-8E2B-9B9D678E4839}" presName="parentNode2" presStyleLbl="node1" presStyleIdx="1" presStyleCnt="3" custScaleY="45658">
        <dgm:presLayoutVars>
          <dgm:chMax val="0"/>
          <dgm:bulletEnabled val="1"/>
        </dgm:presLayoutVars>
      </dgm:prSet>
      <dgm:spPr/>
    </dgm:pt>
    <dgm:pt modelId="{6488A12A-0FD9-4D43-8331-36BB95BA9632}" type="pres">
      <dgm:prSet presAssocID="{552CC7C7-D7FB-485F-8E2B-9B9D678E4839}" presName="connSite2" presStyleCnt="0"/>
      <dgm:spPr/>
    </dgm:pt>
    <dgm:pt modelId="{8DC5457A-0353-4E7E-BB63-089C4D9477BD}" type="pres">
      <dgm:prSet presAssocID="{1CA7AA92-F49F-4A08-BE0F-CB5E9075336F}" presName="Name18" presStyleLbl="sibTrans2D1" presStyleIdx="1" presStyleCnt="2"/>
      <dgm:spPr/>
    </dgm:pt>
    <dgm:pt modelId="{131EB3F7-1F4B-44C0-935E-935B3349DAB3}" type="pres">
      <dgm:prSet presAssocID="{108A6E9C-F4EF-4BF4-A5CE-5CE5D97A20BF}" presName="composite1" presStyleCnt="0"/>
      <dgm:spPr/>
    </dgm:pt>
    <dgm:pt modelId="{FF4CC960-5B92-499B-BD56-4A026C3D13EE}" type="pres">
      <dgm:prSet presAssocID="{108A6E9C-F4EF-4BF4-A5CE-5CE5D97A20BF}" presName="dummyNode1" presStyleLbl="node1" presStyleIdx="1" presStyleCnt="3"/>
      <dgm:spPr/>
    </dgm:pt>
    <dgm:pt modelId="{FCE5D429-D2C1-437B-99CB-4ABC8F69A8B1}" type="pres">
      <dgm:prSet presAssocID="{108A6E9C-F4EF-4BF4-A5CE-5CE5D97A20BF}" presName="childNode1" presStyleLbl="bgAcc1" presStyleIdx="2" presStyleCnt="3" custScaleX="110928">
        <dgm:presLayoutVars>
          <dgm:bulletEnabled val="1"/>
        </dgm:presLayoutVars>
      </dgm:prSet>
      <dgm:spPr/>
    </dgm:pt>
    <dgm:pt modelId="{B8607F70-F3BC-4154-96C4-6D76B8DBBF48}" type="pres">
      <dgm:prSet presAssocID="{108A6E9C-F4EF-4BF4-A5CE-5CE5D97A20BF}" presName="childNode1tx" presStyleLbl="bgAcc1" presStyleIdx="2" presStyleCnt="3">
        <dgm:presLayoutVars>
          <dgm:bulletEnabled val="1"/>
        </dgm:presLayoutVars>
      </dgm:prSet>
      <dgm:spPr/>
    </dgm:pt>
    <dgm:pt modelId="{79CC38C0-D716-4C3C-AD71-5E345E9120DA}" type="pres">
      <dgm:prSet presAssocID="{108A6E9C-F4EF-4BF4-A5CE-5CE5D97A20BF}" presName="parentNode1" presStyleLbl="node1" presStyleIdx="2" presStyleCnt="3" custScaleY="50360">
        <dgm:presLayoutVars>
          <dgm:chMax val="1"/>
          <dgm:bulletEnabled val="1"/>
        </dgm:presLayoutVars>
      </dgm:prSet>
      <dgm:spPr/>
    </dgm:pt>
    <dgm:pt modelId="{BE1DE8FA-0BD3-4831-B251-7149F5CF655E}" type="pres">
      <dgm:prSet presAssocID="{108A6E9C-F4EF-4BF4-A5CE-5CE5D97A20BF}" presName="connSite1" presStyleCnt="0"/>
      <dgm:spPr/>
    </dgm:pt>
  </dgm:ptLst>
  <dgm:cxnLst>
    <dgm:cxn modelId="{B9464D0A-981B-4522-A6B0-9F6A90271FE9}" type="presOf" srcId="{5811AB70-2359-4A47-852B-88EA496CC0E9}" destId="{9F5CE3F0-5C7C-48CE-ACE3-7FF87709412A}" srcOrd="1" destOrd="1" presId="urn:microsoft.com/office/officeart/2005/8/layout/hProcess4"/>
    <dgm:cxn modelId="{2C701B10-48C5-4A2C-A276-ADDA5D41CCBD}" type="presOf" srcId="{07C48A35-9ACF-4556-87E3-D63489F04A60}" destId="{3CC0834E-A679-4258-8262-F1741F896831}" srcOrd="0" destOrd="0" presId="urn:microsoft.com/office/officeart/2005/8/layout/hProcess4"/>
    <dgm:cxn modelId="{5C459310-C86B-489F-8055-73571171DEA0}" type="presOf" srcId="{1CA7AA92-F49F-4A08-BE0F-CB5E9075336F}" destId="{8DC5457A-0353-4E7E-BB63-089C4D9477BD}" srcOrd="0" destOrd="0" presId="urn:microsoft.com/office/officeart/2005/8/layout/hProcess4"/>
    <dgm:cxn modelId="{169A9715-296A-49D5-955E-898E68D3B098}" type="presOf" srcId="{6ACBD168-8E53-4960-B34D-9F5CE270AE98}" destId="{9F5CE3F0-5C7C-48CE-ACE3-7FF87709412A}" srcOrd="1" destOrd="2" presId="urn:microsoft.com/office/officeart/2005/8/layout/hProcess4"/>
    <dgm:cxn modelId="{14A3AF1A-BC66-4D43-94E3-4EB44E057851}" srcId="{552CC7C7-D7FB-485F-8E2B-9B9D678E4839}" destId="{FA2CD19A-E41F-4F22-ACBB-AAD3860316B5}" srcOrd="1" destOrd="0" parTransId="{F56C09E3-6777-4C40-9A82-2E7234089735}" sibTransId="{1509183A-C40E-47AE-A6A6-254C0BD00016}"/>
    <dgm:cxn modelId="{47C3D91F-9402-4448-98D8-E2DE4D5710D1}" type="presOf" srcId="{DD604F47-F54B-4DCA-BDD0-06187568A437}" destId="{FCE5D429-D2C1-437B-99CB-4ABC8F69A8B1}" srcOrd="0" destOrd="0" presId="urn:microsoft.com/office/officeart/2005/8/layout/hProcess4"/>
    <dgm:cxn modelId="{A6720322-FD57-4AE6-88B7-E26859BCA3E0}" srcId="{108A6E9C-F4EF-4BF4-A5CE-5CE5D97A20BF}" destId="{C7440D97-BA40-47AE-BEF5-147DE7DD6CF8}" srcOrd="2" destOrd="0" parTransId="{4BB6B041-CDEB-4AD7-A6D9-03A013E5905E}" sibTransId="{71DFABAC-A73E-4A3C-B42C-3F64699EE64C}"/>
    <dgm:cxn modelId="{E0D6C929-8D27-4BCA-9345-102F40967EEC}" type="presOf" srcId="{443C213D-A694-499C-AAA2-113FDB8EC866}" destId="{B8607F70-F3BC-4154-96C4-6D76B8DBBF48}" srcOrd="1" destOrd="1" presId="urn:microsoft.com/office/officeart/2005/8/layout/hProcess4"/>
    <dgm:cxn modelId="{9C7BC32F-7ACB-49DD-BD1F-13411D69650A}" type="presOf" srcId="{DD604F47-F54B-4DCA-BDD0-06187568A437}" destId="{B8607F70-F3BC-4154-96C4-6D76B8DBBF48}" srcOrd="1" destOrd="0" presId="urn:microsoft.com/office/officeart/2005/8/layout/hProcess4"/>
    <dgm:cxn modelId="{6BA1D23D-89B6-4F06-817B-02D89A0BE473}" type="presOf" srcId="{64BEE9CB-A56B-4322-8470-FCBCEBD4BC6C}" destId="{9F5CE3F0-5C7C-48CE-ACE3-7FF87709412A}" srcOrd="1" destOrd="0" presId="urn:microsoft.com/office/officeart/2005/8/layout/hProcess4"/>
    <dgm:cxn modelId="{E517BB5F-84C6-4D16-ACA3-84F17A0484BB}" srcId="{F595D683-E511-4D6B-B63F-83FAA512802B}" destId="{108A6E9C-F4EF-4BF4-A5CE-5CE5D97A20BF}" srcOrd="2" destOrd="0" parTransId="{7FC16F19-82EF-4258-A481-6E3588C732C3}" sibTransId="{50AB3629-3F1B-4B7B-B7ED-FE3A0D68EEC4}"/>
    <dgm:cxn modelId="{C416B842-F1ED-4BA7-B28D-79ECF41F7893}" srcId="{07C48A35-9ACF-4556-87E3-D63489F04A60}" destId="{6ACBD168-8E53-4960-B34D-9F5CE270AE98}" srcOrd="2" destOrd="0" parTransId="{36277846-D864-4D17-9201-D353A33726AE}" sibTransId="{52EAB51E-FFB3-4C5C-B327-EBA62FB12662}"/>
    <dgm:cxn modelId="{B3CA6A48-CC6A-4CEC-BE45-E951682383B2}" type="presOf" srcId="{B96525D2-D86F-4860-AF5A-CF0DD5D01CC9}" destId="{3AD1ED48-67A4-4D35-B057-585344EAD0BE}" srcOrd="1" destOrd="0" presId="urn:microsoft.com/office/officeart/2005/8/layout/hProcess4"/>
    <dgm:cxn modelId="{F6768B68-8DE3-4998-A24E-0A4F4D8F80D8}" type="presOf" srcId="{C7440D97-BA40-47AE-BEF5-147DE7DD6CF8}" destId="{B8607F70-F3BC-4154-96C4-6D76B8DBBF48}" srcOrd="1" destOrd="2" presId="urn:microsoft.com/office/officeart/2005/8/layout/hProcess4"/>
    <dgm:cxn modelId="{34499468-3C8C-45B3-BF59-4CB733E5833A}" type="presOf" srcId="{108A6E9C-F4EF-4BF4-A5CE-5CE5D97A20BF}" destId="{79CC38C0-D716-4C3C-AD71-5E345E9120DA}" srcOrd="0" destOrd="0" presId="urn:microsoft.com/office/officeart/2005/8/layout/hProcess4"/>
    <dgm:cxn modelId="{8316574C-C83C-4DC4-A4E5-872DA66C432D}" type="presOf" srcId="{5811AB70-2359-4A47-852B-88EA496CC0E9}" destId="{D53DCE8D-39F1-4CBC-93B7-DC3AB5B130B8}" srcOrd="0" destOrd="1" presId="urn:microsoft.com/office/officeart/2005/8/layout/hProcess4"/>
    <dgm:cxn modelId="{7243E24C-6DA9-4ED3-A15E-EE6DB0CF7284}" type="presOf" srcId="{F595D683-E511-4D6B-B63F-83FAA512802B}" destId="{936800B2-FEDD-480A-9C5F-70D51E68F715}" srcOrd="0" destOrd="0" presId="urn:microsoft.com/office/officeart/2005/8/layout/hProcess4"/>
    <dgm:cxn modelId="{E59BB870-742B-432C-83FB-3ADA4EFC5987}" srcId="{07C48A35-9ACF-4556-87E3-D63489F04A60}" destId="{5811AB70-2359-4A47-852B-88EA496CC0E9}" srcOrd="1" destOrd="0" parTransId="{495A3713-2265-4C53-A827-B7EBAAE07D02}" sibTransId="{2D950A54-74FF-43B4-B069-EC960C6DD260}"/>
    <dgm:cxn modelId="{6F022D54-0EC5-4706-BA0A-211ECDA3C3B2}" type="presOf" srcId="{FA2CD19A-E41F-4F22-ACBB-AAD3860316B5}" destId="{6CBC3E52-14F1-4851-A2A2-470AE7DC1A5A}" srcOrd="0" destOrd="1" presId="urn:microsoft.com/office/officeart/2005/8/layout/hProcess4"/>
    <dgm:cxn modelId="{1EA12D80-05CC-45B4-BADD-988B183AACD4}" type="presOf" srcId="{552CC7C7-D7FB-485F-8E2B-9B9D678E4839}" destId="{3DC2E9EF-7381-4FBF-9DB6-9CB7DCDBB882}" srcOrd="0" destOrd="0" presId="urn:microsoft.com/office/officeart/2005/8/layout/hProcess4"/>
    <dgm:cxn modelId="{74A88994-2B3A-42CE-A917-2763EC50EAD4}" srcId="{F595D683-E511-4D6B-B63F-83FAA512802B}" destId="{552CC7C7-D7FB-485F-8E2B-9B9D678E4839}" srcOrd="1" destOrd="0" parTransId="{C08C1FB3-692F-4D7A-B5A0-3063261B062B}" sibTransId="{1CA7AA92-F49F-4A08-BE0F-CB5E9075336F}"/>
    <dgm:cxn modelId="{38992696-B579-49BF-AFF3-8754720DB842}" type="presOf" srcId="{81753D37-A729-4055-A6A7-9244C16D692A}" destId="{3AD1ED48-67A4-4D35-B057-585344EAD0BE}" srcOrd="1" destOrd="2" presId="urn:microsoft.com/office/officeart/2005/8/layout/hProcess4"/>
    <dgm:cxn modelId="{50434996-481B-4D87-B54E-E7C8DB4F9BF7}" srcId="{108A6E9C-F4EF-4BF4-A5CE-5CE5D97A20BF}" destId="{443C213D-A694-499C-AAA2-113FDB8EC866}" srcOrd="1" destOrd="0" parTransId="{C6A5424F-E080-40FC-9458-49C27FA26825}" sibTransId="{936E0B06-E293-4548-81C1-4714678D826D}"/>
    <dgm:cxn modelId="{491C0198-78ED-470F-B30D-34381E009A29}" type="presOf" srcId="{FA2CD19A-E41F-4F22-ACBB-AAD3860316B5}" destId="{3AD1ED48-67A4-4D35-B057-585344EAD0BE}" srcOrd="1" destOrd="1" presId="urn:microsoft.com/office/officeart/2005/8/layout/hProcess4"/>
    <dgm:cxn modelId="{BB36C89A-C046-4D6D-A95C-D802FEEDE643}" type="presOf" srcId="{82809B26-8DDE-4DC7-81C8-56DA805505E7}" destId="{488F0129-6420-4AB3-8934-1F040FF50CF1}" srcOrd="0" destOrd="0" presId="urn:microsoft.com/office/officeart/2005/8/layout/hProcess4"/>
    <dgm:cxn modelId="{E98E089B-35F2-4AFF-BFC0-C64432D40C73}" srcId="{07C48A35-9ACF-4556-87E3-D63489F04A60}" destId="{64BEE9CB-A56B-4322-8470-FCBCEBD4BC6C}" srcOrd="0" destOrd="0" parTransId="{F6A3016D-AB8F-4CA0-892B-45EFB5BD20D3}" sibTransId="{E173F331-7743-4268-A928-E68B9FF0B930}"/>
    <dgm:cxn modelId="{E3F93EA4-ABC2-43AF-AD2E-A4BF8ACA9D30}" type="presOf" srcId="{6ACBD168-8E53-4960-B34D-9F5CE270AE98}" destId="{D53DCE8D-39F1-4CBC-93B7-DC3AB5B130B8}" srcOrd="0" destOrd="2" presId="urn:microsoft.com/office/officeart/2005/8/layout/hProcess4"/>
    <dgm:cxn modelId="{FC69FFA5-8570-4DDA-AE42-7F17D6E4FCE3}" srcId="{552CC7C7-D7FB-485F-8E2B-9B9D678E4839}" destId="{81753D37-A729-4055-A6A7-9244C16D692A}" srcOrd="2" destOrd="0" parTransId="{F9DE2B58-F8CA-4ACC-B069-88665FFBF0DF}" sibTransId="{4763FC2A-B2DB-4F12-8DE1-43A58102EFEE}"/>
    <dgm:cxn modelId="{A08FDAB2-8C32-4ED8-8BA0-05936C091741}" type="presOf" srcId="{81753D37-A729-4055-A6A7-9244C16D692A}" destId="{6CBC3E52-14F1-4851-A2A2-470AE7DC1A5A}" srcOrd="0" destOrd="2" presId="urn:microsoft.com/office/officeart/2005/8/layout/hProcess4"/>
    <dgm:cxn modelId="{0E2EA2B8-AAA0-4183-A78F-5EF6C13CC20F}" type="presOf" srcId="{B96525D2-D86F-4860-AF5A-CF0DD5D01CC9}" destId="{6CBC3E52-14F1-4851-A2A2-470AE7DC1A5A}" srcOrd="0" destOrd="0" presId="urn:microsoft.com/office/officeart/2005/8/layout/hProcess4"/>
    <dgm:cxn modelId="{2FED25BA-7335-49B9-9253-628A774DE27E}" srcId="{552CC7C7-D7FB-485F-8E2B-9B9D678E4839}" destId="{B96525D2-D86F-4860-AF5A-CF0DD5D01CC9}" srcOrd="0" destOrd="0" parTransId="{6CEF587B-E7B6-45D8-AF5D-36F6B0BF8342}" sibTransId="{3A3D0E06-D444-4663-83CE-838BBCF77503}"/>
    <dgm:cxn modelId="{E4746ABE-9979-4C85-902B-4D5D0EBAA795}" srcId="{108A6E9C-F4EF-4BF4-A5CE-5CE5D97A20BF}" destId="{DD604F47-F54B-4DCA-BDD0-06187568A437}" srcOrd="0" destOrd="0" parTransId="{77FFD743-18BC-4EDD-A0DC-9A3CD60C5978}" sibTransId="{D7B55D26-0743-4CD1-81DA-CA88547D2327}"/>
    <dgm:cxn modelId="{63290CCC-7240-4D1B-9D2B-15DFB30F7F49}" type="presOf" srcId="{443C213D-A694-499C-AAA2-113FDB8EC866}" destId="{FCE5D429-D2C1-437B-99CB-4ABC8F69A8B1}" srcOrd="0" destOrd="1" presId="urn:microsoft.com/office/officeart/2005/8/layout/hProcess4"/>
    <dgm:cxn modelId="{C29C6FE1-28C3-466B-9B54-A40263DFAE4B}" type="presOf" srcId="{C7440D97-BA40-47AE-BEF5-147DE7DD6CF8}" destId="{FCE5D429-D2C1-437B-99CB-4ABC8F69A8B1}" srcOrd="0" destOrd="2" presId="urn:microsoft.com/office/officeart/2005/8/layout/hProcess4"/>
    <dgm:cxn modelId="{0D12DFF0-9963-4969-9B51-E86BE868534B}" type="presOf" srcId="{64BEE9CB-A56B-4322-8470-FCBCEBD4BC6C}" destId="{D53DCE8D-39F1-4CBC-93B7-DC3AB5B130B8}" srcOrd="0" destOrd="0" presId="urn:microsoft.com/office/officeart/2005/8/layout/hProcess4"/>
    <dgm:cxn modelId="{AD806AFA-A888-4D24-9620-9000C4829F36}" srcId="{F595D683-E511-4D6B-B63F-83FAA512802B}" destId="{07C48A35-9ACF-4556-87E3-D63489F04A60}" srcOrd="0" destOrd="0" parTransId="{56C70802-062F-4B96-9210-E45EF758B70E}" sibTransId="{82809B26-8DDE-4DC7-81C8-56DA805505E7}"/>
    <dgm:cxn modelId="{957A2B84-C776-4306-9B7C-4C3DB73FDF33}" type="presParOf" srcId="{936800B2-FEDD-480A-9C5F-70D51E68F715}" destId="{7666808F-EF6C-478A-A89D-B032ECF61BCB}" srcOrd="0" destOrd="0" presId="urn:microsoft.com/office/officeart/2005/8/layout/hProcess4"/>
    <dgm:cxn modelId="{A2035579-F008-4DAE-946C-F45E2127EDFA}" type="presParOf" srcId="{936800B2-FEDD-480A-9C5F-70D51E68F715}" destId="{F1D4FA18-B457-49E4-BF2C-F02E05A260A6}" srcOrd="1" destOrd="0" presId="urn:microsoft.com/office/officeart/2005/8/layout/hProcess4"/>
    <dgm:cxn modelId="{993092E2-575D-4213-AE03-D6858C94ADB2}" type="presParOf" srcId="{936800B2-FEDD-480A-9C5F-70D51E68F715}" destId="{50D2DEF4-EF2B-45C5-B2F6-5320A1DC1B59}" srcOrd="2" destOrd="0" presId="urn:microsoft.com/office/officeart/2005/8/layout/hProcess4"/>
    <dgm:cxn modelId="{B984EC44-3BB3-4E8B-8493-166919494D58}" type="presParOf" srcId="{50D2DEF4-EF2B-45C5-B2F6-5320A1DC1B59}" destId="{9B813D71-7A5F-45B4-9585-C909C6F0D628}" srcOrd="0" destOrd="0" presId="urn:microsoft.com/office/officeart/2005/8/layout/hProcess4"/>
    <dgm:cxn modelId="{50517A64-25DE-4DF1-BB5D-2DF72F626747}" type="presParOf" srcId="{9B813D71-7A5F-45B4-9585-C909C6F0D628}" destId="{98272B87-93E4-4EF2-8E3D-B6EE11E46BFF}" srcOrd="0" destOrd="0" presId="urn:microsoft.com/office/officeart/2005/8/layout/hProcess4"/>
    <dgm:cxn modelId="{59BD2B6B-3609-4414-BC86-FFDFA4CB2024}" type="presParOf" srcId="{9B813D71-7A5F-45B4-9585-C909C6F0D628}" destId="{D53DCE8D-39F1-4CBC-93B7-DC3AB5B130B8}" srcOrd="1" destOrd="0" presId="urn:microsoft.com/office/officeart/2005/8/layout/hProcess4"/>
    <dgm:cxn modelId="{2CE8F3DF-23FB-4860-A79C-81F87BD65633}" type="presParOf" srcId="{9B813D71-7A5F-45B4-9585-C909C6F0D628}" destId="{9F5CE3F0-5C7C-48CE-ACE3-7FF87709412A}" srcOrd="2" destOrd="0" presId="urn:microsoft.com/office/officeart/2005/8/layout/hProcess4"/>
    <dgm:cxn modelId="{C7176773-2349-4FC2-9D2C-7C8232ACAAC8}" type="presParOf" srcId="{9B813D71-7A5F-45B4-9585-C909C6F0D628}" destId="{3CC0834E-A679-4258-8262-F1741F896831}" srcOrd="3" destOrd="0" presId="urn:microsoft.com/office/officeart/2005/8/layout/hProcess4"/>
    <dgm:cxn modelId="{734DD329-04CD-4334-862C-0D0B72F21CD2}" type="presParOf" srcId="{9B813D71-7A5F-45B4-9585-C909C6F0D628}" destId="{34A6ACC2-25C3-48FD-A66B-6B0AE6FD0671}" srcOrd="4" destOrd="0" presId="urn:microsoft.com/office/officeart/2005/8/layout/hProcess4"/>
    <dgm:cxn modelId="{B7ECC96E-CCFE-4B74-951B-0F50CD1612D3}" type="presParOf" srcId="{50D2DEF4-EF2B-45C5-B2F6-5320A1DC1B59}" destId="{488F0129-6420-4AB3-8934-1F040FF50CF1}" srcOrd="1" destOrd="0" presId="urn:microsoft.com/office/officeart/2005/8/layout/hProcess4"/>
    <dgm:cxn modelId="{68DF587F-0A82-47A9-BC9B-3836E488BD00}" type="presParOf" srcId="{50D2DEF4-EF2B-45C5-B2F6-5320A1DC1B59}" destId="{E4C93328-AF04-4637-B54C-46F35ECD71FB}" srcOrd="2" destOrd="0" presId="urn:microsoft.com/office/officeart/2005/8/layout/hProcess4"/>
    <dgm:cxn modelId="{4B785FCE-B555-4AE3-9FE3-617C4152F409}" type="presParOf" srcId="{E4C93328-AF04-4637-B54C-46F35ECD71FB}" destId="{ABA7B730-EAEC-46D3-8970-59E02F8E96BA}" srcOrd="0" destOrd="0" presId="urn:microsoft.com/office/officeart/2005/8/layout/hProcess4"/>
    <dgm:cxn modelId="{93892537-B375-4C76-B256-0047B0DD84D7}" type="presParOf" srcId="{E4C93328-AF04-4637-B54C-46F35ECD71FB}" destId="{6CBC3E52-14F1-4851-A2A2-470AE7DC1A5A}" srcOrd="1" destOrd="0" presId="urn:microsoft.com/office/officeart/2005/8/layout/hProcess4"/>
    <dgm:cxn modelId="{CE639FCA-E62E-4B76-9598-7BE30D89279C}" type="presParOf" srcId="{E4C93328-AF04-4637-B54C-46F35ECD71FB}" destId="{3AD1ED48-67A4-4D35-B057-585344EAD0BE}" srcOrd="2" destOrd="0" presId="urn:microsoft.com/office/officeart/2005/8/layout/hProcess4"/>
    <dgm:cxn modelId="{7892E857-8C3B-46CB-BA35-05D3291FF0EF}" type="presParOf" srcId="{E4C93328-AF04-4637-B54C-46F35ECD71FB}" destId="{3DC2E9EF-7381-4FBF-9DB6-9CB7DCDBB882}" srcOrd="3" destOrd="0" presId="urn:microsoft.com/office/officeart/2005/8/layout/hProcess4"/>
    <dgm:cxn modelId="{0F411535-71D0-405F-BC54-1E373E2598C5}" type="presParOf" srcId="{E4C93328-AF04-4637-B54C-46F35ECD71FB}" destId="{6488A12A-0FD9-4D43-8331-36BB95BA9632}" srcOrd="4" destOrd="0" presId="urn:microsoft.com/office/officeart/2005/8/layout/hProcess4"/>
    <dgm:cxn modelId="{8A0A14AA-CFDD-4A73-8082-F4BD4B91E808}" type="presParOf" srcId="{50D2DEF4-EF2B-45C5-B2F6-5320A1DC1B59}" destId="{8DC5457A-0353-4E7E-BB63-089C4D9477BD}" srcOrd="3" destOrd="0" presId="urn:microsoft.com/office/officeart/2005/8/layout/hProcess4"/>
    <dgm:cxn modelId="{4D1C4D9D-284A-4826-9A39-5D554F2E7413}" type="presParOf" srcId="{50D2DEF4-EF2B-45C5-B2F6-5320A1DC1B59}" destId="{131EB3F7-1F4B-44C0-935E-935B3349DAB3}" srcOrd="4" destOrd="0" presId="urn:microsoft.com/office/officeart/2005/8/layout/hProcess4"/>
    <dgm:cxn modelId="{A3A523F6-17B2-491C-848E-1922C4D978A5}" type="presParOf" srcId="{131EB3F7-1F4B-44C0-935E-935B3349DAB3}" destId="{FF4CC960-5B92-499B-BD56-4A026C3D13EE}" srcOrd="0" destOrd="0" presId="urn:microsoft.com/office/officeart/2005/8/layout/hProcess4"/>
    <dgm:cxn modelId="{6D703D4F-A515-4B54-ACFD-A2BA91A183B1}" type="presParOf" srcId="{131EB3F7-1F4B-44C0-935E-935B3349DAB3}" destId="{FCE5D429-D2C1-437B-99CB-4ABC8F69A8B1}" srcOrd="1" destOrd="0" presId="urn:microsoft.com/office/officeart/2005/8/layout/hProcess4"/>
    <dgm:cxn modelId="{C00AE7A3-D49B-4DD2-9F3D-11850264961C}" type="presParOf" srcId="{131EB3F7-1F4B-44C0-935E-935B3349DAB3}" destId="{B8607F70-F3BC-4154-96C4-6D76B8DBBF48}" srcOrd="2" destOrd="0" presId="urn:microsoft.com/office/officeart/2005/8/layout/hProcess4"/>
    <dgm:cxn modelId="{8B3A2096-8BC7-4E07-B308-8A9BC2F9D814}" type="presParOf" srcId="{131EB3F7-1F4B-44C0-935E-935B3349DAB3}" destId="{79CC38C0-D716-4C3C-AD71-5E345E9120DA}" srcOrd="3" destOrd="0" presId="urn:microsoft.com/office/officeart/2005/8/layout/hProcess4"/>
    <dgm:cxn modelId="{6AC57CCB-23AF-41CB-A116-10B7619611A4}" type="presParOf" srcId="{131EB3F7-1F4B-44C0-935E-935B3349DAB3}" destId="{BE1DE8FA-0BD3-4831-B251-7149F5CF655E}"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AA63CFA-9C5C-45D6-910B-373EBDDF6A5C}" type="doc">
      <dgm:prSet loTypeId="urn:microsoft.com/office/officeart/2005/8/layout/arrow2" loCatId="process" qsTypeId="urn:microsoft.com/office/officeart/2005/8/quickstyle/simple1" qsCatId="simple" csTypeId="urn:microsoft.com/office/officeart/2005/8/colors/accent1_2" csCatId="accent1" phldr="1"/>
      <dgm:spPr/>
      <dgm:t>
        <a:bodyPr/>
        <a:lstStyle/>
        <a:p>
          <a:endParaRPr lang="zh-CN" altLang="en-US"/>
        </a:p>
      </dgm:t>
    </dgm:pt>
    <dgm:pt modelId="{BB6A9735-1A41-48FF-9111-2BDEB1465B5F}">
      <dgm:prSet/>
      <dgm:spPr/>
      <dgm:t>
        <a:bodyPr/>
        <a:lstStyle/>
        <a:p>
          <a:r>
            <a:rPr lang="en-US"/>
            <a:t>LogicLUT</a:t>
          </a:r>
          <a:endParaRPr lang="zh-CN"/>
        </a:p>
      </dgm:t>
    </dgm:pt>
    <dgm:pt modelId="{97F0A5A1-45BE-4A2E-A27F-03E41987F4E3}" type="parTrans" cxnId="{4E55840D-F66E-431D-9E0C-69ED8812C202}">
      <dgm:prSet/>
      <dgm:spPr/>
      <dgm:t>
        <a:bodyPr/>
        <a:lstStyle/>
        <a:p>
          <a:endParaRPr lang="zh-CN" altLang="en-US"/>
        </a:p>
      </dgm:t>
    </dgm:pt>
    <dgm:pt modelId="{62192C2B-398A-4597-8273-52490027B3E7}" type="sibTrans" cxnId="{4E55840D-F66E-431D-9E0C-69ED8812C202}">
      <dgm:prSet/>
      <dgm:spPr/>
      <dgm:t>
        <a:bodyPr/>
        <a:lstStyle/>
        <a:p>
          <a:endParaRPr lang="zh-CN" altLang="en-US"/>
        </a:p>
      </dgm:t>
    </dgm:pt>
    <dgm:pt modelId="{E8B071E7-8EBF-4C78-8209-7FAD4DF32EF6}">
      <dgm:prSet/>
      <dgm:spPr/>
      <dgm:t>
        <a:bodyPr/>
        <a:lstStyle/>
        <a:p>
          <a:r>
            <a:rPr lang="en-US"/>
            <a:t>FPL 20’ </a:t>
          </a:r>
          <a:endParaRPr lang="zh-CN"/>
        </a:p>
      </dgm:t>
    </dgm:pt>
    <dgm:pt modelId="{5555D4F4-BA33-4AC6-98A0-066D9EAB473E}" type="parTrans" cxnId="{D953F518-6104-4DD9-B14F-810BFC3D9B03}">
      <dgm:prSet/>
      <dgm:spPr/>
      <dgm:t>
        <a:bodyPr/>
        <a:lstStyle/>
        <a:p>
          <a:endParaRPr lang="zh-CN" altLang="en-US"/>
        </a:p>
      </dgm:t>
    </dgm:pt>
    <dgm:pt modelId="{32D5C6DF-FAA2-4902-A5D0-53711738BDA0}" type="sibTrans" cxnId="{D953F518-6104-4DD9-B14F-810BFC3D9B03}">
      <dgm:prSet/>
      <dgm:spPr/>
      <dgm:t>
        <a:bodyPr/>
        <a:lstStyle/>
        <a:p>
          <a:endParaRPr lang="zh-CN" altLang="en-US"/>
        </a:p>
      </dgm:t>
    </dgm:pt>
    <dgm:pt modelId="{BC9BEF78-674C-4FA8-B15F-5BACB9BA15F4}">
      <dgm:prSet/>
      <dgm:spPr/>
      <dgm:t>
        <a:bodyPr/>
        <a:lstStyle/>
        <a:p>
          <a:r>
            <a:rPr lang="en-US"/>
            <a:t>Absorbing whole computation of a neuron into a L-LUT</a:t>
          </a:r>
          <a:endParaRPr lang="zh-CN"/>
        </a:p>
      </dgm:t>
    </dgm:pt>
    <dgm:pt modelId="{A742BC3C-A1DE-4DE8-916C-9792FFA33269}" type="parTrans" cxnId="{3372AAA9-3A45-4604-9089-5AF5A2E7775D}">
      <dgm:prSet/>
      <dgm:spPr/>
      <dgm:t>
        <a:bodyPr/>
        <a:lstStyle/>
        <a:p>
          <a:endParaRPr lang="zh-CN" altLang="en-US"/>
        </a:p>
      </dgm:t>
    </dgm:pt>
    <dgm:pt modelId="{CE50DB0E-7711-441B-96E5-C34B88E8A56E}" type="sibTrans" cxnId="{3372AAA9-3A45-4604-9089-5AF5A2E7775D}">
      <dgm:prSet/>
      <dgm:spPr/>
      <dgm:t>
        <a:bodyPr/>
        <a:lstStyle/>
        <a:p>
          <a:endParaRPr lang="zh-CN" altLang="en-US"/>
        </a:p>
      </dgm:t>
    </dgm:pt>
    <dgm:pt modelId="{0B891B64-EABC-47B2-8234-AB7A0981AE1D}">
      <dgm:prSet/>
      <dgm:spPr/>
      <dgm:t>
        <a:bodyPr/>
        <a:lstStyle/>
        <a:p>
          <a:r>
            <a:rPr lang="en-US"/>
            <a:t>PolyLUT</a:t>
          </a:r>
          <a:endParaRPr lang="zh-CN"/>
        </a:p>
      </dgm:t>
    </dgm:pt>
    <dgm:pt modelId="{57079CDF-2422-4B79-8C02-F819845039EB}" type="parTrans" cxnId="{D6E93F1D-2933-477B-B669-A87421CBCEEC}">
      <dgm:prSet/>
      <dgm:spPr/>
      <dgm:t>
        <a:bodyPr/>
        <a:lstStyle/>
        <a:p>
          <a:endParaRPr lang="zh-CN" altLang="en-US"/>
        </a:p>
      </dgm:t>
    </dgm:pt>
    <dgm:pt modelId="{C3036DD5-385A-4D96-AF15-DF1C75ADEDF6}" type="sibTrans" cxnId="{D6E93F1D-2933-477B-B669-A87421CBCEEC}">
      <dgm:prSet/>
      <dgm:spPr/>
      <dgm:t>
        <a:bodyPr/>
        <a:lstStyle/>
        <a:p>
          <a:endParaRPr lang="zh-CN" altLang="en-US"/>
        </a:p>
      </dgm:t>
    </dgm:pt>
    <dgm:pt modelId="{92E4F61E-FB56-470C-8E89-CC407BF7DB9D}">
      <dgm:prSet/>
      <dgm:spPr/>
      <dgm:t>
        <a:bodyPr/>
        <a:lstStyle/>
        <a:p>
          <a:r>
            <a:rPr lang="en-US"/>
            <a:t>ICFTP 23’</a:t>
          </a:r>
          <a:endParaRPr lang="zh-CN"/>
        </a:p>
      </dgm:t>
    </dgm:pt>
    <dgm:pt modelId="{601AEA65-9E01-4D75-9FC0-AA8F45E830D1}" type="parTrans" cxnId="{ED7921AD-517E-4391-9B8B-D5F31501C017}">
      <dgm:prSet/>
      <dgm:spPr/>
      <dgm:t>
        <a:bodyPr/>
        <a:lstStyle/>
        <a:p>
          <a:endParaRPr lang="zh-CN" altLang="en-US"/>
        </a:p>
      </dgm:t>
    </dgm:pt>
    <dgm:pt modelId="{0DB29784-E61E-4CAE-A13D-F862B1DEE677}" type="sibTrans" cxnId="{ED7921AD-517E-4391-9B8B-D5F31501C017}">
      <dgm:prSet/>
      <dgm:spPr/>
      <dgm:t>
        <a:bodyPr/>
        <a:lstStyle/>
        <a:p>
          <a:endParaRPr lang="zh-CN" altLang="en-US"/>
        </a:p>
      </dgm:t>
    </dgm:pt>
    <dgm:pt modelId="{2125B5FD-EC87-433C-9D4A-77BDF7D7DAB7}">
      <dgm:prSet/>
      <dgm:spPr/>
      <dgm:t>
        <a:bodyPr/>
        <a:lstStyle/>
        <a:p>
          <a:r>
            <a:rPr lang="en-US"/>
            <a:t>LogicLUT + multivariate polynomial functions inside a neuron</a:t>
          </a:r>
          <a:endParaRPr lang="zh-CN"/>
        </a:p>
      </dgm:t>
    </dgm:pt>
    <dgm:pt modelId="{D36D7F32-3555-4264-946D-7D3678F9D6CA}" type="parTrans" cxnId="{60F346D7-8B8E-4079-9BB2-278089CED8C7}">
      <dgm:prSet/>
      <dgm:spPr/>
      <dgm:t>
        <a:bodyPr/>
        <a:lstStyle/>
        <a:p>
          <a:endParaRPr lang="zh-CN" altLang="en-US"/>
        </a:p>
      </dgm:t>
    </dgm:pt>
    <dgm:pt modelId="{16F58A75-B328-4415-A16C-E47ABC6D6629}" type="sibTrans" cxnId="{60F346D7-8B8E-4079-9BB2-278089CED8C7}">
      <dgm:prSet/>
      <dgm:spPr/>
      <dgm:t>
        <a:bodyPr/>
        <a:lstStyle/>
        <a:p>
          <a:endParaRPr lang="zh-CN" altLang="en-US"/>
        </a:p>
      </dgm:t>
    </dgm:pt>
    <dgm:pt modelId="{70DA396B-4083-49EE-9FAC-FB067C48608B}">
      <dgm:prSet/>
      <dgm:spPr/>
      <dgm:t>
        <a:bodyPr/>
        <a:lstStyle/>
        <a:p>
          <a:r>
            <a:rPr lang="en-US" dirty="0" err="1"/>
            <a:t>NeuralLUT</a:t>
          </a:r>
          <a:endParaRPr lang="zh-CN" dirty="0"/>
        </a:p>
      </dgm:t>
    </dgm:pt>
    <dgm:pt modelId="{69815E5E-1073-445B-BD4D-BC660FC79B2B}" type="parTrans" cxnId="{C683A2A6-111A-40D9-91E4-BE6A129C5863}">
      <dgm:prSet/>
      <dgm:spPr/>
      <dgm:t>
        <a:bodyPr/>
        <a:lstStyle/>
        <a:p>
          <a:endParaRPr lang="zh-CN" altLang="en-US"/>
        </a:p>
      </dgm:t>
    </dgm:pt>
    <dgm:pt modelId="{F5969120-92C6-4D80-A605-6F9B108FF268}" type="sibTrans" cxnId="{C683A2A6-111A-40D9-91E4-BE6A129C5863}">
      <dgm:prSet/>
      <dgm:spPr/>
      <dgm:t>
        <a:bodyPr/>
        <a:lstStyle/>
        <a:p>
          <a:endParaRPr lang="zh-CN" altLang="en-US"/>
        </a:p>
      </dgm:t>
    </dgm:pt>
    <dgm:pt modelId="{3205E782-D668-4509-9085-8E62BF9176E1}">
      <dgm:prSet/>
      <dgm:spPr/>
      <dgm:t>
        <a:bodyPr/>
        <a:lstStyle/>
        <a:p>
          <a:r>
            <a:rPr lang="en-US" dirty="0"/>
            <a:t>Absor</a:t>
          </a:r>
          <a:r>
            <a:rPr lang="en-US" altLang="zh-CN" dirty="0"/>
            <a:t>bi</a:t>
          </a:r>
          <a:r>
            <a:rPr lang="en-US" dirty="0"/>
            <a:t>ng entire subnetworks inside a L-LUT</a:t>
          </a:r>
          <a:endParaRPr lang="zh-CN" dirty="0"/>
        </a:p>
      </dgm:t>
    </dgm:pt>
    <dgm:pt modelId="{59E61357-9BD8-41BB-BA74-EADE448FC6B1}" type="parTrans" cxnId="{712B8AAE-0F45-40C5-BF27-07E41038D3F4}">
      <dgm:prSet/>
      <dgm:spPr/>
      <dgm:t>
        <a:bodyPr/>
        <a:lstStyle/>
        <a:p>
          <a:endParaRPr lang="zh-CN" altLang="en-US"/>
        </a:p>
      </dgm:t>
    </dgm:pt>
    <dgm:pt modelId="{850EED68-74C1-4346-99F7-95F16995D7A8}" type="sibTrans" cxnId="{712B8AAE-0F45-40C5-BF27-07E41038D3F4}">
      <dgm:prSet/>
      <dgm:spPr/>
      <dgm:t>
        <a:bodyPr/>
        <a:lstStyle/>
        <a:p>
          <a:endParaRPr lang="zh-CN" altLang="en-US"/>
        </a:p>
      </dgm:t>
    </dgm:pt>
    <dgm:pt modelId="{B7D4F491-5665-415C-B6DE-D455F9FC4B7C}">
      <dgm:prSet/>
      <dgm:spPr/>
      <dgm:t>
        <a:bodyPr/>
        <a:lstStyle/>
        <a:p>
          <a:r>
            <a:rPr lang="en-US" altLang="zh-CN" dirty="0"/>
            <a:t>FPL 24’</a:t>
          </a:r>
          <a:endParaRPr lang="zh-CN" dirty="0"/>
        </a:p>
      </dgm:t>
    </dgm:pt>
    <dgm:pt modelId="{7CAEC0A6-F646-4C85-9BC7-CCB84BE25273}" type="parTrans" cxnId="{23E1D687-9C9C-4D08-A602-27A5F19ACA5B}">
      <dgm:prSet/>
      <dgm:spPr/>
      <dgm:t>
        <a:bodyPr/>
        <a:lstStyle/>
        <a:p>
          <a:endParaRPr lang="zh-CN" altLang="en-US"/>
        </a:p>
      </dgm:t>
    </dgm:pt>
    <dgm:pt modelId="{0960A36D-4E7A-4893-8030-04DC584EEB0F}" type="sibTrans" cxnId="{23E1D687-9C9C-4D08-A602-27A5F19ACA5B}">
      <dgm:prSet/>
      <dgm:spPr/>
      <dgm:t>
        <a:bodyPr/>
        <a:lstStyle/>
        <a:p>
          <a:endParaRPr lang="zh-CN" altLang="en-US"/>
        </a:p>
      </dgm:t>
    </dgm:pt>
    <dgm:pt modelId="{4E453DD2-78AD-4E4C-96BB-0EEF9E2B0FE2}" type="pres">
      <dgm:prSet presAssocID="{CAA63CFA-9C5C-45D6-910B-373EBDDF6A5C}" presName="arrowDiagram" presStyleCnt="0">
        <dgm:presLayoutVars>
          <dgm:chMax val="5"/>
          <dgm:dir/>
          <dgm:resizeHandles val="exact"/>
        </dgm:presLayoutVars>
      </dgm:prSet>
      <dgm:spPr/>
    </dgm:pt>
    <dgm:pt modelId="{426D6358-EA32-4C90-82D4-E40976E45525}" type="pres">
      <dgm:prSet presAssocID="{CAA63CFA-9C5C-45D6-910B-373EBDDF6A5C}" presName="arrow" presStyleLbl="bgShp" presStyleIdx="0" presStyleCnt="1" custLinFactNeighborX="0" custLinFactNeighborY="5775"/>
      <dgm:spPr/>
    </dgm:pt>
    <dgm:pt modelId="{33DD6488-7A9D-4011-A84A-9EE556EC3457}" type="pres">
      <dgm:prSet presAssocID="{CAA63CFA-9C5C-45D6-910B-373EBDDF6A5C}" presName="arrowDiagram3" presStyleCnt="0"/>
      <dgm:spPr/>
    </dgm:pt>
    <dgm:pt modelId="{5A0517D0-4C9C-42C1-9D75-1CE2DFBC9E13}" type="pres">
      <dgm:prSet presAssocID="{BB6A9735-1A41-48FF-9111-2BDEB1465B5F}" presName="bullet3a" presStyleLbl="node1" presStyleIdx="0" presStyleCnt="3"/>
      <dgm:spPr/>
    </dgm:pt>
    <dgm:pt modelId="{64A2C0DA-F863-435E-B9AD-047A0C8B83B4}" type="pres">
      <dgm:prSet presAssocID="{BB6A9735-1A41-48FF-9111-2BDEB1465B5F}" presName="textBox3a" presStyleLbl="revTx" presStyleIdx="0" presStyleCnt="3">
        <dgm:presLayoutVars>
          <dgm:bulletEnabled val="1"/>
        </dgm:presLayoutVars>
      </dgm:prSet>
      <dgm:spPr/>
    </dgm:pt>
    <dgm:pt modelId="{14A1C464-0A03-4FC6-BD3C-4FB3A432B5CE}" type="pres">
      <dgm:prSet presAssocID="{0B891B64-EABC-47B2-8234-AB7A0981AE1D}" presName="bullet3b" presStyleLbl="node1" presStyleIdx="1" presStyleCnt="3"/>
      <dgm:spPr/>
    </dgm:pt>
    <dgm:pt modelId="{3012110E-72CE-4988-9754-E12583DCEFB4}" type="pres">
      <dgm:prSet presAssocID="{0B891B64-EABC-47B2-8234-AB7A0981AE1D}" presName="textBox3b" presStyleLbl="revTx" presStyleIdx="1" presStyleCnt="3">
        <dgm:presLayoutVars>
          <dgm:bulletEnabled val="1"/>
        </dgm:presLayoutVars>
      </dgm:prSet>
      <dgm:spPr/>
    </dgm:pt>
    <dgm:pt modelId="{2329F103-4C4B-4C95-B41E-05ED2DC597A9}" type="pres">
      <dgm:prSet presAssocID="{70DA396B-4083-49EE-9FAC-FB067C48608B}" presName="bullet3c" presStyleLbl="node1" presStyleIdx="2" presStyleCnt="3"/>
      <dgm:spPr/>
    </dgm:pt>
    <dgm:pt modelId="{EF4C84CD-5C3F-4AE2-8E84-D65DC678C5D4}" type="pres">
      <dgm:prSet presAssocID="{70DA396B-4083-49EE-9FAC-FB067C48608B}" presName="textBox3c" presStyleLbl="revTx" presStyleIdx="2" presStyleCnt="3">
        <dgm:presLayoutVars>
          <dgm:bulletEnabled val="1"/>
        </dgm:presLayoutVars>
      </dgm:prSet>
      <dgm:spPr/>
    </dgm:pt>
  </dgm:ptLst>
  <dgm:cxnLst>
    <dgm:cxn modelId="{520EED00-972A-4185-997A-5F2D3ECC6C0B}" type="presOf" srcId="{2125B5FD-EC87-433C-9D4A-77BDF7D7DAB7}" destId="{3012110E-72CE-4988-9754-E12583DCEFB4}" srcOrd="0" destOrd="2" presId="urn:microsoft.com/office/officeart/2005/8/layout/arrow2"/>
    <dgm:cxn modelId="{4E55840D-F66E-431D-9E0C-69ED8812C202}" srcId="{CAA63CFA-9C5C-45D6-910B-373EBDDF6A5C}" destId="{BB6A9735-1A41-48FF-9111-2BDEB1465B5F}" srcOrd="0" destOrd="0" parTransId="{97F0A5A1-45BE-4A2E-A27F-03E41987F4E3}" sibTransId="{62192C2B-398A-4597-8273-52490027B3E7}"/>
    <dgm:cxn modelId="{D953F518-6104-4DD9-B14F-810BFC3D9B03}" srcId="{BB6A9735-1A41-48FF-9111-2BDEB1465B5F}" destId="{E8B071E7-8EBF-4C78-8209-7FAD4DF32EF6}" srcOrd="0" destOrd="0" parTransId="{5555D4F4-BA33-4AC6-98A0-066D9EAB473E}" sibTransId="{32D5C6DF-FAA2-4902-A5D0-53711738BDA0}"/>
    <dgm:cxn modelId="{D6E93F1D-2933-477B-B669-A87421CBCEEC}" srcId="{CAA63CFA-9C5C-45D6-910B-373EBDDF6A5C}" destId="{0B891B64-EABC-47B2-8234-AB7A0981AE1D}" srcOrd="1" destOrd="0" parTransId="{57079CDF-2422-4B79-8C02-F819845039EB}" sibTransId="{C3036DD5-385A-4D96-AF15-DF1C75ADEDF6}"/>
    <dgm:cxn modelId="{2B1A9C52-A1F6-4EB8-8576-3715C4BDDA8E}" type="presOf" srcId="{92E4F61E-FB56-470C-8E89-CC407BF7DB9D}" destId="{3012110E-72CE-4988-9754-E12583DCEFB4}" srcOrd="0" destOrd="1" presId="urn:microsoft.com/office/officeart/2005/8/layout/arrow2"/>
    <dgm:cxn modelId="{0599B677-A15E-4F0A-969C-567FDA0F1FF7}" type="presOf" srcId="{70DA396B-4083-49EE-9FAC-FB067C48608B}" destId="{EF4C84CD-5C3F-4AE2-8E84-D65DC678C5D4}" srcOrd="0" destOrd="0" presId="urn:microsoft.com/office/officeart/2005/8/layout/arrow2"/>
    <dgm:cxn modelId="{74EC8984-3B4F-4C9A-91A8-65839C289674}" type="presOf" srcId="{B7D4F491-5665-415C-B6DE-D455F9FC4B7C}" destId="{EF4C84CD-5C3F-4AE2-8E84-D65DC678C5D4}" srcOrd="0" destOrd="1" presId="urn:microsoft.com/office/officeart/2005/8/layout/arrow2"/>
    <dgm:cxn modelId="{23E1D687-9C9C-4D08-A602-27A5F19ACA5B}" srcId="{70DA396B-4083-49EE-9FAC-FB067C48608B}" destId="{B7D4F491-5665-415C-B6DE-D455F9FC4B7C}" srcOrd="0" destOrd="0" parTransId="{7CAEC0A6-F646-4C85-9BC7-CCB84BE25273}" sibTransId="{0960A36D-4E7A-4893-8030-04DC584EEB0F}"/>
    <dgm:cxn modelId="{C683A2A6-111A-40D9-91E4-BE6A129C5863}" srcId="{CAA63CFA-9C5C-45D6-910B-373EBDDF6A5C}" destId="{70DA396B-4083-49EE-9FAC-FB067C48608B}" srcOrd="2" destOrd="0" parTransId="{69815E5E-1073-445B-BD4D-BC660FC79B2B}" sibTransId="{F5969120-92C6-4D80-A605-6F9B108FF268}"/>
    <dgm:cxn modelId="{2C4A6FA8-B088-4D87-A371-A8DC284D7DE5}" type="presOf" srcId="{0B891B64-EABC-47B2-8234-AB7A0981AE1D}" destId="{3012110E-72CE-4988-9754-E12583DCEFB4}" srcOrd="0" destOrd="0" presId="urn:microsoft.com/office/officeart/2005/8/layout/arrow2"/>
    <dgm:cxn modelId="{3372AAA9-3A45-4604-9089-5AF5A2E7775D}" srcId="{BB6A9735-1A41-48FF-9111-2BDEB1465B5F}" destId="{BC9BEF78-674C-4FA8-B15F-5BACB9BA15F4}" srcOrd="1" destOrd="0" parTransId="{A742BC3C-A1DE-4DE8-916C-9792FFA33269}" sibTransId="{CE50DB0E-7711-441B-96E5-C34B88E8A56E}"/>
    <dgm:cxn modelId="{ED7921AD-517E-4391-9B8B-D5F31501C017}" srcId="{0B891B64-EABC-47B2-8234-AB7A0981AE1D}" destId="{92E4F61E-FB56-470C-8E89-CC407BF7DB9D}" srcOrd="0" destOrd="0" parTransId="{601AEA65-9E01-4D75-9FC0-AA8F45E830D1}" sibTransId="{0DB29784-E61E-4CAE-A13D-F862B1DEE677}"/>
    <dgm:cxn modelId="{712B8AAE-0F45-40C5-BF27-07E41038D3F4}" srcId="{70DA396B-4083-49EE-9FAC-FB067C48608B}" destId="{3205E782-D668-4509-9085-8E62BF9176E1}" srcOrd="1" destOrd="0" parTransId="{59E61357-9BD8-41BB-BA74-EADE448FC6B1}" sibTransId="{850EED68-74C1-4346-99F7-95F16995D7A8}"/>
    <dgm:cxn modelId="{275D71B1-AEF5-4CA1-B909-074BF38A54BD}" type="presOf" srcId="{E8B071E7-8EBF-4C78-8209-7FAD4DF32EF6}" destId="{64A2C0DA-F863-435E-B9AD-047A0C8B83B4}" srcOrd="0" destOrd="1" presId="urn:microsoft.com/office/officeart/2005/8/layout/arrow2"/>
    <dgm:cxn modelId="{C3D6EBB6-7BB3-474D-AB46-204AFE830D1A}" type="presOf" srcId="{CAA63CFA-9C5C-45D6-910B-373EBDDF6A5C}" destId="{4E453DD2-78AD-4E4C-96BB-0EEF9E2B0FE2}" srcOrd="0" destOrd="0" presId="urn:microsoft.com/office/officeart/2005/8/layout/arrow2"/>
    <dgm:cxn modelId="{3B3685CE-DA8E-477E-9C3D-AF1D06D1FD6C}" type="presOf" srcId="{BC9BEF78-674C-4FA8-B15F-5BACB9BA15F4}" destId="{64A2C0DA-F863-435E-B9AD-047A0C8B83B4}" srcOrd="0" destOrd="2" presId="urn:microsoft.com/office/officeart/2005/8/layout/arrow2"/>
    <dgm:cxn modelId="{60F346D7-8B8E-4079-9BB2-278089CED8C7}" srcId="{0B891B64-EABC-47B2-8234-AB7A0981AE1D}" destId="{2125B5FD-EC87-433C-9D4A-77BDF7D7DAB7}" srcOrd="1" destOrd="0" parTransId="{D36D7F32-3555-4264-946D-7D3678F9D6CA}" sibTransId="{16F58A75-B328-4415-A16C-E47ABC6D6629}"/>
    <dgm:cxn modelId="{2E39DBDA-28E9-46F6-ACBA-D6109400359D}" type="presOf" srcId="{BB6A9735-1A41-48FF-9111-2BDEB1465B5F}" destId="{64A2C0DA-F863-435E-B9AD-047A0C8B83B4}" srcOrd="0" destOrd="0" presId="urn:microsoft.com/office/officeart/2005/8/layout/arrow2"/>
    <dgm:cxn modelId="{1CCC98E6-E199-4545-8200-83EE051895FB}" type="presOf" srcId="{3205E782-D668-4509-9085-8E62BF9176E1}" destId="{EF4C84CD-5C3F-4AE2-8E84-D65DC678C5D4}" srcOrd="0" destOrd="2" presId="urn:microsoft.com/office/officeart/2005/8/layout/arrow2"/>
    <dgm:cxn modelId="{F3D13597-3657-4290-883B-F2D9612EBCE4}" type="presParOf" srcId="{4E453DD2-78AD-4E4C-96BB-0EEF9E2B0FE2}" destId="{426D6358-EA32-4C90-82D4-E40976E45525}" srcOrd="0" destOrd="0" presId="urn:microsoft.com/office/officeart/2005/8/layout/arrow2"/>
    <dgm:cxn modelId="{0D2ABCF6-026D-415E-B5D9-AA31CDAEBCAE}" type="presParOf" srcId="{4E453DD2-78AD-4E4C-96BB-0EEF9E2B0FE2}" destId="{33DD6488-7A9D-4011-A84A-9EE556EC3457}" srcOrd="1" destOrd="0" presId="urn:microsoft.com/office/officeart/2005/8/layout/arrow2"/>
    <dgm:cxn modelId="{F847DC02-3133-4922-9861-BF416407C79F}" type="presParOf" srcId="{33DD6488-7A9D-4011-A84A-9EE556EC3457}" destId="{5A0517D0-4C9C-42C1-9D75-1CE2DFBC9E13}" srcOrd="0" destOrd="0" presId="urn:microsoft.com/office/officeart/2005/8/layout/arrow2"/>
    <dgm:cxn modelId="{FF9EBF43-27BC-48D3-A945-5683B40BAC13}" type="presParOf" srcId="{33DD6488-7A9D-4011-A84A-9EE556EC3457}" destId="{64A2C0DA-F863-435E-B9AD-047A0C8B83B4}" srcOrd="1" destOrd="0" presId="urn:microsoft.com/office/officeart/2005/8/layout/arrow2"/>
    <dgm:cxn modelId="{5F048B8B-A4AE-4E8C-8BE4-7108021EE316}" type="presParOf" srcId="{33DD6488-7A9D-4011-A84A-9EE556EC3457}" destId="{14A1C464-0A03-4FC6-BD3C-4FB3A432B5CE}" srcOrd="2" destOrd="0" presId="urn:microsoft.com/office/officeart/2005/8/layout/arrow2"/>
    <dgm:cxn modelId="{310C760D-3B24-4610-A53E-7CC6EE1FB501}" type="presParOf" srcId="{33DD6488-7A9D-4011-A84A-9EE556EC3457}" destId="{3012110E-72CE-4988-9754-E12583DCEFB4}" srcOrd="3" destOrd="0" presId="urn:microsoft.com/office/officeart/2005/8/layout/arrow2"/>
    <dgm:cxn modelId="{DBE70FCE-74AC-4560-A004-E1FCA3C4A40F}" type="presParOf" srcId="{33DD6488-7A9D-4011-A84A-9EE556EC3457}" destId="{2329F103-4C4B-4C95-B41E-05ED2DC597A9}" srcOrd="4" destOrd="0" presId="urn:microsoft.com/office/officeart/2005/8/layout/arrow2"/>
    <dgm:cxn modelId="{47C3CEDC-3052-45EF-B92A-EFB73096727C}" type="presParOf" srcId="{33DD6488-7A9D-4011-A84A-9EE556EC3457}" destId="{EF4C84CD-5C3F-4AE2-8E84-D65DC678C5D4}" srcOrd="5"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ED280EB-626E-47A6-B19B-417EBB18D07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6670CE47-FB8D-4CD0-88BD-9D42C6748A9D}">
      <dgm:prSet/>
      <dgm:spPr/>
      <dgm:t>
        <a:bodyPr/>
        <a:lstStyle/>
        <a:p>
          <a:r>
            <a:rPr lang="en-US" dirty="0"/>
            <a:t>ReducedLUT</a:t>
          </a:r>
          <a:endParaRPr lang="zh-CN" dirty="0"/>
        </a:p>
      </dgm:t>
    </dgm:pt>
    <dgm:pt modelId="{8F4B5BA0-F86F-4663-A9A3-53F81D53FA7F}" type="parTrans" cxnId="{823AAFD0-5283-4B60-8B2C-B695BD78128A}">
      <dgm:prSet/>
      <dgm:spPr/>
      <dgm:t>
        <a:bodyPr/>
        <a:lstStyle/>
        <a:p>
          <a:endParaRPr lang="zh-CN" altLang="en-US"/>
        </a:p>
      </dgm:t>
    </dgm:pt>
    <dgm:pt modelId="{A5FA9305-4D59-4135-9ED1-275B9D4C1A29}" type="sibTrans" cxnId="{823AAFD0-5283-4B60-8B2C-B695BD78128A}">
      <dgm:prSet/>
      <dgm:spPr/>
      <dgm:t>
        <a:bodyPr/>
        <a:lstStyle/>
        <a:p>
          <a:endParaRPr lang="zh-CN" altLang="en-US"/>
        </a:p>
      </dgm:t>
    </dgm:pt>
    <dgm:pt modelId="{914CE5C1-A2AB-4AEB-A61F-287B66231A69}">
      <dgm:prSet custT="1"/>
      <dgm:spPr/>
      <dgm:t>
        <a:bodyPr/>
        <a:lstStyle/>
        <a:p>
          <a:r>
            <a:rPr lang="en-US" sz="1200" dirty="0"/>
            <a:t>Make use of </a:t>
          </a:r>
          <a:r>
            <a:rPr lang="en-US" sz="1200" b="1" dirty="0"/>
            <a:t>Don’t Care conditions </a:t>
          </a:r>
          <a:r>
            <a:rPr lang="en-US" sz="1200" dirty="0"/>
            <a:t>in input space</a:t>
          </a:r>
          <a:endParaRPr lang="zh-CN" sz="1200" dirty="0"/>
        </a:p>
      </dgm:t>
    </dgm:pt>
    <dgm:pt modelId="{A4E0AC48-5CCD-4199-A3DB-7BF598C95B44}" type="parTrans" cxnId="{BA8E3B2E-BF6B-482F-944E-4BFE14BE5F67}">
      <dgm:prSet/>
      <dgm:spPr/>
      <dgm:t>
        <a:bodyPr/>
        <a:lstStyle/>
        <a:p>
          <a:endParaRPr lang="zh-CN" altLang="en-US"/>
        </a:p>
      </dgm:t>
    </dgm:pt>
    <dgm:pt modelId="{E6E14780-D07F-43EB-ADFB-E72E6E25B65B}" type="sibTrans" cxnId="{BA8E3B2E-BF6B-482F-944E-4BFE14BE5F67}">
      <dgm:prSet/>
      <dgm:spPr/>
      <dgm:t>
        <a:bodyPr/>
        <a:lstStyle/>
        <a:p>
          <a:endParaRPr lang="zh-CN" altLang="en-US"/>
        </a:p>
      </dgm:t>
    </dgm:pt>
    <dgm:pt modelId="{04ADF71E-8DAA-4A25-9146-820364D64846}">
      <dgm:prSet custT="1"/>
      <dgm:spPr/>
      <dgm:t>
        <a:bodyPr/>
        <a:lstStyle/>
        <a:p>
          <a:r>
            <a:rPr lang="en-US" sz="1200" b="1" dirty="0"/>
            <a:t>Exiguity</a:t>
          </a:r>
          <a:r>
            <a:rPr lang="en-US" sz="1200" dirty="0"/>
            <a:t>: threshold value for Compression</a:t>
          </a:r>
          <a:endParaRPr lang="zh-CN" sz="1200" dirty="0"/>
        </a:p>
      </dgm:t>
    </dgm:pt>
    <dgm:pt modelId="{3F2E8A6E-030F-43AE-8C0E-4150F8B96F9B}" type="parTrans" cxnId="{F92AA1A8-B4E3-45B5-9DB1-9F65480D4368}">
      <dgm:prSet/>
      <dgm:spPr/>
      <dgm:t>
        <a:bodyPr/>
        <a:lstStyle/>
        <a:p>
          <a:endParaRPr lang="zh-CN" altLang="en-US"/>
        </a:p>
      </dgm:t>
    </dgm:pt>
    <dgm:pt modelId="{75F20C14-270B-4040-8740-67C7081EDA1B}" type="sibTrans" cxnId="{F92AA1A8-B4E3-45B5-9DB1-9F65480D4368}">
      <dgm:prSet/>
      <dgm:spPr/>
      <dgm:t>
        <a:bodyPr/>
        <a:lstStyle/>
        <a:p>
          <a:endParaRPr lang="zh-CN" altLang="en-US"/>
        </a:p>
      </dgm:t>
    </dgm:pt>
    <dgm:pt modelId="{E410F35E-5FB1-41F8-AC1C-21009F9DC546}">
      <dgm:prSet/>
      <dgm:spPr/>
      <dgm:t>
        <a:bodyPr/>
        <a:lstStyle/>
        <a:p>
          <a:r>
            <a:rPr lang="en-US" dirty="0"/>
            <a:t>TreeLUT</a:t>
          </a:r>
          <a:endParaRPr lang="zh-CN" dirty="0"/>
        </a:p>
      </dgm:t>
    </dgm:pt>
    <dgm:pt modelId="{8B910315-0AE0-488F-81A9-83086E315067}" type="parTrans" cxnId="{44DB0776-2D31-45D0-A327-EF0862BE6181}">
      <dgm:prSet/>
      <dgm:spPr/>
      <dgm:t>
        <a:bodyPr/>
        <a:lstStyle/>
        <a:p>
          <a:endParaRPr lang="zh-CN" altLang="en-US"/>
        </a:p>
      </dgm:t>
    </dgm:pt>
    <dgm:pt modelId="{13E0D016-690A-49F8-9B26-1F142700387C}" type="sibTrans" cxnId="{44DB0776-2D31-45D0-A327-EF0862BE6181}">
      <dgm:prSet/>
      <dgm:spPr/>
      <dgm:t>
        <a:bodyPr/>
        <a:lstStyle/>
        <a:p>
          <a:endParaRPr lang="zh-CN" altLang="en-US"/>
        </a:p>
      </dgm:t>
    </dgm:pt>
    <dgm:pt modelId="{11F5A8C7-6CE9-4950-8CCC-7013CAA115D0}">
      <dgm:prSet custT="1"/>
      <dgm:spPr/>
      <dgm:t>
        <a:bodyPr/>
        <a:lstStyle/>
        <a:p>
          <a:r>
            <a:rPr lang="en-US" sz="1200" b="1" dirty="0"/>
            <a:t>Gradient Boosting Decision Tree </a:t>
          </a:r>
          <a:r>
            <a:rPr lang="en-US" sz="1200" dirty="0"/>
            <a:t>(GBDT) instead of NNs</a:t>
          </a:r>
          <a:endParaRPr lang="zh-CN" sz="1200" dirty="0"/>
        </a:p>
      </dgm:t>
    </dgm:pt>
    <dgm:pt modelId="{2749ED8C-E76C-46AF-B43F-0A76EA8098D6}" type="parTrans" cxnId="{A53B434A-A1AD-43BB-9C1A-62F628658F1B}">
      <dgm:prSet/>
      <dgm:spPr/>
      <dgm:t>
        <a:bodyPr/>
        <a:lstStyle/>
        <a:p>
          <a:endParaRPr lang="zh-CN" altLang="en-US"/>
        </a:p>
      </dgm:t>
    </dgm:pt>
    <dgm:pt modelId="{CED74CC8-F881-459E-9900-93C8F30ECD6B}" type="sibTrans" cxnId="{A53B434A-A1AD-43BB-9C1A-62F628658F1B}">
      <dgm:prSet/>
      <dgm:spPr/>
      <dgm:t>
        <a:bodyPr/>
        <a:lstStyle/>
        <a:p>
          <a:endParaRPr lang="zh-CN" altLang="en-US"/>
        </a:p>
      </dgm:t>
    </dgm:pt>
    <dgm:pt modelId="{F20CD23F-E308-43A0-B535-4B787A2CCE56}">
      <dgm:prSet custT="1"/>
      <dgm:spPr/>
      <dgm:t>
        <a:bodyPr/>
        <a:lstStyle/>
        <a:p>
          <a:r>
            <a:rPr lang="en-US" sz="1200" b="1" dirty="0"/>
            <a:t>Dedicated</a:t>
          </a:r>
          <a:r>
            <a:rPr lang="en-US" sz="1200" dirty="0"/>
            <a:t> </a:t>
          </a:r>
          <a:r>
            <a:rPr lang="en-US" sz="1200" b="1" dirty="0"/>
            <a:t>Quantization</a:t>
          </a:r>
          <a:r>
            <a:rPr lang="en-US" sz="1200" dirty="0"/>
            <a:t> Method</a:t>
          </a:r>
          <a:endParaRPr lang="zh-CN" sz="1200" dirty="0"/>
        </a:p>
      </dgm:t>
    </dgm:pt>
    <dgm:pt modelId="{1B252E90-361E-47D8-8DEC-C6605510CC8C}" type="parTrans" cxnId="{1F0B7DD2-D7DA-418E-9FD4-DFD4D658ECE5}">
      <dgm:prSet/>
      <dgm:spPr/>
      <dgm:t>
        <a:bodyPr/>
        <a:lstStyle/>
        <a:p>
          <a:endParaRPr lang="zh-CN" altLang="en-US"/>
        </a:p>
      </dgm:t>
    </dgm:pt>
    <dgm:pt modelId="{5BFB58AB-F741-4204-8CB4-11543BFE583A}" type="sibTrans" cxnId="{1F0B7DD2-D7DA-418E-9FD4-DFD4D658ECE5}">
      <dgm:prSet/>
      <dgm:spPr/>
      <dgm:t>
        <a:bodyPr/>
        <a:lstStyle/>
        <a:p>
          <a:endParaRPr lang="zh-CN" altLang="en-US"/>
        </a:p>
      </dgm:t>
    </dgm:pt>
    <dgm:pt modelId="{22BF3D32-6617-461A-9B90-A4305FE15476}">
      <dgm:prSet/>
      <dgm:spPr/>
      <dgm:t>
        <a:bodyPr/>
        <a:lstStyle/>
        <a:p>
          <a:r>
            <a:rPr lang="en-US" dirty="0"/>
            <a:t>AmigoLUT</a:t>
          </a:r>
          <a:endParaRPr lang="zh-CN" dirty="0"/>
        </a:p>
      </dgm:t>
    </dgm:pt>
    <dgm:pt modelId="{A2A60D42-BEF2-45C0-BC8C-6CBC0EFD66C9}" type="parTrans" cxnId="{334A233B-3E66-4953-9965-99F08963C078}">
      <dgm:prSet/>
      <dgm:spPr/>
      <dgm:t>
        <a:bodyPr/>
        <a:lstStyle/>
        <a:p>
          <a:endParaRPr lang="zh-CN" altLang="en-US"/>
        </a:p>
      </dgm:t>
    </dgm:pt>
    <dgm:pt modelId="{03FDF698-74E2-4F1D-9336-16FCD773C82B}" type="sibTrans" cxnId="{334A233B-3E66-4953-9965-99F08963C078}">
      <dgm:prSet/>
      <dgm:spPr/>
      <dgm:t>
        <a:bodyPr/>
        <a:lstStyle/>
        <a:p>
          <a:endParaRPr lang="zh-CN" altLang="en-US"/>
        </a:p>
      </dgm:t>
    </dgm:pt>
    <dgm:pt modelId="{C40B17A6-24E3-4FC1-A244-682745050E4F}">
      <dgm:prSet custT="1"/>
      <dgm:spPr/>
      <dgm:t>
        <a:bodyPr/>
        <a:lstStyle/>
        <a:p>
          <a:r>
            <a:rPr lang="en-US" sz="1200" dirty="0"/>
            <a:t>Wisdom of </a:t>
          </a:r>
          <a:r>
            <a:rPr lang="en-US" sz="1200" b="1" dirty="0"/>
            <a:t>Ensemble Learning</a:t>
          </a:r>
          <a:endParaRPr lang="zh-CN" sz="1200" b="1" dirty="0"/>
        </a:p>
      </dgm:t>
    </dgm:pt>
    <dgm:pt modelId="{471928A1-7D8F-4DA9-BA50-5ED1500D4C4B}" type="parTrans" cxnId="{10BCD18E-7E67-41C4-9562-3E1AD1F14ACC}">
      <dgm:prSet/>
      <dgm:spPr/>
      <dgm:t>
        <a:bodyPr/>
        <a:lstStyle/>
        <a:p>
          <a:endParaRPr lang="zh-CN" altLang="en-US"/>
        </a:p>
      </dgm:t>
    </dgm:pt>
    <dgm:pt modelId="{CB90393E-4AD5-4909-B47A-CC0EFE409BF3}" type="sibTrans" cxnId="{10BCD18E-7E67-41C4-9562-3E1AD1F14ACC}">
      <dgm:prSet/>
      <dgm:spPr/>
      <dgm:t>
        <a:bodyPr/>
        <a:lstStyle/>
        <a:p>
          <a:endParaRPr lang="zh-CN" altLang="en-US"/>
        </a:p>
      </dgm:t>
    </dgm:pt>
    <dgm:pt modelId="{2704BC8F-3765-42D2-A5AA-DBFA649C2573}">
      <dgm:prSet custT="1"/>
      <dgm:spPr/>
      <dgm:t>
        <a:bodyPr/>
        <a:lstStyle/>
        <a:p>
          <a:r>
            <a:rPr lang="en-US" sz="1200" b="1" dirty="0"/>
            <a:t>Diversity Plot </a:t>
          </a:r>
          <a:r>
            <a:rPr lang="en-US" sz="1200" dirty="0"/>
            <a:t>&amp; </a:t>
          </a:r>
          <a:r>
            <a:rPr lang="en-US" sz="1200" b="1" dirty="0"/>
            <a:t>DER</a:t>
          </a:r>
          <a:endParaRPr lang="zh-CN" sz="1200" b="1" dirty="0"/>
        </a:p>
      </dgm:t>
    </dgm:pt>
    <dgm:pt modelId="{491A23A6-70B2-4652-85E4-ECCFBDF8DBC7}" type="parTrans" cxnId="{08F65D61-6394-4727-985D-55868308D7C3}">
      <dgm:prSet/>
      <dgm:spPr/>
      <dgm:t>
        <a:bodyPr/>
        <a:lstStyle/>
        <a:p>
          <a:endParaRPr lang="zh-CN" altLang="en-US"/>
        </a:p>
      </dgm:t>
    </dgm:pt>
    <dgm:pt modelId="{E2A3296A-B706-40C5-930F-DCBCD424B7EF}" type="sibTrans" cxnId="{08F65D61-6394-4727-985D-55868308D7C3}">
      <dgm:prSet/>
      <dgm:spPr/>
      <dgm:t>
        <a:bodyPr/>
        <a:lstStyle/>
        <a:p>
          <a:endParaRPr lang="zh-CN" altLang="en-US"/>
        </a:p>
      </dgm:t>
    </dgm:pt>
    <dgm:pt modelId="{A54E6260-AA56-4DCF-92D1-FCE84C0CF4EE}">
      <dgm:prSet custT="1"/>
      <dgm:spPr/>
      <dgm:t>
        <a:bodyPr/>
        <a:lstStyle/>
        <a:p>
          <a:r>
            <a:rPr lang="en-US" sz="1200" b="1" dirty="0"/>
            <a:t>Averaging</a:t>
          </a:r>
          <a:r>
            <a:rPr lang="en-US" sz="1200" dirty="0"/>
            <a:t> is better than Bagging and Adaboost</a:t>
          </a:r>
          <a:endParaRPr lang="zh-CN" sz="1200" dirty="0"/>
        </a:p>
      </dgm:t>
    </dgm:pt>
    <dgm:pt modelId="{A12197AF-AC2C-4E03-97ED-E0F53A6E6A63}" type="parTrans" cxnId="{2FC4F8DA-BDC7-4AA8-9933-61BAA52A6465}">
      <dgm:prSet/>
      <dgm:spPr/>
      <dgm:t>
        <a:bodyPr/>
        <a:lstStyle/>
        <a:p>
          <a:endParaRPr lang="zh-CN" altLang="en-US"/>
        </a:p>
      </dgm:t>
    </dgm:pt>
    <dgm:pt modelId="{EBE37DB6-C99E-4E0C-8B81-E3453C9D19BD}" type="sibTrans" cxnId="{2FC4F8DA-BDC7-4AA8-9933-61BAA52A6465}">
      <dgm:prSet/>
      <dgm:spPr/>
      <dgm:t>
        <a:bodyPr/>
        <a:lstStyle/>
        <a:p>
          <a:endParaRPr lang="zh-CN" altLang="en-US"/>
        </a:p>
      </dgm:t>
    </dgm:pt>
    <dgm:pt modelId="{21B39905-0D93-4741-A77F-A6D8015D53D6}">
      <dgm:prSet custT="1"/>
      <dgm:spPr/>
      <dgm:t>
        <a:bodyPr/>
        <a:lstStyle/>
        <a:p>
          <a:endParaRPr lang="zh-CN" sz="1200" dirty="0"/>
        </a:p>
      </dgm:t>
    </dgm:pt>
    <dgm:pt modelId="{D4DBA52E-5B02-4228-AA49-471543446866}" type="parTrans" cxnId="{E5A61437-837E-4D2A-BBFE-1F51FCE3748B}">
      <dgm:prSet/>
      <dgm:spPr/>
      <dgm:t>
        <a:bodyPr/>
        <a:lstStyle/>
        <a:p>
          <a:endParaRPr lang="zh-CN" altLang="en-US"/>
        </a:p>
      </dgm:t>
    </dgm:pt>
    <dgm:pt modelId="{28A6208A-F90B-494A-9103-D28E3F45BB83}" type="sibTrans" cxnId="{E5A61437-837E-4D2A-BBFE-1F51FCE3748B}">
      <dgm:prSet/>
      <dgm:spPr/>
      <dgm:t>
        <a:bodyPr/>
        <a:lstStyle/>
        <a:p>
          <a:endParaRPr lang="zh-CN" altLang="en-US"/>
        </a:p>
      </dgm:t>
    </dgm:pt>
    <dgm:pt modelId="{7DC71170-9AED-47EC-AC50-7295AB72D525}">
      <dgm:prSet custT="1"/>
      <dgm:spPr/>
      <dgm:t>
        <a:bodyPr/>
        <a:lstStyle/>
        <a:p>
          <a:endParaRPr lang="zh-CN" sz="1200" dirty="0"/>
        </a:p>
      </dgm:t>
    </dgm:pt>
    <dgm:pt modelId="{2117AE1D-837F-498F-BA54-41E6E07C07E7}" type="parTrans" cxnId="{419686D6-95BE-4B70-A9B3-38D7DD422677}">
      <dgm:prSet/>
      <dgm:spPr/>
      <dgm:t>
        <a:bodyPr/>
        <a:lstStyle/>
        <a:p>
          <a:endParaRPr lang="zh-CN" altLang="en-US"/>
        </a:p>
      </dgm:t>
    </dgm:pt>
    <dgm:pt modelId="{63F74C48-92BC-477A-A45A-F0A9A1B19500}" type="sibTrans" cxnId="{419686D6-95BE-4B70-A9B3-38D7DD422677}">
      <dgm:prSet/>
      <dgm:spPr/>
      <dgm:t>
        <a:bodyPr/>
        <a:lstStyle/>
        <a:p>
          <a:endParaRPr lang="zh-CN" altLang="en-US"/>
        </a:p>
      </dgm:t>
    </dgm:pt>
    <dgm:pt modelId="{9BC5F1C9-F7A0-4278-997A-BECD3414D585}">
      <dgm:prSet custT="1"/>
      <dgm:spPr/>
      <dgm:t>
        <a:bodyPr/>
        <a:lstStyle/>
        <a:p>
          <a:endParaRPr lang="zh-CN" sz="1200" dirty="0"/>
        </a:p>
      </dgm:t>
    </dgm:pt>
    <dgm:pt modelId="{317515AD-0013-49B9-BE90-C24AEFF0C9E1}" type="parTrans" cxnId="{23C33671-7F93-454F-A12C-0BB6A4EDA786}">
      <dgm:prSet/>
      <dgm:spPr/>
      <dgm:t>
        <a:bodyPr/>
        <a:lstStyle/>
        <a:p>
          <a:endParaRPr lang="zh-CN" altLang="en-US"/>
        </a:p>
      </dgm:t>
    </dgm:pt>
    <dgm:pt modelId="{2B175DDD-4A07-4AB8-8EC1-837449B83DA3}" type="sibTrans" cxnId="{23C33671-7F93-454F-A12C-0BB6A4EDA786}">
      <dgm:prSet/>
      <dgm:spPr/>
      <dgm:t>
        <a:bodyPr/>
        <a:lstStyle/>
        <a:p>
          <a:endParaRPr lang="zh-CN" altLang="en-US"/>
        </a:p>
      </dgm:t>
    </dgm:pt>
    <dgm:pt modelId="{70E466CA-8DDD-4BCE-B5DA-7ED18AAC7C5A}">
      <dgm:prSet custT="1"/>
      <dgm:spPr/>
      <dgm:t>
        <a:bodyPr/>
        <a:lstStyle/>
        <a:p>
          <a:endParaRPr lang="zh-CN" sz="1200" dirty="0"/>
        </a:p>
      </dgm:t>
    </dgm:pt>
    <dgm:pt modelId="{5421E40A-D503-4CED-9B55-AE62CF4D76C9}" type="parTrans" cxnId="{41789A05-F2A1-4E20-B914-3F31490E0281}">
      <dgm:prSet/>
      <dgm:spPr/>
      <dgm:t>
        <a:bodyPr/>
        <a:lstStyle/>
        <a:p>
          <a:endParaRPr lang="zh-CN" altLang="en-US"/>
        </a:p>
      </dgm:t>
    </dgm:pt>
    <dgm:pt modelId="{A09ECDB4-6AA0-40E2-A310-D44D3B853491}" type="sibTrans" cxnId="{41789A05-F2A1-4E20-B914-3F31490E0281}">
      <dgm:prSet/>
      <dgm:spPr/>
      <dgm:t>
        <a:bodyPr/>
        <a:lstStyle/>
        <a:p>
          <a:endParaRPr lang="zh-CN" altLang="en-US"/>
        </a:p>
      </dgm:t>
    </dgm:pt>
    <dgm:pt modelId="{455C4A1B-6E3A-4215-BB26-7D9606B477BA}">
      <dgm:prSet custT="1"/>
      <dgm:spPr/>
      <dgm:t>
        <a:bodyPr/>
        <a:lstStyle/>
        <a:p>
          <a:endParaRPr lang="zh-CN" sz="1200" dirty="0"/>
        </a:p>
      </dgm:t>
    </dgm:pt>
    <dgm:pt modelId="{0BB91595-FC16-4CBC-AD5A-0981390A3220}" type="parTrans" cxnId="{5FB8CE1C-CB9C-44F3-9768-D75CE6CF9633}">
      <dgm:prSet/>
      <dgm:spPr/>
      <dgm:t>
        <a:bodyPr/>
        <a:lstStyle/>
        <a:p>
          <a:endParaRPr lang="zh-CN" altLang="en-US"/>
        </a:p>
      </dgm:t>
    </dgm:pt>
    <dgm:pt modelId="{FD2E263F-BB71-447A-A966-531EEB01C7A6}" type="sibTrans" cxnId="{5FB8CE1C-CB9C-44F3-9768-D75CE6CF9633}">
      <dgm:prSet/>
      <dgm:spPr/>
      <dgm:t>
        <a:bodyPr/>
        <a:lstStyle/>
        <a:p>
          <a:endParaRPr lang="zh-CN" altLang="en-US"/>
        </a:p>
      </dgm:t>
    </dgm:pt>
    <dgm:pt modelId="{497B69CC-B657-4E11-BD4E-4C6943835814}">
      <dgm:prSet custT="1"/>
      <dgm:spPr/>
      <dgm:t>
        <a:bodyPr/>
        <a:lstStyle/>
        <a:p>
          <a:r>
            <a:rPr lang="en-US" sz="1200" b="1" dirty="0"/>
            <a:t>CompressedLUT</a:t>
          </a:r>
          <a:r>
            <a:rPr lang="en-US" sz="1200" dirty="0"/>
            <a:t> Methodology</a:t>
          </a:r>
          <a:endParaRPr lang="zh-CN" sz="1200" dirty="0"/>
        </a:p>
      </dgm:t>
    </dgm:pt>
    <dgm:pt modelId="{318EB8B5-4596-4247-AEF5-287CB59D49C0}" type="parTrans" cxnId="{CFBBD9E9-CE6A-491D-982D-36801734F777}">
      <dgm:prSet/>
      <dgm:spPr/>
      <dgm:t>
        <a:bodyPr/>
        <a:lstStyle/>
        <a:p>
          <a:endParaRPr lang="zh-CN" altLang="en-US"/>
        </a:p>
      </dgm:t>
    </dgm:pt>
    <dgm:pt modelId="{6B477B70-E207-498F-BEDD-9C9A8AC641D9}" type="sibTrans" cxnId="{CFBBD9E9-CE6A-491D-982D-36801734F777}">
      <dgm:prSet/>
      <dgm:spPr/>
      <dgm:t>
        <a:bodyPr/>
        <a:lstStyle/>
        <a:p>
          <a:endParaRPr lang="zh-CN" altLang="en-US"/>
        </a:p>
      </dgm:t>
    </dgm:pt>
    <dgm:pt modelId="{C0BF5495-4A8A-4B68-9E0A-C7AF8620B942}" type="pres">
      <dgm:prSet presAssocID="{0ED280EB-626E-47A6-B19B-417EBB18D07B}" presName="Name0" presStyleCnt="0">
        <dgm:presLayoutVars>
          <dgm:dir/>
          <dgm:animLvl val="lvl"/>
          <dgm:resizeHandles val="exact"/>
        </dgm:presLayoutVars>
      </dgm:prSet>
      <dgm:spPr/>
    </dgm:pt>
    <dgm:pt modelId="{F6EA8012-7163-4CE4-96BD-9EE7FA4EA5FE}" type="pres">
      <dgm:prSet presAssocID="{6670CE47-FB8D-4CD0-88BD-9D42C6748A9D}" presName="linNode" presStyleCnt="0"/>
      <dgm:spPr/>
    </dgm:pt>
    <dgm:pt modelId="{A66D08D9-99AB-42F9-998B-D20B269E246D}" type="pres">
      <dgm:prSet presAssocID="{6670CE47-FB8D-4CD0-88BD-9D42C6748A9D}" presName="parentText" presStyleLbl="node1" presStyleIdx="0" presStyleCnt="3" custScaleX="79966" custScaleY="78190">
        <dgm:presLayoutVars>
          <dgm:chMax val="1"/>
          <dgm:bulletEnabled val="1"/>
        </dgm:presLayoutVars>
      </dgm:prSet>
      <dgm:spPr/>
    </dgm:pt>
    <dgm:pt modelId="{3A3CDD89-1FDD-48BD-9C8E-29CCC11EA3A4}" type="pres">
      <dgm:prSet presAssocID="{6670CE47-FB8D-4CD0-88BD-9D42C6748A9D}" presName="descendantText" presStyleLbl="alignAccFollowNode1" presStyleIdx="0" presStyleCnt="3" custScaleX="105008">
        <dgm:presLayoutVars>
          <dgm:bulletEnabled val="1"/>
        </dgm:presLayoutVars>
      </dgm:prSet>
      <dgm:spPr/>
    </dgm:pt>
    <dgm:pt modelId="{23D4C35B-C56E-4ED4-9062-B21E39C1BAE8}" type="pres">
      <dgm:prSet presAssocID="{A5FA9305-4D59-4135-9ED1-275B9D4C1A29}" presName="sp" presStyleCnt="0"/>
      <dgm:spPr/>
    </dgm:pt>
    <dgm:pt modelId="{39DF7D1E-4F15-430E-93A2-E487C87C7DA6}" type="pres">
      <dgm:prSet presAssocID="{E410F35E-5FB1-41F8-AC1C-21009F9DC546}" presName="linNode" presStyleCnt="0"/>
      <dgm:spPr/>
    </dgm:pt>
    <dgm:pt modelId="{A8DA6688-FE4E-4EC1-A45F-94654941606C}" type="pres">
      <dgm:prSet presAssocID="{E410F35E-5FB1-41F8-AC1C-21009F9DC546}" presName="parentText" presStyleLbl="node1" presStyleIdx="1" presStyleCnt="3" custScaleX="81492" custScaleY="75619">
        <dgm:presLayoutVars>
          <dgm:chMax val="1"/>
          <dgm:bulletEnabled val="1"/>
        </dgm:presLayoutVars>
      </dgm:prSet>
      <dgm:spPr/>
    </dgm:pt>
    <dgm:pt modelId="{9ACB8115-49E4-42BB-9165-B936A19078C2}" type="pres">
      <dgm:prSet presAssocID="{E410F35E-5FB1-41F8-AC1C-21009F9DC546}" presName="descendantText" presStyleLbl="alignAccFollowNode1" presStyleIdx="1" presStyleCnt="3" custScaleX="104150">
        <dgm:presLayoutVars>
          <dgm:bulletEnabled val="1"/>
        </dgm:presLayoutVars>
      </dgm:prSet>
      <dgm:spPr/>
    </dgm:pt>
    <dgm:pt modelId="{34E3D8CB-0965-4EC9-851C-674BF68B8A5E}" type="pres">
      <dgm:prSet presAssocID="{13E0D016-690A-49F8-9B26-1F142700387C}" presName="sp" presStyleCnt="0"/>
      <dgm:spPr/>
    </dgm:pt>
    <dgm:pt modelId="{33A85622-E8F0-4FD1-9F48-3231CE218870}" type="pres">
      <dgm:prSet presAssocID="{22BF3D32-6617-461A-9B90-A4305FE15476}" presName="linNode" presStyleCnt="0"/>
      <dgm:spPr/>
    </dgm:pt>
    <dgm:pt modelId="{F1963F0A-0D2B-4D81-939C-DC11460174F9}" type="pres">
      <dgm:prSet presAssocID="{22BF3D32-6617-461A-9B90-A4305FE15476}" presName="parentText" presStyleLbl="node1" presStyleIdx="2" presStyleCnt="3" custScaleX="83873" custScaleY="78485">
        <dgm:presLayoutVars>
          <dgm:chMax val="1"/>
          <dgm:bulletEnabled val="1"/>
        </dgm:presLayoutVars>
      </dgm:prSet>
      <dgm:spPr/>
    </dgm:pt>
    <dgm:pt modelId="{94EAB26A-E51A-4156-8E89-E2DCEB4B1536}" type="pres">
      <dgm:prSet presAssocID="{22BF3D32-6617-461A-9B90-A4305FE15476}" presName="descendantText" presStyleLbl="alignAccFollowNode1" presStyleIdx="2" presStyleCnt="3" custScaleX="102906">
        <dgm:presLayoutVars>
          <dgm:bulletEnabled val="1"/>
        </dgm:presLayoutVars>
      </dgm:prSet>
      <dgm:spPr/>
    </dgm:pt>
  </dgm:ptLst>
  <dgm:cxnLst>
    <dgm:cxn modelId="{86EBA203-7ADF-421A-8B34-AED19EF697C3}" type="presOf" srcId="{7DC71170-9AED-47EC-AC50-7295AB72D525}" destId="{3A3CDD89-1FDD-48BD-9C8E-29CCC11EA3A4}" srcOrd="0" destOrd="3" presId="urn:microsoft.com/office/officeart/2005/8/layout/vList5"/>
    <dgm:cxn modelId="{41789A05-F2A1-4E20-B914-3F31490E0281}" srcId="{22BF3D32-6617-461A-9B90-A4305FE15476}" destId="{70E466CA-8DDD-4BCE-B5DA-7ED18AAC7C5A}" srcOrd="1" destOrd="0" parTransId="{5421E40A-D503-4CED-9B55-AE62CF4D76C9}" sibTransId="{A09ECDB4-6AA0-40E2-A310-D44D3B853491}"/>
    <dgm:cxn modelId="{CAA3D818-D7B9-4533-A3E7-134229B5E9B4}" type="presOf" srcId="{E410F35E-5FB1-41F8-AC1C-21009F9DC546}" destId="{A8DA6688-FE4E-4EC1-A45F-94654941606C}" srcOrd="0" destOrd="0" presId="urn:microsoft.com/office/officeart/2005/8/layout/vList5"/>
    <dgm:cxn modelId="{5FB8CE1C-CB9C-44F3-9768-D75CE6CF9633}" srcId="{22BF3D32-6617-461A-9B90-A4305FE15476}" destId="{455C4A1B-6E3A-4215-BB26-7D9606B477BA}" srcOrd="3" destOrd="0" parTransId="{0BB91595-FC16-4CBC-AD5A-0981390A3220}" sibTransId="{FD2E263F-BB71-447A-A966-531EEB01C7A6}"/>
    <dgm:cxn modelId="{C7D7DA2D-CF3D-48B9-8F80-537435BF0724}" type="presOf" srcId="{22BF3D32-6617-461A-9B90-A4305FE15476}" destId="{F1963F0A-0D2B-4D81-939C-DC11460174F9}" srcOrd="0" destOrd="0" presId="urn:microsoft.com/office/officeart/2005/8/layout/vList5"/>
    <dgm:cxn modelId="{BA8E3B2E-BF6B-482F-944E-4BFE14BE5F67}" srcId="{6670CE47-FB8D-4CD0-88BD-9D42C6748A9D}" destId="{914CE5C1-A2AB-4AEB-A61F-287B66231A69}" srcOrd="2" destOrd="0" parTransId="{A4E0AC48-5CCD-4199-A3DB-7BF598C95B44}" sibTransId="{E6E14780-D07F-43EB-ADFB-E72E6E25B65B}"/>
    <dgm:cxn modelId="{CEF66935-5493-4F15-B5B2-68469F50BBF7}" type="presOf" srcId="{A54E6260-AA56-4DCF-92D1-FCE84C0CF4EE}" destId="{94EAB26A-E51A-4156-8E89-E2DCEB4B1536}" srcOrd="0" destOrd="4" presId="urn:microsoft.com/office/officeart/2005/8/layout/vList5"/>
    <dgm:cxn modelId="{E5A61437-837E-4D2A-BBFE-1F51FCE3748B}" srcId="{6670CE47-FB8D-4CD0-88BD-9D42C6748A9D}" destId="{21B39905-0D93-4741-A77F-A6D8015D53D6}" srcOrd="1" destOrd="0" parTransId="{D4DBA52E-5B02-4228-AA49-471543446866}" sibTransId="{28A6208A-F90B-494A-9103-D28E3F45BB83}"/>
    <dgm:cxn modelId="{334A233B-3E66-4953-9965-99F08963C078}" srcId="{0ED280EB-626E-47A6-B19B-417EBB18D07B}" destId="{22BF3D32-6617-461A-9B90-A4305FE15476}" srcOrd="2" destOrd="0" parTransId="{A2A60D42-BEF2-45C0-BC8C-6CBC0EFD66C9}" sibTransId="{03FDF698-74E2-4F1D-9336-16FCD773C82B}"/>
    <dgm:cxn modelId="{08F65D61-6394-4727-985D-55868308D7C3}" srcId="{22BF3D32-6617-461A-9B90-A4305FE15476}" destId="{2704BC8F-3765-42D2-A5AA-DBFA649C2573}" srcOrd="2" destOrd="0" parTransId="{491A23A6-70B2-4652-85E4-ECCFBDF8DBC7}" sibTransId="{E2A3296A-B706-40C5-930F-DCBCD424B7EF}"/>
    <dgm:cxn modelId="{59FB7B45-F9E3-46BC-A956-C91B3B5C8150}" type="presOf" srcId="{21B39905-0D93-4741-A77F-A6D8015D53D6}" destId="{3A3CDD89-1FDD-48BD-9C8E-29CCC11EA3A4}" srcOrd="0" destOrd="1" presId="urn:microsoft.com/office/officeart/2005/8/layout/vList5"/>
    <dgm:cxn modelId="{0487C949-1BD4-424C-8DB2-B677B7090F9F}" type="presOf" srcId="{04ADF71E-8DAA-4A25-9146-820364D64846}" destId="{3A3CDD89-1FDD-48BD-9C8E-29CCC11EA3A4}" srcOrd="0" destOrd="4" presId="urn:microsoft.com/office/officeart/2005/8/layout/vList5"/>
    <dgm:cxn modelId="{A53B434A-A1AD-43BB-9C1A-62F628658F1B}" srcId="{E410F35E-5FB1-41F8-AC1C-21009F9DC546}" destId="{11F5A8C7-6CE9-4950-8CCC-7013CAA115D0}" srcOrd="0" destOrd="0" parTransId="{2749ED8C-E76C-46AF-B43F-0A76EA8098D6}" sibTransId="{CED74CC8-F881-459E-9900-93C8F30ECD6B}"/>
    <dgm:cxn modelId="{4585414F-18FC-4CE0-8278-DF2AF7D2FE86}" type="presOf" srcId="{70E466CA-8DDD-4BCE-B5DA-7ED18AAC7C5A}" destId="{94EAB26A-E51A-4156-8E89-E2DCEB4B1536}" srcOrd="0" destOrd="1" presId="urn:microsoft.com/office/officeart/2005/8/layout/vList5"/>
    <dgm:cxn modelId="{B3F2CC70-05B6-4876-B09A-0F92189FF9BC}" type="presOf" srcId="{497B69CC-B657-4E11-BD4E-4C6943835814}" destId="{3A3CDD89-1FDD-48BD-9C8E-29CCC11EA3A4}" srcOrd="0" destOrd="0" presId="urn:microsoft.com/office/officeart/2005/8/layout/vList5"/>
    <dgm:cxn modelId="{23C33671-7F93-454F-A12C-0BB6A4EDA786}" srcId="{E410F35E-5FB1-41F8-AC1C-21009F9DC546}" destId="{9BC5F1C9-F7A0-4278-997A-BECD3414D585}" srcOrd="1" destOrd="0" parTransId="{317515AD-0013-49B9-BE90-C24AEFF0C9E1}" sibTransId="{2B175DDD-4A07-4AB8-8EC1-837449B83DA3}"/>
    <dgm:cxn modelId="{F95D9B54-8DA6-4AC6-9510-5FB8DEA0256D}" type="presOf" srcId="{6670CE47-FB8D-4CD0-88BD-9D42C6748A9D}" destId="{A66D08D9-99AB-42F9-998B-D20B269E246D}" srcOrd="0" destOrd="0" presId="urn:microsoft.com/office/officeart/2005/8/layout/vList5"/>
    <dgm:cxn modelId="{44DB0776-2D31-45D0-A327-EF0862BE6181}" srcId="{0ED280EB-626E-47A6-B19B-417EBB18D07B}" destId="{E410F35E-5FB1-41F8-AC1C-21009F9DC546}" srcOrd="1" destOrd="0" parTransId="{8B910315-0AE0-488F-81A9-83086E315067}" sibTransId="{13E0D016-690A-49F8-9B26-1F142700387C}"/>
    <dgm:cxn modelId="{2DA02177-5930-4659-B0F9-41D289E15E60}" type="presOf" srcId="{0ED280EB-626E-47A6-B19B-417EBB18D07B}" destId="{C0BF5495-4A8A-4B68-9E0A-C7AF8620B942}" srcOrd="0" destOrd="0" presId="urn:microsoft.com/office/officeart/2005/8/layout/vList5"/>
    <dgm:cxn modelId="{10BCD18E-7E67-41C4-9562-3E1AD1F14ACC}" srcId="{22BF3D32-6617-461A-9B90-A4305FE15476}" destId="{C40B17A6-24E3-4FC1-A244-682745050E4F}" srcOrd="0" destOrd="0" parTransId="{471928A1-7D8F-4DA9-BA50-5ED1500D4C4B}" sibTransId="{CB90393E-4AD5-4909-B47A-CC0EFE409BF3}"/>
    <dgm:cxn modelId="{785FE597-4E0E-463E-9CC3-2C0A6992B30B}" type="presOf" srcId="{11F5A8C7-6CE9-4950-8CCC-7013CAA115D0}" destId="{9ACB8115-49E4-42BB-9165-B936A19078C2}" srcOrd="0" destOrd="0" presId="urn:microsoft.com/office/officeart/2005/8/layout/vList5"/>
    <dgm:cxn modelId="{025BE59A-1EC4-4F6E-A092-8CD80A31F96E}" type="presOf" srcId="{C40B17A6-24E3-4FC1-A244-682745050E4F}" destId="{94EAB26A-E51A-4156-8E89-E2DCEB4B1536}" srcOrd="0" destOrd="0" presId="urn:microsoft.com/office/officeart/2005/8/layout/vList5"/>
    <dgm:cxn modelId="{14B6B8A1-F522-47A7-BC04-4693E7033558}" type="presOf" srcId="{9BC5F1C9-F7A0-4278-997A-BECD3414D585}" destId="{9ACB8115-49E4-42BB-9165-B936A19078C2}" srcOrd="0" destOrd="1" presId="urn:microsoft.com/office/officeart/2005/8/layout/vList5"/>
    <dgm:cxn modelId="{F92AA1A8-B4E3-45B5-9DB1-9F65480D4368}" srcId="{6670CE47-FB8D-4CD0-88BD-9D42C6748A9D}" destId="{04ADF71E-8DAA-4A25-9146-820364D64846}" srcOrd="4" destOrd="0" parTransId="{3F2E8A6E-030F-43AE-8C0E-4150F8B96F9B}" sibTransId="{75F20C14-270B-4040-8740-67C7081EDA1B}"/>
    <dgm:cxn modelId="{FA76EEBF-583E-43BB-942F-FD59C11C7DA0}" type="presOf" srcId="{914CE5C1-A2AB-4AEB-A61F-287B66231A69}" destId="{3A3CDD89-1FDD-48BD-9C8E-29CCC11EA3A4}" srcOrd="0" destOrd="2" presId="urn:microsoft.com/office/officeart/2005/8/layout/vList5"/>
    <dgm:cxn modelId="{823AAFD0-5283-4B60-8B2C-B695BD78128A}" srcId="{0ED280EB-626E-47A6-B19B-417EBB18D07B}" destId="{6670CE47-FB8D-4CD0-88BD-9D42C6748A9D}" srcOrd="0" destOrd="0" parTransId="{8F4B5BA0-F86F-4663-A9A3-53F81D53FA7F}" sibTransId="{A5FA9305-4D59-4135-9ED1-275B9D4C1A29}"/>
    <dgm:cxn modelId="{1F0B7DD2-D7DA-418E-9FD4-DFD4D658ECE5}" srcId="{E410F35E-5FB1-41F8-AC1C-21009F9DC546}" destId="{F20CD23F-E308-43A0-B535-4B787A2CCE56}" srcOrd="2" destOrd="0" parTransId="{1B252E90-361E-47D8-8DEC-C6605510CC8C}" sibTransId="{5BFB58AB-F741-4204-8CB4-11543BFE583A}"/>
    <dgm:cxn modelId="{419686D6-95BE-4B70-A9B3-38D7DD422677}" srcId="{6670CE47-FB8D-4CD0-88BD-9D42C6748A9D}" destId="{7DC71170-9AED-47EC-AC50-7295AB72D525}" srcOrd="3" destOrd="0" parTransId="{2117AE1D-837F-498F-BA54-41E6E07C07E7}" sibTransId="{63F74C48-92BC-477A-A45A-F0A9A1B19500}"/>
    <dgm:cxn modelId="{1FA5C1DA-12C3-491B-B8C0-340F58AED4E7}" type="presOf" srcId="{F20CD23F-E308-43A0-B535-4B787A2CCE56}" destId="{9ACB8115-49E4-42BB-9165-B936A19078C2}" srcOrd="0" destOrd="2" presId="urn:microsoft.com/office/officeart/2005/8/layout/vList5"/>
    <dgm:cxn modelId="{2FC4F8DA-BDC7-4AA8-9933-61BAA52A6465}" srcId="{22BF3D32-6617-461A-9B90-A4305FE15476}" destId="{A54E6260-AA56-4DCF-92D1-FCE84C0CF4EE}" srcOrd="4" destOrd="0" parTransId="{A12197AF-AC2C-4E03-97ED-E0F53A6E6A63}" sibTransId="{EBE37DB6-C99E-4E0C-8B81-E3453C9D19BD}"/>
    <dgm:cxn modelId="{54849AE5-C0F8-4898-A44E-D18E7BFB0ED4}" type="presOf" srcId="{455C4A1B-6E3A-4215-BB26-7D9606B477BA}" destId="{94EAB26A-E51A-4156-8E89-E2DCEB4B1536}" srcOrd="0" destOrd="3" presId="urn:microsoft.com/office/officeart/2005/8/layout/vList5"/>
    <dgm:cxn modelId="{CFBBD9E9-CE6A-491D-982D-36801734F777}" srcId="{6670CE47-FB8D-4CD0-88BD-9D42C6748A9D}" destId="{497B69CC-B657-4E11-BD4E-4C6943835814}" srcOrd="0" destOrd="0" parTransId="{318EB8B5-4596-4247-AEF5-287CB59D49C0}" sibTransId="{6B477B70-E207-498F-BEDD-9C9A8AC641D9}"/>
    <dgm:cxn modelId="{10C701EE-BA82-46CC-B17A-EFC795E55C81}" type="presOf" srcId="{2704BC8F-3765-42D2-A5AA-DBFA649C2573}" destId="{94EAB26A-E51A-4156-8E89-E2DCEB4B1536}" srcOrd="0" destOrd="2" presId="urn:microsoft.com/office/officeart/2005/8/layout/vList5"/>
    <dgm:cxn modelId="{F2872978-0F00-4C92-B6FB-5A0019BC4D5D}" type="presParOf" srcId="{C0BF5495-4A8A-4B68-9E0A-C7AF8620B942}" destId="{F6EA8012-7163-4CE4-96BD-9EE7FA4EA5FE}" srcOrd="0" destOrd="0" presId="urn:microsoft.com/office/officeart/2005/8/layout/vList5"/>
    <dgm:cxn modelId="{72D8E6DA-52B1-44B3-94E1-D00C11055334}" type="presParOf" srcId="{F6EA8012-7163-4CE4-96BD-9EE7FA4EA5FE}" destId="{A66D08D9-99AB-42F9-998B-D20B269E246D}" srcOrd="0" destOrd="0" presId="urn:microsoft.com/office/officeart/2005/8/layout/vList5"/>
    <dgm:cxn modelId="{FCE34946-137C-4115-90A9-483334D8BD27}" type="presParOf" srcId="{F6EA8012-7163-4CE4-96BD-9EE7FA4EA5FE}" destId="{3A3CDD89-1FDD-48BD-9C8E-29CCC11EA3A4}" srcOrd="1" destOrd="0" presId="urn:microsoft.com/office/officeart/2005/8/layout/vList5"/>
    <dgm:cxn modelId="{A5ABFD91-A7FB-4CF1-9184-0AEEC1D793D8}" type="presParOf" srcId="{C0BF5495-4A8A-4B68-9E0A-C7AF8620B942}" destId="{23D4C35B-C56E-4ED4-9062-B21E39C1BAE8}" srcOrd="1" destOrd="0" presId="urn:microsoft.com/office/officeart/2005/8/layout/vList5"/>
    <dgm:cxn modelId="{F0CF5C17-4034-490A-BD2C-F74F580A1512}" type="presParOf" srcId="{C0BF5495-4A8A-4B68-9E0A-C7AF8620B942}" destId="{39DF7D1E-4F15-430E-93A2-E487C87C7DA6}" srcOrd="2" destOrd="0" presId="urn:microsoft.com/office/officeart/2005/8/layout/vList5"/>
    <dgm:cxn modelId="{330E6C8E-832D-4454-ADB4-5C92244F9110}" type="presParOf" srcId="{39DF7D1E-4F15-430E-93A2-E487C87C7DA6}" destId="{A8DA6688-FE4E-4EC1-A45F-94654941606C}" srcOrd="0" destOrd="0" presId="urn:microsoft.com/office/officeart/2005/8/layout/vList5"/>
    <dgm:cxn modelId="{0C74C463-A0A3-47B9-AC6E-BDF4983FDF7E}" type="presParOf" srcId="{39DF7D1E-4F15-430E-93A2-E487C87C7DA6}" destId="{9ACB8115-49E4-42BB-9165-B936A19078C2}" srcOrd="1" destOrd="0" presId="urn:microsoft.com/office/officeart/2005/8/layout/vList5"/>
    <dgm:cxn modelId="{99374C82-5BE7-4B15-8295-611C409365EA}" type="presParOf" srcId="{C0BF5495-4A8A-4B68-9E0A-C7AF8620B942}" destId="{34E3D8CB-0965-4EC9-851C-674BF68B8A5E}" srcOrd="3" destOrd="0" presId="urn:microsoft.com/office/officeart/2005/8/layout/vList5"/>
    <dgm:cxn modelId="{4DD59818-BE3C-498E-BFC6-A4E633CF5B88}" type="presParOf" srcId="{C0BF5495-4A8A-4B68-9E0A-C7AF8620B942}" destId="{33A85622-E8F0-4FD1-9F48-3231CE218870}" srcOrd="4" destOrd="0" presId="urn:microsoft.com/office/officeart/2005/8/layout/vList5"/>
    <dgm:cxn modelId="{F24CF201-1993-4B71-8026-935E9C4DA332}" type="presParOf" srcId="{33A85622-E8F0-4FD1-9F48-3231CE218870}" destId="{F1963F0A-0D2B-4D81-939C-DC11460174F9}" srcOrd="0" destOrd="0" presId="urn:microsoft.com/office/officeart/2005/8/layout/vList5"/>
    <dgm:cxn modelId="{334F06B9-364A-49C2-A610-D531293A480F}" type="presParOf" srcId="{33A85622-E8F0-4FD1-9F48-3231CE218870}" destId="{94EAB26A-E51A-4156-8E89-E2DCEB4B1536}"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3DCE8D-39F1-4CBC-93B7-DC3AB5B130B8}">
      <dsp:nvSpPr>
        <dsp:cNvPr id="0" name=""/>
        <dsp:cNvSpPr/>
      </dsp:nvSpPr>
      <dsp:spPr>
        <a:xfrm>
          <a:off x="647" y="1170774"/>
          <a:ext cx="2250136" cy="185589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88950">
            <a:lnSpc>
              <a:spcPct val="90000"/>
            </a:lnSpc>
            <a:spcBef>
              <a:spcPct val="0"/>
            </a:spcBef>
            <a:spcAft>
              <a:spcPct val="15000"/>
            </a:spcAft>
            <a:buChar char="•"/>
          </a:pPr>
          <a:r>
            <a:rPr lang="en-US" sz="1100" b="1" kern="1200" dirty="0">
              <a:solidFill>
                <a:schemeClr val="tx1"/>
              </a:solidFill>
              <a:latin typeface="Times New Roman" panose="02020603050405020304" pitchFamily="18" charset="0"/>
              <a:ea typeface="+mn-ea"/>
              <a:cs typeface="Times New Roman" panose="02020603050405020304" pitchFamily="18" charset="0"/>
            </a:rPr>
            <a:t>Extremely high throughput and low latency </a:t>
          </a:r>
          <a:r>
            <a:rPr lang="en-US" sz="1100" kern="1200" dirty="0">
              <a:solidFill>
                <a:schemeClr val="tx1"/>
              </a:solidFill>
              <a:latin typeface="Times New Roman" panose="02020603050405020304" pitchFamily="18" charset="0"/>
              <a:ea typeface="+mn-ea"/>
              <a:cs typeface="Times New Roman" panose="02020603050405020304" pitchFamily="18" charset="0"/>
            </a:rPr>
            <a:t>ML models’ implementations are required in high-energy physics, cybersecurity and autonomous vehicles </a:t>
          </a:r>
          <a:endParaRPr lang="zh-CN" altLang="en-US" sz="1100" kern="1200" dirty="0">
            <a:solidFill>
              <a:schemeClr val="tx1"/>
            </a:solidFill>
            <a:latin typeface="Times New Roman" panose="02020603050405020304" pitchFamily="18" charset="0"/>
            <a:ea typeface="+mn-ea"/>
            <a:cs typeface="Times New Roman" panose="02020603050405020304" pitchFamily="18" charset="0"/>
          </a:endParaRPr>
        </a:p>
        <a:p>
          <a:pPr marL="57150" lvl="1" indent="-57150" algn="l" defTabSz="488950">
            <a:lnSpc>
              <a:spcPct val="90000"/>
            </a:lnSpc>
            <a:spcBef>
              <a:spcPct val="0"/>
            </a:spcBef>
            <a:spcAft>
              <a:spcPct val="15000"/>
            </a:spcAft>
            <a:buChar char="•"/>
          </a:pPr>
          <a:endParaRPr lang="zh-CN" altLang="en-US" sz="1100" kern="1200" dirty="0">
            <a:solidFill>
              <a:schemeClr val="tx1"/>
            </a:solidFill>
            <a:latin typeface="Times New Roman" panose="02020603050405020304" pitchFamily="18" charset="0"/>
            <a:ea typeface="+mn-ea"/>
            <a:cs typeface="Times New Roman" panose="02020603050405020304" pitchFamily="18" charset="0"/>
          </a:endParaRPr>
        </a:p>
        <a:p>
          <a:pPr marL="57150" lvl="1" indent="-57150" algn="l" defTabSz="488950">
            <a:lnSpc>
              <a:spcPct val="90000"/>
            </a:lnSpc>
            <a:spcBef>
              <a:spcPct val="0"/>
            </a:spcBef>
            <a:spcAft>
              <a:spcPct val="15000"/>
            </a:spcAft>
            <a:buChar char="•"/>
          </a:pPr>
          <a:r>
            <a:rPr lang="en-US" sz="1100" kern="1200" dirty="0">
              <a:solidFill>
                <a:schemeClr val="tx1"/>
              </a:solidFill>
              <a:latin typeface="Times New Roman" panose="02020603050405020304" pitchFamily="18" charset="0"/>
              <a:ea typeface="+mn-ea"/>
              <a:cs typeface="Times New Roman" panose="02020603050405020304" pitchFamily="18" charset="0"/>
            </a:rPr>
            <a:t>FPGA becomes an ideal candidate.</a:t>
          </a:r>
          <a:endParaRPr lang="zh-CN" sz="1100" kern="1200" dirty="0">
            <a:solidFill>
              <a:schemeClr val="tx1"/>
            </a:solidFill>
            <a:latin typeface="Times New Roman" panose="02020603050405020304" pitchFamily="18" charset="0"/>
            <a:ea typeface="+mn-ea"/>
            <a:cs typeface="Times New Roman" panose="02020603050405020304" pitchFamily="18" charset="0"/>
          </a:endParaRPr>
        </a:p>
      </dsp:txBody>
      <dsp:txXfrm>
        <a:off x="43356" y="1213483"/>
        <a:ext cx="2164718" cy="1372783"/>
      </dsp:txXfrm>
    </dsp:sp>
    <dsp:sp modelId="{488F0129-6420-4AB3-8934-1F040FF50CF1}">
      <dsp:nvSpPr>
        <dsp:cNvPr id="0" name=""/>
        <dsp:cNvSpPr/>
      </dsp:nvSpPr>
      <dsp:spPr>
        <a:xfrm>
          <a:off x="1304245" y="1525743"/>
          <a:ext cx="2497017" cy="2497017"/>
        </a:xfrm>
        <a:prstGeom prst="leftCircularArrow">
          <a:avLst>
            <a:gd name="adj1" fmla="val 3180"/>
            <a:gd name="adj2" fmla="val 391584"/>
            <a:gd name="adj3" fmla="val 2431772"/>
            <a:gd name="adj4" fmla="val 9289167"/>
            <a:gd name="adj5" fmla="val 371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CC0834E-A679-4258-8262-F1741F896831}">
      <dsp:nvSpPr>
        <dsp:cNvPr id="0" name=""/>
        <dsp:cNvSpPr/>
      </dsp:nvSpPr>
      <dsp:spPr>
        <a:xfrm>
          <a:off x="500677" y="2784477"/>
          <a:ext cx="2000121" cy="4843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altLang="zh-CN" sz="1600" kern="1200" dirty="0"/>
            <a:t>ML Models on FPGA</a:t>
          </a:r>
          <a:endParaRPr lang="zh-CN" sz="1600" kern="1200" dirty="0"/>
        </a:p>
      </dsp:txBody>
      <dsp:txXfrm>
        <a:off x="514864" y="2798664"/>
        <a:ext cx="1971747" cy="456005"/>
      </dsp:txXfrm>
    </dsp:sp>
    <dsp:sp modelId="{6CBC3E52-14F1-4851-A2A2-470AE7DC1A5A}">
      <dsp:nvSpPr>
        <dsp:cNvPr id="0" name=""/>
        <dsp:cNvSpPr/>
      </dsp:nvSpPr>
      <dsp:spPr>
        <a:xfrm>
          <a:off x="2878924" y="1170774"/>
          <a:ext cx="2250136" cy="185589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88950">
            <a:lnSpc>
              <a:spcPct val="90000"/>
            </a:lnSpc>
            <a:spcBef>
              <a:spcPct val="0"/>
            </a:spcBef>
            <a:spcAft>
              <a:spcPct val="15000"/>
            </a:spcAft>
            <a:buChar char="•"/>
          </a:pPr>
          <a:r>
            <a:rPr lang="en-US" sz="1100" kern="1200" dirty="0">
              <a:solidFill>
                <a:schemeClr val="tx1"/>
              </a:solidFill>
              <a:latin typeface="Times New Roman" panose="02020603050405020304" pitchFamily="18" charset="0"/>
              <a:ea typeface="+mn-ea"/>
              <a:cs typeface="Times New Roman" panose="02020603050405020304" pitchFamily="18" charset="0"/>
            </a:rPr>
            <a:t>Previous LUT-based NNs like </a:t>
          </a:r>
          <a:r>
            <a:rPr lang="en-US" sz="1100" b="1" i="1" kern="1200" dirty="0" err="1">
              <a:solidFill>
                <a:schemeClr val="tx1"/>
              </a:solidFill>
              <a:latin typeface="Times New Roman" panose="02020603050405020304" pitchFamily="18" charset="0"/>
              <a:ea typeface="+mn-ea"/>
              <a:cs typeface="Times New Roman" panose="02020603050405020304" pitchFamily="18" charset="0"/>
            </a:rPr>
            <a:t>LogicNets</a:t>
          </a:r>
          <a:r>
            <a:rPr lang="en-US" sz="1100" kern="1200" dirty="0">
              <a:solidFill>
                <a:schemeClr val="tx1"/>
              </a:solidFill>
              <a:latin typeface="Times New Roman" panose="02020603050405020304" pitchFamily="18" charset="0"/>
              <a:ea typeface="+mn-ea"/>
              <a:cs typeface="Times New Roman" panose="02020603050405020304" pitchFamily="18" charset="0"/>
            </a:rPr>
            <a:t> and </a:t>
          </a:r>
          <a:r>
            <a:rPr lang="en-US" sz="1100" b="1" i="1" kern="1200" dirty="0" err="1">
              <a:solidFill>
                <a:schemeClr val="tx1"/>
              </a:solidFill>
              <a:latin typeface="Times New Roman" panose="02020603050405020304" pitchFamily="18" charset="0"/>
              <a:ea typeface="+mn-ea"/>
              <a:cs typeface="Times New Roman" panose="02020603050405020304" pitchFamily="18" charset="0"/>
            </a:rPr>
            <a:t>NeuralLUT</a:t>
          </a:r>
          <a:r>
            <a:rPr lang="en-US" sz="1100" kern="1200" dirty="0">
              <a:solidFill>
                <a:schemeClr val="tx1"/>
              </a:solidFill>
              <a:latin typeface="Times New Roman" panose="02020603050405020304" pitchFamily="18" charset="0"/>
              <a:ea typeface="+mn-ea"/>
              <a:cs typeface="Times New Roman" panose="02020603050405020304" pitchFamily="18" charset="0"/>
            </a:rPr>
            <a:t> meet this demand by carefully mapping neurons to LUTs.  </a:t>
          </a:r>
          <a:endParaRPr lang="zh-CN" sz="1100" kern="1200" dirty="0">
            <a:solidFill>
              <a:schemeClr val="tx1"/>
            </a:solidFill>
            <a:latin typeface="Times New Roman" panose="02020603050405020304" pitchFamily="18" charset="0"/>
            <a:ea typeface="+mn-ea"/>
            <a:cs typeface="Times New Roman" panose="02020603050405020304" pitchFamily="18" charset="0"/>
          </a:endParaRPr>
        </a:p>
        <a:p>
          <a:pPr marL="57150" lvl="1" indent="-57150" algn="l" defTabSz="488950">
            <a:lnSpc>
              <a:spcPct val="90000"/>
            </a:lnSpc>
            <a:spcBef>
              <a:spcPct val="0"/>
            </a:spcBef>
            <a:spcAft>
              <a:spcPct val="15000"/>
            </a:spcAft>
            <a:buChar char="•"/>
          </a:pPr>
          <a:endParaRPr lang="zh-CN" altLang="en-US" sz="1100" kern="1200" dirty="0">
            <a:solidFill>
              <a:schemeClr val="tx1"/>
            </a:solidFill>
            <a:latin typeface="Times New Roman" panose="02020603050405020304" pitchFamily="18" charset="0"/>
            <a:ea typeface="+mn-ea"/>
            <a:cs typeface="Times New Roman" panose="02020603050405020304" pitchFamily="18" charset="0"/>
          </a:endParaRPr>
        </a:p>
        <a:p>
          <a:pPr marL="57150" lvl="1" indent="-57150" algn="l" defTabSz="488950">
            <a:lnSpc>
              <a:spcPct val="90000"/>
            </a:lnSpc>
            <a:spcBef>
              <a:spcPct val="0"/>
            </a:spcBef>
            <a:spcAft>
              <a:spcPct val="15000"/>
            </a:spcAft>
            <a:buChar char="•"/>
          </a:pPr>
          <a:r>
            <a:rPr lang="en-US" sz="1100" kern="1200" dirty="0">
              <a:solidFill>
                <a:schemeClr val="tx1"/>
              </a:solidFill>
              <a:latin typeface="Times New Roman" panose="02020603050405020304" pitchFamily="18" charset="0"/>
              <a:ea typeface="+mn-ea"/>
              <a:cs typeface="Times New Roman" panose="02020603050405020304" pitchFamily="18" charset="0"/>
            </a:rPr>
            <a:t>  </a:t>
          </a:r>
          <a:r>
            <a:rPr lang="en-US" sz="1100" b="1" kern="1200" dirty="0">
              <a:solidFill>
                <a:schemeClr val="tx1"/>
              </a:solidFill>
              <a:latin typeface="Times New Roman" panose="02020603050405020304" pitchFamily="18" charset="0"/>
              <a:ea typeface="+mn-ea"/>
              <a:cs typeface="Times New Roman" panose="02020603050405020304" pitchFamily="18" charset="0"/>
            </a:rPr>
            <a:t>L-LUT</a:t>
          </a:r>
          <a:r>
            <a:rPr lang="en-US" sz="1100" kern="1200" dirty="0">
              <a:solidFill>
                <a:schemeClr val="tx1"/>
              </a:solidFill>
              <a:latin typeface="Times New Roman" panose="02020603050405020304" pitchFamily="18" charset="0"/>
              <a:ea typeface="+mn-ea"/>
              <a:cs typeface="Times New Roman" panose="02020603050405020304" pitchFamily="18" charset="0"/>
            </a:rPr>
            <a:t> (logic LUT) is composed of many </a:t>
          </a:r>
          <a:r>
            <a:rPr lang="en-US" sz="1100" b="1" kern="1200" dirty="0">
              <a:solidFill>
                <a:schemeClr val="tx1"/>
              </a:solidFill>
              <a:latin typeface="Times New Roman" panose="02020603050405020304" pitchFamily="18" charset="0"/>
              <a:ea typeface="+mn-ea"/>
              <a:cs typeface="Times New Roman" panose="02020603050405020304" pitchFamily="18" charset="0"/>
            </a:rPr>
            <a:t>P-LUT</a:t>
          </a:r>
          <a:r>
            <a:rPr lang="en-US" altLang="zh-CN" sz="1100" b="1" kern="1200" dirty="0">
              <a:solidFill>
                <a:schemeClr val="tx1"/>
              </a:solidFill>
              <a:latin typeface="Times New Roman" panose="02020603050405020304" pitchFamily="18" charset="0"/>
              <a:ea typeface="+mn-ea"/>
              <a:cs typeface="Times New Roman" panose="02020603050405020304" pitchFamily="18" charset="0"/>
            </a:rPr>
            <a:t>s</a:t>
          </a:r>
          <a:r>
            <a:rPr lang="en-US" sz="1100" b="1" kern="1200" dirty="0">
              <a:solidFill>
                <a:schemeClr val="tx1"/>
              </a:solidFill>
              <a:latin typeface="Times New Roman" panose="02020603050405020304" pitchFamily="18" charset="0"/>
              <a:ea typeface="+mn-ea"/>
              <a:cs typeface="Times New Roman" panose="02020603050405020304" pitchFamily="18" charset="0"/>
            </a:rPr>
            <a:t> </a:t>
          </a:r>
          <a:r>
            <a:rPr lang="en-US" sz="1100" kern="1200" dirty="0">
              <a:solidFill>
                <a:schemeClr val="tx1"/>
              </a:solidFill>
              <a:latin typeface="Times New Roman" panose="02020603050405020304" pitchFamily="18" charset="0"/>
              <a:ea typeface="+mn-ea"/>
              <a:cs typeface="Times New Roman" panose="02020603050405020304" pitchFamily="18" charset="0"/>
            </a:rPr>
            <a:t>(physical LUT)</a:t>
          </a:r>
          <a:endParaRPr lang="zh-CN" sz="1100" kern="1200" dirty="0">
            <a:solidFill>
              <a:schemeClr val="tx1"/>
            </a:solidFill>
            <a:latin typeface="Times New Roman" panose="02020603050405020304" pitchFamily="18" charset="0"/>
            <a:ea typeface="+mn-ea"/>
            <a:cs typeface="Times New Roman" panose="02020603050405020304" pitchFamily="18" charset="0"/>
          </a:endParaRPr>
        </a:p>
      </dsp:txBody>
      <dsp:txXfrm>
        <a:off x="2921633" y="1611175"/>
        <a:ext cx="2164718" cy="1372783"/>
      </dsp:txXfrm>
    </dsp:sp>
    <dsp:sp modelId="{8DC5457A-0353-4E7E-BB63-089C4D9477BD}">
      <dsp:nvSpPr>
        <dsp:cNvPr id="0" name=""/>
        <dsp:cNvSpPr/>
      </dsp:nvSpPr>
      <dsp:spPr>
        <a:xfrm>
          <a:off x="4169595" y="94268"/>
          <a:ext cx="2930256" cy="2930256"/>
        </a:xfrm>
        <a:prstGeom prst="circularArrow">
          <a:avLst>
            <a:gd name="adj1" fmla="val 2710"/>
            <a:gd name="adj2" fmla="val 330025"/>
            <a:gd name="adj3" fmla="val 19184283"/>
            <a:gd name="adj4" fmla="val 12265330"/>
            <a:gd name="adj5" fmla="val 316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DC2E9EF-7381-4FBF-9DB6-9CB7DCDBB882}">
      <dsp:nvSpPr>
        <dsp:cNvPr id="0" name=""/>
        <dsp:cNvSpPr/>
      </dsp:nvSpPr>
      <dsp:spPr>
        <a:xfrm>
          <a:off x="3378954" y="989196"/>
          <a:ext cx="2000121" cy="36315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altLang="zh-CN" sz="1600" kern="1200" dirty="0"/>
            <a:t>Previous Work</a:t>
          </a:r>
          <a:endParaRPr lang="zh-CN" sz="1600" kern="1200" dirty="0"/>
        </a:p>
      </dsp:txBody>
      <dsp:txXfrm>
        <a:off x="3389590" y="999832"/>
        <a:ext cx="1978849" cy="341883"/>
      </dsp:txXfrm>
    </dsp:sp>
    <dsp:sp modelId="{FCE5D429-D2C1-437B-99CB-4ABC8F69A8B1}">
      <dsp:nvSpPr>
        <dsp:cNvPr id="0" name=""/>
        <dsp:cNvSpPr/>
      </dsp:nvSpPr>
      <dsp:spPr>
        <a:xfrm>
          <a:off x="5757201" y="1170774"/>
          <a:ext cx="2496031" cy="185589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chemeClr val="tx1"/>
              </a:solidFill>
              <a:latin typeface="Times New Roman" panose="02020603050405020304" pitchFamily="18" charset="0"/>
              <a:ea typeface="+mn-ea"/>
              <a:cs typeface="Times New Roman" panose="02020603050405020304" pitchFamily="18" charset="0"/>
            </a:rPr>
            <a:t>LUT-based NN has </a:t>
          </a:r>
          <a:r>
            <a:rPr lang="en-US" sz="1200" b="1" kern="1200" dirty="0">
              <a:solidFill>
                <a:srgbClr val="FF0000"/>
              </a:solidFill>
              <a:latin typeface="Times New Roman" panose="02020603050405020304" pitchFamily="18" charset="0"/>
              <a:ea typeface="+mn-ea"/>
              <a:cs typeface="Times New Roman" panose="02020603050405020304" pitchFamily="18" charset="0"/>
            </a:rPr>
            <a:t>EXPONENTIAL</a:t>
          </a:r>
          <a:r>
            <a:rPr lang="en-US" sz="1200" kern="1200" dirty="0">
              <a:solidFill>
                <a:schemeClr val="tx1"/>
              </a:solidFill>
              <a:latin typeface="Times New Roman" panose="02020603050405020304" pitchFamily="18" charset="0"/>
              <a:ea typeface="+mn-ea"/>
              <a:cs typeface="Times New Roman" panose="02020603050405020304" pitchFamily="18" charset="0"/>
            </a:rPr>
            <a:t> LUT usage with respect to neuron’s fan-in. </a:t>
          </a:r>
          <a:endParaRPr lang="zh-CN" altLang="en-US" sz="1200" kern="1200" dirty="0">
            <a:solidFill>
              <a:schemeClr val="tx1"/>
            </a:solidFill>
            <a:latin typeface="Times New Roman" panose="02020603050405020304" pitchFamily="18" charset="0"/>
            <a:ea typeface="+mn-ea"/>
            <a:cs typeface="Times New Roman" panose="02020603050405020304" pitchFamily="18" charset="0"/>
          </a:endParaRPr>
        </a:p>
        <a:p>
          <a:pPr marL="114300" lvl="1" indent="-114300" algn="l" defTabSz="533400">
            <a:lnSpc>
              <a:spcPct val="90000"/>
            </a:lnSpc>
            <a:spcBef>
              <a:spcPct val="0"/>
            </a:spcBef>
            <a:spcAft>
              <a:spcPct val="15000"/>
            </a:spcAft>
            <a:buChar char="•"/>
          </a:pPr>
          <a:endParaRPr lang="zh-CN" altLang="en-US" sz="1200" kern="1200" dirty="0">
            <a:solidFill>
              <a:schemeClr val="tx1"/>
            </a:solidFill>
            <a:latin typeface="Times New Roman" panose="02020603050405020304" pitchFamily="18" charset="0"/>
            <a:ea typeface="+mn-ea"/>
            <a:cs typeface="Times New Roman" panose="02020603050405020304" pitchFamily="18" charset="0"/>
          </a:endParaRPr>
        </a:p>
        <a:p>
          <a:pPr marL="114300" lvl="1" indent="-114300" algn="l" defTabSz="533400">
            <a:lnSpc>
              <a:spcPct val="90000"/>
            </a:lnSpc>
            <a:spcBef>
              <a:spcPct val="0"/>
            </a:spcBef>
            <a:spcAft>
              <a:spcPct val="15000"/>
            </a:spcAft>
            <a:buChar char="•"/>
          </a:pPr>
          <a:r>
            <a:rPr lang="en-US" sz="1200" kern="1200" dirty="0">
              <a:solidFill>
                <a:schemeClr val="tx1"/>
              </a:solidFill>
              <a:latin typeface="Times New Roman" panose="02020603050405020304" pitchFamily="18" charset="0"/>
              <a:ea typeface="+mn-ea"/>
              <a:cs typeface="Times New Roman" panose="02020603050405020304" pitchFamily="18" charset="0"/>
            </a:rPr>
            <a:t>A minimal accuracy increase of a denser NN utilizes far more LUT resource on a FPGA. (throughput also decreases)</a:t>
          </a:r>
          <a:endParaRPr lang="zh-CN" sz="1200" kern="1200" dirty="0">
            <a:solidFill>
              <a:schemeClr val="tx1"/>
            </a:solidFill>
            <a:latin typeface="Times New Roman" panose="02020603050405020304" pitchFamily="18" charset="0"/>
            <a:ea typeface="+mn-ea"/>
            <a:cs typeface="Times New Roman" panose="02020603050405020304" pitchFamily="18" charset="0"/>
          </a:endParaRPr>
        </a:p>
      </dsp:txBody>
      <dsp:txXfrm>
        <a:off x="5799910" y="1213483"/>
        <a:ext cx="2410613" cy="1372783"/>
      </dsp:txXfrm>
    </dsp:sp>
    <dsp:sp modelId="{79CC38C0-D716-4C3C-AD71-5E345E9120DA}">
      <dsp:nvSpPr>
        <dsp:cNvPr id="0" name=""/>
        <dsp:cNvSpPr/>
      </dsp:nvSpPr>
      <dsp:spPr>
        <a:xfrm>
          <a:off x="6380179" y="2826389"/>
          <a:ext cx="2000121" cy="4005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altLang="zh-CN" sz="1600" kern="1200" dirty="0"/>
            <a:t>Overhead Boom</a:t>
          </a:r>
          <a:endParaRPr lang="zh-CN" sz="1600" kern="1200" dirty="0"/>
        </a:p>
      </dsp:txBody>
      <dsp:txXfrm>
        <a:off x="6391911" y="2838121"/>
        <a:ext cx="1976657" cy="3770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6D6358-EA32-4C90-82D4-E40976E45525}">
      <dsp:nvSpPr>
        <dsp:cNvPr id="0" name=""/>
        <dsp:cNvSpPr/>
      </dsp:nvSpPr>
      <dsp:spPr>
        <a:xfrm>
          <a:off x="1135808" y="0"/>
          <a:ext cx="5305793" cy="3316121"/>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0517D0-4C9C-42C1-9D75-1CE2DFBC9E13}">
      <dsp:nvSpPr>
        <dsp:cNvPr id="0" name=""/>
        <dsp:cNvSpPr/>
      </dsp:nvSpPr>
      <dsp:spPr>
        <a:xfrm>
          <a:off x="1809644" y="2288786"/>
          <a:ext cx="137950" cy="13795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A2C0DA-F863-435E-B9AD-047A0C8B83B4}">
      <dsp:nvSpPr>
        <dsp:cNvPr id="0" name=""/>
        <dsp:cNvSpPr/>
      </dsp:nvSpPr>
      <dsp:spPr>
        <a:xfrm>
          <a:off x="1878619" y="2357762"/>
          <a:ext cx="1236249" cy="9583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097" tIns="0" rIns="0" bIns="0" numCol="1" spcCol="1270" anchor="t" anchorCtr="0">
          <a:noAutofit/>
        </a:bodyPr>
        <a:lstStyle/>
        <a:p>
          <a:pPr marL="0" lvl="0" indent="0" algn="l" defTabSz="577850">
            <a:lnSpc>
              <a:spcPct val="90000"/>
            </a:lnSpc>
            <a:spcBef>
              <a:spcPct val="0"/>
            </a:spcBef>
            <a:spcAft>
              <a:spcPct val="35000"/>
            </a:spcAft>
            <a:buNone/>
          </a:pPr>
          <a:r>
            <a:rPr lang="en-US" sz="1300" kern="1200"/>
            <a:t>LogicLUT</a:t>
          </a:r>
          <a:endParaRPr lang="zh-CN" sz="1300" kern="1200"/>
        </a:p>
        <a:p>
          <a:pPr marL="57150" lvl="1" indent="-57150" algn="l" defTabSz="444500">
            <a:lnSpc>
              <a:spcPct val="90000"/>
            </a:lnSpc>
            <a:spcBef>
              <a:spcPct val="0"/>
            </a:spcBef>
            <a:spcAft>
              <a:spcPct val="15000"/>
            </a:spcAft>
            <a:buChar char="•"/>
          </a:pPr>
          <a:r>
            <a:rPr lang="en-US" sz="1000" kern="1200"/>
            <a:t>FPL 20’ </a:t>
          </a:r>
          <a:endParaRPr lang="zh-CN" sz="1000" kern="1200"/>
        </a:p>
        <a:p>
          <a:pPr marL="57150" lvl="1" indent="-57150" algn="l" defTabSz="444500">
            <a:lnSpc>
              <a:spcPct val="90000"/>
            </a:lnSpc>
            <a:spcBef>
              <a:spcPct val="0"/>
            </a:spcBef>
            <a:spcAft>
              <a:spcPct val="15000"/>
            </a:spcAft>
            <a:buChar char="•"/>
          </a:pPr>
          <a:r>
            <a:rPr lang="en-US" sz="1000" kern="1200"/>
            <a:t>Absorbing whole computation of a neuron into a L-LUT</a:t>
          </a:r>
          <a:endParaRPr lang="zh-CN" sz="1000" kern="1200"/>
        </a:p>
      </dsp:txBody>
      <dsp:txXfrm>
        <a:off x="1878619" y="2357762"/>
        <a:ext cx="1236249" cy="958358"/>
      </dsp:txXfrm>
    </dsp:sp>
    <dsp:sp modelId="{14A1C464-0A03-4FC6-BD3C-4FB3A432B5CE}">
      <dsp:nvSpPr>
        <dsp:cNvPr id="0" name=""/>
        <dsp:cNvSpPr/>
      </dsp:nvSpPr>
      <dsp:spPr>
        <a:xfrm>
          <a:off x="3027324" y="1387465"/>
          <a:ext cx="249372" cy="24937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12110E-72CE-4988-9754-E12583DCEFB4}">
      <dsp:nvSpPr>
        <dsp:cNvPr id="0" name=""/>
        <dsp:cNvSpPr/>
      </dsp:nvSpPr>
      <dsp:spPr>
        <a:xfrm>
          <a:off x="3152010" y="1512151"/>
          <a:ext cx="1273390" cy="18039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137" tIns="0" rIns="0" bIns="0" numCol="1" spcCol="1270" anchor="t" anchorCtr="0">
          <a:noAutofit/>
        </a:bodyPr>
        <a:lstStyle/>
        <a:p>
          <a:pPr marL="0" lvl="0" indent="0" algn="l" defTabSz="577850">
            <a:lnSpc>
              <a:spcPct val="90000"/>
            </a:lnSpc>
            <a:spcBef>
              <a:spcPct val="0"/>
            </a:spcBef>
            <a:spcAft>
              <a:spcPct val="35000"/>
            </a:spcAft>
            <a:buNone/>
          </a:pPr>
          <a:r>
            <a:rPr lang="en-US" sz="1300" kern="1200"/>
            <a:t>PolyLUT</a:t>
          </a:r>
          <a:endParaRPr lang="zh-CN" sz="1300" kern="1200"/>
        </a:p>
        <a:p>
          <a:pPr marL="57150" lvl="1" indent="-57150" algn="l" defTabSz="444500">
            <a:lnSpc>
              <a:spcPct val="90000"/>
            </a:lnSpc>
            <a:spcBef>
              <a:spcPct val="0"/>
            </a:spcBef>
            <a:spcAft>
              <a:spcPct val="15000"/>
            </a:spcAft>
            <a:buChar char="•"/>
          </a:pPr>
          <a:r>
            <a:rPr lang="en-US" sz="1000" kern="1200"/>
            <a:t>ICFTP 23’</a:t>
          </a:r>
          <a:endParaRPr lang="zh-CN" sz="1000" kern="1200"/>
        </a:p>
        <a:p>
          <a:pPr marL="57150" lvl="1" indent="-57150" algn="l" defTabSz="444500">
            <a:lnSpc>
              <a:spcPct val="90000"/>
            </a:lnSpc>
            <a:spcBef>
              <a:spcPct val="0"/>
            </a:spcBef>
            <a:spcAft>
              <a:spcPct val="15000"/>
            </a:spcAft>
            <a:buChar char="•"/>
          </a:pPr>
          <a:r>
            <a:rPr lang="en-US" sz="1000" kern="1200"/>
            <a:t>LogicLUT + multivariate polynomial functions inside a neuron</a:t>
          </a:r>
          <a:endParaRPr lang="zh-CN" sz="1000" kern="1200"/>
        </a:p>
      </dsp:txBody>
      <dsp:txXfrm>
        <a:off x="3152010" y="1512151"/>
        <a:ext cx="1273390" cy="1803969"/>
      </dsp:txXfrm>
    </dsp:sp>
    <dsp:sp modelId="{2329F103-4C4B-4C95-B41E-05ED2DC597A9}">
      <dsp:nvSpPr>
        <dsp:cNvPr id="0" name=""/>
        <dsp:cNvSpPr/>
      </dsp:nvSpPr>
      <dsp:spPr>
        <a:xfrm>
          <a:off x="4491723" y="838978"/>
          <a:ext cx="344876" cy="34487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4C84CD-5C3F-4AE2-8E84-D65DC678C5D4}">
      <dsp:nvSpPr>
        <dsp:cNvPr id="0" name=""/>
        <dsp:cNvSpPr/>
      </dsp:nvSpPr>
      <dsp:spPr>
        <a:xfrm>
          <a:off x="4664161" y="1011416"/>
          <a:ext cx="1273390" cy="23047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743" tIns="0" rIns="0" bIns="0" numCol="1" spcCol="1270" anchor="t" anchorCtr="0">
          <a:noAutofit/>
        </a:bodyPr>
        <a:lstStyle/>
        <a:p>
          <a:pPr marL="0" lvl="0" indent="0" algn="l" defTabSz="577850">
            <a:lnSpc>
              <a:spcPct val="90000"/>
            </a:lnSpc>
            <a:spcBef>
              <a:spcPct val="0"/>
            </a:spcBef>
            <a:spcAft>
              <a:spcPct val="35000"/>
            </a:spcAft>
            <a:buNone/>
          </a:pPr>
          <a:r>
            <a:rPr lang="en-US" sz="1300" kern="1200" dirty="0" err="1"/>
            <a:t>NeuralLUT</a:t>
          </a:r>
          <a:endParaRPr lang="zh-CN" sz="1300" kern="1200" dirty="0"/>
        </a:p>
        <a:p>
          <a:pPr marL="57150" lvl="1" indent="-57150" algn="l" defTabSz="444500">
            <a:lnSpc>
              <a:spcPct val="90000"/>
            </a:lnSpc>
            <a:spcBef>
              <a:spcPct val="0"/>
            </a:spcBef>
            <a:spcAft>
              <a:spcPct val="15000"/>
            </a:spcAft>
            <a:buChar char="•"/>
          </a:pPr>
          <a:r>
            <a:rPr lang="en-US" altLang="zh-CN" sz="1000" kern="1200" dirty="0"/>
            <a:t>FPL 24’</a:t>
          </a:r>
          <a:endParaRPr lang="zh-CN" sz="1000" kern="1200" dirty="0"/>
        </a:p>
        <a:p>
          <a:pPr marL="57150" lvl="1" indent="-57150" algn="l" defTabSz="444500">
            <a:lnSpc>
              <a:spcPct val="90000"/>
            </a:lnSpc>
            <a:spcBef>
              <a:spcPct val="0"/>
            </a:spcBef>
            <a:spcAft>
              <a:spcPct val="15000"/>
            </a:spcAft>
            <a:buChar char="•"/>
          </a:pPr>
          <a:r>
            <a:rPr lang="en-US" sz="1000" kern="1200" dirty="0"/>
            <a:t>Absor</a:t>
          </a:r>
          <a:r>
            <a:rPr lang="en-US" altLang="zh-CN" sz="1000" kern="1200" dirty="0"/>
            <a:t>bi</a:t>
          </a:r>
          <a:r>
            <a:rPr lang="en-US" sz="1000" kern="1200" dirty="0"/>
            <a:t>ng entire subnetworks inside a L-LUT</a:t>
          </a:r>
          <a:endParaRPr lang="zh-CN" sz="1000" kern="1200" dirty="0"/>
        </a:p>
      </dsp:txBody>
      <dsp:txXfrm>
        <a:off x="4664161" y="1011416"/>
        <a:ext cx="1273390" cy="23047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3CDD89-1FDD-48BD-9C8E-29CCC11EA3A4}">
      <dsp:nvSpPr>
        <dsp:cNvPr id="0" name=""/>
        <dsp:cNvSpPr/>
      </dsp:nvSpPr>
      <dsp:spPr>
        <a:xfrm rot="5400000">
          <a:off x="2366927" y="-884333"/>
          <a:ext cx="1468116" cy="323790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b="1" kern="1200" dirty="0"/>
            <a:t>CompressedLUT</a:t>
          </a:r>
          <a:r>
            <a:rPr lang="en-US" sz="1200" kern="1200" dirty="0"/>
            <a:t> Methodology</a:t>
          </a:r>
          <a:endParaRPr lang="zh-CN" sz="1200" kern="1200" dirty="0"/>
        </a:p>
        <a:p>
          <a:pPr marL="114300" lvl="1" indent="-114300" algn="l" defTabSz="533400">
            <a:lnSpc>
              <a:spcPct val="90000"/>
            </a:lnSpc>
            <a:spcBef>
              <a:spcPct val="0"/>
            </a:spcBef>
            <a:spcAft>
              <a:spcPct val="15000"/>
            </a:spcAft>
            <a:buChar char="•"/>
          </a:pPr>
          <a:endParaRPr lang="zh-CN" sz="1200" kern="1200" dirty="0"/>
        </a:p>
        <a:p>
          <a:pPr marL="114300" lvl="1" indent="-114300" algn="l" defTabSz="533400">
            <a:lnSpc>
              <a:spcPct val="90000"/>
            </a:lnSpc>
            <a:spcBef>
              <a:spcPct val="0"/>
            </a:spcBef>
            <a:spcAft>
              <a:spcPct val="15000"/>
            </a:spcAft>
            <a:buChar char="•"/>
          </a:pPr>
          <a:r>
            <a:rPr lang="en-US" sz="1200" kern="1200" dirty="0"/>
            <a:t>Make use of </a:t>
          </a:r>
          <a:r>
            <a:rPr lang="en-US" sz="1200" b="1" kern="1200" dirty="0"/>
            <a:t>Don’t Care conditions </a:t>
          </a:r>
          <a:r>
            <a:rPr lang="en-US" sz="1200" kern="1200" dirty="0"/>
            <a:t>in input space</a:t>
          </a:r>
          <a:endParaRPr lang="zh-CN" sz="1200" kern="1200" dirty="0"/>
        </a:p>
        <a:p>
          <a:pPr marL="114300" lvl="1" indent="-114300" algn="l" defTabSz="533400">
            <a:lnSpc>
              <a:spcPct val="90000"/>
            </a:lnSpc>
            <a:spcBef>
              <a:spcPct val="0"/>
            </a:spcBef>
            <a:spcAft>
              <a:spcPct val="15000"/>
            </a:spcAft>
            <a:buChar char="•"/>
          </a:pPr>
          <a:endParaRPr lang="zh-CN" sz="1200" kern="1200" dirty="0"/>
        </a:p>
        <a:p>
          <a:pPr marL="114300" lvl="1" indent="-114300" algn="l" defTabSz="533400">
            <a:lnSpc>
              <a:spcPct val="90000"/>
            </a:lnSpc>
            <a:spcBef>
              <a:spcPct val="0"/>
            </a:spcBef>
            <a:spcAft>
              <a:spcPct val="15000"/>
            </a:spcAft>
            <a:buChar char="•"/>
          </a:pPr>
          <a:r>
            <a:rPr lang="en-US" sz="1200" b="1" kern="1200" dirty="0"/>
            <a:t>Exiguity</a:t>
          </a:r>
          <a:r>
            <a:rPr lang="en-US" sz="1200" kern="1200" dirty="0"/>
            <a:t>: threshold value for Compression</a:t>
          </a:r>
          <a:endParaRPr lang="zh-CN" sz="1200" kern="1200" dirty="0"/>
        </a:p>
      </dsp:txBody>
      <dsp:txXfrm rot="-5400000">
        <a:off x="1482033" y="72229"/>
        <a:ext cx="3166236" cy="1324780"/>
      </dsp:txXfrm>
    </dsp:sp>
    <dsp:sp modelId="{A66D08D9-99AB-42F9-998B-D20B269E246D}">
      <dsp:nvSpPr>
        <dsp:cNvPr id="0" name=""/>
        <dsp:cNvSpPr/>
      </dsp:nvSpPr>
      <dsp:spPr>
        <a:xfrm>
          <a:off x="95055" y="17168"/>
          <a:ext cx="1386977" cy="14348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US" sz="1500" kern="1200" dirty="0"/>
            <a:t>ReducedLUT</a:t>
          </a:r>
          <a:endParaRPr lang="zh-CN" sz="1500" kern="1200" dirty="0"/>
        </a:p>
      </dsp:txBody>
      <dsp:txXfrm>
        <a:off x="162762" y="84875"/>
        <a:ext cx="1251563" cy="1299485"/>
      </dsp:txXfrm>
    </dsp:sp>
    <dsp:sp modelId="{9ACB8115-49E4-42BB-9165-B936A19078C2}">
      <dsp:nvSpPr>
        <dsp:cNvPr id="0" name=""/>
        <dsp:cNvSpPr/>
      </dsp:nvSpPr>
      <dsp:spPr>
        <a:xfrm rot="5400000">
          <a:off x="2380166" y="688767"/>
          <a:ext cx="1468116" cy="321144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b="1" kern="1200" dirty="0"/>
            <a:t>Gradient Boosting Decision Tree </a:t>
          </a:r>
          <a:r>
            <a:rPr lang="en-US" sz="1200" kern="1200" dirty="0"/>
            <a:t>(GBDT) instead of NNs</a:t>
          </a:r>
          <a:endParaRPr lang="zh-CN" sz="1200" kern="1200" dirty="0"/>
        </a:p>
        <a:p>
          <a:pPr marL="114300" lvl="1" indent="-114300" algn="l" defTabSz="533400">
            <a:lnSpc>
              <a:spcPct val="90000"/>
            </a:lnSpc>
            <a:spcBef>
              <a:spcPct val="0"/>
            </a:spcBef>
            <a:spcAft>
              <a:spcPct val="15000"/>
            </a:spcAft>
            <a:buChar char="•"/>
          </a:pPr>
          <a:endParaRPr lang="zh-CN" sz="1200" kern="1200" dirty="0"/>
        </a:p>
        <a:p>
          <a:pPr marL="114300" lvl="1" indent="-114300" algn="l" defTabSz="533400">
            <a:lnSpc>
              <a:spcPct val="90000"/>
            </a:lnSpc>
            <a:spcBef>
              <a:spcPct val="0"/>
            </a:spcBef>
            <a:spcAft>
              <a:spcPct val="15000"/>
            </a:spcAft>
            <a:buChar char="•"/>
          </a:pPr>
          <a:r>
            <a:rPr lang="en-US" sz="1200" b="1" kern="1200" dirty="0"/>
            <a:t>Dedicated</a:t>
          </a:r>
          <a:r>
            <a:rPr lang="en-US" sz="1200" kern="1200" dirty="0"/>
            <a:t> </a:t>
          </a:r>
          <a:r>
            <a:rPr lang="en-US" sz="1200" b="1" kern="1200" dirty="0"/>
            <a:t>Quantization</a:t>
          </a:r>
          <a:r>
            <a:rPr lang="en-US" sz="1200" kern="1200" dirty="0"/>
            <a:t> Method</a:t>
          </a:r>
          <a:endParaRPr lang="zh-CN" sz="1200" kern="1200" dirty="0"/>
        </a:p>
      </dsp:txBody>
      <dsp:txXfrm rot="-5400000">
        <a:off x="1508500" y="1632101"/>
        <a:ext cx="3139780" cy="1324780"/>
      </dsp:txXfrm>
    </dsp:sp>
    <dsp:sp modelId="{A8DA6688-FE4E-4EC1-A45F-94654941606C}">
      <dsp:nvSpPr>
        <dsp:cNvPr id="0" name=""/>
        <dsp:cNvSpPr/>
      </dsp:nvSpPr>
      <dsp:spPr>
        <a:xfrm>
          <a:off x="95055" y="1600632"/>
          <a:ext cx="1413445" cy="138771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US" sz="1500" kern="1200" dirty="0"/>
            <a:t>TreeLUT</a:t>
          </a:r>
          <a:endParaRPr lang="zh-CN" sz="1500" kern="1200" dirty="0"/>
        </a:p>
      </dsp:txBody>
      <dsp:txXfrm>
        <a:off x="162798" y="1668375"/>
        <a:ext cx="1277959" cy="1252232"/>
      </dsp:txXfrm>
    </dsp:sp>
    <dsp:sp modelId="{94EAB26A-E51A-4156-8E89-E2DCEB4B1536}">
      <dsp:nvSpPr>
        <dsp:cNvPr id="0" name=""/>
        <dsp:cNvSpPr/>
      </dsp:nvSpPr>
      <dsp:spPr>
        <a:xfrm rot="5400000">
          <a:off x="2402285" y="2267820"/>
          <a:ext cx="1468116" cy="317308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Wisdom of </a:t>
          </a:r>
          <a:r>
            <a:rPr lang="en-US" sz="1200" b="1" kern="1200" dirty="0"/>
            <a:t>Ensemble Learning</a:t>
          </a:r>
          <a:endParaRPr lang="zh-CN" sz="1200" b="1" kern="1200" dirty="0"/>
        </a:p>
        <a:p>
          <a:pPr marL="114300" lvl="1" indent="-114300" algn="l" defTabSz="533400">
            <a:lnSpc>
              <a:spcPct val="90000"/>
            </a:lnSpc>
            <a:spcBef>
              <a:spcPct val="0"/>
            </a:spcBef>
            <a:spcAft>
              <a:spcPct val="15000"/>
            </a:spcAft>
            <a:buChar char="•"/>
          </a:pPr>
          <a:endParaRPr lang="zh-CN" sz="1200" kern="1200" dirty="0"/>
        </a:p>
        <a:p>
          <a:pPr marL="114300" lvl="1" indent="-114300" algn="l" defTabSz="533400">
            <a:lnSpc>
              <a:spcPct val="90000"/>
            </a:lnSpc>
            <a:spcBef>
              <a:spcPct val="0"/>
            </a:spcBef>
            <a:spcAft>
              <a:spcPct val="15000"/>
            </a:spcAft>
            <a:buChar char="•"/>
          </a:pPr>
          <a:r>
            <a:rPr lang="en-US" sz="1200" b="1" kern="1200" dirty="0"/>
            <a:t>Diversity Plot </a:t>
          </a:r>
          <a:r>
            <a:rPr lang="en-US" sz="1200" kern="1200" dirty="0"/>
            <a:t>&amp; </a:t>
          </a:r>
          <a:r>
            <a:rPr lang="en-US" sz="1200" b="1" kern="1200" dirty="0"/>
            <a:t>DER</a:t>
          </a:r>
          <a:endParaRPr lang="zh-CN" sz="1200" b="1" kern="1200" dirty="0"/>
        </a:p>
        <a:p>
          <a:pPr marL="114300" lvl="1" indent="-114300" algn="l" defTabSz="533400">
            <a:lnSpc>
              <a:spcPct val="90000"/>
            </a:lnSpc>
            <a:spcBef>
              <a:spcPct val="0"/>
            </a:spcBef>
            <a:spcAft>
              <a:spcPct val="15000"/>
            </a:spcAft>
            <a:buChar char="•"/>
          </a:pPr>
          <a:endParaRPr lang="zh-CN" sz="1200" kern="1200" dirty="0"/>
        </a:p>
        <a:p>
          <a:pPr marL="114300" lvl="1" indent="-114300" algn="l" defTabSz="533400">
            <a:lnSpc>
              <a:spcPct val="90000"/>
            </a:lnSpc>
            <a:spcBef>
              <a:spcPct val="0"/>
            </a:spcBef>
            <a:spcAft>
              <a:spcPct val="15000"/>
            </a:spcAft>
            <a:buChar char="•"/>
          </a:pPr>
          <a:r>
            <a:rPr lang="en-US" sz="1200" b="1" kern="1200" dirty="0"/>
            <a:t>Averaging</a:t>
          </a:r>
          <a:r>
            <a:rPr lang="en-US" sz="1200" kern="1200" dirty="0"/>
            <a:t> is better than Bagging and Adaboost</a:t>
          </a:r>
          <a:endParaRPr lang="zh-CN" sz="1200" kern="1200" dirty="0"/>
        </a:p>
      </dsp:txBody>
      <dsp:txXfrm rot="-5400000">
        <a:off x="1549799" y="3191974"/>
        <a:ext cx="3101421" cy="1324780"/>
      </dsp:txXfrm>
    </dsp:sp>
    <dsp:sp modelId="{F1963F0A-0D2B-4D81-939C-DC11460174F9}">
      <dsp:nvSpPr>
        <dsp:cNvPr id="0" name=""/>
        <dsp:cNvSpPr/>
      </dsp:nvSpPr>
      <dsp:spPr>
        <a:xfrm>
          <a:off x="95055" y="3134207"/>
          <a:ext cx="1454743" cy="144031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US" sz="1500" kern="1200" dirty="0"/>
            <a:t>AmigoLUT</a:t>
          </a:r>
          <a:endParaRPr lang="zh-CN" sz="1500" kern="1200" dirty="0"/>
        </a:p>
      </dsp:txBody>
      <dsp:txXfrm>
        <a:off x="165365" y="3204517"/>
        <a:ext cx="1314123" cy="129969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447987-D2E7-4398-81D5-121CC77D9CD8}" type="datetimeFigureOut">
              <a:rPr lang="zh-CN" altLang="en-US" smtClean="0"/>
              <a:t>2025/4/7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0C18FD-0CD8-4FA2-8928-172EA938A55D}" type="slidenum">
              <a:rPr lang="zh-CN" altLang="en-US" smtClean="0"/>
              <a:t>‹#›</a:t>
            </a:fld>
            <a:endParaRPr lang="zh-CN" altLang="en-US"/>
          </a:p>
        </p:txBody>
      </p:sp>
    </p:spTree>
    <p:extLst>
      <p:ext uri="{BB962C8B-B14F-4D97-AF65-F5344CB8AC3E}">
        <p14:creationId xmlns:p14="http://schemas.microsoft.com/office/powerpoint/2010/main" val="4002794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39143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99228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47CF6-FE26-D5E7-333E-0D89B206E6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9E7E55D-D039-7A40-C1CA-BCDA9BD26E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B32B9D0-A1A8-6C47-9829-8E5D8AFC1551}"/>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495702C2-DE3D-D94A-4F00-8CAE478D113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03497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BF3D8-4C7C-26C8-A32E-CF99AE8DC9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5E1645-55CA-8EA1-3CA7-B56F555884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96CF40-147D-7D03-55A3-77E2B3E9E87F}"/>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F6F6B155-34BA-F7C7-3906-42AA3A15FA8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25807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0349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A817C-4E5C-160F-F42A-445718C04E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124691-132F-BFE1-C8D6-DA5F1109404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C00647-9767-1250-6870-C65EDE7368ED}"/>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8F351BB2-50EC-A192-1A77-7AE2D6789D2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7046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6690C-94E3-0A43-DA1A-F5873E6356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A2FDA8-854E-3688-3C4D-C5CAE3B18E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526A604-68D2-622E-49E9-AC22264AEE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a:extLst>
              <a:ext uri="{FF2B5EF4-FFF2-40B4-BE49-F238E27FC236}">
                <a16:creationId xmlns:a16="http://schemas.microsoft.com/office/drawing/2014/main" id="{1C20975D-5DC3-25AF-E14B-4635E77E5DF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504715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537D3-4B62-3132-D282-D6236E1559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DF5345-A199-08E5-73D6-130A2ECD52E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716E236-4C51-E067-6405-048B0E840165}"/>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7850A412-C9B4-6941-53F2-7AF293C4008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85099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ECA38-03D2-789C-11A0-53EC20CC0A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AB6B033-222A-EF5F-474B-06216F07449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E5EF57-1001-711E-C1D3-AD411275F991}"/>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913C77B1-F440-5C31-3A93-B813278D10C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250069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58882-C9CA-5F03-B6C1-297CB1C2AE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E006FF1-CFA2-E21F-D69A-C7D62F3FC89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DA1B5F2-4EB5-600F-F6B1-C30A55238C2F}"/>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压缩查找表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(CompressedLUT)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初始不采用高位压缩，而是通过迭代不同分割配置来寻找最优解。该技术在表格值连续变化时效果显著，但在处理局部微小变异时存在局限。通过在压缩前将表格</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分割为高位表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Thb</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和低位表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Tlb</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，该技术有效降低了自相似性搜索中的局部变异，从而提升了压缩效率。</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虽然神经网络函数通常有效，但其表现形式往往呈现随机性特征，这进一步增加了依赖模式识别进行优化的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CompressedLUT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分解技术的复杂度。为此，我们提出一种基于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CompressedLUT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的改进方法，通过利用无关项使查找表内部呈现更高自相似性。具体而言，我们通过将更多数值匹配到已存储子表来减少唯一子表数量</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Tust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ReducedLUT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CompressedLUT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的领域专用增强方案，旨在进一步优化分解过程。通过利用神经网络训练数据中未被观察到的模式。</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474F4FD4-8431-1CA0-CAE3-40E644B181A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36488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B0320-54A1-158C-ED74-67A7AAB54A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B72DCE-43E6-1C0A-B948-70F03DDE52D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0911F2-96E0-D3EA-F10A-5461F090C963}"/>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为说明将“无关项”纳入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压缩的动机，图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展示了一个示例。根据</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CompressedLUT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方法</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，初始表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被分解为四个较小子表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ST3</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以及偏置表</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Tbias</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（未显示）。若不进行修改，我们仅能通过对</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分别施加一位和三位右移来重构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ST3——</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此时称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ST3</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依赖于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。但在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中，存在一个被标记为“无关项”的表项。当我们将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的第二项替换为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时，便可通过</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右移两位来重构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，此时</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也依赖于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。通过证明修改无关项可提升压缩率，下文将详细阐述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ReducedLUT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方法。</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217CE2DD-8E08-8906-FF56-5127B200CC0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88933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28161-2CDB-46F4-8412-13D18E0016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0ACE7C-31DF-7926-05E8-E4F513D9B7D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5D54127-8EE4-4E4E-103F-4B764765A58C}"/>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在基于查找表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的神经网络中，我们评估所有可能的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输入组合以生成完全指定的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。为识别无关项，</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ReducedLUT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通过训练数据集进行推理，并将未观测到的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输入标记为无关项。例如图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中，我们从未观测到输入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00000000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作为该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的输入，因此将其输出归类为无关项。先前关于基于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神经网络的研究表明，为这些未观测到的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条目分配任意值不会显著降低整体神经网络的测试准确率</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。这些被归类为无关项的条目，在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ReducedLUT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流程中后续可能被替换为其他具体值，以实现更低成本的神经元功能实现。此外，由于我们的方法仅标记训练数据集中未观测到的条目，因此</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压缩不会改变训练准确率，同时我们通过保持整体电路结构来确保功能仍具有良好的泛化能力。</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ReducedLUT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策略可形式化描述如下：设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 : X → Y</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表示预训练神经网络计算的函数，其将输入域</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映射至输出域</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Y</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。给定训练数据集</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Xtrain</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 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ReducedLUT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通过构建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 ̃ : X → Y</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以最小化硬件面积成本函数。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 ̃</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从候选函数集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中选出，该集合利用了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的结构特性</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B674A727-EBD1-8A6F-1919-B23734AD3B0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571859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424A4-B466-B107-E7B5-9C0F961530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C7B382-A902-8795-5F3F-B96EB4C3F1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64D6690-3E67-FFC5-15C7-68E588B87A4C}"/>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ReducedLUT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首先将每个条目视为有效项，识别所有唯一子表并将其索引存储在向量</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Iust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中。该过程首先基于相似度向量</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SV</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中最大值的索引选择第一个唯一子表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STi</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，并将对应子表的索引</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作为首个唯一索引存入</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Iust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。若该子表可生成其他子表，则通过将相似度矩阵第</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行和第</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列置零来更新矩阵，同时对可由</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STi</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生成的每个子表</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STj</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对应的行列也进行清零操作。最后基于更新后的矩阵重新计算相似度向量。此迭代过程持续至相似度矩阵所有元素归零，表明所有唯一子表均已识别。</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ReducedLUT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旨在通过修改标记为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无关项</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数值来实现子表间的匹配，从而减少唯一子表数量。每次修改唯一子表条目时，由其派生的子表集合也会随之改变，这可能导致现有依赖关系断裂。每当依赖关系断裂时，必须将对应子表重新分配至其他唯一子表或添加至唯一子表列表。由于修改依赖关系较少的唯一子表通常更为简便，系统会基于相似度向量获取的各子表生成能力对</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Iust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进行排序</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排序操作的执行是因为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ReducedLUT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从依赖关系最少的子表（记为</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STmin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）开始，尝试修改其无关项条目，使得该子表可以从另一个具有最多依赖关系的唯一子表生成。若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ReducedLUT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成功通过修改无关项使</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STmin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可从其他唯一子表生成，则必须进一步验证其所有依赖项是否也能从剩余唯一子表中重新生成。此重新生成过程可充分利用依赖于</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STmin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的子表中的无关项。所有潜在修改均采用临时实施机制，原始值及对应索引会被暂存以便在修改未导致</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Iust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减少时执行回滚。这种回溯搜索有助于识别更高效的分解结构，同时避免运行时显著增加。  </a:t>
            </a: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ReducedLUT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会遍历整个</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Iust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列表，依次尝试修改每个唯一子表。采用布尔掩码跟踪子表内各条目的可修改性，确保已成功参与转换的条目保持固定。该机制对维持压缩过程完整性至关重要：防止对已成功匹配的子表进行二次修改，从而保留先前的优化成果并保障压缩进程的一致性。  </a:t>
            </a: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最终，该优化算法会针对不同子表规模（</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取值）及</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2.2.2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节所述的高位压缩配置进行迭代运算。完成集成无关项的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压缩算法后，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ReducedLUT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将构建最终分解表并以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Verilog</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格式输出。</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363D85FF-AD6A-67D8-CA8A-520FE0BBAF5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683525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42205-F77E-2B5B-1986-2CAD0B0337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D6AB69A-DC02-CBE9-1324-BDB993B74FB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158370-7DB0-1CF8-00A3-AEF42A4C7DEA}"/>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压缩过程中，我们引入了一个称为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稀缺度</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参数，该参数设定了允许某个唯一子表参与无关项优化的依赖子表数量阈值。若修改某个唯一子表，则所有依赖该表的子表都必须被调整为从其他唯一子表生成，否则将无法减少唯一子表的总数。当某个唯一子表具有过多依赖项时，修改所有相关子表的难度会显著增加。若无法完成修改，系统将回滚变更，这不仅无法实现进一步压缩，还会低效地增加运行时间。</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在实际应用中，稀缺性确保算法优先处理依赖关系较少的子表，从而避免过高的计算开销和冗长运行时间。通过限制可修改子表的依赖项数量，稀缺性不仅有助于获得更好的压缩效果，还能几乎不损失测试精度。这是由于该方法能防止程序触及对保持原始</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结构至关重要的关键模式。</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16C8BFF-296E-1A30-6D8C-99EF069E88A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525785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8E6EA-AA43-BC87-814C-E0786D13C9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6D98A8-FAE5-5891-86DF-DEA4B98918A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A992F8-A08C-02FB-EC0B-9DEEFC0227E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a:extLst>
              <a:ext uri="{FF2B5EF4-FFF2-40B4-BE49-F238E27FC236}">
                <a16:creationId xmlns:a16="http://schemas.microsoft.com/office/drawing/2014/main" id="{78528981-83DA-7305-02AF-F5A514496C7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80697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71CFD-F709-DAF0-711C-C270AF6F3C2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9139D38-93C0-E769-A87F-5B70E57A4B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2B580E2-6C40-EAE9-12CD-500378F4DA69}"/>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FC1A3F15-F456-9A41-2C32-6CDD6DED2D0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797819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C778A-B294-20CD-6E4D-5C77B5E1F8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B73910-01FE-B3B6-7411-0ADC5582EF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64987F2-037C-82A9-B7CF-4C39740DD289}"/>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决策树是一种机器学习模型，适用于回归和分类等多种任务。其结构为二叉树，由内部节点与叶节点组成。在推理过程中，输入特征会在内部节点与预设阈值进行比较，根据比较结果选择不同路径，最终抵达某个叶节点。分类任务中的叶节点通常为离散值，代表预测类别标签；而回归任务中的叶节点则为连续值。训练阶段会确定决策树结构、特征及其对应阈值，并分配叶节点数值。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展示了推理过程中经过训练的决策树。</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082272FC-7222-3876-1924-105A351F347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302913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AA7F2-9A6E-E8E0-ACF2-3811E53009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14BB29-BEB2-7023-04A7-47023645A01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CE51747-EFBF-49AE-EED7-CCAA6940079C}"/>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文献中存在多种</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GBDT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的实现方式，包括</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CatBoost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[23]</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LightGBM</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[12]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XGBoost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[10]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，每种实现都在效率、可扩展性等方面具有不同优势。由于这些变体在推理过程中本质上遵循相似的数学流程，我们的方法可适用于其中任意一种。但本文选择基于</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XGBoost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开发</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TreeLUT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工具，因其作为高性能、可扩展的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GBDT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实现工具被广泛采用。在本文中，无论各类</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GBDT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实现间的异同，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GBDT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均特指</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XGBoost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。当训练</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GBDT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模型时，系统会迭代训练一组决策树，每棵树都针对前一棵树的残差进行拟合。这些决策树的叶节点在回归和分类任务中均具有连续值，因其在推理过程中预测的是连续分数，这些分数通过如下方式累加形成最终预测值。</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其中超参数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代表集成模型中决策树的数量。常数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为初始预测得分，</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fm</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表示第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棵决策树对输入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返回的预测得分。在分类任务中，可通过激活函数将求和结果转化为概率值。对于二分类任务，</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经过</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sigmoid</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函数转换后形成概率值用于类别预测。图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展示了训练完成的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GBDT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模型在二分类任务中的推理过程：可见叶节点为连续值形式的预测得分。本例中输入特征向量</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X=[2,15,4,1,5]</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被输入决策树后，两棵树分别输出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f1=-0.7</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f2=-0.4</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的预测得分，与初始预测值</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f0=0.0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相加得到最终预测值</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F=-1.1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。由于最终得分为负值，</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sigmoid</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函数输出将小于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0.5</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，因此预测类别为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Class 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。而在多分类任务中通常采用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一对多</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策略，需为每个类别单独训练</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棵决策树，各类别得分求和后通过</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softmax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函数实现类别预测。</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30BC8E88-2A5E-4EB4-0512-AAC8112BF3B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658249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37224-9143-E1C4-51E4-1D008CE631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BC2CEA1-191D-0522-7E2D-D24577CD4FE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D4D5CE-51C3-317F-6F0A-5D24C70DBABD}"/>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在推理过程中，每棵决策树都会将输入特征子集与固定的内部决策阈值进行比较。如果</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GBDT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模型是在具有浮点特征值的数据集上训练的，训练算法同样会获得浮点形式的阈值，而对其进行量化可能会引入显著的近似误差。因此，与先前研究不同，我们仅在训练前对特征值进行量化，然后在量化数据上运行学习算法。这种方法有助于提升算法自行寻找最优量化阈值，无需传统的量化感知训练或训练后量化技术。换言之，在输入特征量化所引入信息损失的条件下，提升算法能够选择信息量最丰富的特征及其对应阈值。因此，我们采用均匀量化方案作为数据预处理步骤：首先通过最小</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最大归一化将输入特征线性缩放至</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区间。</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在二分类任务中，</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GBDT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模型由总计</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棵决策树构成，其中</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是一个提升超参数。在推理过程中，输入特征向量</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会被送入各决策树，每棵树将独立返回一个浮点型预测分值。</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其中</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表示最终预测值，</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为初始预测分数，</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fm</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表示第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棵决策树对输入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返回的预测分数（即叶子节点值）。针对叶子节点量化，我们从每棵决策树的所有叶子节点中减去其最小叶子节点值，并将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的公式改写如下。</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在该等式中，</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f′m</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返回一个非负值，与</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fm</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不同，因为我们已将每棵决策树的值域平移至正数范围。常数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被称为“偏置项”，通常为负值，因为它是初始预测分数与叶节点最小值的总和。若结果为正，则意味着根据公式</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，该分类器将所有输入都判定为类别</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。下一步，我们通过一个正比例因子对</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进行如下缩放。</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9FAE71F5-2FED-6617-1053-7BA69C8C4AF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144099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D60B8-692D-0BDC-E391-F0508DAE50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E011A9-55C5-F787-2A35-B5B7BFD035E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821E41-28E9-31B8-DAEB-229C40063101}"/>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由于比例因子为正，我们可以在方程</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中使用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替代</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而不会引入任何近似误差。</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在方程</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7</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中，阈值</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等同于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sigmoid</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函数中典型的分类阈值</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0.5</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，并可针对类别不平衡情况进行调整。任何调整后的阈值均可与偏置项</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结合，并量化为单个</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qb</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值。然而</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XGBoost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库支持通过超参数自动调整预测分数以处理类别不平衡问题。表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展示了图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示例</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GBDT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模型的叶节点量化结果，本例中叶节点值被量化为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比特。</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在多分类任务中，</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GBDT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模型由</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N×M</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的决策树阵列构成，其中</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为类别数量，</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为每类对应的决策树数量。推理过程中，输入特征向量</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X</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被送入各决策树，每棵树独立返回一个浮点型预测分数。最终类别预测按如下方式确定。</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FA6287DD-9A75-DA55-33DC-36573CAD128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092153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B8297-854F-1EFA-1081-A4ADC7F732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EEEEA4-1AB1-EA35-5762-87E496C7339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A9F84EA-C4BE-5C22-AA90-1BBADC0E07E7}"/>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TreeLUT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由三层结构组成：密钥生成器、决策树和加法树。第一层将决策节点与阈值进行比较；第二层实现量化决策树；最后一层则处理量化决策树的值通过加法器树进行累加。图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和图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分别展示了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TreeLUT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架构在二分类与多分类任务中的整体设计。基于树的模型硬件实现并非复杂任务。无论量化方案与具体树模型类型如何，本架构与此前树模型硬件实现研究</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 9, 14, 15, 18, 24, 28]</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均存在共性特征。</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6017FDDC-957A-F496-C986-242ABE9C195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3752241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813AC-0485-DD5D-C148-B1D2E8AE39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21461E5-335D-71D5-7F0D-550B7011EA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778A40-B076-8E68-6C5F-5FB11C8F0352}"/>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密钥生成器是架构中的第一层。它生成一组唯一密钥，供后续决策树中的决策节点使用。在我们的软件工具中，我们会遍历所有决策树，并提取整个</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GBDT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模型内决策节点的特征及其对应阈值。在硬件层面，这些比较密钥生成器层使用完全展开的比较器并行执行操作。因此，该层的输入是一组输入特征，每个特征由</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w_f</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个特征位组成；输出则是与比较器结果对应的导线束，每位输出为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比特，记为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ki</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。需注意，仅会生成一组唯一密钥，而具有相同阈值的多个输入特征实例将合并为单一密钥生成。图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展示了图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示例</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GBDT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模型对应的密钥生成器层结构。值得注意的是，某些情况下单个输入特征可能参与多次比较（如图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中的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x0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），而另一些情况下可能存在未被任何比较使用的特征。</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量化决策树是该架构的第二层。在二分类任务中共有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棵决策树，而多分类任务中则有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N×M</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棵决策树（</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为类别数量，</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为每类决策树数量）。本架构中所有决策树均采用完全展开的并行评估方式实现。单个量化决策树的结构如图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6(a)</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所示：决策节点使用前一层生成的密钥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ki</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作为判断依据，且叶节点值被量化为</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w_tree</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位宽。决策树通过多路复用器级联实现，这些复用器从一组独特的量化叶值中路由</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qf</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值，其选择线由各决策树结构导出的布尔表达式驱动。</a:t>
            </a: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6(b)</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展示了图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6(a)</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决策树的硬件架构，可见该树包含三个独特叶值：</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。本软件工具将所有通向同一叶值的路径组合表示为单一布尔函数，用以驱动对应复用器的选择线。例如导向叶值</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的两条路径对应布尔表达式为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(k5&amp;∼k12)|(∼k5&amp;k24)</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。采用路径编码与复用器实现决策树并非创新方法，因其属于直接实现方式。如第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2.4</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节所述，本架构的模块化设计与流水线策略使得</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FPGA</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设计流能高效优化决策树为类</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BDD</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结构。此外，第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2.2.2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节所述量化方案确保各决策树最小叶值为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（无需偏移量），且多数决策树的最大叶值所需位数小于目标位宽</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w_feature</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。这些量化策略有效降低了多数决策树的位宽并进一步压缩，最终减少硬件开销。</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358BA183-AAEE-3468-078A-1B746D310E2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7277125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FBC62-DDB0-95AB-51A7-08245CE1DD6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D086B3-6263-CCF4-890C-2D17052F73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C42AD8C-4579-C11C-75A2-7A13AA5014CE}"/>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D8D17A47-9148-583C-244B-1FBCF3F6CF9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760648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76156-9770-E429-46FD-E96A65558C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0A6906-9A58-ABDD-555D-1CF71331D7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25164A-94CD-E471-6EDE-B523F9A42075}"/>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我们开发的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TreeLUT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工具是一个</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Python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库，可根据量化和流水线参数直接将</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XGBoost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分类器模型转换为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Verilog</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格式的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RTL</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文件。</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TreeLUT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工具流程如图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7</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所示。</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如图所示，数据的输入特征被量化（至</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w_feature</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位），量化后的数据集在给定提升参数条件下输入</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XGBoost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以训练</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GBDT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模型。随后，基于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TreeLUT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量化方案对训练后模型的叶节点进行量化（至</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w_tree</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位）。最终，量化模型与流水线参数被用于根据</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TreeLUT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架构生成</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RTL</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文件。在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TreeLUT Python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库中，我们高效实现了预测函数，该函数可在量化参数引入的误差条件下对验证集和测试集进行预测，其精度表现与硬件实现行为完全一致。量化参数的获取方式与训练过程中提升参数的确定方法相同。例如，可通过网格搜索或随机搜索同步调整提升参数与量化参数，并利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k</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折交叉验证算法或其他评估技术，通过我们的预测函数进行评估。当提升参数和量化参数调整至满足目标精度后，可设置流水线参数以实现吞吐量和时钟频率最大化。这些参数仅需根据</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TreeLUT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流水线策略指定架构中流水线阶段的边界。由于我们在架构中仅考虑少数位置的流水线阶段，流水线参数构成的设计空间极小，用户可根据目标吞吐量和延迟需求手动调整以获得高效设计。</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n_estimators</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决策树数量。多分类任务中每个类别使用</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n_estimators</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棵决策树，而二分类任务中总共使用</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n_estimators</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棵决策树。  </a:t>
            </a: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max_depth</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单棵决策树的最大深度。  </a:t>
            </a: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eta: </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更新时的权重收缩系数，用于防止过拟合。  </a:t>
            </a: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scale_pos_weight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在类别不平衡的二分类任务中控制权重平衡的参数。</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35C49921-7B25-F465-17F1-AD6DEA364AE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794921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C454E-4AE1-51D7-EF64-AFF12CCF2C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207A0E7-8A9E-D3C6-4863-E9376F99A68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DABCA8-CCFE-D5F6-B669-F19857665FA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a:extLst>
              <a:ext uri="{FF2B5EF4-FFF2-40B4-BE49-F238E27FC236}">
                <a16:creationId xmlns:a16="http://schemas.microsoft.com/office/drawing/2014/main" id="{43ACBBC9-D67E-2B07-4481-CD681D3A85F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119360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F1B9-8426-94B5-DF2D-2881B8F8FD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0342D9-851B-E7AF-2035-5A93E4F760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E6E2F68-2EB6-0A41-4D37-7E82D5826342}"/>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1802F695-7053-8D50-49A1-1BC4E66F88A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980166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A3824-7ECF-0108-B0A6-D13EF1CC76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F304B3-1C0A-CF10-5C2F-CE4FA7FD48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A18973-402A-4CD8-DAD7-5F09FCAA2EBB}"/>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F24EABDD-1296-8DC6-6C87-8600DF19D61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519119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0BC26-39D5-51FD-8590-A1CD11FC06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C0F89A-B4B1-26EA-466A-9A566432987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73F186-23BF-FB8D-C4A6-15C914EEB3C1}"/>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2AB7BEB7-2990-2970-360C-45E16C3CCBE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839915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58EA8-B493-CF4F-733A-01E5C7D89D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A65590-52AE-1393-2617-0B2589D7AB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0FFCB5-0D46-BC15-0235-1183160C5E4C}"/>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7CAACF6D-353B-466C-0856-F9DECB6A41E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156135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C821A-F24F-7CAF-5B6F-1C8E7E91E23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6F5143-4D6D-6D70-E4BC-110A4FF906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1D0832-1838-2F7E-DEC5-5D96F035FAFB}"/>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2C05DD0D-B66D-283E-56C0-83A1A3B3CBA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570275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04375-3D7C-6DC7-39FD-857795920B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A1FF6E-A5CD-D8BA-AE4B-C9092B59C37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F63E167-ED67-5547-F369-3C35791C0D39}"/>
              </a:ext>
            </a:extLst>
          </p:cNvPr>
          <p:cNvSpPr>
            <a:spLocks noGrp="1"/>
          </p:cNvSpPr>
          <p:nvPr>
            <p:ph type="body" idx="1"/>
          </p:nvPr>
        </p:nvSpPr>
        <p:spPr/>
        <p:txBody>
          <a:bodyPr/>
          <a:lstStyle/>
          <a:p>
            <a:r>
              <a:rPr lang="zh-CN" altLang="en-US" sz="1800" dirty="0"/>
              <a:t>在神经网络模型中，</a:t>
            </a:r>
            <a:r>
              <a:rPr lang="en-US" altLang="zh-CN" sz="1800" dirty="0"/>
              <a:t>EMD </a:t>
            </a:r>
            <a:r>
              <a:rPr lang="zh-CN" altLang="en-US" sz="1800" dirty="0"/>
              <a:t>可用于评估模型在数据压缩或分类任务中保留数据特征的效果，即衡量模型输出分布与真实数据分布之间的差距。</a:t>
            </a:r>
            <a:endParaRPr lang="en-US" altLang="zh-CN" sz="1800" dirty="0"/>
          </a:p>
          <a:p>
            <a:endParaRPr lang="en-US" altLang="zh-CN" sz="1800" dirty="0"/>
          </a:p>
          <a:p>
            <a:r>
              <a:rPr lang="zh-CN" altLang="en-US" sz="1800" dirty="0"/>
              <a:t>在处理不同任务时</a:t>
            </a:r>
            <a:r>
              <a:rPr lang="en-US" altLang="zh-CN" sz="1800" dirty="0"/>
              <a:t>,</a:t>
            </a:r>
            <a:r>
              <a:rPr lang="zh-CN" altLang="en-US" sz="1800" dirty="0"/>
              <a:t>尤其是那些对延迟要求极高的数据处理任务中</a:t>
            </a:r>
            <a:r>
              <a:rPr lang="en-US" altLang="zh-CN" sz="1800" dirty="0"/>
              <a:t>(</a:t>
            </a:r>
            <a:r>
              <a:rPr lang="zh-CN" altLang="en-US" sz="1800" dirty="0"/>
              <a:t>如 </a:t>
            </a:r>
            <a:r>
              <a:rPr lang="en-US" altLang="zh-CN" sz="1800" dirty="0" err="1"/>
              <a:t>HGCal</a:t>
            </a:r>
            <a:r>
              <a:rPr lang="en-US" altLang="zh-CN" sz="1800" dirty="0"/>
              <a:t> </a:t>
            </a:r>
            <a:r>
              <a:rPr lang="zh-CN" altLang="en-US" sz="1800" dirty="0"/>
              <a:t>和  </a:t>
            </a:r>
            <a:r>
              <a:rPr lang="en-US" altLang="zh-CN" sz="1800" dirty="0"/>
              <a:t>JSC),</a:t>
            </a:r>
            <a:r>
              <a:rPr lang="zh-CN" altLang="en-US" sz="1800" dirty="0"/>
              <a:t>如何利用神经网络模型</a:t>
            </a:r>
            <a:r>
              <a:rPr lang="en-US" altLang="zh-CN" sz="1800" dirty="0"/>
              <a:t>(</a:t>
            </a:r>
            <a:r>
              <a:rPr lang="zh-CN" altLang="en-US" sz="1800" dirty="0"/>
              <a:t>通过集成不同规模的模型</a:t>
            </a:r>
            <a:r>
              <a:rPr lang="en-US" altLang="zh-CN" sz="1800" dirty="0"/>
              <a:t>)</a:t>
            </a:r>
            <a:r>
              <a:rPr lang="zh-CN" altLang="en-US" sz="1800" dirty="0"/>
              <a:t>来实现高效的数据压缩和  分类处理</a:t>
            </a:r>
            <a:r>
              <a:rPr lang="en-US" altLang="zh-CN" sz="1800" dirty="0"/>
              <a:t>,</a:t>
            </a:r>
            <a:r>
              <a:rPr lang="zh-CN" altLang="en-US" sz="1800" dirty="0"/>
              <a:t>同时通过 </a:t>
            </a:r>
            <a:r>
              <a:rPr lang="en-US" altLang="zh-CN" sz="1800" dirty="0"/>
              <a:t>EMD </a:t>
            </a:r>
            <a:r>
              <a:rPr lang="zh-CN" altLang="en-US" sz="1800" dirty="0"/>
              <a:t>等指标评估模型的压缩性能和准确性。  通过对不同规模的 </a:t>
            </a:r>
            <a:r>
              <a:rPr lang="en-US" altLang="zh-CN" sz="1800" dirty="0"/>
              <a:t>LUT-based </a:t>
            </a:r>
            <a:r>
              <a:rPr lang="zh-CN" altLang="en-US" sz="1800" dirty="0"/>
              <a:t>神经网络模型进行集成</a:t>
            </a:r>
            <a:r>
              <a:rPr lang="en-US" altLang="zh-CN" sz="1800" dirty="0"/>
              <a:t>,</a:t>
            </a:r>
            <a:r>
              <a:rPr lang="zh-CN" altLang="en-US" sz="1800" dirty="0"/>
              <a:t>其中采用平均集成方法能够显著  提高分类任务的准确率和压缩任务的精度</a:t>
            </a:r>
            <a:r>
              <a:rPr lang="en-US" altLang="zh-CN" sz="1800" dirty="0"/>
              <a:t>(</a:t>
            </a:r>
            <a:r>
              <a:rPr lang="zh-CN" altLang="en-US" sz="1800" dirty="0"/>
              <a:t>降低 </a:t>
            </a:r>
            <a:r>
              <a:rPr lang="en-US" altLang="zh-CN" sz="1800" dirty="0"/>
              <a:t>EMD),</a:t>
            </a:r>
            <a:r>
              <a:rPr lang="zh-CN" altLang="en-US" sz="1800" dirty="0"/>
              <a:t>而其它集成方法</a:t>
            </a:r>
            <a:r>
              <a:rPr lang="en-US" altLang="zh-CN" sz="1800" dirty="0"/>
              <a:t>(bagging</a:t>
            </a:r>
            <a:r>
              <a:rPr lang="zh-CN" altLang="en-US" sz="1800" dirty="0"/>
              <a:t>、  </a:t>
            </a:r>
            <a:r>
              <a:rPr lang="en-US" altLang="zh-CN" sz="1800" dirty="0"/>
              <a:t>AdaBoost)</a:t>
            </a:r>
            <a:r>
              <a:rPr lang="zh-CN" altLang="en-US" sz="1800" dirty="0"/>
              <a:t>在这些任务上效果较差。这也验证了利用多个较小模型进行集成在硬件资源  受限情况下能够实现更好的扩展性能和准确性。</a:t>
            </a: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2C175733-9B14-C6C6-7DE4-CBAE6CB5522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896166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60F7D-3E43-6570-A576-81270385C3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1316815-7A0F-94DA-ED44-8882895938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822D16-FF6B-3D37-1402-E160EE04A0DD}"/>
              </a:ext>
            </a:extLst>
          </p:cNvPr>
          <p:cNvSpPr>
            <a:spLocks noGrp="1"/>
          </p:cNvSpPr>
          <p:nvPr>
            <p:ph type="body" idx="1"/>
          </p:nvPr>
        </p:nvSpPr>
        <p:spPr/>
        <p:txBody>
          <a:bodyPr/>
          <a:lstStyle/>
          <a:p>
            <a:r>
              <a:rPr lang="zh-CN" altLang="en-US" sz="1200" dirty="0"/>
              <a:t>在神经网络模型中，</a:t>
            </a:r>
            <a:r>
              <a:rPr lang="en-US" altLang="zh-CN" sz="1200" dirty="0"/>
              <a:t>EMD </a:t>
            </a:r>
            <a:r>
              <a:rPr lang="zh-CN" altLang="en-US" sz="1200" dirty="0"/>
              <a:t>可用于评估模型在数据压缩或分类任务中保留数据特征的效果，即衡量模型输出分布与真实数据分布之间的差距。</a:t>
            </a:r>
            <a:endParaRPr lang="en-US" altLang="zh-CN" sz="1200" dirty="0"/>
          </a:p>
          <a:p>
            <a:endParaRPr lang="en-US" altLang="zh-CN" sz="1200" dirty="0"/>
          </a:p>
          <a:p>
            <a:r>
              <a:rPr lang="zh-CN" altLang="en-US" sz="1200" dirty="0"/>
              <a:t>在处理不同任务时</a:t>
            </a:r>
            <a:r>
              <a:rPr lang="en-US" altLang="zh-CN" sz="1200" dirty="0"/>
              <a:t>,</a:t>
            </a:r>
            <a:r>
              <a:rPr lang="zh-CN" altLang="en-US" sz="1200" dirty="0"/>
              <a:t>尤其是那些对延迟要求极高的数据处理任务中</a:t>
            </a:r>
            <a:r>
              <a:rPr lang="en-US" altLang="zh-CN" sz="1200" dirty="0"/>
              <a:t>(</a:t>
            </a:r>
            <a:r>
              <a:rPr lang="zh-CN" altLang="en-US" sz="1200" dirty="0"/>
              <a:t>如 </a:t>
            </a:r>
            <a:r>
              <a:rPr lang="en-US" altLang="zh-CN" sz="1200" dirty="0" err="1"/>
              <a:t>HGCal</a:t>
            </a:r>
            <a:r>
              <a:rPr lang="en-US" altLang="zh-CN" sz="1200" dirty="0"/>
              <a:t> </a:t>
            </a:r>
            <a:r>
              <a:rPr lang="zh-CN" altLang="en-US" sz="1200" dirty="0"/>
              <a:t>和  </a:t>
            </a:r>
            <a:r>
              <a:rPr lang="en-US" altLang="zh-CN" sz="1200" dirty="0"/>
              <a:t>JSC),</a:t>
            </a:r>
            <a:r>
              <a:rPr lang="zh-CN" altLang="en-US" sz="1200" dirty="0"/>
              <a:t>如何利用神经网络模型</a:t>
            </a:r>
            <a:r>
              <a:rPr lang="en-US" altLang="zh-CN" sz="1200" dirty="0"/>
              <a:t>(</a:t>
            </a:r>
            <a:r>
              <a:rPr lang="zh-CN" altLang="en-US" sz="1200" dirty="0"/>
              <a:t>通过集成不同规模的模型</a:t>
            </a:r>
            <a:r>
              <a:rPr lang="en-US" altLang="zh-CN" sz="1200" dirty="0"/>
              <a:t>)</a:t>
            </a:r>
            <a:r>
              <a:rPr lang="zh-CN" altLang="en-US" sz="1200" dirty="0"/>
              <a:t>来实现高效的数据压缩和  分类处理</a:t>
            </a:r>
            <a:r>
              <a:rPr lang="en-US" altLang="zh-CN" sz="1200" dirty="0"/>
              <a:t>,</a:t>
            </a:r>
            <a:r>
              <a:rPr lang="zh-CN" altLang="en-US" sz="1200" dirty="0"/>
              <a:t>同时通过 </a:t>
            </a:r>
            <a:r>
              <a:rPr lang="en-US" altLang="zh-CN" sz="1200" dirty="0"/>
              <a:t>EMD </a:t>
            </a:r>
            <a:r>
              <a:rPr lang="zh-CN" altLang="en-US" sz="1200" dirty="0"/>
              <a:t>等指标评估模型的压缩性能和准确性。  通过对不同规模的 </a:t>
            </a:r>
            <a:r>
              <a:rPr lang="en-US" altLang="zh-CN" sz="1200" dirty="0"/>
              <a:t>LUT-based </a:t>
            </a:r>
            <a:r>
              <a:rPr lang="zh-CN" altLang="en-US" sz="1200" dirty="0"/>
              <a:t>神经网络模型进行集成</a:t>
            </a:r>
            <a:r>
              <a:rPr lang="en-US" altLang="zh-CN" sz="1200" dirty="0"/>
              <a:t>,</a:t>
            </a:r>
            <a:r>
              <a:rPr lang="zh-CN" altLang="en-US" sz="1200" dirty="0"/>
              <a:t>其中采用平均集成方法能够显著  提高分类任务的准确率和压缩任务的精度</a:t>
            </a:r>
            <a:r>
              <a:rPr lang="en-US" altLang="zh-CN" sz="1200" dirty="0"/>
              <a:t>(</a:t>
            </a:r>
            <a:r>
              <a:rPr lang="zh-CN" altLang="en-US" sz="1200" dirty="0"/>
              <a:t>降低 </a:t>
            </a:r>
            <a:r>
              <a:rPr lang="en-US" altLang="zh-CN" sz="1200" dirty="0"/>
              <a:t>EMD),</a:t>
            </a:r>
            <a:r>
              <a:rPr lang="zh-CN" altLang="en-US" sz="1200" dirty="0"/>
              <a:t>而其它集成方法</a:t>
            </a:r>
            <a:r>
              <a:rPr lang="en-US" altLang="zh-CN" sz="1200" dirty="0"/>
              <a:t>(bagging</a:t>
            </a:r>
            <a:r>
              <a:rPr lang="zh-CN" altLang="en-US" sz="1200" dirty="0"/>
              <a:t>、  </a:t>
            </a:r>
            <a:r>
              <a:rPr lang="en-US" altLang="zh-CN" sz="1200" dirty="0"/>
              <a:t>AdaBoost)</a:t>
            </a:r>
            <a:r>
              <a:rPr lang="zh-CN" altLang="en-US" sz="1200" dirty="0"/>
              <a:t>在这些任务上效果较差。这也验证了利用多个较小模型进行集成在硬件资源  受限情况下能够实现更好的扩展性能和准确性。</a:t>
            </a:r>
            <a:endParaRPr lang="en-US" altLang="zh-CN" sz="1200" dirty="0"/>
          </a:p>
          <a:p>
            <a:endParaRPr lang="en-US" altLang="zh-CN" sz="1200" dirty="0"/>
          </a:p>
          <a:p>
            <a:r>
              <a:rPr lang="zh-CN" altLang="en-US" sz="1200" dirty="0"/>
              <a:t>在大量模型架构搜索中发现</a:t>
            </a:r>
            <a:r>
              <a:rPr lang="en-US" altLang="zh-CN" sz="1200" dirty="0"/>
              <a:t>,</a:t>
            </a:r>
            <a:r>
              <a:rPr lang="zh-CN" altLang="en-US" sz="1200" dirty="0"/>
              <a:t>简单地堆大模型并不一定提升性能</a:t>
            </a:r>
            <a:r>
              <a:rPr lang="en-US" altLang="zh-CN" sz="1200" dirty="0"/>
              <a:t>,</a:t>
            </a:r>
            <a:r>
              <a:rPr lang="zh-CN" altLang="en-US" sz="1200" dirty="0"/>
              <a:t>有时还会适得其反</a:t>
            </a:r>
            <a:r>
              <a:rPr lang="en-US" altLang="zh-CN" sz="1200" dirty="0"/>
              <a:t>;  </a:t>
            </a:r>
            <a:r>
              <a:rPr lang="zh-CN" altLang="en-US" sz="1200" dirty="0"/>
              <a:t>而通过将多个小模型进行集成</a:t>
            </a:r>
            <a:r>
              <a:rPr lang="en-US" altLang="zh-CN" sz="1200" dirty="0"/>
              <a:t>(</a:t>
            </a:r>
            <a:r>
              <a:rPr lang="zh-CN" altLang="en-US" sz="1200" dirty="0"/>
              <a:t>在硬件资源可行的情况下</a:t>
            </a:r>
            <a:r>
              <a:rPr lang="en-US" altLang="zh-CN" sz="1200" dirty="0"/>
              <a:t>),</a:t>
            </a:r>
            <a:r>
              <a:rPr lang="zh-CN" altLang="en-US" sz="1200" dirty="0"/>
              <a:t>往往能更好地降低  </a:t>
            </a:r>
            <a:r>
              <a:rPr lang="en-US" altLang="zh-CN" sz="1200" dirty="0"/>
              <a:t>EMD</a:t>
            </a:r>
            <a:r>
              <a:rPr lang="zh-CN" altLang="en-US" sz="1200" dirty="0"/>
              <a:t>、提升性能。</a:t>
            </a:r>
            <a:endParaRPr lang="en-US" altLang="zh-CN" sz="1200" dirty="0"/>
          </a:p>
          <a:p>
            <a:r>
              <a:rPr lang="en-US" altLang="zh-CN" sz="1200" dirty="0"/>
              <a:t>(</a:t>
            </a:r>
            <a:r>
              <a:rPr lang="zh-CN" altLang="en-US" sz="1200" dirty="0"/>
              <a:t>研究者为了找到能在 </a:t>
            </a:r>
            <a:r>
              <a:rPr lang="en-US" altLang="zh-CN" sz="1200" dirty="0" err="1"/>
              <a:t>HGCal</a:t>
            </a:r>
            <a:r>
              <a:rPr lang="en-US" altLang="zh-CN" sz="1200" dirty="0"/>
              <a:t> </a:t>
            </a:r>
            <a:r>
              <a:rPr lang="zh-CN" altLang="en-US" sz="1200" dirty="0"/>
              <a:t>数据集上取得更低 </a:t>
            </a:r>
            <a:r>
              <a:rPr lang="en-US" altLang="zh-CN" sz="1200" dirty="0"/>
              <a:t>EMD(Earth Mover’s  Distance)</a:t>
            </a:r>
            <a:r>
              <a:rPr lang="zh-CN" altLang="en-US" sz="1200" dirty="0"/>
              <a:t>的神经网络</a:t>
            </a:r>
            <a:r>
              <a:rPr lang="en-US" altLang="zh-CN" sz="1200" dirty="0"/>
              <a:t>,</a:t>
            </a:r>
            <a:r>
              <a:rPr lang="zh-CN" altLang="en-US" sz="1200" dirty="0"/>
              <a:t>进行了大约 </a:t>
            </a:r>
            <a:r>
              <a:rPr lang="en-US" altLang="zh-CN" sz="1200" dirty="0"/>
              <a:t>500 </a:t>
            </a:r>
            <a:r>
              <a:rPr lang="zh-CN" altLang="en-US" sz="1200" dirty="0"/>
              <a:t>个 </a:t>
            </a:r>
            <a:r>
              <a:rPr lang="en-US" altLang="zh-CN" sz="1200" dirty="0" err="1"/>
              <a:t>LogicNets</a:t>
            </a:r>
            <a:r>
              <a:rPr lang="en-US" altLang="zh-CN" sz="1200" dirty="0"/>
              <a:t> </a:t>
            </a:r>
            <a:r>
              <a:rPr lang="zh-CN" altLang="en-US" sz="1200" dirty="0"/>
              <a:t>结构的随机搜索</a:t>
            </a:r>
            <a:r>
              <a:rPr lang="en-US" altLang="zh-CN" sz="1200" dirty="0"/>
              <a:t>(</a:t>
            </a:r>
            <a:r>
              <a:rPr lang="zh-CN" altLang="en-US" sz="1200" dirty="0"/>
              <a:t>包括改变网络  层数、神经元数量、量化方案等超参数</a:t>
            </a:r>
            <a:r>
              <a:rPr lang="en-US" altLang="zh-CN" sz="1200" dirty="0"/>
              <a:t>)</a:t>
            </a:r>
            <a:r>
              <a:rPr lang="zh-CN" altLang="en-US" sz="1200" dirty="0"/>
              <a:t>。结果发现</a:t>
            </a:r>
            <a:r>
              <a:rPr lang="en-US" altLang="zh-CN" sz="1200" dirty="0"/>
              <a:t>,</a:t>
            </a:r>
            <a:r>
              <a:rPr lang="zh-CN" altLang="en-US" sz="1200" dirty="0"/>
              <a:t>当网络规模</a:t>
            </a:r>
            <a:r>
              <a:rPr lang="en-US" altLang="zh-CN" sz="1200" dirty="0"/>
              <a:t>(</a:t>
            </a:r>
            <a:r>
              <a:rPr lang="zh-CN" altLang="en-US" sz="1200" dirty="0"/>
              <a:t>比如层数、神经元  数、</a:t>
            </a:r>
            <a:r>
              <a:rPr lang="en-US" altLang="zh-CN" sz="1200" dirty="0"/>
              <a:t>LUT </a:t>
            </a:r>
            <a:r>
              <a:rPr lang="zh-CN" altLang="en-US" sz="1200" dirty="0"/>
              <a:t>用量等</a:t>
            </a:r>
            <a:r>
              <a:rPr lang="en-US" altLang="zh-CN" sz="1200" dirty="0"/>
              <a:t>)</a:t>
            </a:r>
            <a:r>
              <a:rPr lang="zh-CN" altLang="en-US" sz="1200" dirty="0"/>
              <a:t>超过某个称为 “</a:t>
            </a:r>
            <a:r>
              <a:rPr lang="en-US" altLang="zh-CN" sz="1200" dirty="0" err="1"/>
              <a:t>HGCal_L</a:t>
            </a:r>
            <a:r>
              <a:rPr lang="en-US" altLang="zh-CN" sz="1200" dirty="0"/>
              <a:t>” </a:t>
            </a:r>
            <a:r>
              <a:rPr lang="zh-CN" altLang="en-US" sz="1200" dirty="0"/>
              <a:t>的大模型之后</a:t>
            </a:r>
            <a:r>
              <a:rPr lang="en-US" altLang="zh-CN" sz="1200" dirty="0"/>
              <a:t>,EMD </a:t>
            </a:r>
            <a:r>
              <a:rPr lang="zh-CN" altLang="en-US" sz="1200" dirty="0"/>
              <a:t>不仅没有变好</a:t>
            </a:r>
            <a:r>
              <a:rPr lang="en-US" altLang="zh-CN" sz="1200" dirty="0"/>
              <a:t>,</a:t>
            </a:r>
            <a:r>
              <a:rPr lang="zh-CN" altLang="en-US" sz="1200" dirty="0"/>
              <a:t>反而变得更糟</a:t>
            </a:r>
            <a:r>
              <a:rPr lang="en-US" altLang="zh-CN" sz="1200" dirty="0"/>
              <a:t>(</a:t>
            </a:r>
            <a:r>
              <a:rPr lang="zh-CN" altLang="en-US" sz="1200" dirty="0"/>
              <a:t>因为各种因素</a:t>
            </a:r>
            <a:r>
              <a:rPr lang="en-US" altLang="zh-CN" sz="1200" dirty="0"/>
              <a:t>(</a:t>
            </a:r>
            <a:r>
              <a:rPr lang="zh-CN" altLang="en-US" sz="1200" dirty="0"/>
              <a:t>如量化误差累积、过拟合、资源限制等</a:t>
            </a:r>
            <a:r>
              <a:rPr lang="en-US" altLang="zh-CN" sz="1200" dirty="0"/>
              <a:t>)</a:t>
            </a:r>
            <a:r>
              <a:rPr lang="zh-CN" altLang="en-US" sz="1200" dirty="0"/>
              <a:t>导致 </a:t>
            </a:r>
            <a:r>
              <a:rPr lang="en-US" altLang="zh-CN" sz="1200" dirty="0"/>
              <a:t>EMD </a:t>
            </a:r>
            <a:r>
              <a:rPr lang="zh-CN" altLang="en-US" sz="1200" dirty="0"/>
              <a:t>变差</a:t>
            </a:r>
            <a:r>
              <a:rPr lang="en-US" altLang="zh-CN" sz="1200" dirty="0"/>
              <a:t>)</a:t>
            </a:r>
            <a:r>
              <a:rPr lang="zh-CN" altLang="en-US" sz="1200" dirty="0"/>
              <a:t>。这说  明“进一步增大单个模型的规模”并没有带来更好的性能。</a:t>
            </a:r>
            <a:r>
              <a:rPr lang="en-US" altLang="zh-CN" sz="1200" dirty="0"/>
              <a:t>)</a:t>
            </a:r>
          </a:p>
          <a:p>
            <a:endParaRPr lang="en-US" altLang="zh-CN" sz="1200" dirty="0"/>
          </a:p>
          <a:p>
            <a:r>
              <a:rPr lang="zh-CN" altLang="en-US" sz="1200" dirty="0"/>
              <a:t>我们还观察到</a:t>
            </a:r>
            <a:r>
              <a:rPr lang="en-US" altLang="zh-CN" sz="1200" dirty="0"/>
              <a:t>,</a:t>
            </a:r>
            <a:r>
              <a:rPr lang="zh-CN" altLang="en-US" sz="1200" dirty="0"/>
              <a:t>较小的模型从集成中获益最大</a:t>
            </a:r>
            <a:r>
              <a:rPr lang="en-US" altLang="zh-CN" sz="1200" dirty="0"/>
              <a:t>,</a:t>
            </a:r>
            <a:r>
              <a:rPr lang="zh-CN" altLang="en-US" sz="1200" dirty="0"/>
              <a:t>性能显著提升。</a:t>
            </a: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55E09F4A-3AD5-8DB4-9F63-6E555A2E348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11839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E7837-5641-40D8-ABE1-3509E8637D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CE066B-993E-6967-C117-12665E9FD34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F3D7EE1-BFDB-29AA-6393-288CDF48E819}"/>
              </a:ext>
            </a:extLst>
          </p:cNvPr>
          <p:cNvSpPr>
            <a:spLocks noGrp="1"/>
          </p:cNvSpPr>
          <p:nvPr>
            <p:ph type="body" idx="1"/>
          </p:nvPr>
        </p:nvSpPr>
        <p:spPr/>
        <p:txBody>
          <a:bodyPr/>
          <a:lstStyle/>
          <a:p>
            <a:r>
              <a:rPr lang="zh-CN" altLang="en-US" dirty="0"/>
              <a:t>我们发现平均法表现最佳</a:t>
            </a:r>
            <a:r>
              <a:rPr lang="en-US" altLang="zh-CN" dirty="0"/>
              <a:t>,</a:t>
            </a:r>
            <a:r>
              <a:rPr lang="zh-CN" altLang="en-US" dirty="0"/>
              <a:t>但我们也希望理解其表现优异的原因</a:t>
            </a:r>
            <a:r>
              <a:rPr lang="en-US" altLang="zh-CN" dirty="0"/>
              <a:t>,</a:t>
            </a:r>
            <a:r>
              <a:rPr lang="zh-CN" altLang="en-US" dirty="0"/>
              <a:t>而装袋法和</a:t>
            </a:r>
            <a:r>
              <a:rPr lang="en-US" altLang="zh-CN" dirty="0"/>
              <a:t>AdaBoost  </a:t>
            </a:r>
            <a:r>
              <a:rPr lang="zh-CN" altLang="en-US" dirty="0"/>
              <a:t>则表现不佳。  </a:t>
            </a:r>
            <a:endParaRPr lang="en-US" altLang="zh-CN" dirty="0"/>
          </a:p>
          <a:p>
            <a:r>
              <a:rPr lang="zh-CN" altLang="en-US" dirty="0"/>
              <a:t>多样性分析</a:t>
            </a:r>
            <a:r>
              <a:rPr lang="en-US" altLang="zh-CN" dirty="0"/>
              <a:t>(Diversity Analysis)  </a:t>
            </a:r>
          </a:p>
          <a:p>
            <a:r>
              <a:rPr lang="zh-CN" altLang="en-US" dirty="0"/>
              <a:t>我们引入了一种新的方法来可视化集成成员预测的多样性</a:t>
            </a:r>
            <a:r>
              <a:rPr lang="en-US" altLang="zh-CN" dirty="0"/>
              <a:t>,</a:t>
            </a:r>
            <a:r>
              <a:rPr lang="zh-CN" altLang="en-US" dirty="0"/>
              <a:t>如图</a:t>
            </a:r>
            <a:r>
              <a:rPr lang="en-US" altLang="zh-CN" dirty="0"/>
              <a:t>4</a:t>
            </a:r>
            <a:r>
              <a:rPr lang="zh-CN" altLang="en-US" dirty="0"/>
              <a:t>、图</a:t>
            </a:r>
            <a:r>
              <a:rPr lang="en-US" altLang="zh-CN" dirty="0"/>
              <a:t>5</a:t>
            </a:r>
            <a:r>
              <a:rPr lang="zh-CN" altLang="en-US" dirty="0"/>
              <a:t>和图</a:t>
            </a:r>
            <a:r>
              <a:rPr lang="en-US" altLang="zh-CN" dirty="0"/>
              <a:t>6</a:t>
            </a:r>
            <a:r>
              <a:rPr lang="zh-CN" altLang="en-US" dirty="0"/>
              <a:t>所示</a:t>
            </a:r>
            <a:r>
              <a:rPr lang="en-US" altLang="zh-CN" dirty="0"/>
              <a:t>,</a:t>
            </a:r>
            <a:r>
              <a:rPr lang="zh-CN" altLang="en-US" dirty="0"/>
              <a:t>通  过展示集成成员在单个样本上的投票情况</a:t>
            </a:r>
            <a:r>
              <a:rPr lang="en-US" altLang="zh-CN" dirty="0"/>
              <a:t>(</a:t>
            </a:r>
            <a:r>
              <a:rPr lang="zh-CN" altLang="en-US" dirty="0"/>
              <a:t>使用</a:t>
            </a:r>
            <a:r>
              <a:rPr lang="en-US" altLang="zh-CN" dirty="0"/>
              <a:t>n = 50,50</a:t>
            </a:r>
            <a:r>
              <a:rPr lang="zh-CN" altLang="en-US" dirty="0"/>
              <a:t>个样本</a:t>
            </a:r>
            <a:r>
              <a:rPr lang="en-US" altLang="zh-CN" dirty="0"/>
              <a:t>)</a:t>
            </a:r>
            <a:r>
              <a:rPr lang="zh-CN" altLang="en-US" dirty="0"/>
              <a:t>。我们的多样性可  视化揭示了集成成员之间的一致性程度。我们分别在</a:t>
            </a:r>
            <a:r>
              <a:rPr lang="en-US" altLang="zh-CN" dirty="0"/>
              <a:t>MNIST</a:t>
            </a:r>
            <a:r>
              <a:rPr lang="zh-CN" altLang="en-US" dirty="0"/>
              <a:t>和</a:t>
            </a:r>
            <a:r>
              <a:rPr lang="en-US" altLang="zh-CN" dirty="0"/>
              <a:t>JSC</a:t>
            </a:r>
            <a:r>
              <a:rPr lang="zh-CN" altLang="en-US" dirty="0"/>
              <a:t>任务上展示了不同集  成方法的多样性图</a:t>
            </a:r>
            <a:r>
              <a:rPr lang="en-US" altLang="zh-CN" dirty="0"/>
              <a:t>,</a:t>
            </a:r>
            <a:r>
              <a:rPr lang="zh-CN" altLang="en-US" dirty="0"/>
              <a:t>分别见图</a:t>
            </a:r>
            <a:r>
              <a:rPr lang="en-US" altLang="zh-CN" dirty="0"/>
              <a:t>4</a:t>
            </a:r>
            <a:r>
              <a:rPr lang="zh-CN" altLang="en-US" dirty="0"/>
              <a:t>和图</a:t>
            </a:r>
            <a:r>
              <a:rPr lang="en-US" altLang="zh-CN" dirty="0"/>
              <a:t>5</a:t>
            </a:r>
            <a:r>
              <a:rPr lang="zh-CN" altLang="en-US" dirty="0"/>
              <a:t>。</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对于</a:t>
            </a:r>
            <a:r>
              <a:rPr lang="en-US" altLang="zh-CN" dirty="0"/>
              <a:t>MNIST</a:t>
            </a:r>
            <a:r>
              <a:rPr lang="zh-CN" altLang="en-US" dirty="0"/>
              <a:t>任务，我们展示了</a:t>
            </a:r>
            <a:r>
              <a:rPr lang="en-US" altLang="zh-CN" dirty="0"/>
              <a:t>MNIST_XS</a:t>
            </a:r>
            <a:r>
              <a:rPr lang="zh-CN" altLang="en-US" dirty="0"/>
              <a:t>和集成大小为</a:t>
            </a:r>
            <a:r>
              <a:rPr lang="en-US" altLang="zh-CN" dirty="0"/>
              <a:t>16</a:t>
            </a:r>
            <a:r>
              <a:rPr lang="zh-CN" altLang="en-US" dirty="0"/>
              <a:t>的多样性图。</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对于</a:t>
            </a:r>
            <a:r>
              <a:rPr lang="en-US" altLang="zh-CN" dirty="0"/>
              <a:t>JSC</a:t>
            </a:r>
            <a:r>
              <a:rPr lang="zh-CN" altLang="en-US" dirty="0"/>
              <a:t>任务，我们展示了</a:t>
            </a:r>
            <a:r>
              <a:rPr lang="en-US" altLang="zh-CN" dirty="0"/>
              <a:t>JSC_S</a:t>
            </a:r>
            <a:r>
              <a:rPr lang="zh-CN" altLang="en-US" dirty="0"/>
              <a:t>和集成大小为</a:t>
            </a:r>
            <a:r>
              <a:rPr lang="en-US" altLang="zh-CN" dirty="0"/>
              <a:t>32</a:t>
            </a:r>
            <a:r>
              <a:rPr lang="zh-CN" altLang="en-US" dirty="0"/>
              <a:t>的多样性图。</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请注意，</a:t>
            </a:r>
            <a:r>
              <a:rPr lang="en-US" altLang="zh-CN" dirty="0"/>
              <a:t>x</a:t>
            </a:r>
            <a:r>
              <a:rPr lang="zh-CN" altLang="en-US" dirty="0"/>
              <a:t>轴对应不同的类别，</a:t>
            </a:r>
            <a:r>
              <a:rPr lang="en-US" altLang="zh-CN" dirty="0"/>
              <a:t>y</a:t>
            </a:r>
            <a:r>
              <a:rPr lang="zh-CN" altLang="en-US" dirty="0"/>
              <a:t>轴对应我们逐个通过集成成员的</a:t>
            </a:r>
            <a:r>
              <a:rPr lang="zh-CN" altLang="en-US" b="1" dirty="0"/>
              <a:t>输入样本</a:t>
            </a:r>
            <a:r>
              <a:rPr lang="zh-CN" altLang="en-US" dirty="0"/>
              <a:t>。每条线代表一个样本，类别</a:t>
            </a:r>
            <a:r>
              <a:rPr lang="en-US" altLang="zh-CN" dirty="0" err="1"/>
              <a:t>i</a:t>
            </a:r>
            <a:r>
              <a:rPr lang="zh-CN" altLang="en-US" dirty="0"/>
              <a:t>的峰值表示单个集成成员预测了类别</a:t>
            </a:r>
            <a:r>
              <a:rPr lang="en-US" altLang="zh-CN" dirty="0" err="1"/>
              <a:t>i</a:t>
            </a:r>
            <a:r>
              <a:rPr lang="zh-CN" altLang="en-US" dirty="0"/>
              <a:t>。</a:t>
            </a:r>
            <a:r>
              <a:rPr lang="zh-CN" altLang="en-US" b="1" dirty="0"/>
              <a:t>峰值越高，表示更多的集成成员投票支持该类别</a:t>
            </a:r>
            <a:r>
              <a:rPr lang="zh-CN" altLang="en-US" dirty="0"/>
              <a:t>。样本按</a:t>
            </a:r>
            <a:r>
              <a:rPr lang="zh-CN" altLang="en-US" b="1" dirty="0"/>
              <a:t>目标类别排序</a:t>
            </a:r>
            <a:r>
              <a:rPr lang="zh-CN" altLang="en-US" dirty="0"/>
              <a:t>，前</a:t>
            </a:r>
            <a:r>
              <a:rPr lang="en-US" altLang="zh-CN" dirty="0"/>
              <a:t>k</a:t>
            </a:r>
            <a:r>
              <a:rPr lang="zh-CN" altLang="en-US" dirty="0"/>
              <a:t>个样本对应第一个目标（</a:t>
            </a:r>
            <a:r>
              <a:rPr lang="en-US" altLang="zh-CN" dirty="0"/>
              <a:t>y = 0</a:t>
            </a:r>
            <a:r>
              <a:rPr lang="zh-CN" altLang="en-US" dirty="0"/>
              <a:t>），接下来的</a:t>
            </a:r>
            <a:r>
              <a:rPr lang="en-US" altLang="zh-CN" dirty="0"/>
              <a:t>k</a:t>
            </a:r>
            <a:r>
              <a:rPr lang="zh-CN" altLang="en-US" dirty="0"/>
              <a:t>个样本对应第二个目标（</a:t>
            </a:r>
            <a:r>
              <a:rPr lang="en-US" altLang="zh-CN" dirty="0"/>
              <a:t>y = 1</a:t>
            </a:r>
            <a:r>
              <a:rPr lang="zh-CN" altLang="en-US" dirty="0"/>
              <a:t>），依此类推。线条根据数据样本所属的类别按颜色分组。</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a:p>
            <a:r>
              <a:rPr lang="zh-CN" altLang="en-US" dirty="0"/>
              <a:t>因此，</a:t>
            </a:r>
            <a:r>
              <a:rPr lang="zh-CN" altLang="en-US" b="1" dirty="0"/>
              <a:t>对于一个没有多样性且误差为零的集成，我们应该只在对角线上看到峰值。</a:t>
            </a:r>
            <a:r>
              <a:rPr lang="zh-CN" altLang="en-US" dirty="0"/>
              <a:t>对于有十个类别的</a:t>
            </a:r>
            <a:r>
              <a:rPr lang="en-US" altLang="zh-CN" dirty="0"/>
              <a:t>MNIST</a:t>
            </a:r>
            <a:r>
              <a:rPr lang="zh-CN" altLang="en-US" dirty="0"/>
              <a:t>任务，我们每个类别使用</a:t>
            </a:r>
            <a:r>
              <a:rPr lang="en-US" altLang="zh-CN" dirty="0"/>
              <a:t>k = 5</a:t>
            </a:r>
            <a:r>
              <a:rPr lang="zh-CN" altLang="en-US" dirty="0"/>
              <a:t>个样本。对于有五个类别的</a:t>
            </a:r>
            <a:r>
              <a:rPr lang="en-US" altLang="zh-CN" dirty="0"/>
              <a:t>JSC</a:t>
            </a:r>
            <a:r>
              <a:rPr lang="zh-CN" altLang="en-US" dirty="0"/>
              <a:t>任务，我们每个类别使用</a:t>
            </a:r>
            <a:r>
              <a:rPr lang="en-US" altLang="zh-CN" dirty="0"/>
              <a:t>k = 10</a:t>
            </a:r>
            <a:r>
              <a:rPr lang="zh-CN" altLang="en-US" dirty="0"/>
              <a:t>个样本。这样每个图总共有</a:t>
            </a:r>
            <a:r>
              <a:rPr lang="en-US" altLang="zh-CN" dirty="0"/>
              <a:t>50</a:t>
            </a:r>
            <a:r>
              <a:rPr lang="zh-CN" altLang="en-US" dirty="0"/>
              <a:t>个样本。虽然我们观察到</a:t>
            </a:r>
            <a:r>
              <a:rPr lang="en-US" altLang="zh-CN" dirty="0"/>
              <a:t>MNIST</a:t>
            </a:r>
            <a:r>
              <a:rPr lang="zh-CN" altLang="en-US" dirty="0"/>
              <a:t>任务的多样性远低于</a:t>
            </a:r>
            <a:r>
              <a:rPr lang="en-US" altLang="zh-CN" dirty="0"/>
              <a:t>JSC</a:t>
            </a:r>
            <a:r>
              <a:rPr lang="zh-CN" altLang="en-US" dirty="0"/>
              <a:t>任务，但我们发现</a:t>
            </a:r>
            <a:r>
              <a:rPr lang="zh-CN" altLang="en-US" b="1" dirty="0"/>
              <a:t>平均方法相比其他集成方法始终表现出更高的多样性</a:t>
            </a:r>
            <a:r>
              <a:rPr lang="zh-CN" altLang="en-US" dirty="0"/>
              <a:t>，这可以从对角线外的小峰值中看出。另一个有趣的观察是，在</a:t>
            </a:r>
            <a:r>
              <a:rPr lang="en-US" altLang="zh-CN" dirty="0"/>
              <a:t>JSC</a:t>
            </a:r>
            <a:r>
              <a:rPr lang="zh-CN" altLang="en-US" dirty="0"/>
              <a:t>任务中，虽然</a:t>
            </a:r>
            <a:r>
              <a:rPr lang="en-US" altLang="zh-CN" b="1" dirty="0"/>
              <a:t>AdaBoost</a:t>
            </a:r>
            <a:r>
              <a:rPr lang="zh-CN" altLang="en-US" b="1" dirty="0"/>
              <a:t>似乎比</a:t>
            </a:r>
            <a:r>
              <a:rPr lang="en-US" altLang="zh-CN" b="1" dirty="0"/>
              <a:t>Bagging</a:t>
            </a:r>
            <a:r>
              <a:rPr lang="zh-CN" altLang="en-US" b="1" dirty="0"/>
              <a:t>更具多样性，但对角线外的密度更高，表明存在更多的</a:t>
            </a:r>
            <a:r>
              <a:rPr lang="zh-CN" altLang="en-US" b="1" dirty="0">
                <a:solidFill>
                  <a:srgbClr val="05A2EF"/>
                </a:solidFill>
                <a:effectLst/>
              </a:rPr>
              <a:t>错误预测</a:t>
            </a:r>
            <a:r>
              <a:rPr lang="zh-CN" alt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此外，在图</a:t>
            </a:r>
            <a:r>
              <a:rPr lang="en-US" altLang="zh-CN" dirty="0"/>
              <a:t>6</a:t>
            </a:r>
            <a:r>
              <a:rPr lang="zh-CN" altLang="en-US" dirty="0"/>
              <a:t>中，我们观察到</a:t>
            </a:r>
            <a:r>
              <a:rPr lang="en-US" altLang="zh-CN" dirty="0"/>
              <a:t>MNIST_XS</a:t>
            </a:r>
            <a:r>
              <a:rPr lang="zh-CN" altLang="en-US" dirty="0"/>
              <a:t>的多样性高于</a:t>
            </a:r>
            <a:r>
              <a:rPr lang="en-US" altLang="zh-CN" dirty="0"/>
              <a:t>MNIST_L</a:t>
            </a:r>
            <a:r>
              <a:rPr lang="zh-CN" altLang="en-US" dirty="0"/>
              <a:t>。</a:t>
            </a:r>
            <a:r>
              <a:rPr lang="zh-CN" altLang="en-US" dirty="0">
                <a:solidFill>
                  <a:srgbClr val="FF7700"/>
                </a:solidFill>
                <a:effectLst/>
              </a:rPr>
              <a:t>这与我们在图</a:t>
            </a:r>
            <a:r>
              <a:rPr lang="en-US" altLang="zh-CN" dirty="0">
                <a:solidFill>
                  <a:srgbClr val="FF7700"/>
                </a:solidFill>
                <a:effectLst/>
              </a:rPr>
              <a:t>2</a:t>
            </a:r>
            <a:r>
              <a:rPr lang="zh-CN" altLang="en-US" dirty="0">
                <a:solidFill>
                  <a:srgbClr val="FF7700"/>
                </a:solidFill>
                <a:effectLst/>
              </a:rPr>
              <a:t>中观察到的</a:t>
            </a:r>
            <a:r>
              <a:rPr lang="en-US" altLang="zh-CN" dirty="0">
                <a:solidFill>
                  <a:srgbClr val="FF7700"/>
                </a:solidFill>
                <a:effectLst/>
              </a:rPr>
              <a:t>MNIST_XS</a:t>
            </a:r>
            <a:r>
              <a:rPr lang="zh-CN" altLang="en-US" dirty="0">
                <a:solidFill>
                  <a:srgbClr val="FF7700"/>
                </a:solidFill>
                <a:effectLst/>
              </a:rPr>
              <a:t>准确率大幅提升，而</a:t>
            </a:r>
            <a:r>
              <a:rPr lang="en-US" altLang="zh-CN" dirty="0">
                <a:solidFill>
                  <a:srgbClr val="FF7700"/>
                </a:solidFill>
                <a:effectLst/>
              </a:rPr>
              <a:t>MNIST_L</a:t>
            </a:r>
            <a:r>
              <a:rPr lang="zh-CN" altLang="en-US" dirty="0">
                <a:solidFill>
                  <a:srgbClr val="FF7700"/>
                </a:solidFill>
                <a:effectLst/>
              </a:rPr>
              <a:t>的收益递减相对应。</a:t>
            </a:r>
            <a:endParaRPr lang="zh-CN" altLang="en-US" dirty="0"/>
          </a:p>
          <a:p>
            <a:endParaRPr lang="zh-CN" altLang="en-US" dirty="0"/>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8EE12B01-20B6-BCA6-3074-39E21001EA7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611470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1A8B8-CA38-8C09-E8CB-68244C6D0B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642A0F0-D052-3A1D-1A9B-FFE6ACB0D50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49CF7FB-9D48-6E65-FD76-E7201E8163ED}"/>
              </a:ext>
            </a:extLst>
          </p:cNvPr>
          <p:cNvSpPr>
            <a:spLocks noGrp="1"/>
          </p:cNvSpPr>
          <p:nvPr>
            <p:ph type="body" idx="1"/>
          </p:nvPr>
        </p:nvSpPr>
        <p:spPr/>
        <p:txBody>
          <a:bodyPr/>
          <a:lstStyle/>
          <a:p>
            <a:r>
              <a:rPr lang="en-US" altLang="zh-CN" dirty="0"/>
              <a:t>DER </a:t>
            </a:r>
            <a:r>
              <a:rPr lang="zh-CN" altLang="en-US" dirty="0"/>
              <a:t>衡量的是模型分歧与误差的比例。较高的 </a:t>
            </a:r>
            <a:r>
              <a:rPr lang="en-US" altLang="zh-CN" dirty="0"/>
              <a:t>DER </a:t>
            </a:r>
            <a:r>
              <a:rPr lang="zh-CN" altLang="en-US" dirty="0"/>
              <a:t>表示集成中各模型之间存在较大的分歧，但它们自身的误差并不太高。根据已有研究，这种分歧（或多样性）如果与较低的单模型误差结合，通常能够通过集成进一步提高整体性能。换句话说，高 </a:t>
            </a:r>
            <a:r>
              <a:rPr lang="en-US" altLang="zh-CN" dirty="0"/>
              <a:t>DER </a:t>
            </a:r>
            <a:r>
              <a:rPr lang="zh-CN" altLang="en-US" dirty="0"/>
              <a:t>意味着模型各自具有不同的“见解”，而这些“见解”在集成时可以相互补充，从而使得最终预测更准确</a:t>
            </a:r>
            <a:endParaRPr lang="en-US" altLang="zh-CN" dirty="0"/>
          </a:p>
          <a:p>
            <a:endParaRPr lang="en-US" altLang="zh-CN" dirty="0"/>
          </a:p>
          <a:p>
            <a:r>
              <a:rPr lang="zh-CN" altLang="en-US" dirty="0"/>
              <a:t>们基于</a:t>
            </a:r>
            <a:r>
              <a:rPr lang="en-US" altLang="zh-CN" dirty="0"/>
              <a:t>n = 680</a:t>
            </a:r>
            <a:r>
              <a:rPr lang="zh-CN" altLang="en-US" dirty="0"/>
              <a:t>个样本报告了</a:t>
            </a:r>
            <a:r>
              <a:rPr lang="en-US" altLang="zh-CN" dirty="0"/>
              <a:t>MNIST</a:t>
            </a:r>
            <a:r>
              <a:rPr lang="zh-CN" altLang="en-US" dirty="0"/>
              <a:t>和</a:t>
            </a:r>
            <a:r>
              <a:rPr lang="en-US" altLang="zh-CN" dirty="0"/>
              <a:t>JSC</a:t>
            </a:r>
            <a:r>
              <a:rPr lang="zh-CN" altLang="en-US" dirty="0"/>
              <a:t>任务的这些指标，分别见表</a:t>
            </a:r>
            <a:r>
              <a:rPr lang="en-US" altLang="zh-CN" dirty="0"/>
              <a:t>1</a:t>
            </a:r>
            <a:r>
              <a:rPr lang="zh-CN" altLang="en-US" dirty="0"/>
              <a:t>和表</a:t>
            </a:r>
            <a:r>
              <a:rPr lang="en-US" altLang="zh-CN" dirty="0"/>
              <a:t>2</a:t>
            </a:r>
            <a:r>
              <a:rPr lang="zh-CN" altLang="en-US" dirty="0"/>
              <a:t>。</a:t>
            </a:r>
          </a:p>
          <a:p>
            <a:pPr>
              <a:buFont typeface="+mj-lt"/>
              <a:buAutoNum type="arabicPeriod"/>
            </a:pPr>
            <a:r>
              <a:rPr lang="zh-CN" altLang="en-US" dirty="0"/>
              <a:t>对于</a:t>
            </a:r>
            <a:r>
              <a:rPr lang="en-US" altLang="zh-CN" dirty="0"/>
              <a:t>MNIST</a:t>
            </a:r>
            <a:r>
              <a:rPr lang="zh-CN" altLang="en-US" dirty="0"/>
              <a:t>任务，我们报告了</a:t>
            </a:r>
            <a:r>
              <a:rPr lang="en-US" altLang="zh-CN" dirty="0"/>
              <a:t>MNIST_XS</a:t>
            </a:r>
            <a:r>
              <a:rPr lang="zh-CN" altLang="en-US" dirty="0"/>
              <a:t>和集成规模为</a:t>
            </a:r>
            <a:r>
              <a:rPr lang="en-US" altLang="zh-CN" dirty="0"/>
              <a:t>16</a:t>
            </a:r>
            <a:r>
              <a:rPr lang="zh-CN" altLang="en-US" dirty="0"/>
              <a:t>的指标。</a:t>
            </a:r>
          </a:p>
          <a:p>
            <a:pPr>
              <a:buFont typeface="+mj-lt"/>
              <a:buAutoNum type="arabicPeriod"/>
            </a:pPr>
            <a:r>
              <a:rPr lang="zh-CN" altLang="en-US" dirty="0"/>
              <a:t>对于</a:t>
            </a:r>
            <a:r>
              <a:rPr lang="en-US" altLang="zh-CN" dirty="0"/>
              <a:t>JSC</a:t>
            </a:r>
            <a:r>
              <a:rPr lang="zh-CN" altLang="en-US" dirty="0"/>
              <a:t>任务，我们报告了</a:t>
            </a:r>
            <a:r>
              <a:rPr lang="en-US" altLang="zh-CN" dirty="0"/>
              <a:t>JSC_S</a:t>
            </a:r>
            <a:r>
              <a:rPr lang="zh-CN" altLang="en-US" dirty="0"/>
              <a:t>和集成规模为</a:t>
            </a:r>
            <a:r>
              <a:rPr lang="en-US" altLang="zh-CN" dirty="0"/>
              <a:t>32</a:t>
            </a:r>
            <a:r>
              <a:rPr lang="zh-CN" altLang="en-US" dirty="0"/>
              <a:t>的指标。</a:t>
            </a:r>
          </a:p>
          <a:p>
            <a:r>
              <a:rPr lang="zh-CN" altLang="en-US" dirty="0"/>
              <a:t>值得注意的是，</a:t>
            </a:r>
            <a:r>
              <a:rPr lang="zh-CN" altLang="en-US" b="1" dirty="0"/>
              <a:t>平均法在这两个任务中具有最高的</a:t>
            </a:r>
            <a:r>
              <a:rPr lang="en-US" altLang="zh-CN" b="1" dirty="0"/>
              <a:t>DER</a:t>
            </a:r>
            <a:r>
              <a:rPr lang="zh-CN" altLang="en-US" dirty="0"/>
              <a:t>。虽然装袋法的预测误差最低，但其分歧也最低，意味着多样性较低。对于</a:t>
            </a:r>
            <a:r>
              <a:rPr lang="en-US" altLang="zh-CN" dirty="0"/>
              <a:t>JSC</a:t>
            </a:r>
            <a:r>
              <a:rPr lang="zh-CN" altLang="en-US" dirty="0"/>
              <a:t>任务，尽管</a:t>
            </a:r>
            <a:r>
              <a:rPr lang="en-US" altLang="zh-CN" dirty="0"/>
              <a:t>AdaBoost</a:t>
            </a:r>
            <a:r>
              <a:rPr lang="zh-CN" altLang="en-US" dirty="0"/>
              <a:t>的分歧略高于平均法，但其错误也更多。这些指标共同揭示了集成成员多样性与模型性能之间的差异。</a:t>
            </a:r>
            <a:r>
              <a:rPr lang="zh-CN" altLang="en-US" b="1" dirty="0"/>
              <a:t>我们发现，平均法在分歧和错误之间取得了最佳平衡，从而实现了优越的集成性能。</a:t>
            </a:r>
          </a:p>
          <a:p>
            <a:endParaRPr lang="zh-CN" altLang="en-US" dirty="0"/>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A1809406-F7F2-2C7E-5D35-0A29CFF0AF7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688568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8AFF6-6335-ECDA-C32C-1629B2D88F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FC7D31-2B90-93E8-C4D5-EEFC1B3C6B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4D68843-22AD-3301-FE3A-59860EA1E881}"/>
              </a:ext>
            </a:extLst>
          </p:cNvPr>
          <p:cNvSpPr>
            <a:spLocks noGrp="1"/>
          </p:cNvSpPr>
          <p:nvPr>
            <p:ph type="body" idx="1"/>
          </p:nvPr>
        </p:nvSpPr>
        <p:spPr/>
        <p:txBody>
          <a:bodyPr/>
          <a:lstStyle/>
          <a:p>
            <a:r>
              <a:rPr lang="zh-CN" altLang="en-US" dirty="0"/>
              <a:t>这段文字结合图 </a:t>
            </a:r>
            <a:r>
              <a:rPr lang="en-US" altLang="zh-CN" dirty="0"/>
              <a:t>7</a:t>
            </a:r>
            <a:r>
              <a:rPr lang="zh-CN" altLang="en-US" dirty="0"/>
              <a:t>（左侧示意图）阐述了在硬件中直接映射一组使用平均集成方法的 </a:t>
            </a:r>
            <a:r>
              <a:rPr lang="en-US" altLang="zh-CN" dirty="0" err="1"/>
              <a:t>LogicNets</a:t>
            </a:r>
            <a:r>
              <a:rPr lang="en-US" altLang="zh-CN" dirty="0"/>
              <a:t> </a:t>
            </a:r>
            <a:r>
              <a:rPr lang="zh-CN" altLang="en-US" dirty="0"/>
              <a:t>时所面临的量化问题和资源消耗问题：</a:t>
            </a:r>
          </a:p>
          <a:p>
            <a:pPr>
              <a:buFont typeface="+mj-lt"/>
              <a:buAutoNum type="arabicPeriod"/>
            </a:pPr>
            <a:r>
              <a:rPr lang="zh-CN" altLang="en-US" b="1" dirty="0"/>
              <a:t>不同模型的量化方案不一致</a:t>
            </a:r>
            <a:endParaRPr lang="zh-CN" altLang="en-US" dirty="0"/>
          </a:p>
          <a:p>
            <a:pPr marL="742950" lvl="1" indent="-285750">
              <a:buFont typeface="+mj-lt"/>
              <a:buAutoNum type="arabicPeriod"/>
            </a:pPr>
            <a:r>
              <a:rPr lang="zh-CN" altLang="en-US" dirty="0"/>
              <a:t>虽然所有模型名义上都使用相同的比特宽度（比如 </a:t>
            </a:r>
            <a:r>
              <a:rPr lang="en-US" altLang="zh-CN" dirty="0"/>
              <a:t>4 </a:t>
            </a:r>
            <a:r>
              <a:rPr lang="zh-CN" altLang="en-US" dirty="0"/>
              <a:t>位）来量化输入和输出，但由于 </a:t>
            </a:r>
            <a:r>
              <a:rPr lang="en-US" altLang="zh-CN" dirty="0" err="1"/>
              <a:t>Brevitas</a:t>
            </a:r>
            <a:r>
              <a:rPr lang="en-US" altLang="zh-CN" dirty="0"/>
              <a:t> </a:t>
            </a:r>
            <a:r>
              <a:rPr lang="zh-CN" altLang="en-US" dirty="0"/>
              <a:t>会为每个模型的量化器学习各自独立的浮点缩放因子和零点，这就导致</a:t>
            </a:r>
            <a:r>
              <a:rPr lang="zh-CN" altLang="en-US" b="1" dirty="0"/>
              <a:t>各个模型的量化方案并不相同</a:t>
            </a:r>
            <a:r>
              <a:rPr lang="zh-CN" altLang="en-US" dirty="0"/>
              <a:t>。</a:t>
            </a:r>
          </a:p>
          <a:p>
            <a:pPr marL="742950" lvl="1" indent="-285750">
              <a:buFont typeface="+mj-lt"/>
              <a:buAutoNum type="arabicPeriod"/>
            </a:pPr>
            <a:r>
              <a:rPr lang="zh-CN" altLang="en-US" dirty="0"/>
              <a:t>这样在硬件中就需要为每个模型单独实现输入量化器、并在输出端做额外的缩放（乘法），才能将不同模型的结果统一起来。</a:t>
            </a:r>
          </a:p>
          <a:p>
            <a:pPr>
              <a:buFont typeface="+mj-lt"/>
              <a:buAutoNum type="arabicPeriod"/>
            </a:pPr>
            <a:r>
              <a:rPr lang="zh-CN" altLang="en-US" b="1" dirty="0"/>
              <a:t>硬件实现中的资源代价</a:t>
            </a:r>
            <a:endParaRPr lang="zh-CN" altLang="en-US" dirty="0"/>
          </a:p>
          <a:p>
            <a:pPr marL="742950" lvl="1" indent="-285750">
              <a:buFont typeface="+mj-lt"/>
              <a:buAutoNum type="arabicPeriod"/>
            </a:pPr>
            <a:r>
              <a:rPr lang="zh-CN" altLang="en-US" dirty="0"/>
              <a:t>若要在 </a:t>
            </a:r>
            <a:r>
              <a:rPr lang="en-US" altLang="zh-CN" dirty="0"/>
              <a:t>FPGA </a:t>
            </a:r>
            <a:r>
              <a:rPr lang="zh-CN" altLang="en-US" dirty="0"/>
              <a:t>上实现这些量化操作，往往需要使用 </a:t>
            </a:r>
            <a:r>
              <a:rPr lang="en-US" altLang="zh-CN" dirty="0"/>
              <a:t>DSP </a:t>
            </a:r>
            <a:r>
              <a:rPr lang="zh-CN" altLang="en-US" dirty="0"/>
              <a:t>或 </a:t>
            </a:r>
            <a:r>
              <a:rPr lang="en-US" altLang="zh-CN" dirty="0"/>
              <a:t>LUT </a:t>
            </a:r>
            <a:r>
              <a:rPr lang="zh-CN" altLang="en-US" dirty="0"/>
              <a:t>进行乘法运算；当集成规模（</a:t>
            </a:r>
            <a:r>
              <a:rPr lang="en-US" altLang="zh-CN" dirty="0"/>
              <a:t>N</a:t>
            </a:r>
            <a:r>
              <a:rPr lang="zh-CN" altLang="en-US" dirty="0"/>
              <a:t>）较大时，需要为每个模型都准备一整套量化逻辑，造成</a:t>
            </a:r>
            <a:r>
              <a:rPr lang="zh-CN" altLang="en-US" b="1" dirty="0"/>
              <a:t>硬件资源成倍增加</a:t>
            </a:r>
            <a:r>
              <a:rPr lang="zh-CN" altLang="en-US" dirty="0"/>
              <a:t>。</a:t>
            </a:r>
          </a:p>
          <a:p>
            <a:pPr marL="742950" lvl="1" indent="-285750">
              <a:buFont typeface="+mj-lt"/>
              <a:buAutoNum type="arabicPeriod"/>
            </a:pPr>
            <a:r>
              <a:rPr lang="zh-CN" altLang="en-US" dirty="0"/>
              <a:t>以 </a:t>
            </a:r>
            <a:r>
              <a:rPr lang="en-US" altLang="zh-CN" dirty="0" err="1"/>
              <a:t>HGCal</a:t>
            </a:r>
            <a:r>
              <a:rPr lang="en-US" altLang="zh-CN" dirty="0"/>
              <a:t> </a:t>
            </a:r>
            <a:r>
              <a:rPr lang="zh-CN" altLang="en-US" dirty="0"/>
              <a:t>为例，输入数据原本是 </a:t>
            </a:r>
            <a:r>
              <a:rPr lang="en-US" altLang="zh-CN" dirty="0"/>
              <a:t>8 </a:t>
            </a:r>
            <a:r>
              <a:rPr lang="zh-CN" altLang="en-US" dirty="0"/>
              <a:t>位，模型需要 </a:t>
            </a:r>
            <a:r>
              <a:rPr lang="en-US" altLang="zh-CN" dirty="0"/>
              <a:t>4 </a:t>
            </a:r>
            <a:r>
              <a:rPr lang="zh-CN" altLang="en-US" dirty="0"/>
              <a:t>位输入，那么就要实现 </a:t>
            </a:r>
            <a:r>
              <a:rPr lang="en-US" altLang="zh-CN" dirty="0"/>
              <a:t>N </a:t>
            </a:r>
            <a:r>
              <a:rPr lang="zh-CN" altLang="en-US" dirty="0"/>
              <a:t>个“</a:t>
            </a:r>
            <a:r>
              <a:rPr lang="en-US" altLang="zh-CN" dirty="0"/>
              <a:t>8→4 </a:t>
            </a:r>
            <a:r>
              <a:rPr lang="zh-CN" altLang="en-US" dirty="0"/>
              <a:t>位”的量化模块；输出端若要统一进行求和或平均，也要为每个模型的输出进行浮点缩放并乘加，这些操作同样需要额外的资源。</a:t>
            </a:r>
          </a:p>
          <a:p>
            <a:pPr>
              <a:buFont typeface="+mj-lt"/>
              <a:buAutoNum type="arabicPeriod"/>
            </a:pPr>
            <a:r>
              <a:rPr lang="zh-CN" altLang="en-US" b="1" dirty="0"/>
              <a:t>乘加（</a:t>
            </a:r>
            <a:r>
              <a:rPr lang="en-US" altLang="zh-CN" b="1" dirty="0"/>
              <a:t>MAC</a:t>
            </a:r>
            <a:r>
              <a:rPr lang="zh-CN" altLang="en-US" b="1" dirty="0"/>
              <a:t>）操作</a:t>
            </a:r>
            <a:endParaRPr lang="zh-CN" altLang="en-US" dirty="0"/>
          </a:p>
          <a:p>
            <a:pPr marL="742950" lvl="1" indent="-285750">
              <a:buFont typeface="+mj-lt"/>
              <a:buAutoNum type="arabicPeriod"/>
            </a:pPr>
            <a:r>
              <a:rPr lang="zh-CN" altLang="en-US" dirty="0"/>
              <a:t>最终要将所有模型的输出融合（例如求和或平均），就需要对每个输出做乘法、加法等操作。由于各个模型的量化方案不同，这些乘加运算也难以直接合并，导致更高的资源开销。</a:t>
            </a:r>
            <a:r>
              <a:rPr lang="en-US" altLang="zh-CN" i="1" dirty="0">
                <a:solidFill>
                  <a:srgbClr val="05A2EF"/>
                </a:solidFill>
                <a:effectLst/>
              </a:rPr>
              <a:t>(</a:t>
            </a:r>
            <a:r>
              <a:rPr lang="zh-CN" altLang="en-US" i="1" dirty="0">
                <a:solidFill>
                  <a:srgbClr val="05A2EF"/>
                </a:solidFill>
                <a:effectLst/>
              </a:rPr>
              <a:t>此外，由于每个模型的输出也有不同的量化方案，我们还需要用 </a:t>
            </a:r>
            <a:r>
              <a:rPr lang="en-US" altLang="zh-CN" i="1" dirty="0" err="1">
                <a:solidFill>
                  <a:srgbClr val="05A2EF"/>
                </a:solidFill>
                <a:effectLst/>
              </a:rPr>
              <a:t>Brevitas</a:t>
            </a:r>
            <a:r>
              <a:rPr lang="en-US" altLang="zh-CN" i="1" dirty="0">
                <a:solidFill>
                  <a:srgbClr val="05A2EF"/>
                </a:solidFill>
                <a:effectLst/>
              </a:rPr>
              <a:t> </a:t>
            </a:r>
            <a:r>
              <a:rPr lang="zh-CN" altLang="en-US" i="1" dirty="0">
                <a:solidFill>
                  <a:srgbClr val="05A2EF"/>
                </a:solidFill>
                <a:effectLst/>
              </a:rPr>
              <a:t>学到的浮点缩放因子来缩放每个模型的输出。如果我们能够把这些浮点缩放因子也量化成整数，就可以用 </a:t>
            </a:r>
            <a:r>
              <a:rPr lang="en-US" altLang="zh-CN" i="1" dirty="0">
                <a:solidFill>
                  <a:srgbClr val="05A2EF"/>
                </a:solidFill>
                <a:effectLst/>
              </a:rPr>
              <a:t>DSP </a:t>
            </a:r>
            <a:r>
              <a:rPr lang="zh-CN" altLang="en-US" i="1" dirty="0">
                <a:solidFill>
                  <a:srgbClr val="05A2EF"/>
                </a:solidFill>
                <a:effectLst/>
              </a:rPr>
              <a:t>或 </a:t>
            </a:r>
            <a:r>
              <a:rPr lang="en-US" altLang="zh-CN" i="1" dirty="0">
                <a:solidFill>
                  <a:srgbClr val="05A2EF"/>
                </a:solidFill>
                <a:effectLst/>
              </a:rPr>
              <a:t>LUT </a:t>
            </a:r>
            <a:r>
              <a:rPr lang="zh-CN" altLang="en-US" i="1" dirty="0">
                <a:solidFill>
                  <a:srgbClr val="05A2EF"/>
                </a:solidFill>
                <a:effectLst/>
              </a:rPr>
              <a:t>来进行乘法运算。</a:t>
            </a:r>
            <a:r>
              <a:rPr lang="en-US" altLang="zh-CN" i="1" dirty="0">
                <a:solidFill>
                  <a:srgbClr val="05A2EF"/>
                </a:solidFill>
                <a:effectLst/>
              </a:rPr>
              <a:t>)</a:t>
            </a:r>
            <a:endParaRPr lang="zh-CN" altLang="en-US" dirty="0"/>
          </a:p>
          <a:p>
            <a:r>
              <a:rPr lang="zh-CN" altLang="en-US" dirty="0"/>
              <a:t>总之，这段话强调了若在硬件上直接映射多个 </a:t>
            </a:r>
            <a:r>
              <a:rPr lang="en-US" altLang="zh-CN" dirty="0" err="1"/>
              <a:t>LogicNets</a:t>
            </a:r>
            <a:r>
              <a:rPr lang="en-US" altLang="zh-CN" dirty="0"/>
              <a:t> </a:t>
            </a:r>
            <a:r>
              <a:rPr lang="zh-CN" altLang="en-US" dirty="0"/>
              <a:t>进行平均集成，会因为每个模型的量化方案不同而引发大量的冗余量化逻辑与乘加运算，极大增加 </a:t>
            </a:r>
            <a:r>
              <a:rPr lang="en-US" altLang="zh-CN" dirty="0"/>
              <a:t>FPGA </a:t>
            </a:r>
            <a:r>
              <a:rPr lang="zh-CN" altLang="en-US" dirty="0"/>
              <a:t>的 </a:t>
            </a:r>
            <a:r>
              <a:rPr lang="en-US" altLang="zh-CN" dirty="0"/>
              <a:t>LUT</a:t>
            </a:r>
            <a:r>
              <a:rPr lang="zh-CN" altLang="en-US" dirty="0"/>
              <a:t>、</a:t>
            </a:r>
            <a:r>
              <a:rPr lang="en-US" altLang="zh-CN" dirty="0"/>
              <a:t>DSP </a:t>
            </a:r>
            <a:r>
              <a:rPr lang="zh-CN" altLang="en-US" dirty="0"/>
              <a:t>等资源消耗。</a:t>
            </a:r>
          </a:p>
          <a:p>
            <a:endParaRPr lang="zh-CN" altLang="en-US" dirty="0"/>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D1A854A3-6301-9A97-8A59-7AD77C8745A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260278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3CA40-C673-C084-7847-4F6C7D31C1C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ABA045C-972B-F604-7AC9-0A3C899765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AA83D72-D273-0173-7FBF-44291210B3D3}"/>
              </a:ext>
            </a:extLst>
          </p:cNvPr>
          <p:cNvSpPr>
            <a:spLocks noGrp="1"/>
          </p:cNvSpPr>
          <p:nvPr>
            <p:ph type="body" idx="1"/>
          </p:nvPr>
        </p:nvSpPr>
        <p:spPr/>
        <p:txBody>
          <a:bodyPr/>
          <a:lstStyle/>
          <a:p>
            <a:pPr>
              <a:buFont typeface="+mj-lt"/>
              <a:buAutoNum type="arabicPeriod"/>
            </a:pPr>
            <a:r>
              <a:rPr lang="zh-CN" altLang="en-US" b="1" dirty="0"/>
              <a:t>理想情况：统一的量化方案</a:t>
            </a:r>
            <a:endParaRPr lang="zh-CN" altLang="en-US" dirty="0"/>
          </a:p>
          <a:p>
            <a:pPr marL="742950" lvl="1" indent="-285750">
              <a:buFont typeface="+mj-lt"/>
              <a:buAutoNum type="arabicPeriod"/>
            </a:pPr>
            <a:r>
              <a:rPr lang="zh-CN" altLang="en-US" dirty="0"/>
              <a:t>理想上，如果所有模型的输入都用同一个量化器，输出也采用相同的缩放因子，那么把所有模型的输出相加或平均就会非常简单，无需额外的缩放或对齐操作。</a:t>
            </a:r>
          </a:p>
          <a:p>
            <a:pPr marL="742950" lvl="1" indent="-285750">
              <a:buFont typeface="+mj-lt"/>
              <a:buAutoNum type="arabicPeriod"/>
            </a:pPr>
            <a:r>
              <a:rPr lang="zh-CN" altLang="en-US" b="1" dirty="0">
                <a:solidFill>
                  <a:srgbClr val="FF2020"/>
                </a:solidFill>
                <a:effectLst/>
              </a:rPr>
              <a:t>这样可以大幅减少硬件中针对输入和输出做量化转换的开销（例如减少乘法器、加法器等资源）。</a:t>
            </a:r>
            <a:endParaRPr lang="zh-CN" altLang="en-US" dirty="0"/>
          </a:p>
          <a:p>
            <a:pPr>
              <a:buFont typeface="+mj-lt"/>
              <a:buAutoNum type="arabicPeriod"/>
            </a:pPr>
            <a:r>
              <a:rPr lang="zh-CN" altLang="en-US" b="1" dirty="0"/>
              <a:t>问题：对精度的影响</a:t>
            </a:r>
            <a:endParaRPr lang="zh-CN" altLang="en-US" dirty="0"/>
          </a:p>
          <a:p>
            <a:pPr marL="742950" lvl="1" indent="-285750">
              <a:buFont typeface="+mj-lt"/>
              <a:buAutoNum type="arabicPeriod"/>
            </a:pPr>
            <a:r>
              <a:rPr lang="zh-CN" altLang="en-US" dirty="0"/>
              <a:t>但实验发现，如果让所有模型都用同一套量化方案，某些任务（如 </a:t>
            </a:r>
            <a:r>
              <a:rPr lang="en-US" altLang="zh-CN" dirty="0"/>
              <a:t>JSC</a:t>
            </a:r>
            <a:r>
              <a:rPr lang="zh-CN" altLang="en-US" dirty="0"/>
              <a:t>、</a:t>
            </a:r>
            <a:r>
              <a:rPr lang="en-US" altLang="zh-CN" dirty="0" err="1"/>
              <a:t>HGCal</a:t>
            </a:r>
            <a:r>
              <a:rPr lang="zh-CN" altLang="en-US" dirty="0"/>
              <a:t>）的精度（或在 </a:t>
            </a:r>
            <a:r>
              <a:rPr lang="en-US" altLang="zh-CN" dirty="0" err="1"/>
              <a:t>HGCal</a:t>
            </a:r>
            <a:r>
              <a:rPr lang="en-US" altLang="zh-CN" dirty="0"/>
              <a:t> </a:t>
            </a:r>
            <a:r>
              <a:rPr lang="zh-CN" altLang="en-US" dirty="0"/>
              <a:t>上的 </a:t>
            </a:r>
            <a:r>
              <a:rPr lang="en-US" altLang="zh-CN" dirty="0"/>
              <a:t>EMD</a:t>
            </a:r>
            <a:r>
              <a:rPr lang="zh-CN" altLang="en-US" dirty="0"/>
              <a:t>）会大幅退化，甚至比单模型的性能还差。</a:t>
            </a:r>
          </a:p>
          <a:p>
            <a:pPr marL="742950" lvl="1" indent="-285750">
              <a:buFont typeface="+mj-lt"/>
              <a:buAutoNum type="arabicPeriod"/>
            </a:pPr>
            <a:r>
              <a:rPr lang="zh-CN" altLang="en-US" dirty="0"/>
              <a:t>以 </a:t>
            </a:r>
            <a:r>
              <a:rPr lang="en-US" altLang="zh-CN" dirty="0"/>
              <a:t>JSC </a:t>
            </a:r>
            <a:r>
              <a:rPr lang="zh-CN" altLang="en-US" dirty="0"/>
              <a:t>为例，集成 </a:t>
            </a:r>
            <a:r>
              <a:rPr lang="en-US" altLang="zh-CN" dirty="0"/>
              <a:t>8 </a:t>
            </a:r>
            <a:r>
              <a:rPr lang="zh-CN" altLang="en-US" dirty="0"/>
              <a:t>个小模型（</a:t>
            </a:r>
            <a:r>
              <a:rPr lang="en-US" altLang="zh-CN" dirty="0"/>
              <a:t>JSC_S</a:t>
            </a:r>
            <a:r>
              <a:rPr lang="zh-CN" altLang="en-US" dirty="0"/>
              <a:t>）时，如果使用“独立量化”，准确率能提升 </a:t>
            </a:r>
            <a:r>
              <a:rPr lang="en-US" altLang="zh-CN" dirty="0"/>
              <a:t>2.1%</a:t>
            </a:r>
            <a:r>
              <a:rPr lang="zh-CN" altLang="en-US" dirty="0"/>
              <a:t>，而共享量化只能提升 </a:t>
            </a:r>
            <a:r>
              <a:rPr lang="en-US" altLang="zh-CN" dirty="0"/>
              <a:t>0.8%</a:t>
            </a:r>
            <a:r>
              <a:rPr lang="zh-CN" altLang="en-US" dirty="0"/>
              <a:t>。</a:t>
            </a:r>
          </a:p>
          <a:p>
            <a:pPr marL="742950" lvl="1" indent="-285750">
              <a:buFont typeface="+mj-lt"/>
              <a:buAutoNum type="arabicPeriod"/>
            </a:pPr>
            <a:r>
              <a:rPr lang="zh-CN" altLang="en-US" dirty="0"/>
              <a:t>对于 </a:t>
            </a:r>
            <a:r>
              <a:rPr lang="en-US" altLang="zh-CN" dirty="0" err="1"/>
              <a:t>HGCal</a:t>
            </a:r>
            <a:r>
              <a:rPr lang="zh-CN" altLang="en-US" dirty="0"/>
              <a:t>，使用共享量化器甚至使得集成后的 </a:t>
            </a:r>
            <a:r>
              <a:rPr lang="en-US" altLang="zh-CN" dirty="0"/>
              <a:t>EMD</a:t>
            </a:r>
            <a:r>
              <a:rPr lang="zh-CN" altLang="en-US" dirty="0"/>
              <a:t>（</a:t>
            </a:r>
            <a:r>
              <a:rPr lang="en-US" altLang="zh-CN" dirty="0"/>
              <a:t>1.792</a:t>
            </a:r>
            <a:r>
              <a:rPr lang="zh-CN" altLang="en-US" dirty="0"/>
              <a:t>）比单模型（</a:t>
            </a:r>
            <a:r>
              <a:rPr lang="en-US" altLang="zh-CN" dirty="0"/>
              <a:t>1.589</a:t>
            </a:r>
            <a:r>
              <a:rPr lang="zh-CN" altLang="en-US" dirty="0"/>
              <a:t>）还要差，等于说失去了集成的好处。</a:t>
            </a:r>
          </a:p>
          <a:p>
            <a:pPr>
              <a:buFont typeface="+mj-lt"/>
              <a:buAutoNum type="arabicPeriod"/>
            </a:pPr>
            <a:r>
              <a:rPr lang="zh-CN" altLang="en-US" b="1" dirty="0"/>
              <a:t>原因：不同任务对量化敏感度不同</a:t>
            </a:r>
            <a:endParaRPr lang="zh-CN" altLang="en-US" dirty="0"/>
          </a:p>
          <a:p>
            <a:pPr marL="742950" lvl="1" indent="-285750">
              <a:buFont typeface="+mj-lt"/>
              <a:buAutoNum type="arabicPeriod"/>
            </a:pPr>
            <a:r>
              <a:rPr lang="zh-CN" altLang="en-US" dirty="0"/>
              <a:t>对于相对简单的任务（如 </a:t>
            </a:r>
            <a:r>
              <a:rPr lang="en-US" altLang="zh-CN" dirty="0"/>
              <a:t>MNIST</a:t>
            </a:r>
            <a:r>
              <a:rPr lang="zh-CN" altLang="en-US" dirty="0"/>
              <a:t>），统一的量化方案不会造成太大精度损失（</a:t>
            </a:r>
            <a:r>
              <a:rPr lang="en-US" altLang="zh-CN" dirty="0"/>
              <a:t>&lt;1%</a:t>
            </a:r>
            <a:r>
              <a:rPr lang="zh-CN" altLang="en-US" dirty="0"/>
              <a:t>）。</a:t>
            </a:r>
          </a:p>
          <a:p>
            <a:pPr marL="742950" lvl="1" indent="-285750">
              <a:buFont typeface="+mj-lt"/>
              <a:buAutoNum type="arabicPeriod"/>
            </a:pPr>
            <a:r>
              <a:rPr lang="zh-CN" altLang="en-US" dirty="0"/>
              <a:t>但是对于更复杂、或对数值精度更敏感的任务（如 </a:t>
            </a:r>
            <a:r>
              <a:rPr lang="en-US" altLang="zh-CN" dirty="0"/>
              <a:t>JSC</a:t>
            </a:r>
            <a:r>
              <a:rPr lang="zh-CN" altLang="en-US" dirty="0"/>
              <a:t>、</a:t>
            </a:r>
            <a:r>
              <a:rPr lang="en-US" altLang="zh-CN" dirty="0" err="1"/>
              <a:t>HGCal</a:t>
            </a:r>
            <a:r>
              <a:rPr lang="zh-CN" altLang="en-US" dirty="0"/>
              <a:t>），如果强行使用相同量化方案，就会显著降低模型性能。</a:t>
            </a:r>
          </a:p>
          <a:p>
            <a:pPr marL="742950" lvl="1" indent="-285750">
              <a:buFont typeface="+mj-lt"/>
              <a:buAutoNum type="arabicPeriod"/>
            </a:pPr>
            <a:r>
              <a:rPr lang="zh-CN" altLang="en-US" dirty="0"/>
              <a:t>这说明了不同任务、不同数据分布对量化精度的要求存在差异，单一量化策略难以兼顾所有情况。</a:t>
            </a:r>
          </a:p>
          <a:p>
            <a:pPr>
              <a:buFont typeface="+mj-lt"/>
              <a:buAutoNum type="arabicPeriod"/>
            </a:pPr>
            <a:r>
              <a:rPr lang="zh-CN" altLang="en-US" b="1" dirty="0"/>
              <a:t>结论：需要平衡精度和硬件开销</a:t>
            </a:r>
            <a:endParaRPr lang="zh-CN" altLang="en-US" dirty="0"/>
          </a:p>
          <a:p>
            <a:pPr marL="742950" lvl="1" indent="-285750">
              <a:buFont typeface="+mj-lt"/>
              <a:buAutoNum type="arabicPeriod"/>
            </a:pPr>
            <a:r>
              <a:rPr lang="zh-CN" altLang="en-US" dirty="0"/>
              <a:t>虽然统一量化能节省大量硬件资源，但也会显著降低对某些任务的集成效果。</a:t>
            </a:r>
          </a:p>
          <a:p>
            <a:pPr marL="742950" lvl="1" indent="-285750">
              <a:buFont typeface="+mj-lt"/>
              <a:buAutoNum type="arabicPeriod"/>
            </a:pPr>
            <a:r>
              <a:rPr lang="zh-CN" altLang="en-US" dirty="0"/>
              <a:t>因此，需要找到一种折衷方法，既能避免为每个模型都单独实现完整量化逻辑所带来的高昂资源消耗，又能在复杂任务上尽量保持集成的性能提升。</a:t>
            </a: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en-US" dirty="0"/>
              <a:t>我们的工作</a:t>
            </a:r>
            <a:r>
              <a:rPr lang="en-US" altLang="zh-CN" dirty="0"/>
              <a:t>AmigoLUT</a:t>
            </a:r>
            <a:r>
              <a:rPr lang="zh-CN" altLang="en-US" dirty="0"/>
              <a:t>通过创建基于查找表（</a:t>
            </a:r>
            <a:r>
              <a:rPr lang="en-US" altLang="zh-CN" dirty="0"/>
              <a:t>LUT</a:t>
            </a:r>
            <a:r>
              <a:rPr lang="zh-CN" altLang="en-US" dirty="0"/>
              <a:t>）的较小神经网络的集成来提高准确性，其性能随模型数量线性扩展，而非随神经元扇入指数扩展。</a:t>
            </a:r>
          </a:p>
          <a:p>
            <a:r>
              <a:rPr lang="zh-CN" altLang="en-US" dirty="0"/>
              <a:t>尽管</a:t>
            </a:r>
            <a:r>
              <a:rPr lang="en-US" altLang="zh-CN" dirty="0"/>
              <a:t>AmigoLUT</a:t>
            </a:r>
            <a:r>
              <a:rPr lang="zh-CN" altLang="en-US" dirty="0"/>
              <a:t>在</a:t>
            </a:r>
            <a:r>
              <a:rPr lang="zh-CN" altLang="en-US" b="1" dirty="0"/>
              <a:t>准确性或</a:t>
            </a:r>
            <a:r>
              <a:rPr lang="en-US" altLang="zh-CN" b="1" dirty="0"/>
              <a:t>LUT</a:t>
            </a:r>
            <a:r>
              <a:rPr lang="zh-CN" altLang="en-US" b="1" dirty="0"/>
              <a:t>使用量</a:t>
            </a:r>
            <a:r>
              <a:rPr lang="zh-CN" altLang="en-US" dirty="0"/>
              <a:t>上并未超越最新的先进工作</a:t>
            </a:r>
            <a:r>
              <a:rPr lang="en-US" altLang="zh-CN" dirty="0"/>
              <a:t>[5, 16]</a:t>
            </a:r>
            <a:r>
              <a:rPr lang="zh-CN" altLang="en-US" dirty="0"/>
              <a:t>，但我们的结果表明，在某些</a:t>
            </a:r>
            <a:r>
              <a:rPr lang="zh-CN" altLang="en-US" b="1" dirty="0"/>
              <a:t>较低准确性</a:t>
            </a:r>
            <a:r>
              <a:rPr lang="zh-CN" altLang="en-US" dirty="0"/>
              <a:t>的基准测试中，</a:t>
            </a:r>
            <a:r>
              <a:rPr lang="en-US" altLang="zh-CN" dirty="0"/>
              <a:t>AmigoLUT </a:t>
            </a:r>
            <a:r>
              <a:rPr lang="zh-CN" altLang="en-US" dirty="0"/>
              <a:t>显著提高了吞吐量，并将</a:t>
            </a:r>
            <a:r>
              <a:rPr lang="en-US" altLang="zh-CN" dirty="0"/>
              <a:t>LUT</a:t>
            </a:r>
            <a:r>
              <a:rPr lang="zh-CN" altLang="en-US" dirty="0"/>
              <a:t>使用量减少了一个数量级以上。因此，本文的目标是展示通过集成扩展基于</a:t>
            </a:r>
            <a:r>
              <a:rPr lang="en-US" altLang="zh-CN" dirty="0"/>
              <a:t>LUT</a:t>
            </a:r>
            <a:r>
              <a:rPr lang="zh-CN" altLang="en-US" dirty="0"/>
              <a:t>的神经网络的</a:t>
            </a:r>
            <a:r>
              <a:rPr lang="zh-CN" altLang="en-US" b="1" dirty="0"/>
              <a:t>巨大潜力</a:t>
            </a:r>
            <a:r>
              <a:rPr lang="zh-CN" altLang="en-US" dirty="0"/>
              <a:t>。</a:t>
            </a:r>
          </a:p>
          <a:p>
            <a:r>
              <a:rPr lang="zh-CN" altLang="en-US" b="1" dirty="0"/>
              <a:t>我们在 </a:t>
            </a:r>
            <a:r>
              <a:rPr lang="en-US" altLang="zh-CN" b="1" dirty="0" err="1"/>
              <a:t>LogicNets</a:t>
            </a:r>
            <a:r>
              <a:rPr lang="zh-CN" altLang="en-US" b="1" dirty="0"/>
              <a:t>、</a:t>
            </a:r>
            <a:r>
              <a:rPr lang="en-US" altLang="zh-CN" b="1" dirty="0" err="1"/>
              <a:t>PolyLUT</a:t>
            </a:r>
            <a:r>
              <a:rPr lang="en-US" altLang="zh-CN" b="1" dirty="0"/>
              <a:t> </a:t>
            </a:r>
            <a:r>
              <a:rPr lang="zh-CN" altLang="en-US" b="1" dirty="0"/>
              <a:t>和 </a:t>
            </a:r>
            <a:r>
              <a:rPr lang="en-US" altLang="zh-CN" b="1" dirty="0" err="1"/>
              <a:t>NeuraLUT</a:t>
            </a:r>
            <a:r>
              <a:rPr lang="en-US" altLang="zh-CN" b="1" dirty="0"/>
              <a:t> </a:t>
            </a:r>
            <a:r>
              <a:rPr lang="zh-CN" altLang="en-US" b="1" dirty="0"/>
              <a:t>上评估了 </a:t>
            </a:r>
            <a:r>
              <a:rPr lang="en-US" altLang="zh-CN" b="1" dirty="0"/>
              <a:t>AmigoLUT</a:t>
            </a:r>
            <a:r>
              <a:rPr lang="zh-CN" altLang="en-US" b="1" dirty="0"/>
              <a:t>，并将它们作为基础模型创建集成。尽管每个基础模型在 </a:t>
            </a:r>
            <a:r>
              <a:rPr lang="en-US" altLang="zh-CN" b="1" dirty="0"/>
              <a:t>LUT </a:t>
            </a:r>
            <a:r>
              <a:rPr lang="zh-CN" altLang="en-US" b="1" dirty="0"/>
              <a:t>输入方面仍然存在指数级扩展的问题，但 </a:t>
            </a:r>
            <a:r>
              <a:rPr lang="en-US" altLang="zh-CN" b="1" dirty="0"/>
              <a:t>AmigoLUT </a:t>
            </a:r>
            <a:r>
              <a:rPr lang="zh-CN" altLang="en-US" b="1" dirty="0"/>
              <a:t>通过依赖具有较小 </a:t>
            </a:r>
            <a:r>
              <a:rPr lang="en-US" altLang="zh-CN" b="1" dirty="0"/>
              <a:t>LUT </a:t>
            </a:r>
            <a:r>
              <a:rPr lang="zh-CN" altLang="en-US" b="1" dirty="0"/>
              <a:t>扇入的较弱模型来缓解这一问题。因此，</a:t>
            </a:r>
            <a:r>
              <a:rPr lang="en-US" altLang="zh-CN" b="1" dirty="0"/>
              <a:t>AmigoLUT </a:t>
            </a:r>
            <a:r>
              <a:rPr lang="zh-CN" altLang="en-US" b="1" dirty="0"/>
              <a:t>在模型数量方面实现了线性扩展的性能。</a:t>
            </a:r>
            <a:endParaRPr lang="en-US" altLang="zh-CN" b="1" dirty="0"/>
          </a:p>
          <a:p>
            <a:endParaRPr lang="en-US" altLang="zh-CN" b="1" dirty="0"/>
          </a:p>
          <a:p>
            <a:r>
              <a:rPr lang="en-US" altLang="zh-CN" dirty="0">
                <a:solidFill>
                  <a:srgbClr val="FF0000"/>
                </a:solidFill>
                <a:effectLst/>
              </a:rPr>
              <a:t>AmigoLUT </a:t>
            </a:r>
            <a:r>
              <a:rPr lang="zh-CN" altLang="en-US" dirty="0">
                <a:solidFill>
                  <a:srgbClr val="FF0000"/>
                </a:solidFill>
                <a:effectLst/>
              </a:rPr>
              <a:t>的核心思想是在独特的</a:t>
            </a:r>
            <a:r>
              <a:rPr lang="en-US" altLang="zh-CN" dirty="0">
                <a:solidFill>
                  <a:srgbClr val="FF0000"/>
                </a:solidFill>
                <a:effectLst/>
              </a:rPr>
              <a:t>I/O</a:t>
            </a:r>
            <a:r>
              <a:rPr lang="zh-CN" altLang="en-US" dirty="0">
                <a:solidFill>
                  <a:srgbClr val="FF0000"/>
                </a:solidFill>
                <a:effectLst/>
              </a:rPr>
              <a:t>量化器带来的性能提升与共享</a:t>
            </a:r>
            <a:r>
              <a:rPr lang="en-US" altLang="zh-CN" dirty="0">
                <a:solidFill>
                  <a:srgbClr val="FF0000"/>
                </a:solidFill>
                <a:effectLst/>
              </a:rPr>
              <a:t>I/O</a:t>
            </a:r>
            <a:r>
              <a:rPr lang="zh-CN" altLang="en-US" dirty="0">
                <a:solidFill>
                  <a:srgbClr val="FF0000"/>
                </a:solidFill>
                <a:effectLst/>
              </a:rPr>
              <a:t>量化器的</a:t>
            </a:r>
            <a:r>
              <a:rPr lang="zh-CN" altLang="en-US" b="1" dirty="0">
                <a:solidFill>
                  <a:srgbClr val="FF0000"/>
                </a:solidFill>
                <a:effectLst/>
              </a:rPr>
              <a:t>资源效率之间取得平衡</a:t>
            </a:r>
            <a:r>
              <a:rPr lang="zh-CN" altLang="en-US" dirty="0">
                <a:solidFill>
                  <a:srgbClr val="FF0000"/>
                </a:solidFill>
                <a:effectLst/>
              </a:rPr>
              <a:t>。</a:t>
            </a:r>
            <a:endParaRPr lang="zh-CN" altLang="en-US" dirty="0">
              <a:solidFill>
                <a:srgbClr val="FF0000"/>
              </a:solidFill>
            </a:endParaRPr>
          </a:p>
          <a:p>
            <a:r>
              <a:rPr lang="en-US" altLang="zh-CN" dirty="0"/>
              <a:t>AmigoLUT </a:t>
            </a:r>
            <a:r>
              <a:rPr lang="zh-CN" altLang="en-US" dirty="0"/>
              <a:t>在将数据发送到每个集成成员之前，使用单个共享量化器将输入数据量化为低精度（即</a:t>
            </a:r>
            <a:r>
              <a:rPr lang="en-US" altLang="zh-CN" dirty="0"/>
              <a:t>6</a:t>
            </a:r>
            <a:r>
              <a:rPr lang="zh-CN" altLang="en-US" dirty="0"/>
              <a:t>位）。然后，每个集成成员的输入神经元可以通过每个位使用单个</a:t>
            </a:r>
            <a:r>
              <a:rPr lang="en-US" altLang="zh-CN" b="1" dirty="0"/>
              <a:t>LUT6</a:t>
            </a:r>
            <a:r>
              <a:rPr lang="zh-CN" altLang="en-US" dirty="0"/>
              <a:t>进行独特量化，以达到其所需的较低精度。在输出端，</a:t>
            </a:r>
            <a:r>
              <a:rPr lang="en-US" altLang="zh-CN" dirty="0"/>
              <a:t>AmigoLUT </a:t>
            </a:r>
            <a:r>
              <a:rPr lang="zh-CN" altLang="en-US" dirty="0"/>
              <a:t>实现了一个额外的神经网络层，将每个集成成员的</a:t>
            </a:r>
            <a:r>
              <a:rPr lang="zh-CN" altLang="en-US" b="1" dirty="0"/>
              <a:t>输出量化为相同的精度</a:t>
            </a:r>
            <a:r>
              <a:rPr lang="zh-CN" altLang="en-US" dirty="0"/>
              <a:t>，以便它们可以在</a:t>
            </a:r>
            <a:r>
              <a:rPr lang="en-US" altLang="zh-CN" dirty="0"/>
              <a:t>FPGA</a:t>
            </a:r>
            <a:r>
              <a:rPr lang="zh-CN" altLang="en-US" dirty="0"/>
              <a:t>上高效地求和。</a:t>
            </a:r>
          </a:p>
          <a:p>
            <a:r>
              <a:rPr lang="en-US" altLang="zh-CN" b="1" i="1" u="sng" dirty="0">
                <a:solidFill>
                  <a:srgbClr val="4EB31C"/>
                </a:solidFill>
                <a:effectLst/>
              </a:rPr>
              <a:t>(</a:t>
            </a:r>
            <a:r>
              <a:rPr lang="zh-CN" altLang="en-US" b="1" i="1" u="sng" dirty="0">
                <a:solidFill>
                  <a:srgbClr val="4EB31C"/>
                </a:solidFill>
                <a:effectLst/>
              </a:rPr>
              <a:t>输入部分是由一个共享的量化器统一处理的，保证所有集成单元接收到同样格式的低精度输入；而在每个模型内部，只需要使用简单的 </a:t>
            </a:r>
            <a:r>
              <a:rPr lang="en-US" altLang="zh-CN" b="1" i="1" u="sng" dirty="0">
                <a:solidFill>
                  <a:srgbClr val="4EB31C"/>
                </a:solidFill>
                <a:effectLst/>
              </a:rPr>
              <a:t>LUT6 </a:t>
            </a:r>
            <a:r>
              <a:rPr lang="zh-CN" altLang="en-US" b="1" i="1" u="sng" dirty="0">
                <a:solidFill>
                  <a:srgbClr val="4EB31C"/>
                </a:solidFill>
                <a:effectLst/>
              </a:rPr>
              <a:t>来实现对数据的细粒度量化（例如按位量化），不需要为每个集成单元单独实现完整的量化模块，从而大幅降低硬件资源开销。</a:t>
            </a:r>
            <a:r>
              <a:rPr lang="en-US" altLang="zh-CN" b="1" i="1" u="sng" dirty="0">
                <a:solidFill>
                  <a:srgbClr val="4EB31C"/>
                </a:solidFill>
                <a:effectLst/>
              </a:rPr>
              <a:t>)</a:t>
            </a:r>
            <a:endParaRPr lang="zh-CN" altLang="en-US" b="1" i="1" u="sng" dirty="0"/>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2B8FC521-EADD-FA92-C51C-9C52F33CA84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8723571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068234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86FED-9E4B-9A94-AD8B-B407477CB0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513248-F6AB-C565-23FD-76BCCC3EFA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FB583B3-76F0-527E-C6B4-7B545FD1F4C1}"/>
              </a:ext>
            </a:extLst>
          </p:cNvPr>
          <p:cNvSpPr>
            <a:spLocks noGrp="1"/>
          </p:cNvSpPr>
          <p:nvPr>
            <p:ph type="body" idx="1"/>
          </p:nvPr>
        </p:nvSpPr>
        <p:spPr/>
        <p:txBody>
          <a:bodyPr/>
          <a:lstStyle/>
          <a:p>
            <a:pPr>
              <a:buFont typeface="+mj-lt"/>
              <a:buAutoNum type="arabicPeriod"/>
            </a:pPr>
            <a:r>
              <a:rPr lang="en-US" altLang="zh-CN" b="1" dirty="0"/>
              <a:t>Results</a:t>
            </a:r>
            <a:endParaRPr lang="en-US" altLang="zh-CN" dirty="0"/>
          </a:p>
          <a:p>
            <a:pPr marL="742950" lvl="1" indent="-285750">
              <a:buFont typeface="+mj-lt"/>
              <a:buAutoNum type="arabicPeriod"/>
            </a:pPr>
            <a:r>
              <a:rPr lang="en-US" altLang="zh-CN" b="1" dirty="0"/>
              <a:t>P-LUT Utilization Reduction</a:t>
            </a:r>
            <a:r>
              <a:rPr lang="en-US" altLang="zh-CN" dirty="0"/>
              <a:t>:</a:t>
            </a:r>
          </a:p>
          <a:p>
            <a:pPr marL="1143000" lvl="2" indent="-228600">
              <a:buFont typeface="+mj-lt"/>
              <a:buAutoNum type="arabicPeriod"/>
            </a:pPr>
            <a:r>
              <a:rPr lang="en-US" altLang="zh-CN" b="1" dirty="0"/>
              <a:t>JSC Models</a:t>
            </a:r>
            <a:r>
              <a:rPr lang="en-US" altLang="zh-CN" dirty="0"/>
              <a:t>: 36% (2L), 39% (5L) reduction vs. baseline; </a:t>
            </a:r>
            <a:r>
              <a:rPr lang="en-US" altLang="zh-CN" b="1" dirty="0"/>
              <a:t>MNIST</a:t>
            </a:r>
            <a:r>
              <a:rPr lang="en-US" altLang="zh-CN" dirty="0"/>
              <a:t>: 11% (limited by 2-bit L-LUT outputs).</a:t>
            </a:r>
          </a:p>
          <a:p>
            <a:pPr marL="1143000" lvl="2" indent="-228600">
              <a:buFont typeface="+mj-lt"/>
              <a:buAutoNum type="arabicPeriod"/>
            </a:pPr>
            <a:r>
              <a:rPr lang="en-US" altLang="zh-CN" b="1" dirty="0"/>
              <a:t>Geometric Mean</a:t>
            </a:r>
            <a:r>
              <a:rPr lang="en-US" altLang="zh-CN" dirty="0"/>
              <a:t>: ReducedLUT outperforms CompressedLUT by </a:t>
            </a:r>
            <a:r>
              <a:rPr lang="en-US" altLang="zh-CN" b="1" dirty="0"/>
              <a:t>8.7%</a:t>
            </a:r>
            <a:r>
              <a:rPr lang="en-US" altLang="zh-CN" dirty="0"/>
              <a:t>.</a:t>
            </a:r>
          </a:p>
          <a:p>
            <a:pPr marL="742950" lvl="1" indent="-285750">
              <a:buFont typeface="+mj-lt"/>
              <a:buAutoNum type="arabicPeriod"/>
            </a:pPr>
            <a:r>
              <a:rPr lang="en-US" altLang="zh-CN" b="1" dirty="0"/>
              <a:t>Exiguity Impact</a:t>
            </a:r>
            <a:r>
              <a:rPr lang="en-US" altLang="zh-CN" dirty="0"/>
              <a:t>: Higher exiguity values (e.g., 250) yield greater P-LUT savings but trigger compression saturation (e.g., JSC_5L’s compact sub-tables).</a:t>
            </a:r>
          </a:p>
          <a:p>
            <a:pPr>
              <a:buFont typeface="+mj-lt"/>
              <a:buAutoNum type="arabicPeriod"/>
            </a:pPr>
            <a:r>
              <a:rPr lang="en-US" altLang="zh-CN" b="1" dirty="0"/>
              <a:t>Critical Observations</a:t>
            </a:r>
            <a:endParaRPr lang="en-US" altLang="zh-CN" dirty="0"/>
          </a:p>
          <a:p>
            <a:pPr marL="742950" lvl="1" indent="-285750">
              <a:buFont typeface="+mj-lt"/>
              <a:buAutoNum type="arabicPeriod"/>
            </a:pPr>
            <a:r>
              <a:rPr lang="en-US" altLang="zh-CN" b="1" dirty="0"/>
              <a:t>MNIST Limitation</a:t>
            </a:r>
            <a:r>
              <a:rPr lang="en-US" altLang="zh-CN" dirty="0"/>
              <a:t>: Low output bit width → high local variation → reduced sub-table self-similarity → limits compression efficiency.</a:t>
            </a:r>
          </a:p>
          <a:p>
            <a:pPr marL="742950" lvl="1" indent="-285750">
              <a:buFont typeface="+mj-lt"/>
              <a:buAutoNum type="arabicPeriod"/>
            </a:pPr>
            <a:r>
              <a:rPr lang="en-US" altLang="zh-CN" b="1" dirty="0"/>
              <a:t>Timing Benefits</a:t>
            </a:r>
            <a:r>
              <a:rPr lang="en-US" altLang="zh-CN" dirty="0"/>
              <a:t>: Simplified logic in ReducedLUT reduces synthesis latency vs. CompressedLUT.</a:t>
            </a:r>
          </a:p>
          <a:p>
            <a:pPr>
              <a:buFont typeface="+mj-lt"/>
              <a:buAutoNum type="arabicPeriod"/>
            </a:pPr>
            <a:r>
              <a:rPr lang="en-US" altLang="zh-CN" b="1" dirty="0"/>
              <a:t>Generalization Analysis</a:t>
            </a:r>
            <a:endParaRPr lang="en-US" altLang="zh-CN" dirty="0"/>
          </a:p>
          <a:p>
            <a:pPr marL="742950" lvl="1" indent="-285750">
              <a:buFont typeface="+mj-lt"/>
              <a:buAutoNum type="arabicPeriod"/>
            </a:pPr>
            <a:r>
              <a:rPr lang="en-US" altLang="zh-CN" dirty="0"/>
              <a:t>Algorithm prioritizes compression without explicit accuracy optimization.</a:t>
            </a:r>
          </a:p>
          <a:p>
            <a:pPr marL="742950" lvl="1" indent="-285750">
              <a:buFont typeface="+mj-lt"/>
              <a:buAutoNum type="arabicPeriod"/>
            </a:pPr>
            <a:r>
              <a:rPr lang="en-US" altLang="zh-CN" b="1" dirty="0"/>
              <a:t>Occam’s Razor Alignment</a:t>
            </a:r>
            <a:r>
              <a:rPr lang="en-US" altLang="zh-CN" dirty="0"/>
              <a:t>: Compression decisions incidentally preserve network accuracy (validated via randomization tests).</a:t>
            </a:r>
          </a:p>
          <a:p>
            <a:pPr>
              <a:buFont typeface="+mj-lt"/>
              <a:buAutoNum type="arabicPeriod"/>
            </a:pPr>
            <a:r>
              <a:rPr lang="en-US" altLang="zh-CN" b="1" dirty="0"/>
              <a:t>Runtime Overhead</a:t>
            </a:r>
            <a:endParaRPr lang="en-US" altLang="zh-CN" dirty="0"/>
          </a:p>
          <a:p>
            <a:pPr marL="742950" lvl="1" indent="-285750">
              <a:buFont typeface="+mj-lt"/>
              <a:buAutoNum type="arabicPeriod"/>
            </a:pPr>
            <a:r>
              <a:rPr lang="en-US" altLang="zh-CN" dirty="0"/>
              <a:t>ReducedLUT requires </a:t>
            </a:r>
            <a:r>
              <a:rPr lang="en-US" altLang="zh-CN" b="1" dirty="0"/>
              <a:t>1.37× longer runtime</a:t>
            </a:r>
            <a:r>
              <a:rPr lang="en-US" altLang="zh-CN" dirty="0"/>
              <a:t> than CompressedLUT at exiguity=250, with </a:t>
            </a:r>
            <a:r>
              <a:rPr lang="en-US" altLang="zh-CN" b="1" dirty="0"/>
              <a:t>19% latency increase</a:t>
            </a:r>
            <a:r>
              <a:rPr lang="en-US" altLang="zh-CN" dirty="0"/>
              <a:t> when exiguity rises from 20→250.</a:t>
            </a:r>
          </a:p>
        </p:txBody>
      </p:sp>
      <p:sp>
        <p:nvSpPr>
          <p:cNvPr id="4" name="灯片编号占位符 3">
            <a:extLst>
              <a:ext uri="{FF2B5EF4-FFF2-40B4-BE49-F238E27FC236}">
                <a16:creationId xmlns:a16="http://schemas.microsoft.com/office/drawing/2014/main" id="{626327F7-6DB4-4D63-8C28-3614DBFBCAD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116827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FCD04-C36F-A321-147C-6BAC47B028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C4DC9B-478A-D920-D829-4B6D058AAAF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1D6056-473F-75DD-E40A-E7B9D66C2DD1}"/>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08F400F-FDB2-C77C-C876-728E5F3D191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504606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A2E07-2CB0-1D59-C2C7-7BCCB757E8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01E8E7-E0ED-E416-4D16-C84BBF185C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737868-980E-D89C-8992-0B011993C2E2}"/>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我们通过对各参数值域子集进行网格搜索以实现预期精度目标。由于不同参数组合会导致模型精度与复杂度存在差异，我们为每个数据集设定两个精度目标值以验证方法的可扩展性，这两种设计方案分别标记为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TreeLUT(I)</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TreeLUT(II)</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。各案例的增强与量化参数配置详见表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。此外，表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展示了阈值与叶节点量化前后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GBDT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模型的精度变化，该结果基于选定超参数值得出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若扩展搜索空间并调优更多超参数（同时权衡训练时长、精度与硬件成本），可能获得更高精度。</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在使用</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XGBoost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TreeLUT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库完成</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GBDT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模型的训练与量化后，本工具可生成</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Verilog</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格式的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RTL</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文件。所有设计均通过</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Vivado</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2023.1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进行综合与布局布线。为保持与前期研究</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[5,6,17,25]</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的一致性，我们选用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xcvu9p-flgb2104-2-i</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型号</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FPGA</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芯片，并在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Out-of-Context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OOC</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）综合模式下采用</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Flow_PerfOptimized_high</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配置方案。值得注意的是，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TreeLUT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工具仅需数秒即可完成</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XGBoost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模型的量化、精度验证及</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RTL</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代码转换；相较之下，基于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的神经网络工具（如</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PolyLUT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-Add</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PolyLUT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）可能需要数小时才能生成</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RTL</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代码</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[17]</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。如第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节所述，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TreeLUT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可根据流水线参数实现初始间隔（</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II</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个时钟周期的流水线设计。各设计采用的流水线参数汇总于表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，其格式遵循第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2.4</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节所述的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[p0,p1,p2]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规范。本实现中设置的流水线参数旨在最小化面积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延时乘积，但通过增加流水线级数可进一步提升时钟频率与吞吐量，不过可能以增加延迟为代价。在</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Vivado</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中，我们根据每个设计的复杂度，将目标时钟周期设定为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至</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1.5</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纳秒范围内，并将输入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输出延迟控制在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0.05</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至</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0.1</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纳秒之间。</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8BCA6173-AA76-73F6-3817-F8A06B8A04C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425399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EAB50-564D-BF90-601C-09EDEE16BBE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BBBFBD-DB3E-FFC7-1D28-9B77CE93F07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10A976-6F95-F346-A76A-2CD9EF9DB83B}"/>
              </a:ext>
            </a:extLst>
          </p:cNvPr>
          <p:cNvSpPr>
            <a:spLocks noGrp="1"/>
          </p:cNvSpPr>
          <p:nvPr>
            <p:ph type="body" idx="1"/>
          </p:nvPr>
        </p:nvSpPr>
        <p:spPr/>
        <p:txBody>
          <a:bodyPr/>
          <a:lstStyle/>
          <a:p>
            <a:pPr>
              <a:buNone/>
            </a:pPr>
            <a:r>
              <a:rPr lang="en-US" altLang="zh-CN" sz="2800" dirty="0"/>
              <a:t>TreeLUT performs better in terms of scalability:</a:t>
            </a:r>
          </a:p>
          <a:p>
            <a:pPr>
              <a:buFont typeface="Arial" panose="020B0604020202020204" pitchFamily="34" charset="0"/>
              <a:buChar char="•"/>
            </a:pPr>
            <a:r>
              <a:rPr lang="en-US" altLang="zh-CN" sz="2800" dirty="0"/>
              <a:t>Hardware cost hardly increases as accuracy increase</a:t>
            </a:r>
          </a:p>
          <a:p>
            <a:pPr>
              <a:buFont typeface="Arial" panose="020B0604020202020204" pitchFamily="34" charset="0"/>
              <a:buChar char="•"/>
            </a:pPr>
            <a:r>
              <a:rPr lang="en-US" altLang="zh-CN" sz="2800" dirty="0"/>
              <a:t>TreeLUT tool directly generate RTL without HLS</a:t>
            </a:r>
          </a:p>
          <a:p>
            <a:pPr>
              <a:buFont typeface="Arial" panose="020B0604020202020204" pitchFamily="34" charset="0"/>
              <a:buChar char="•"/>
            </a:pPr>
            <a:r>
              <a:rPr lang="en-US" altLang="zh-CN" sz="2800" dirty="0"/>
              <a:t>A simpler version of GBDT is used here</a:t>
            </a:r>
          </a:p>
          <a:p>
            <a:r>
              <a:rPr lang="en-US" altLang="zh-CN" sz="2800" dirty="0"/>
              <a:t>TreeLUT has lower area-delay product then DWN when they have the same accuracy.</a:t>
            </a: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E964D11-F307-B03E-6820-173FD81237D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2652472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2CDCE-3B14-6F62-80B6-4EAE2582C2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2B508F-5D6E-F606-AA91-E2C0F4DB156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1068B57-C061-42E8-9907-CF2B058AC25A}"/>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02575863-07A3-8E87-CD85-B40CB01A4FC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2870105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46136-8647-F52E-5057-C8E398C74E6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244E0FF-472D-F480-0A4E-6B675AF87E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DC3AC8-0843-7D88-35CE-91409B1CB310}"/>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AEBA56FC-852A-8BF4-BF0B-AE5BA6BC41A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525035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91D2F-F8BD-EC29-B5A1-E5ECEE80FF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6559E3-3116-0711-A873-49CFEA1722D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9F10AD-70DB-34FC-65D0-125283EB6FEF}"/>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44087F9D-381E-0361-B8C9-E60B28C298E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6828635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355970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10989-F3A9-A969-CF68-31867AC08D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C855C4-C7B1-787D-001B-EC11D43D66D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BB195D-7F76-49F1-0CA9-0396A49EED17}"/>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AB8BA932-D236-2EAE-D8F9-2E903E1B715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37063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0C18FD-0CD8-4FA2-8928-172EA938A55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8366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1387137-136D-4AF1-A586-BCEC52457A6B}" type="datetimeFigureOut">
              <a:rPr lang="zh-CN" altLang="en-US" smtClean="0"/>
              <a:t>2025/4/7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3774453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0ACFA243-0633-4A1E-85D7-97CB3123F94D}"/>
              </a:ext>
            </a:extLst>
          </p:cNvPr>
          <p:cNvSpPr/>
          <p:nvPr userDrawn="1"/>
        </p:nvSpPr>
        <p:spPr>
          <a:xfrm flipV="1">
            <a:off x="0" y="850900"/>
            <a:ext cx="9150350" cy="133350"/>
          </a:xfrm>
          <a:prstGeom prst="rect">
            <a:avLst/>
          </a:prstGeom>
          <a:gradFill>
            <a:gsLst>
              <a:gs pos="0">
                <a:schemeClr val="tx1">
                  <a:lumMod val="50000"/>
                  <a:lumOff val="50000"/>
                  <a:alpha val="0"/>
                </a:schemeClr>
              </a:gs>
              <a:gs pos="100000">
                <a:schemeClr val="tx1">
                  <a:lumMod val="50000"/>
                  <a:lumOff val="50000"/>
                  <a:alpha val="5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矩形 7">
            <a:extLst>
              <a:ext uri="{FF2B5EF4-FFF2-40B4-BE49-F238E27FC236}">
                <a16:creationId xmlns:a16="http://schemas.microsoft.com/office/drawing/2014/main" id="{F7A603F9-61D9-45A9-BAA2-2BAC82BDB265}"/>
              </a:ext>
            </a:extLst>
          </p:cNvPr>
          <p:cNvSpPr/>
          <p:nvPr userDrawn="1"/>
        </p:nvSpPr>
        <p:spPr>
          <a:xfrm flipV="1">
            <a:off x="0" y="0"/>
            <a:ext cx="9150350" cy="857250"/>
          </a:xfrm>
          <a:prstGeom prst="rect">
            <a:avLst/>
          </a:pr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9" name="直接连接符 8">
            <a:extLst>
              <a:ext uri="{FF2B5EF4-FFF2-40B4-BE49-F238E27FC236}">
                <a16:creationId xmlns:a16="http://schemas.microsoft.com/office/drawing/2014/main" id="{FD86ADF9-F3CD-44B0-B28F-92E59F3B9D86}"/>
              </a:ext>
            </a:extLst>
          </p:cNvPr>
          <p:cNvCxnSpPr>
            <a:cxnSpLocks/>
          </p:cNvCxnSpPr>
          <p:nvPr userDrawn="1"/>
        </p:nvCxnSpPr>
        <p:spPr>
          <a:xfrm>
            <a:off x="0" y="857250"/>
            <a:ext cx="9150350"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F0DA3D75-FABF-4E49-B388-F2B0D7AC0C15}"/>
              </a:ext>
            </a:extLst>
          </p:cNvPr>
          <p:cNvCxnSpPr>
            <a:cxnSpLocks/>
          </p:cNvCxnSpPr>
          <p:nvPr userDrawn="1"/>
        </p:nvCxnSpPr>
        <p:spPr>
          <a:xfrm>
            <a:off x="514350" y="857250"/>
            <a:ext cx="8636000" cy="0"/>
          </a:xfrm>
          <a:prstGeom prst="line">
            <a:avLst/>
          </a:prstGeom>
          <a:ln w="444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37F7AE1-9FCD-4962-B186-87506537988B}"/>
              </a:ext>
            </a:extLst>
          </p:cNvPr>
          <p:cNvCxnSpPr>
            <a:cxnSpLocks/>
          </p:cNvCxnSpPr>
          <p:nvPr userDrawn="1"/>
        </p:nvCxnSpPr>
        <p:spPr>
          <a:xfrm>
            <a:off x="0" y="857250"/>
            <a:ext cx="457200" cy="0"/>
          </a:xfrm>
          <a:prstGeom prst="line">
            <a:avLst/>
          </a:prstGeom>
          <a:ln w="444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B3B82F22-7D2D-47CF-A4CD-0CBA15C5BFE2}"/>
              </a:ext>
            </a:extLst>
          </p:cNvPr>
          <p:cNvSpPr txBox="1"/>
          <p:nvPr userDrawn="1"/>
        </p:nvSpPr>
        <p:spPr>
          <a:xfrm>
            <a:off x="8641080" y="6515854"/>
            <a:ext cx="463550" cy="276999"/>
          </a:xfrm>
          <a:prstGeom prst="rect">
            <a:avLst/>
          </a:prstGeom>
          <a:noFill/>
        </p:spPr>
        <p:txBody>
          <a:bodyPr wrap="square">
            <a:spAutoFit/>
          </a:bodyPr>
          <a:lstStyle/>
          <a:p>
            <a:pPr algn="r"/>
            <a:fld id="{D6D57904-7FC0-41E2-8B65-E7FBA2E33408}" type="slidenum">
              <a:rPr lang="zh-CN" altLang="en-US" sz="1200" smtClean="0">
                <a:solidFill>
                  <a:schemeClr val="accent2"/>
                </a:solidFill>
              </a:rPr>
              <a:pPr algn="r"/>
              <a:t>‹#›</a:t>
            </a:fld>
            <a:endParaRPr lang="zh-CN" altLang="en-US" sz="1200" dirty="0">
              <a:solidFill>
                <a:schemeClr val="accent2"/>
              </a:solidFill>
            </a:endParaRPr>
          </a:p>
        </p:txBody>
      </p:sp>
    </p:spTree>
    <p:extLst>
      <p:ext uri="{BB962C8B-B14F-4D97-AF65-F5344CB8AC3E}">
        <p14:creationId xmlns:p14="http://schemas.microsoft.com/office/powerpoint/2010/main" val="2671103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14" name="图片 13" descr="模糊的照片&#10;&#10;描述已自动生成">
            <a:extLst>
              <a:ext uri="{FF2B5EF4-FFF2-40B4-BE49-F238E27FC236}">
                <a16:creationId xmlns:a16="http://schemas.microsoft.com/office/drawing/2014/main" id="{FC9C0168-AC7B-48DD-B788-A97A4D1E0277}"/>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flipV="1">
            <a:off x="0" y="0"/>
            <a:ext cx="9144000" cy="1343025"/>
          </a:xfrm>
          <a:prstGeom prst="rect">
            <a:avLst/>
          </a:prstGeom>
        </p:spPr>
      </p:pic>
      <p:sp>
        <p:nvSpPr>
          <p:cNvPr id="34" name="文本框 33">
            <a:extLst>
              <a:ext uri="{FF2B5EF4-FFF2-40B4-BE49-F238E27FC236}">
                <a16:creationId xmlns:a16="http://schemas.microsoft.com/office/drawing/2014/main" id="{6E329051-3FAC-421B-BBE1-5DA684C56124}"/>
              </a:ext>
            </a:extLst>
          </p:cNvPr>
          <p:cNvSpPr txBox="1"/>
          <p:nvPr userDrawn="1"/>
        </p:nvSpPr>
        <p:spPr>
          <a:xfrm>
            <a:off x="8343900" y="6547604"/>
            <a:ext cx="767080" cy="276999"/>
          </a:xfrm>
          <a:prstGeom prst="rect">
            <a:avLst/>
          </a:prstGeom>
          <a:noFill/>
        </p:spPr>
        <p:txBody>
          <a:bodyPr wrap="square">
            <a:spAutoFit/>
          </a:bodyPr>
          <a:lstStyle/>
          <a:p>
            <a:pPr algn="r"/>
            <a:fld id="{D6D57904-7FC0-41E2-8B65-E7FBA2E33408}" type="slidenum">
              <a:rPr lang="zh-CN" altLang="en-US" sz="1200" smtClean="0">
                <a:solidFill>
                  <a:schemeClr val="tx1">
                    <a:lumMod val="65000"/>
                    <a:lumOff val="35000"/>
                  </a:schemeClr>
                </a:solidFill>
              </a:rPr>
              <a:pPr algn="r"/>
              <a:t>‹#›</a:t>
            </a:fld>
            <a:endParaRPr lang="en-US" altLang="zh-CN" sz="1200" dirty="0">
              <a:solidFill>
                <a:schemeClr val="tx1">
                  <a:lumMod val="65000"/>
                  <a:lumOff val="35000"/>
                </a:schemeClr>
              </a:solidFill>
            </a:endParaRPr>
          </a:p>
        </p:txBody>
      </p:sp>
      <p:sp>
        <p:nvSpPr>
          <p:cNvPr id="18" name="矩形 17">
            <a:extLst>
              <a:ext uri="{FF2B5EF4-FFF2-40B4-BE49-F238E27FC236}">
                <a16:creationId xmlns:a16="http://schemas.microsoft.com/office/drawing/2014/main" id="{2FB2C6CD-3836-49CF-AA23-FC49274117E9}"/>
              </a:ext>
            </a:extLst>
          </p:cNvPr>
          <p:cNvSpPr/>
          <p:nvPr userDrawn="1"/>
        </p:nvSpPr>
        <p:spPr>
          <a:xfrm>
            <a:off x="1866899" y="246068"/>
            <a:ext cx="7277101" cy="482600"/>
          </a:xfrm>
          <a:prstGeom prst="rect">
            <a:avLst/>
          </a:prstGeom>
          <a:gradFill>
            <a:gsLst>
              <a:gs pos="100000">
                <a:schemeClr val="bg1">
                  <a:alpha val="0"/>
                </a:schemeClr>
              </a:gs>
              <a:gs pos="45000">
                <a:srgbClr val="0070C0">
                  <a:alpha val="22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E2E3F422-EA53-4A13-ACD2-F899EB309DC7}"/>
              </a:ext>
            </a:extLst>
          </p:cNvPr>
          <p:cNvGrpSpPr/>
          <p:nvPr userDrawn="1"/>
        </p:nvGrpSpPr>
        <p:grpSpPr>
          <a:xfrm>
            <a:off x="5080" y="256231"/>
            <a:ext cx="9138918" cy="482603"/>
            <a:chOff x="5080" y="310182"/>
            <a:chExt cx="9138918" cy="461668"/>
          </a:xfrm>
        </p:grpSpPr>
        <p:sp>
          <p:nvSpPr>
            <p:cNvPr id="20" name="任意多边形: 形状 19">
              <a:extLst>
                <a:ext uri="{FF2B5EF4-FFF2-40B4-BE49-F238E27FC236}">
                  <a16:creationId xmlns:a16="http://schemas.microsoft.com/office/drawing/2014/main" id="{7ADE69C2-3FEA-466B-B9AE-5EAEC5806FE2}"/>
                </a:ext>
              </a:extLst>
            </p:cNvPr>
            <p:cNvSpPr/>
            <p:nvPr userDrawn="1"/>
          </p:nvSpPr>
          <p:spPr>
            <a:xfrm flipH="1" flipV="1">
              <a:off x="1866899" y="310182"/>
              <a:ext cx="7277099" cy="461665"/>
            </a:xfrm>
            <a:custGeom>
              <a:avLst/>
              <a:gdLst>
                <a:gd name="connsiteX0" fmla="*/ 6924824 w 7160887"/>
                <a:gd name="connsiteY0" fmla="*/ 461665 h 461665"/>
                <a:gd name="connsiteX1" fmla="*/ 6546502 w 7160887"/>
                <a:gd name="connsiteY1" fmla="*/ 461665 h 461665"/>
                <a:gd name="connsiteX2" fmla="*/ 6517674 w 7160887"/>
                <a:gd name="connsiteY2" fmla="*/ 461665 h 461665"/>
                <a:gd name="connsiteX3" fmla="*/ 6383973 w 7160887"/>
                <a:gd name="connsiteY3" fmla="*/ 461665 h 461665"/>
                <a:gd name="connsiteX4" fmla="*/ 6250266 w 7160887"/>
                <a:gd name="connsiteY4" fmla="*/ 461665 h 461665"/>
                <a:gd name="connsiteX5" fmla="*/ 6221438 w 7160887"/>
                <a:gd name="connsiteY5" fmla="*/ 461665 h 461665"/>
                <a:gd name="connsiteX6" fmla="*/ 6087737 w 7160887"/>
                <a:gd name="connsiteY6" fmla="*/ 461665 h 461665"/>
                <a:gd name="connsiteX7" fmla="*/ 5843116 w 7160887"/>
                <a:gd name="connsiteY7" fmla="*/ 461665 h 461665"/>
                <a:gd name="connsiteX8" fmla="*/ 5721138 w 7160887"/>
                <a:gd name="connsiteY8" fmla="*/ 461665 h 461665"/>
                <a:gd name="connsiteX9" fmla="*/ 5709415 w 7160887"/>
                <a:gd name="connsiteY9" fmla="*/ 461665 h 461665"/>
                <a:gd name="connsiteX10" fmla="*/ 5680587 w 7160887"/>
                <a:gd name="connsiteY10" fmla="*/ 461665 h 461665"/>
                <a:gd name="connsiteX11" fmla="*/ 5546880 w 7160887"/>
                <a:gd name="connsiteY11" fmla="*/ 461665 h 461665"/>
                <a:gd name="connsiteX12" fmla="*/ 5424902 w 7160887"/>
                <a:gd name="connsiteY12" fmla="*/ 461665 h 461665"/>
                <a:gd name="connsiteX13" fmla="*/ 5413179 w 7160887"/>
                <a:gd name="connsiteY13" fmla="*/ 461665 h 461665"/>
                <a:gd name="connsiteX14" fmla="*/ 5384351 w 7160887"/>
                <a:gd name="connsiteY14" fmla="*/ 461665 h 461665"/>
                <a:gd name="connsiteX15" fmla="*/ 5322280 w 7160887"/>
                <a:gd name="connsiteY15" fmla="*/ 461665 h 461665"/>
                <a:gd name="connsiteX16" fmla="*/ 5317173 w 7160887"/>
                <a:gd name="connsiteY16" fmla="*/ 461665 h 461665"/>
                <a:gd name="connsiteX17" fmla="*/ 5046580 w 7160887"/>
                <a:gd name="connsiteY17" fmla="*/ 461665 h 461665"/>
                <a:gd name="connsiteX18" fmla="*/ 5026044 w 7160887"/>
                <a:gd name="connsiteY18" fmla="*/ 461665 h 461665"/>
                <a:gd name="connsiteX19" fmla="*/ 5020937 w 7160887"/>
                <a:gd name="connsiteY19" fmla="*/ 461665 h 461665"/>
                <a:gd name="connsiteX20" fmla="*/ 5017752 w 7160887"/>
                <a:gd name="connsiteY20" fmla="*/ 461665 h 461665"/>
                <a:gd name="connsiteX21" fmla="*/ 5006029 w 7160887"/>
                <a:gd name="connsiteY21" fmla="*/ 461665 h 461665"/>
                <a:gd name="connsiteX22" fmla="*/ 4884051 w 7160887"/>
                <a:gd name="connsiteY22" fmla="*/ 461665 h 461665"/>
                <a:gd name="connsiteX23" fmla="*/ 4750344 w 7160887"/>
                <a:gd name="connsiteY23" fmla="*/ 461665 h 461665"/>
                <a:gd name="connsiteX24" fmla="*/ 4721516 w 7160887"/>
                <a:gd name="connsiteY24" fmla="*/ 461665 h 461665"/>
                <a:gd name="connsiteX25" fmla="*/ 4709793 w 7160887"/>
                <a:gd name="connsiteY25" fmla="*/ 461665 h 461665"/>
                <a:gd name="connsiteX26" fmla="*/ 4647722 w 7160887"/>
                <a:gd name="connsiteY26" fmla="*/ 461665 h 461665"/>
                <a:gd name="connsiteX27" fmla="*/ 4642615 w 7160887"/>
                <a:gd name="connsiteY27" fmla="*/ 461665 h 461665"/>
                <a:gd name="connsiteX28" fmla="*/ 4618894 w 7160887"/>
                <a:gd name="connsiteY28" fmla="*/ 461665 h 461665"/>
                <a:gd name="connsiteX29" fmla="*/ 4613787 w 7160887"/>
                <a:gd name="connsiteY29" fmla="*/ 461665 h 461665"/>
                <a:gd name="connsiteX30" fmla="*/ 4587815 w 7160887"/>
                <a:gd name="connsiteY30" fmla="*/ 461665 h 461665"/>
                <a:gd name="connsiteX31" fmla="*/ 4443126 w 7160887"/>
                <a:gd name="connsiteY31" fmla="*/ 461665 h 461665"/>
                <a:gd name="connsiteX32" fmla="*/ 4351486 w 7160887"/>
                <a:gd name="connsiteY32" fmla="*/ 461665 h 461665"/>
                <a:gd name="connsiteX33" fmla="*/ 4346379 w 7160887"/>
                <a:gd name="connsiteY33" fmla="*/ 461665 h 461665"/>
                <a:gd name="connsiteX34" fmla="*/ 4343194 w 7160887"/>
                <a:gd name="connsiteY34" fmla="*/ 461665 h 461665"/>
                <a:gd name="connsiteX35" fmla="*/ 4322658 w 7160887"/>
                <a:gd name="connsiteY35" fmla="*/ 461665 h 461665"/>
                <a:gd name="connsiteX36" fmla="*/ 4317551 w 7160887"/>
                <a:gd name="connsiteY36" fmla="*/ 461665 h 461665"/>
                <a:gd name="connsiteX37" fmla="*/ 4209493 w 7160887"/>
                <a:gd name="connsiteY37" fmla="*/ 461665 h 461665"/>
                <a:gd name="connsiteX38" fmla="*/ 4180665 w 7160887"/>
                <a:gd name="connsiteY38" fmla="*/ 461665 h 461665"/>
                <a:gd name="connsiteX39" fmla="*/ 4146890 w 7160887"/>
                <a:gd name="connsiteY39" fmla="*/ 461665 h 461665"/>
                <a:gd name="connsiteX40" fmla="*/ 4046958 w 7160887"/>
                <a:gd name="connsiteY40" fmla="*/ 461665 h 461665"/>
                <a:gd name="connsiteX41" fmla="*/ 3944336 w 7160887"/>
                <a:gd name="connsiteY41" fmla="*/ 461665 h 461665"/>
                <a:gd name="connsiteX42" fmla="*/ 3939229 w 7160887"/>
                <a:gd name="connsiteY42" fmla="*/ 461665 h 461665"/>
                <a:gd name="connsiteX43" fmla="*/ 3913257 w 7160887"/>
                <a:gd name="connsiteY43" fmla="*/ 461665 h 461665"/>
                <a:gd name="connsiteX44" fmla="*/ 3884429 w 7160887"/>
                <a:gd name="connsiteY44" fmla="*/ 461665 h 461665"/>
                <a:gd name="connsiteX45" fmla="*/ 3822358 w 7160887"/>
                <a:gd name="connsiteY45" fmla="*/ 461665 h 461665"/>
                <a:gd name="connsiteX46" fmla="*/ 3817251 w 7160887"/>
                <a:gd name="connsiteY46" fmla="*/ 461665 h 461665"/>
                <a:gd name="connsiteX47" fmla="*/ 3768568 w 7160887"/>
                <a:gd name="connsiteY47" fmla="*/ 461665 h 461665"/>
                <a:gd name="connsiteX48" fmla="*/ 3739740 w 7160887"/>
                <a:gd name="connsiteY48" fmla="*/ 461665 h 461665"/>
                <a:gd name="connsiteX49" fmla="*/ 3648100 w 7160887"/>
                <a:gd name="connsiteY49" fmla="*/ 461665 h 461665"/>
                <a:gd name="connsiteX50" fmla="*/ 3642993 w 7160887"/>
                <a:gd name="connsiteY50" fmla="*/ 461665 h 461665"/>
                <a:gd name="connsiteX51" fmla="*/ 3606039 w 7160887"/>
                <a:gd name="connsiteY51" fmla="*/ 461665 h 461665"/>
                <a:gd name="connsiteX52" fmla="*/ 3526122 w 7160887"/>
                <a:gd name="connsiteY52" fmla="*/ 461665 h 461665"/>
                <a:gd name="connsiteX53" fmla="*/ 3521015 w 7160887"/>
                <a:gd name="connsiteY53" fmla="*/ 461665 h 461665"/>
                <a:gd name="connsiteX54" fmla="*/ 3506107 w 7160887"/>
                <a:gd name="connsiteY54" fmla="*/ 461665 h 461665"/>
                <a:gd name="connsiteX55" fmla="*/ 3472332 w 7160887"/>
                <a:gd name="connsiteY55" fmla="*/ 461665 h 461665"/>
                <a:gd name="connsiteX56" fmla="*/ 3443504 w 7160887"/>
                <a:gd name="connsiteY56" fmla="*/ 461665 h 461665"/>
                <a:gd name="connsiteX57" fmla="*/ 3309803 w 7160887"/>
                <a:gd name="connsiteY57" fmla="*/ 461665 h 461665"/>
                <a:gd name="connsiteX58" fmla="*/ 3281831 w 7160887"/>
                <a:gd name="connsiteY58" fmla="*/ 461665 h 461665"/>
                <a:gd name="connsiteX59" fmla="*/ 3209871 w 7160887"/>
                <a:gd name="connsiteY59" fmla="*/ 461665 h 461665"/>
                <a:gd name="connsiteX60" fmla="*/ 3147800 w 7160887"/>
                <a:gd name="connsiteY60" fmla="*/ 461665 h 461665"/>
                <a:gd name="connsiteX61" fmla="*/ 3142693 w 7160887"/>
                <a:gd name="connsiteY61" fmla="*/ 461665 h 461665"/>
                <a:gd name="connsiteX62" fmla="*/ 3118972 w 7160887"/>
                <a:gd name="connsiteY62" fmla="*/ 461665 h 461665"/>
                <a:gd name="connsiteX63" fmla="*/ 3113865 w 7160887"/>
                <a:gd name="connsiteY63" fmla="*/ 461665 h 461665"/>
                <a:gd name="connsiteX64" fmla="*/ 3065182 w 7160887"/>
                <a:gd name="connsiteY64" fmla="*/ 461665 h 461665"/>
                <a:gd name="connsiteX65" fmla="*/ 2985595 w 7160887"/>
                <a:gd name="connsiteY65" fmla="*/ 461665 h 461665"/>
                <a:gd name="connsiteX66" fmla="*/ 2931481 w 7160887"/>
                <a:gd name="connsiteY66" fmla="*/ 461665 h 461665"/>
                <a:gd name="connsiteX67" fmla="*/ 2902653 w 7160887"/>
                <a:gd name="connsiteY67" fmla="*/ 461665 h 461665"/>
                <a:gd name="connsiteX68" fmla="*/ 2851564 w 7160887"/>
                <a:gd name="connsiteY68" fmla="*/ 461665 h 461665"/>
                <a:gd name="connsiteX69" fmla="*/ 2846457 w 7160887"/>
                <a:gd name="connsiteY69" fmla="*/ 461665 h 461665"/>
                <a:gd name="connsiteX70" fmla="*/ 2822736 w 7160887"/>
                <a:gd name="connsiteY70" fmla="*/ 461665 h 461665"/>
                <a:gd name="connsiteX71" fmla="*/ 2817629 w 7160887"/>
                <a:gd name="connsiteY71" fmla="*/ 461665 h 461665"/>
                <a:gd name="connsiteX72" fmla="*/ 2768946 w 7160887"/>
                <a:gd name="connsiteY72" fmla="*/ 461665 h 461665"/>
                <a:gd name="connsiteX73" fmla="*/ 2635245 w 7160887"/>
                <a:gd name="connsiteY73" fmla="*/ 461665 h 461665"/>
                <a:gd name="connsiteX74" fmla="*/ 2607273 w 7160887"/>
                <a:gd name="connsiteY74" fmla="*/ 461665 h 461665"/>
                <a:gd name="connsiteX75" fmla="*/ 2606417 w 7160887"/>
                <a:gd name="connsiteY75" fmla="*/ 461665 h 461665"/>
                <a:gd name="connsiteX76" fmla="*/ 2578445 w 7160887"/>
                <a:gd name="connsiteY76" fmla="*/ 461665 h 461665"/>
                <a:gd name="connsiteX77" fmla="*/ 2544346 w 7160887"/>
                <a:gd name="connsiteY77" fmla="*/ 461665 h 461665"/>
                <a:gd name="connsiteX78" fmla="*/ 2539239 w 7160887"/>
                <a:gd name="connsiteY78" fmla="*/ 461665 h 461665"/>
                <a:gd name="connsiteX79" fmla="*/ 2444744 w 7160887"/>
                <a:gd name="connsiteY79" fmla="*/ 461665 h 461665"/>
                <a:gd name="connsiteX80" fmla="*/ 2444414 w 7160887"/>
                <a:gd name="connsiteY80" fmla="*/ 461665 h 461665"/>
                <a:gd name="connsiteX81" fmla="*/ 2439307 w 7160887"/>
                <a:gd name="connsiteY81" fmla="*/ 461665 h 461665"/>
                <a:gd name="connsiteX82" fmla="*/ 2311037 w 7160887"/>
                <a:gd name="connsiteY82" fmla="*/ 461665 h 461665"/>
                <a:gd name="connsiteX83" fmla="*/ 2282209 w 7160887"/>
                <a:gd name="connsiteY83" fmla="*/ 461665 h 461665"/>
                <a:gd name="connsiteX84" fmla="*/ 2248110 w 7160887"/>
                <a:gd name="connsiteY84" fmla="*/ 461665 h 461665"/>
                <a:gd name="connsiteX85" fmla="*/ 2243003 w 7160887"/>
                <a:gd name="connsiteY85" fmla="*/ 461665 h 461665"/>
                <a:gd name="connsiteX86" fmla="*/ 2228095 w 7160887"/>
                <a:gd name="connsiteY86" fmla="*/ 461665 h 461665"/>
                <a:gd name="connsiteX87" fmla="*/ 2148508 w 7160887"/>
                <a:gd name="connsiteY87" fmla="*/ 461665 h 461665"/>
                <a:gd name="connsiteX88" fmla="*/ 2148178 w 7160887"/>
                <a:gd name="connsiteY88" fmla="*/ 461665 h 461665"/>
                <a:gd name="connsiteX89" fmla="*/ 2143071 w 7160887"/>
                <a:gd name="connsiteY89" fmla="*/ 461665 h 461665"/>
                <a:gd name="connsiteX90" fmla="*/ 1931859 w 7160887"/>
                <a:gd name="connsiteY90" fmla="*/ 461665 h 461665"/>
                <a:gd name="connsiteX91" fmla="*/ 1903887 w 7160887"/>
                <a:gd name="connsiteY91" fmla="*/ 461665 h 461665"/>
                <a:gd name="connsiteX92" fmla="*/ 1869788 w 7160887"/>
                <a:gd name="connsiteY92" fmla="*/ 461665 h 461665"/>
                <a:gd name="connsiteX93" fmla="*/ 1864681 w 7160887"/>
                <a:gd name="connsiteY93" fmla="*/ 461665 h 461665"/>
                <a:gd name="connsiteX94" fmla="*/ 1840960 w 7160887"/>
                <a:gd name="connsiteY94" fmla="*/ 461665 h 461665"/>
                <a:gd name="connsiteX95" fmla="*/ 1835853 w 7160887"/>
                <a:gd name="connsiteY95" fmla="*/ 461665 h 461665"/>
                <a:gd name="connsiteX96" fmla="*/ 1770186 w 7160887"/>
                <a:gd name="connsiteY96" fmla="*/ 461665 h 461665"/>
                <a:gd name="connsiteX97" fmla="*/ 1741358 w 7160887"/>
                <a:gd name="connsiteY97" fmla="*/ 461665 h 461665"/>
                <a:gd name="connsiteX98" fmla="*/ 1607651 w 7160887"/>
                <a:gd name="connsiteY98" fmla="*/ 461665 h 461665"/>
                <a:gd name="connsiteX99" fmla="*/ 1573552 w 7160887"/>
                <a:gd name="connsiteY99" fmla="*/ 461665 h 461665"/>
                <a:gd name="connsiteX100" fmla="*/ 1568445 w 7160887"/>
                <a:gd name="connsiteY100" fmla="*/ 461665 h 461665"/>
                <a:gd name="connsiteX101" fmla="*/ 1544724 w 7160887"/>
                <a:gd name="connsiteY101" fmla="*/ 461665 h 461665"/>
                <a:gd name="connsiteX102" fmla="*/ 1539617 w 7160887"/>
                <a:gd name="connsiteY102" fmla="*/ 461665 h 461665"/>
                <a:gd name="connsiteX103" fmla="*/ 1473950 w 7160887"/>
                <a:gd name="connsiteY103" fmla="*/ 461665 h 461665"/>
                <a:gd name="connsiteX104" fmla="*/ 1445122 w 7160887"/>
                <a:gd name="connsiteY104" fmla="*/ 461665 h 461665"/>
                <a:gd name="connsiteX105" fmla="*/ 1383051 w 7160887"/>
                <a:gd name="connsiteY105" fmla="*/ 461665 h 461665"/>
                <a:gd name="connsiteX106" fmla="*/ 1377944 w 7160887"/>
                <a:gd name="connsiteY106" fmla="*/ 461665 h 461665"/>
                <a:gd name="connsiteX107" fmla="*/ 1166402 w 7160887"/>
                <a:gd name="connsiteY107" fmla="*/ 461665 h 461665"/>
                <a:gd name="connsiteX108" fmla="*/ 1161295 w 7160887"/>
                <a:gd name="connsiteY108" fmla="*/ 461665 h 461665"/>
                <a:gd name="connsiteX109" fmla="*/ 1086815 w 7160887"/>
                <a:gd name="connsiteY109" fmla="*/ 461665 h 461665"/>
                <a:gd name="connsiteX110" fmla="*/ 1081708 w 7160887"/>
                <a:gd name="connsiteY110" fmla="*/ 461665 h 461665"/>
                <a:gd name="connsiteX111" fmla="*/ 1066800 w 7160887"/>
                <a:gd name="connsiteY111" fmla="*/ 461665 h 461665"/>
                <a:gd name="connsiteX112" fmla="*/ 870166 w 7160887"/>
                <a:gd name="connsiteY112" fmla="*/ 461665 h 461665"/>
                <a:gd name="connsiteX113" fmla="*/ 865059 w 7160887"/>
                <a:gd name="connsiteY113" fmla="*/ 461665 h 461665"/>
                <a:gd name="connsiteX114" fmla="*/ 770564 w 7160887"/>
                <a:gd name="connsiteY114" fmla="*/ 461665 h 461665"/>
                <a:gd name="connsiteX115" fmla="*/ 708493 w 7160887"/>
                <a:gd name="connsiteY115" fmla="*/ 461665 h 461665"/>
                <a:gd name="connsiteX116" fmla="*/ 703386 w 7160887"/>
                <a:gd name="connsiteY116" fmla="*/ 461665 h 461665"/>
                <a:gd name="connsiteX117" fmla="*/ 679665 w 7160887"/>
                <a:gd name="connsiteY117" fmla="*/ 461665 h 461665"/>
                <a:gd name="connsiteX118" fmla="*/ 674558 w 7160887"/>
                <a:gd name="connsiteY118" fmla="*/ 461665 h 461665"/>
                <a:gd name="connsiteX119" fmla="*/ 412257 w 7160887"/>
                <a:gd name="connsiteY119" fmla="*/ 461665 h 461665"/>
                <a:gd name="connsiteX120" fmla="*/ 407150 w 7160887"/>
                <a:gd name="connsiteY120" fmla="*/ 461665 h 461665"/>
                <a:gd name="connsiteX121" fmla="*/ 383429 w 7160887"/>
                <a:gd name="connsiteY121" fmla="*/ 461665 h 461665"/>
                <a:gd name="connsiteX122" fmla="*/ 378322 w 7160887"/>
                <a:gd name="connsiteY122" fmla="*/ 461665 h 461665"/>
                <a:gd name="connsiteX123" fmla="*/ 5107 w 7160887"/>
                <a:gd name="connsiteY123" fmla="*/ 461665 h 461665"/>
                <a:gd name="connsiteX124" fmla="*/ 0 w 7160887"/>
                <a:gd name="connsiteY124" fmla="*/ 461665 h 461665"/>
                <a:gd name="connsiteX125" fmla="*/ 0 w 7160887"/>
                <a:gd name="connsiteY125" fmla="*/ 0 h 461665"/>
                <a:gd name="connsiteX126" fmla="*/ 241170 w 7160887"/>
                <a:gd name="connsiteY126" fmla="*/ 0 h 461665"/>
                <a:gd name="connsiteX127" fmla="*/ 378322 w 7160887"/>
                <a:gd name="connsiteY127" fmla="*/ 0 h 461665"/>
                <a:gd name="connsiteX128" fmla="*/ 407150 w 7160887"/>
                <a:gd name="connsiteY128" fmla="*/ 0 h 461665"/>
                <a:gd name="connsiteX129" fmla="*/ 619492 w 7160887"/>
                <a:gd name="connsiteY129" fmla="*/ 0 h 461665"/>
                <a:gd name="connsiteX130" fmla="*/ 648320 w 7160887"/>
                <a:gd name="connsiteY130" fmla="*/ 0 h 461665"/>
                <a:gd name="connsiteX131" fmla="*/ 674558 w 7160887"/>
                <a:gd name="connsiteY131" fmla="*/ 0 h 461665"/>
                <a:gd name="connsiteX132" fmla="*/ 703386 w 7160887"/>
                <a:gd name="connsiteY132" fmla="*/ 0 h 461665"/>
                <a:gd name="connsiteX133" fmla="*/ 770564 w 7160887"/>
                <a:gd name="connsiteY133" fmla="*/ 0 h 461665"/>
                <a:gd name="connsiteX134" fmla="*/ 865059 w 7160887"/>
                <a:gd name="connsiteY134" fmla="*/ 0 h 461665"/>
                <a:gd name="connsiteX135" fmla="*/ 915728 w 7160887"/>
                <a:gd name="connsiteY135" fmla="*/ 0 h 461665"/>
                <a:gd name="connsiteX136" fmla="*/ 944556 w 7160887"/>
                <a:gd name="connsiteY136" fmla="*/ 0 h 461665"/>
                <a:gd name="connsiteX137" fmla="*/ 1066800 w 7160887"/>
                <a:gd name="connsiteY137" fmla="*/ 0 h 461665"/>
                <a:gd name="connsiteX138" fmla="*/ 1081708 w 7160887"/>
                <a:gd name="connsiteY138" fmla="*/ 0 h 461665"/>
                <a:gd name="connsiteX139" fmla="*/ 1106229 w 7160887"/>
                <a:gd name="connsiteY139" fmla="*/ 0 h 461665"/>
                <a:gd name="connsiteX140" fmla="*/ 1161295 w 7160887"/>
                <a:gd name="connsiteY140" fmla="*/ 0 h 461665"/>
                <a:gd name="connsiteX141" fmla="*/ 1322878 w 7160887"/>
                <a:gd name="connsiteY141" fmla="*/ 0 h 461665"/>
                <a:gd name="connsiteX142" fmla="*/ 1377944 w 7160887"/>
                <a:gd name="connsiteY142" fmla="*/ 0 h 461665"/>
                <a:gd name="connsiteX143" fmla="*/ 1402465 w 7160887"/>
                <a:gd name="connsiteY143" fmla="*/ 0 h 461665"/>
                <a:gd name="connsiteX144" fmla="*/ 1445122 w 7160887"/>
                <a:gd name="connsiteY144" fmla="*/ 0 h 461665"/>
                <a:gd name="connsiteX145" fmla="*/ 1473950 w 7160887"/>
                <a:gd name="connsiteY145" fmla="*/ 0 h 461665"/>
                <a:gd name="connsiteX146" fmla="*/ 1539617 w 7160887"/>
                <a:gd name="connsiteY146" fmla="*/ 0 h 461665"/>
                <a:gd name="connsiteX147" fmla="*/ 1568445 w 7160887"/>
                <a:gd name="connsiteY147" fmla="*/ 0 h 461665"/>
                <a:gd name="connsiteX148" fmla="*/ 1619114 w 7160887"/>
                <a:gd name="connsiteY148" fmla="*/ 0 h 461665"/>
                <a:gd name="connsiteX149" fmla="*/ 1741358 w 7160887"/>
                <a:gd name="connsiteY149" fmla="*/ 0 h 461665"/>
                <a:gd name="connsiteX150" fmla="*/ 1770186 w 7160887"/>
                <a:gd name="connsiteY150" fmla="*/ 0 h 461665"/>
                <a:gd name="connsiteX151" fmla="*/ 1780787 w 7160887"/>
                <a:gd name="connsiteY151" fmla="*/ 0 h 461665"/>
                <a:gd name="connsiteX152" fmla="*/ 1809615 w 7160887"/>
                <a:gd name="connsiteY152" fmla="*/ 0 h 461665"/>
                <a:gd name="connsiteX153" fmla="*/ 1835853 w 7160887"/>
                <a:gd name="connsiteY153" fmla="*/ 0 h 461665"/>
                <a:gd name="connsiteX154" fmla="*/ 1843714 w 7160887"/>
                <a:gd name="connsiteY154" fmla="*/ 0 h 461665"/>
                <a:gd name="connsiteX155" fmla="*/ 1864681 w 7160887"/>
                <a:gd name="connsiteY155" fmla="*/ 0 h 461665"/>
                <a:gd name="connsiteX156" fmla="*/ 1931859 w 7160887"/>
                <a:gd name="connsiteY156" fmla="*/ 0 h 461665"/>
                <a:gd name="connsiteX157" fmla="*/ 2077023 w 7160887"/>
                <a:gd name="connsiteY157" fmla="*/ 0 h 461665"/>
                <a:gd name="connsiteX158" fmla="*/ 2105851 w 7160887"/>
                <a:gd name="connsiteY158" fmla="*/ 0 h 461665"/>
                <a:gd name="connsiteX159" fmla="*/ 2139950 w 7160887"/>
                <a:gd name="connsiteY159" fmla="*/ 0 h 461665"/>
                <a:gd name="connsiteX160" fmla="*/ 2143071 w 7160887"/>
                <a:gd name="connsiteY160" fmla="*/ 0 h 461665"/>
                <a:gd name="connsiteX161" fmla="*/ 2148508 w 7160887"/>
                <a:gd name="connsiteY161" fmla="*/ 0 h 461665"/>
                <a:gd name="connsiteX162" fmla="*/ 2228095 w 7160887"/>
                <a:gd name="connsiteY162" fmla="*/ 0 h 461665"/>
                <a:gd name="connsiteX163" fmla="*/ 2243003 w 7160887"/>
                <a:gd name="connsiteY163" fmla="*/ 0 h 461665"/>
                <a:gd name="connsiteX164" fmla="*/ 2384241 w 7160887"/>
                <a:gd name="connsiteY164" fmla="*/ 0 h 461665"/>
                <a:gd name="connsiteX165" fmla="*/ 2439307 w 7160887"/>
                <a:gd name="connsiteY165" fmla="*/ 0 h 461665"/>
                <a:gd name="connsiteX166" fmla="*/ 2444744 w 7160887"/>
                <a:gd name="connsiteY166" fmla="*/ 0 h 461665"/>
                <a:gd name="connsiteX167" fmla="*/ 2484173 w 7160887"/>
                <a:gd name="connsiteY167" fmla="*/ 0 h 461665"/>
                <a:gd name="connsiteX168" fmla="*/ 2518272 w 7160887"/>
                <a:gd name="connsiteY168" fmla="*/ 0 h 461665"/>
                <a:gd name="connsiteX169" fmla="*/ 2539239 w 7160887"/>
                <a:gd name="connsiteY169" fmla="*/ 0 h 461665"/>
                <a:gd name="connsiteX170" fmla="*/ 2547100 w 7160887"/>
                <a:gd name="connsiteY170" fmla="*/ 0 h 461665"/>
                <a:gd name="connsiteX171" fmla="*/ 2606417 w 7160887"/>
                <a:gd name="connsiteY171" fmla="*/ 0 h 461665"/>
                <a:gd name="connsiteX172" fmla="*/ 2635245 w 7160887"/>
                <a:gd name="connsiteY172" fmla="*/ 0 h 461665"/>
                <a:gd name="connsiteX173" fmla="*/ 2680477 w 7160887"/>
                <a:gd name="connsiteY173" fmla="*/ 0 h 461665"/>
                <a:gd name="connsiteX174" fmla="*/ 2780409 w 7160887"/>
                <a:gd name="connsiteY174" fmla="*/ 0 h 461665"/>
                <a:gd name="connsiteX175" fmla="*/ 2814508 w 7160887"/>
                <a:gd name="connsiteY175" fmla="*/ 0 h 461665"/>
                <a:gd name="connsiteX176" fmla="*/ 2817629 w 7160887"/>
                <a:gd name="connsiteY176" fmla="*/ 0 h 461665"/>
                <a:gd name="connsiteX177" fmla="*/ 2843336 w 7160887"/>
                <a:gd name="connsiteY177" fmla="*/ 0 h 461665"/>
                <a:gd name="connsiteX178" fmla="*/ 2846457 w 7160887"/>
                <a:gd name="connsiteY178" fmla="*/ 0 h 461665"/>
                <a:gd name="connsiteX179" fmla="*/ 2902653 w 7160887"/>
                <a:gd name="connsiteY179" fmla="*/ 0 h 461665"/>
                <a:gd name="connsiteX180" fmla="*/ 2931481 w 7160887"/>
                <a:gd name="connsiteY180" fmla="*/ 0 h 461665"/>
                <a:gd name="connsiteX181" fmla="*/ 3005009 w 7160887"/>
                <a:gd name="connsiteY181" fmla="*/ 0 h 461665"/>
                <a:gd name="connsiteX182" fmla="*/ 3058799 w 7160887"/>
                <a:gd name="connsiteY182" fmla="*/ 0 h 461665"/>
                <a:gd name="connsiteX183" fmla="*/ 3087627 w 7160887"/>
                <a:gd name="connsiteY183" fmla="*/ 0 h 461665"/>
                <a:gd name="connsiteX184" fmla="*/ 3113865 w 7160887"/>
                <a:gd name="connsiteY184" fmla="*/ 0 h 461665"/>
                <a:gd name="connsiteX185" fmla="*/ 3142693 w 7160887"/>
                <a:gd name="connsiteY185" fmla="*/ 0 h 461665"/>
                <a:gd name="connsiteX186" fmla="*/ 3209871 w 7160887"/>
                <a:gd name="connsiteY186" fmla="*/ 0 h 461665"/>
                <a:gd name="connsiteX187" fmla="*/ 3221658 w 7160887"/>
                <a:gd name="connsiteY187" fmla="*/ 0 h 461665"/>
                <a:gd name="connsiteX188" fmla="*/ 3301245 w 7160887"/>
                <a:gd name="connsiteY188" fmla="*/ 0 h 461665"/>
                <a:gd name="connsiteX189" fmla="*/ 3309803 w 7160887"/>
                <a:gd name="connsiteY189" fmla="*/ 0 h 461665"/>
                <a:gd name="connsiteX190" fmla="*/ 3355035 w 7160887"/>
                <a:gd name="connsiteY190" fmla="*/ 0 h 461665"/>
                <a:gd name="connsiteX191" fmla="*/ 3383863 w 7160887"/>
                <a:gd name="connsiteY191" fmla="*/ 0 h 461665"/>
                <a:gd name="connsiteX192" fmla="*/ 3506107 w 7160887"/>
                <a:gd name="connsiteY192" fmla="*/ 0 h 461665"/>
                <a:gd name="connsiteX193" fmla="*/ 3517894 w 7160887"/>
                <a:gd name="connsiteY193" fmla="*/ 0 h 461665"/>
                <a:gd name="connsiteX194" fmla="*/ 3521015 w 7160887"/>
                <a:gd name="connsiteY194" fmla="*/ 0 h 461665"/>
                <a:gd name="connsiteX195" fmla="*/ 3606039 w 7160887"/>
                <a:gd name="connsiteY195" fmla="*/ 0 h 461665"/>
                <a:gd name="connsiteX196" fmla="*/ 3642993 w 7160887"/>
                <a:gd name="connsiteY196" fmla="*/ 0 h 461665"/>
                <a:gd name="connsiteX197" fmla="*/ 3679567 w 7160887"/>
                <a:gd name="connsiteY197" fmla="*/ 0 h 461665"/>
                <a:gd name="connsiteX198" fmla="*/ 3708395 w 7160887"/>
                <a:gd name="connsiteY198" fmla="*/ 0 h 461665"/>
                <a:gd name="connsiteX199" fmla="*/ 3762185 w 7160887"/>
                <a:gd name="connsiteY199" fmla="*/ 0 h 461665"/>
                <a:gd name="connsiteX200" fmla="*/ 3817251 w 7160887"/>
                <a:gd name="connsiteY200" fmla="*/ 0 h 461665"/>
                <a:gd name="connsiteX201" fmla="*/ 3884163 w 7160887"/>
                <a:gd name="connsiteY201" fmla="*/ 0 h 461665"/>
                <a:gd name="connsiteX202" fmla="*/ 3884429 w 7160887"/>
                <a:gd name="connsiteY202" fmla="*/ 0 h 461665"/>
                <a:gd name="connsiteX203" fmla="*/ 3913257 w 7160887"/>
                <a:gd name="connsiteY203" fmla="*/ 0 h 461665"/>
                <a:gd name="connsiteX204" fmla="*/ 3939229 w 7160887"/>
                <a:gd name="connsiteY204" fmla="*/ 0 h 461665"/>
                <a:gd name="connsiteX205" fmla="*/ 3975803 w 7160887"/>
                <a:gd name="connsiteY205" fmla="*/ 0 h 461665"/>
                <a:gd name="connsiteX206" fmla="*/ 4004631 w 7160887"/>
                <a:gd name="connsiteY206" fmla="*/ 0 h 461665"/>
                <a:gd name="connsiteX207" fmla="*/ 4058421 w 7160887"/>
                <a:gd name="connsiteY207" fmla="*/ 0 h 461665"/>
                <a:gd name="connsiteX208" fmla="*/ 4180399 w 7160887"/>
                <a:gd name="connsiteY208" fmla="*/ 0 h 461665"/>
                <a:gd name="connsiteX209" fmla="*/ 4180665 w 7160887"/>
                <a:gd name="connsiteY209" fmla="*/ 0 h 461665"/>
                <a:gd name="connsiteX210" fmla="*/ 4209493 w 7160887"/>
                <a:gd name="connsiteY210" fmla="*/ 0 h 461665"/>
                <a:gd name="connsiteX211" fmla="*/ 4283021 w 7160887"/>
                <a:gd name="connsiteY211" fmla="*/ 0 h 461665"/>
                <a:gd name="connsiteX212" fmla="*/ 4317551 w 7160887"/>
                <a:gd name="connsiteY212" fmla="*/ 0 h 461665"/>
                <a:gd name="connsiteX213" fmla="*/ 4346379 w 7160887"/>
                <a:gd name="connsiteY213" fmla="*/ 0 h 461665"/>
                <a:gd name="connsiteX214" fmla="*/ 4382953 w 7160887"/>
                <a:gd name="connsiteY214" fmla="*/ 0 h 461665"/>
                <a:gd name="connsiteX215" fmla="*/ 4558721 w 7160887"/>
                <a:gd name="connsiteY215" fmla="*/ 0 h 461665"/>
                <a:gd name="connsiteX216" fmla="*/ 4579257 w 7160887"/>
                <a:gd name="connsiteY216" fmla="*/ 0 h 461665"/>
                <a:gd name="connsiteX217" fmla="*/ 4587549 w 7160887"/>
                <a:gd name="connsiteY217" fmla="*/ 0 h 461665"/>
                <a:gd name="connsiteX218" fmla="*/ 4587815 w 7160887"/>
                <a:gd name="connsiteY218" fmla="*/ 0 h 461665"/>
                <a:gd name="connsiteX219" fmla="*/ 4613787 w 7160887"/>
                <a:gd name="connsiteY219" fmla="*/ 0 h 461665"/>
                <a:gd name="connsiteX220" fmla="*/ 4642615 w 7160887"/>
                <a:gd name="connsiteY220" fmla="*/ 0 h 461665"/>
                <a:gd name="connsiteX221" fmla="*/ 4679189 w 7160887"/>
                <a:gd name="connsiteY221" fmla="*/ 0 h 461665"/>
                <a:gd name="connsiteX222" fmla="*/ 4709793 w 7160887"/>
                <a:gd name="connsiteY222" fmla="*/ 0 h 461665"/>
                <a:gd name="connsiteX223" fmla="*/ 4854957 w 7160887"/>
                <a:gd name="connsiteY223" fmla="*/ 0 h 461665"/>
                <a:gd name="connsiteX224" fmla="*/ 4883785 w 7160887"/>
                <a:gd name="connsiteY224" fmla="*/ 0 h 461665"/>
                <a:gd name="connsiteX225" fmla="*/ 4884051 w 7160887"/>
                <a:gd name="connsiteY225" fmla="*/ 0 h 461665"/>
                <a:gd name="connsiteX226" fmla="*/ 4957579 w 7160887"/>
                <a:gd name="connsiteY226" fmla="*/ 0 h 461665"/>
                <a:gd name="connsiteX227" fmla="*/ 4986407 w 7160887"/>
                <a:gd name="connsiteY227" fmla="*/ 0 h 461665"/>
                <a:gd name="connsiteX228" fmla="*/ 5006029 w 7160887"/>
                <a:gd name="connsiteY228" fmla="*/ 0 h 461665"/>
                <a:gd name="connsiteX229" fmla="*/ 5020937 w 7160887"/>
                <a:gd name="connsiteY229" fmla="*/ 0 h 461665"/>
                <a:gd name="connsiteX230" fmla="*/ 5253815 w 7160887"/>
                <a:gd name="connsiteY230" fmla="*/ 0 h 461665"/>
                <a:gd name="connsiteX231" fmla="*/ 5262107 w 7160887"/>
                <a:gd name="connsiteY231" fmla="*/ 0 h 461665"/>
                <a:gd name="connsiteX232" fmla="*/ 5282643 w 7160887"/>
                <a:gd name="connsiteY232" fmla="*/ 0 h 461665"/>
                <a:gd name="connsiteX233" fmla="*/ 5317173 w 7160887"/>
                <a:gd name="connsiteY233" fmla="*/ 0 h 461665"/>
                <a:gd name="connsiteX234" fmla="*/ 5384351 w 7160887"/>
                <a:gd name="connsiteY234" fmla="*/ 0 h 461665"/>
                <a:gd name="connsiteX235" fmla="*/ 5413179 w 7160887"/>
                <a:gd name="connsiteY235" fmla="*/ 0 h 461665"/>
                <a:gd name="connsiteX236" fmla="*/ 5558343 w 7160887"/>
                <a:gd name="connsiteY236" fmla="*/ 0 h 461665"/>
                <a:gd name="connsiteX237" fmla="*/ 5660965 w 7160887"/>
                <a:gd name="connsiteY237" fmla="*/ 0 h 461665"/>
                <a:gd name="connsiteX238" fmla="*/ 5680587 w 7160887"/>
                <a:gd name="connsiteY238" fmla="*/ 0 h 461665"/>
                <a:gd name="connsiteX239" fmla="*/ 5709415 w 7160887"/>
                <a:gd name="connsiteY239" fmla="*/ 0 h 461665"/>
                <a:gd name="connsiteX240" fmla="*/ 5782943 w 7160887"/>
                <a:gd name="connsiteY240" fmla="*/ 0 h 461665"/>
                <a:gd name="connsiteX241" fmla="*/ 5957201 w 7160887"/>
                <a:gd name="connsiteY241" fmla="*/ 0 h 461665"/>
                <a:gd name="connsiteX242" fmla="*/ 6079179 w 7160887"/>
                <a:gd name="connsiteY242" fmla="*/ 0 h 461665"/>
                <a:gd name="connsiteX243" fmla="*/ 6087737 w 7160887"/>
                <a:gd name="connsiteY243" fmla="*/ 0 h 461665"/>
                <a:gd name="connsiteX244" fmla="*/ 6383973 w 7160887"/>
                <a:gd name="connsiteY244" fmla="*/ 0 h 461665"/>
                <a:gd name="connsiteX245" fmla="*/ 6457501 w 7160887"/>
                <a:gd name="connsiteY245" fmla="*/ 0 h 461665"/>
                <a:gd name="connsiteX246" fmla="*/ 6486329 w 7160887"/>
                <a:gd name="connsiteY246" fmla="*/ 0 h 461665"/>
                <a:gd name="connsiteX247" fmla="*/ 6753737 w 7160887"/>
                <a:gd name="connsiteY247" fmla="*/ 0 h 461665"/>
                <a:gd name="connsiteX248" fmla="*/ 6782565 w 7160887"/>
                <a:gd name="connsiteY248" fmla="*/ 0 h 461665"/>
                <a:gd name="connsiteX249" fmla="*/ 7160887 w 7160887"/>
                <a:gd name="connsiteY249" fmla="*/ 0 h 461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7160887" h="461665">
                  <a:moveTo>
                    <a:pt x="6924824" y="461665"/>
                  </a:moveTo>
                  <a:lnTo>
                    <a:pt x="6546502" y="461665"/>
                  </a:lnTo>
                  <a:lnTo>
                    <a:pt x="6517674" y="461665"/>
                  </a:lnTo>
                  <a:lnTo>
                    <a:pt x="6383973" y="461665"/>
                  </a:lnTo>
                  <a:lnTo>
                    <a:pt x="6250266" y="461665"/>
                  </a:lnTo>
                  <a:lnTo>
                    <a:pt x="6221438" y="461665"/>
                  </a:lnTo>
                  <a:lnTo>
                    <a:pt x="6087737" y="461665"/>
                  </a:lnTo>
                  <a:lnTo>
                    <a:pt x="5843116" y="461665"/>
                  </a:lnTo>
                  <a:lnTo>
                    <a:pt x="5721138" y="461665"/>
                  </a:lnTo>
                  <a:lnTo>
                    <a:pt x="5709415" y="461665"/>
                  </a:lnTo>
                  <a:lnTo>
                    <a:pt x="5680587" y="461665"/>
                  </a:lnTo>
                  <a:lnTo>
                    <a:pt x="5546880" y="461665"/>
                  </a:lnTo>
                  <a:lnTo>
                    <a:pt x="5424902" y="461665"/>
                  </a:lnTo>
                  <a:lnTo>
                    <a:pt x="5413179" y="461665"/>
                  </a:lnTo>
                  <a:lnTo>
                    <a:pt x="5384351" y="461665"/>
                  </a:lnTo>
                  <a:lnTo>
                    <a:pt x="5322280" y="461665"/>
                  </a:lnTo>
                  <a:lnTo>
                    <a:pt x="5317173" y="461665"/>
                  </a:lnTo>
                  <a:lnTo>
                    <a:pt x="5046580" y="461665"/>
                  </a:lnTo>
                  <a:lnTo>
                    <a:pt x="5026044" y="461665"/>
                  </a:lnTo>
                  <a:lnTo>
                    <a:pt x="5020937" y="461665"/>
                  </a:lnTo>
                  <a:lnTo>
                    <a:pt x="5017752" y="461665"/>
                  </a:lnTo>
                  <a:lnTo>
                    <a:pt x="5006029" y="461665"/>
                  </a:lnTo>
                  <a:lnTo>
                    <a:pt x="4884051" y="461665"/>
                  </a:lnTo>
                  <a:lnTo>
                    <a:pt x="4750344" y="461665"/>
                  </a:lnTo>
                  <a:lnTo>
                    <a:pt x="4721516" y="461665"/>
                  </a:lnTo>
                  <a:lnTo>
                    <a:pt x="4709793" y="461665"/>
                  </a:lnTo>
                  <a:lnTo>
                    <a:pt x="4647722" y="461665"/>
                  </a:lnTo>
                  <a:lnTo>
                    <a:pt x="4642615" y="461665"/>
                  </a:lnTo>
                  <a:lnTo>
                    <a:pt x="4618894" y="461665"/>
                  </a:lnTo>
                  <a:lnTo>
                    <a:pt x="4613787" y="461665"/>
                  </a:lnTo>
                  <a:lnTo>
                    <a:pt x="4587815" y="461665"/>
                  </a:lnTo>
                  <a:lnTo>
                    <a:pt x="4443126" y="461665"/>
                  </a:lnTo>
                  <a:lnTo>
                    <a:pt x="4351486" y="461665"/>
                  </a:lnTo>
                  <a:lnTo>
                    <a:pt x="4346379" y="461665"/>
                  </a:lnTo>
                  <a:lnTo>
                    <a:pt x="4343194" y="461665"/>
                  </a:lnTo>
                  <a:lnTo>
                    <a:pt x="4322658" y="461665"/>
                  </a:lnTo>
                  <a:lnTo>
                    <a:pt x="4317551" y="461665"/>
                  </a:lnTo>
                  <a:lnTo>
                    <a:pt x="4209493" y="461665"/>
                  </a:lnTo>
                  <a:lnTo>
                    <a:pt x="4180665" y="461665"/>
                  </a:lnTo>
                  <a:lnTo>
                    <a:pt x="4146890" y="461665"/>
                  </a:lnTo>
                  <a:lnTo>
                    <a:pt x="4046958" y="461665"/>
                  </a:lnTo>
                  <a:lnTo>
                    <a:pt x="3944336" y="461665"/>
                  </a:lnTo>
                  <a:lnTo>
                    <a:pt x="3939229" y="461665"/>
                  </a:lnTo>
                  <a:lnTo>
                    <a:pt x="3913257" y="461665"/>
                  </a:lnTo>
                  <a:lnTo>
                    <a:pt x="3884429" y="461665"/>
                  </a:lnTo>
                  <a:lnTo>
                    <a:pt x="3822358" y="461665"/>
                  </a:lnTo>
                  <a:lnTo>
                    <a:pt x="3817251" y="461665"/>
                  </a:lnTo>
                  <a:lnTo>
                    <a:pt x="3768568" y="461665"/>
                  </a:lnTo>
                  <a:lnTo>
                    <a:pt x="3739740" y="461665"/>
                  </a:lnTo>
                  <a:lnTo>
                    <a:pt x="3648100" y="461665"/>
                  </a:lnTo>
                  <a:lnTo>
                    <a:pt x="3642993" y="461665"/>
                  </a:lnTo>
                  <a:lnTo>
                    <a:pt x="3606039" y="461665"/>
                  </a:lnTo>
                  <a:lnTo>
                    <a:pt x="3526122" y="461665"/>
                  </a:lnTo>
                  <a:lnTo>
                    <a:pt x="3521015" y="461665"/>
                  </a:lnTo>
                  <a:lnTo>
                    <a:pt x="3506107" y="461665"/>
                  </a:lnTo>
                  <a:lnTo>
                    <a:pt x="3472332" y="461665"/>
                  </a:lnTo>
                  <a:lnTo>
                    <a:pt x="3443504" y="461665"/>
                  </a:lnTo>
                  <a:lnTo>
                    <a:pt x="3309803" y="461665"/>
                  </a:lnTo>
                  <a:lnTo>
                    <a:pt x="3281831" y="461665"/>
                  </a:lnTo>
                  <a:lnTo>
                    <a:pt x="3209871" y="461665"/>
                  </a:lnTo>
                  <a:lnTo>
                    <a:pt x="3147800" y="461665"/>
                  </a:lnTo>
                  <a:lnTo>
                    <a:pt x="3142693" y="461665"/>
                  </a:lnTo>
                  <a:lnTo>
                    <a:pt x="3118972" y="461665"/>
                  </a:lnTo>
                  <a:lnTo>
                    <a:pt x="3113865" y="461665"/>
                  </a:lnTo>
                  <a:lnTo>
                    <a:pt x="3065182" y="461665"/>
                  </a:lnTo>
                  <a:lnTo>
                    <a:pt x="2985595" y="461665"/>
                  </a:lnTo>
                  <a:lnTo>
                    <a:pt x="2931481" y="461665"/>
                  </a:lnTo>
                  <a:lnTo>
                    <a:pt x="2902653" y="461665"/>
                  </a:lnTo>
                  <a:lnTo>
                    <a:pt x="2851564" y="461665"/>
                  </a:lnTo>
                  <a:lnTo>
                    <a:pt x="2846457" y="461665"/>
                  </a:lnTo>
                  <a:lnTo>
                    <a:pt x="2822736" y="461665"/>
                  </a:lnTo>
                  <a:lnTo>
                    <a:pt x="2817629" y="461665"/>
                  </a:lnTo>
                  <a:lnTo>
                    <a:pt x="2768946" y="461665"/>
                  </a:lnTo>
                  <a:lnTo>
                    <a:pt x="2635245" y="461665"/>
                  </a:lnTo>
                  <a:lnTo>
                    <a:pt x="2607273" y="461665"/>
                  </a:lnTo>
                  <a:lnTo>
                    <a:pt x="2606417" y="461665"/>
                  </a:lnTo>
                  <a:lnTo>
                    <a:pt x="2578445" y="461665"/>
                  </a:lnTo>
                  <a:lnTo>
                    <a:pt x="2544346" y="461665"/>
                  </a:lnTo>
                  <a:lnTo>
                    <a:pt x="2539239" y="461665"/>
                  </a:lnTo>
                  <a:lnTo>
                    <a:pt x="2444744" y="461665"/>
                  </a:lnTo>
                  <a:lnTo>
                    <a:pt x="2444414" y="461665"/>
                  </a:lnTo>
                  <a:lnTo>
                    <a:pt x="2439307" y="461665"/>
                  </a:lnTo>
                  <a:lnTo>
                    <a:pt x="2311037" y="461665"/>
                  </a:lnTo>
                  <a:lnTo>
                    <a:pt x="2282209" y="461665"/>
                  </a:lnTo>
                  <a:lnTo>
                    <a:pt x="2248110" y="461665"/>
                  </a:lnTo>
                  <a:lnTo>
                    <a:pt x="2243003" y="461665"/>
                  </a:lnTo>
                  <a:lnTo>
                    <a:pt x="2228095" y="461665"/>
                  </a:lnTo>
                  <a:lnTo>
                    <a:pt x="2148508" y="461665"/>
                  </a:lnTo>
                  <a:lnTo>
                    <a:pt x="2148178" y="461665"/>
                  </a:lnTo>
                  <a:lnTo>
                    <a:pt x="2143071" y="461665"/>
                  </a:lnTo>
                  <a:lnTo>
                    <a:pt x="1931859" y="461665"/>
                  </a:lnTo>
                  <a:lnTo>
                    <a:pt x="1903887" y="461665"/>
                  </a:lnTo>
                  <a:lnTo>
                    <a:pt x="1869788" y="461665"/>
                  </a:lnTo>
                  <a:lnTo>
                    <a:pt x="1864681" y="461665"/>
                  </a:lnTo>
                  <a:lnTo>
                    <a:pt x="1840960" y="461665"/>
                  </a:lnTo>
                  <a:lnTo>
                    <a:pt x="1835853" y="461665"/>
                  </a:lnTo>
                  <a:lnTo>
                    <a:pt x="1770186" y="461665"/>
                  </a:lnTo>
                  <a:lnTo>
                    <a:pt x="1741358" y="461665"/>
                  </a:lnTo>
                  <a:lnTo>
                    <a:pt x="1607651" y="461665"/>
                  </a:lnTo>
                  <a:lnTo>
                    <a:pt x="1573552" y="461665"/>
                  </a:lnTo>
                  <a:lnTo>
                    <a:pt x="1568445" y="461665"/>
                  </a:lnTo>
                  <a:lnTo>
                    <a:pt x="1544724" y="461665"/>
                  </a:lnTo>
                  <a:lnTo>
                    <a:pt x="1539617" y="461665"/>
                  </a:lnTo>
                  <a:lnTo>
                    <a:pt x="1473950" y="461665"/>
                  </a:lnTo>
                  <a:lnTo>
                    <a:pt x="1445122" y="461665"/>
                  </a:lnTo>
                  <a:lnTo>
                    <a:pt x="1383051" y="461665"/>
                  </a:lnTo>
                  <a:lnTo>
                    <a:pt x="1377944" y="461665"/>
                  </a:lnTo>
                  <a:lnTo>
                    <a:pt x="1166402" y="461665"/>
                  </a:lnTo>
                  <a:lnTo>
                    <a:pt x="1161295" y="461665"/>
                  </a:lnTo>
                  <a:lnTo>
                    <a:pt x="1086815" y="461665"/>
                  </a:lnTo>
                  <a:lnTo>
                    <a:pt x="1081708" y="461665"/>
                  </a:lnTo>
                  <a:lnTo>
                    <a:pt x="1066800" y="461665"/>
                  </a:lnTo>
                  <a:lnTo>
                    <a:pt x="870166" y="461665"/>
                  </a:lnTo>
                  <a:lnTo>
                    <a:pt x="865059" y="461665"/>
                  </a:lnTo>
                  <a:lnTo>
                    <a:pt x="770564" y="461665"/>
                  </a:lnTo>
                  <a:lnTo>
                    <a:pt x="708493" y="461665"/>
                  </a:lnTo>
                  <a:lnTo>
                    <a:pt x="703386" y="461665"/>
                  </a:lnTo>
                  <a:lnTo>
                    <a:pt x="679665" y="461665"/>
                  </a:lnTo>
                  <a:lnTo>
                    <a:pt x="674558" y="461665"/>
                  </a:lnTo>
                  <a:lnTo>
                    <a:pt x="412257" y="461665"/>
                  </a:lnTo>
                  <a:lnTo>
                    <a:pt x="407150" y="461665"/>
                  </a:lnTo>
                  <a:lnTo>
                    <a:pt x="383429" y="461665"/>
                  </a:lnTo>
                  <a:lnTo>
                    <a:pt x="378322" y="461665"/>
                  </a:lnTo>
                  <a:lnTo>
                    <a:pt x="5107" y="461665"/>
                  </a:lnTo>
                  <a:lnTo>
                    <a:pt x="0" y="461665"/>
                  </a:lnTo>
                  <a:lnTo>
                    <a:pt x="0" y="0"/>
                  </a:lnTo>
                  <a:lnTo>
                    <a:pt x="241170" y="0"/>
                  </a:lnTo>
                  <a:lnTo>
                    <a:pt x="378322" y="0"/>
                  </a:lnTo>
                  <a:lnTo>
                    <a:pt x="407150" y="0"/>
                  </a:lnTo>
                  <a:lnTo>
                    <a:pt x="619492" y="0"/>
                  </a:lnTo>
                  <a:lnTo>
                    <a:pt x="648320" y="0"/>
                  </a:lnTo>
                  <a:lnTo>
                    <a:pt x="674558" y="0"/>
                  </a:lnTo>
                  <a:lnTo>
                    <a:pt x="703386" y="0"/>
                  </a:lnTo>
                  <a:lnTo>
                    <a:pt x="770564" y="0"/>
                  </a:lnTo>
                  <a:lnTo>
                    <a:pt x="865059" y="0"/>
                  </a:lnTo>
                  <a:lnTo>
                    <a:pt x="915728" y="0"/>
                  </a:lnTo>
                  <a:lnTo>
                    <a:pt x="944556" y="0"/>
                  </a:lnTo>
                  <a:lnTo>
                    <a:pt x="1066800" y="0"/>
                  </a:lnTo>
                  <a:lnTo>
                    <a:pt x="1081708" y="0"/>
                  </a:lnTo>
                  <a:lnTo>
                    <a:pt x="1106229" y="0"/>
                  </a:lnTo>
                  <a:lnTo>
                    <a:pt x="1161295" y="0"/>
                  </a:lnTo>
                  <a:lnTo>
                    <a:pt x="1322878" y="0"/>
                  </a:lnTo>
                  <a:lnTo>
                    <a:pt x="1377944" y="0"/>
                  </a:lnTo>
                  <a:lnTo>
                    <a:pt x="1402465" y="0"/>
                  </a:lnTo>
                  <a:lnTo>
                    <a:pt x="1445122" y="0"/>
                  </a:lnTo>
                  <a:lnTo>
                    <a:pt x="1473950" y="0"/>
                  </a:lnTo>
                  <a:lnTo>
                    <a:pt x="1539617" y="0"/>
                  </a:lnTo>
                  <a:lnTo>
                    <a:pt x="1568445" y="0"/>
                  </a:lnTo>
                  <a:lnTo>
                    <a:pt x="1619114" y="0"/>
                  </a:lnTo>
                  <a:lnTo>
                    <a:pt x="1741358" y="0"/>
                  </a:lnTo>
                  <a:lnTo>
                    <a:pt x="1770186" y="0"/>
                  </a:lnTo>
                  <a:lnTo>
                    <a:pt x="1780787" y="0"/>
                  </a:lnTo>
                  <a:lnTo>
                    <a:pt x="1809615" y="0"/>
                  </a:lnTo>
                  <a:lnTo>
                    <a:pt x="1835853" y="0"/>
                  </a:lnTo>
                  <a:lnTo>
                    <a:pt x="1843714" y="0"/>
                  </a:lnTo>
                  <a:lnTo>
                    <a:pt x="1864681" y="0"/>
                  </a:lnTo>
                  <a:lnTo>
                    <a:pt x="1931859" y="0"/>
                  </a:lnTo>
                  <a:lnTo>
                    <a:pt x="2077023" y="0"/>
                  </a:lnTo>
                  <a:lnTo>
                    <a:pt x="2105851" y="0"/>
                  </a:lnTo>
                  <a:lnTo>
                    <a:pt x="2139950" y="0"/>
                  </a:lnTo>
                  <a:lnTo>
                    <a:pt x="2143071" y="0"/>
                  </a:lnTo>
                  <a:lnTo>
                    <a:pt x="2148508" y="0"/>
                  </a:lnTo>
                  <a:lnTo>
                    <a:pt x="2228095" y="0"/>
                  </a:lnTo>
                  <a:lnTo>
                    <a:pt x="2243003" y="0"/>
                  </a:lnTo>
                  <a:lnTo>
                    <a:pt x="2384241" y="0"/>
                  </a:lnTo>
                  <a:lnTo>
                    <a:pt x="2439307" y="0"/>
                  </a:lnTo>
                  <a:lnTo>
                    <a:pt x="2444744" y="0"/>
                  </a:lnTo>
                  <a:lnTo>
                    <a:pt x="2484173" y="0"/>
                  </a:lnTo>
                  <a:lnTo>
                    <a:pt x="2518272" y="0"/>
                  </a:lnTo>
                  <a:lnTo>
                    <a:pt x="2539239" y="0"/>
                  </a:lnTo>
                  <a:lnTo>
                    <a:pt x="2547100" y="0"/>
                  </a:lnTo>
                  <a:lnTo>
                    <a:pt x="2606417" y="0"/>
                  </a:lnTo>
                  <a:lnTo>
                    <a:pt x="2635245" y="0"/>
                  </a:lnTo>
                  <a:lnTo>
                    <a:pt x="2680477" y="0"/>
                  </a:lnTo>
                  <a:lnTo>
                    <a:pt x="2780409" y="0"/>
                  </a:lnTo>
                  <a:lnTo>
                    <a:pt x="2814508" y="0"/>
                  </a:lnTo>
                  <a:lnTo>
                    <a:pt x="2817629" y="0"/>
                  </a:lnTo>
                  <a:lnTo>
                    <a:pt x="2843336" y="0"/>
                  </a:lnTo>
                  <a:lnTo>
                    <a:pt x="2846457" y="0"/>
                  </a:lnTo>
                  <a:lnTo>
                    <a:pt x="2902653" y="0"/>
                  </a:lnTo>
                  <a:lnTo>
                    <a:pt x="2931481" y="0"/>
                  </a:lnTo>
                  <a:lnTo>
                    <a:pt x="3005009" y="0"/>
                  </a:lnTo>
                  <a:lnTo>
                    <a:pt x="3058799" y="0"/>
                  </a:lnTo>
                  <a:lnTo>
                    <a:pt x="3087627" y="0"/>
                  </a:lnTo>
                  <a:lnTo>
                    <a:pt x="3113865" y="0"/>
                  </a:lnTo>
                  <a:lnTo>
                    <a:pt x="3142693" y="0"/>
                  </a:lnTo>
                  <a:lnTo>
                    <a:pt x="3209871" y="0"/>
                  </a:lnTo>
                  <a:lnTo>
                    <a:pt x="3221658" y="0"/>
                  </a:lnTo>
                  <a:lnTo>
                    <a:pt x="3301245" y="0"/>
                  </a:lnTo>
                  <a:lnTo>
                    <a:pt x="3309803" y="0"/>
                  </a:lnTo>
                  <a:lnTo>
                    <a:pt x="3355035" y="0"/>
                  </a:lnTo>
                  <a:lnTo>
                    <a:pt x="3383863" y="0"/>
                  </a:lnTo>
                  <a:lnTo>
                    <a:pt x="3506107" y="0"/>
                  </a:lnTo>
                  <a:lnTo>
                    <a:pt x="3517894" y="0"/>
                  </a:lnTo>
                  <a:lnTo>
                    <a:pt x="3521015" y="0"/>
                  </a:lnTo>
                  <a:lnTo>
                    <a:pt x="3606039" y="0"/>
                  </a:lnTo>
                  <a:lnTo>
                    <a:pt x="3642993" y="0"/>
                  </a:lnTo>
                  <a:lnTo>
                    <a:pt x="3679567" y="0"/>
                  </a:lnTo>
                  <a:lnTo>
                    <a:pt x="3708395" y="0"/>
                  </a:lnTo>
                  <a:lnTo>
                    <a:pt x="3762185" y="0"/>
                  </a:lnTo>
                  <a:lnTo>
                    <a:pt x="3817251" y="0"/>
                  </a:lnTo>
                  <a:lnTo>
                    <a:pt x="3884163" y="0"/>
                  </a:lnTo>
                  <a:lnTo>
                    <a:pt x="3884429" y="0"/>
                  </a:lnTo>
                  <a:lnTo>
                    <a:pt x="3913257" y="0"/>
                  </a:lnTo>
                  <a:lnTo>
                    <a:pt x="3939229" y="0"/>
                  </a:lnTo>
                  <a:lnTo>
                    <a:pt x="3975803" y="0"/>
                  </a:lnTo>
                  <a:lnTo>
                    <a:pt x="4004631" y="0"/>
                  </a:lnTo>
                  <a:lnTo>
                    <a:pt x="4058421" y="0"/>
                  </a:lnTo>
                  <a:lnTo>
                    <a:pt x="4180399" y="0"/>
                  </a:lnTo>
                  <a:lnTo>
                    <a:pt x="4180665" y="0"/>
                  </a:lnTo>
                  <a:lnTo>
                    <a:pt x="4209493" y="0"/>
                  </a:lnTo>
                  <a:lnTo>
                    <a:pt x="4283021" y="0"/>
                  </a:lnTo>
                  <a:lnTo>
                    <a:pt x="4317551" y="0"/>
                  </a:lnTo>
                  <a:lnTo>
                    <a:pt x="4346379" y="0"/>
                  </a:lnTo>
                  <a:lnTo>
                    <a:pt x="4382953" y="0"/>
                  </a:lnTo>
                  <a:lnTo>
                    <a:pt x="4558721" y="0"/>
                  </a:lnTo>
                  <a:lnTo>
                    <a:pt x="4579257" y="0"/>
                  </a:lnTo>
                  <a:lnTo>
                    <a:pt x="4587549" y="0"/>
                  </a:lnTo>
                  <a:lnTo>
                    <a:pt x="4587815" y="0"/>
                  </a:lnTo>
                  <a:lnTo>
                    <a:pt x="4613787" y="0"/>
                  </a:lnTo>
                  <a:lnTo>
                    <a:pt x="4642615" y="0"/>
                  </a:lnTo>
                  <a:lnTo>
                    <a:pt x="4679189" y="0"/>
                  </a:lnTo>
                  <a:lnTo>
                    <a:pt x="4709793" y="0"/>
                  </a:lnTo>
                  <a:lnTo>
                    <a:pt x="4854957" y="0"/>
                  </a:lnTo>
                  <a:lnTo>
                    <a:pt x="4883785" y="0"/>
                  </a:lnTo>
                  <a:lnTo>
                    <a:pt x="4884051" y="0"/>
                  </a:lnTo>
                  <a:lnTo>
                    <a:pt x="4957579" y="0"/>
                  </a:lnTo>
                  <a:lnTo>
                    <a:pt x="4986407" y="0"/>
                  </a:lnTo>
                  <a:lnTo>
                    <a:pt x="5006029" y="0"/>
                  </a:lnTo>
                  <a:lnTo>
                    <a:pt x="5020937" y="0"/>
                  </a:lnTo>
                  <a:lnTo>
                    <a:pt x="5253815" y="0"/>
                  </a:lnTo>
                  <a:lnTo>
                    <a:pt x="5262107" y="0"/>
                  </a:lnTo>
                  <a:lnTo>
                    <a:pt x="5282643" y="0"/>
                  </a:lnTo>
                  <a:lnTo>
                    <a:pt x="5317173" y="0"/>
                  </a:lnTo>
                  <a:lnTo>
                    <a:pt x="5384351" y="0"/>
                  </a:lnTo>
                  <a:lnTo>
                    <a:pt x="5413179" y="0"/>
                  </a:lnTo>
                  <a:lnTo>
                    <a:pt x="5558343" y="0"/>
                  </a:lnTo>
                  <a:lnTo>
                    <a:pt x="5660965" y="0"/>
                  </a:lnTo>
                  <a:lnTo>
                    <a:pt x="5680587" y="0"/>
                  </a:lnTo>
                  <a:lnTo>
                    <a:pt x="5709415" y="0"/>
                  </a:lnTo>
                  <a:lnTo>
                    <a:pt x="5782943" y="0"/>
                  </a:lnTo>
                  <a:lnTo>
                    <a:pt x="5957201" y="0"/>
                  </a:lnTo>
                  <a:lnTo>
                    <a:pt x="6079179" y="0"/>
                  </a:lnTo>
                  <a:lnTo>
                    <a:pt x="6087737" y="0"/>
                  </a:lnTo>
                  <a:lnTo>
                    <a:pt x="6383973" y="0"/>
                  </a:lnTo>
                  <a:lnTo>
                    <a:pt x="6457501" y="0"/>
                  </a:lnTo>
                  <a:lnTo>
                    <a:pt x="6486329" y="0"/>
                  </a:lnTo>
                  <a:lnTo>
                    <a:pt x="6753737" y="0"/>
                  </a:lnTo>
                  <a:lnTo>
                    <a:pt x="6782565" y="0"/>
                  </a:lnTo>
                  <a:lnTo>
                    <a:pt x="7160887" y="0"/>
                  </a:lnTo>
                  <a:close/>
                </a:path>
              </a:pathLst>
            </a:cu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21" name="组合 20">
              <a:extLst>
                <a:ext uri="{FF2B5EF4-FFF2-40B4-BE49-F238E27FC236}">
                  <a16:creationId xmlns:a16="http://schemas.microsoft.com/office/drawing/2014/main" id="{3090E394-CAD8-4608-AB3C-095707B38B74}"/>
                </a:ext>
              </a:extLst>
            </p:cNvPr>
            <p:cNvGrpSpPr/>
            <p:nvPr userDrawn="1"/>
          </p:nvGrpSpPr>
          <p:grpSpPr>
            <a:xfrm>
              <a:off x="5080" y="310184"/>
              <a:ext cx="2139950" cy="461666"/>
              <a:chOff x="5080" y="257852"/>
              <a:chExt cx="2139950" cy="461666"/>
            </a:xfrm>
          </p:grpSpPr>
          <p:sp>
            <p:nvSpPr>
              <p:cNvPr id="22" name="任意多边形: 形状 21">
                <a:extLst>
                  <a:ext uri="{FF2B5EF4-FFF2-40B4-BE49-F238E27FC236}">
                    <a16:creationId xmlns:a16="http://schemas.microsoft.com/office/drawing/2014/main" id="{F6F21DC9-2B4B-4F31-B714-6947A7102FF1}"/>
                  </a:ext>
                </a:extLst>
              </p:cNvPr>
              <p:cNvSpPr/>
              <p:nvPr/>
            </p:nvSpPr>
            <p:spPr>
              <a:xfrm>
                <a:off x="5080" y="257853"/>
                <a:ext cx="2139950" cy="461665"/>
              </a:xfrm>
              <a:custGeom>
                <a:avLst/>
                <a:gdLst>
                  <a:gd name="connsiteX0" fmla="*/ 0 w 2139950"/>
                  <a:gd name="connsiteY0" fmla="*/ 0 h 461665"/>
                  <a:gd name="connsiteX1" fmla="*/ 241170 w 2139950"/>
                  <a:gd name="connsiteY1" fmla="*/ 0 h 461665"/>
                  <a:gd name="connsiteX2" fmla="*/ 1066800 w 2139950"/>
                  <a:gd name="connsiteY2" fmla="*/ 0 h 461665"/>
                  <a:gd name="connsiteX3" fmla="*/ 2139950 w 2139950"/>
                  <a:gd name="connsiteY3" fmla="*/ 0 h 461665"/>
                  <a:gd name="connsiteX4" fmla="*/ 1903887 w 2139950"/>
                  <a:gd name="connsiteY4" fmla="*/ 461665 h 461665"/>
                  <a:gd name="connsiteX5" fmla="*/ 1066800 w 2139950"/>
                  <a:gd name="connsiteY5" fmla="*/ 461665 h 461665"/>
                  <a:gd name="connsiteX6" fmla="*/ 5107 w 2139950"/>
                  <a:gd name="connsiteY6" fmla="*/ 461665 h 461665"/>
                  <a:gd name="connsiteX7" fmla="*/ 0 w 2139950"/>
                  <a:gd name="connsiteY7" fmla="*/ 461665 h 461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9950" h="461665">
                    <a:moveTo>
                      <a:pt x="0" y="0"/>
                    </a:moveTo>
                    <a:lnTo>
                      <a:pt x="241170" y="0"/>
                    </a:lnTo>
                    <a:lnTo>
                      <a:pt x="1066800" y="0"/>
                    </a:lnTo>
                    <a:lnTo>
                      <a:pt x="2139950" y="0"/>
                    </a:lnTo>
                    <a:lnTo>
                      <a:pt x="1903887" y="461665"/>
                    </a:lnTo>
                    <a:lnTo>
                      <a:pt x="1066800" y="461665"/>
                    </a:lnTo>
                    <a:lnTo>
                      <a:pt x="5107" y="461665"/>
                    </a:lnTo>
                    <a:lnTo>
                      <a:pt x="0" y="461665"/>
                    </a:lnTo>
                    <a:close/>
                  </a:path>
                </a:pathLst>
              </a:cu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3" name="任意多边形: 形状 22">
                <a:extLst>
                  <a:ext uri="{FF2B5EF4-FFF2-40B4-BE49-F238E27FC236}">
                    <a16:creationId xmlns:a16="http://schemas.microsoft.com/office/drawing/2014/main" id="{26A6280D-7387-42D7-AF50-4A27EF082C83}"/>
                  </a:ext>
                </a:extLst>
              </p:cNvPr>
              <p:cNvSpPr/>
              <p:nvPr/>
            </p:nvSpPr>
            <p:spPr>
              <a:xfrm>
                <a:off x="1743091" y="257852"/>
                <a:ext cx="344013" cy="461665"/>
              </a:xfrm>
              <a:custGeom>
                <a:avLst/>
                <a:gdLst>
                  <a:gd name="connsiteX0" fmla="*/ 236063 w 344013"/>
                  <a:gd name="connsiteY0" fmla="*/ 0 h 461665"/>
                  <a:gd name="connsiteX1" fmla="*/ 344013 w 344013"/>
                  <a:gd name="connsiteY1" fmla="*/ 0 h 461665"/>
                  <a:gd name="connsiteX2" fmla="*/ 107950 w 344013"/>
                  <a:gd name="connsiteY2" fmla="*/ 461665 h 461665"/>
                  <a:gd name="connsiteX3" fmla="*/ 0 w 344013"/>
                  <a:gd name="connsiteY3" fmla="*/ 461665 h 461665"/>
                  <a:gd name="connsiteX4" fmla="*/ 236063 w 344013"/>
                  <a:gd name="connsiteY4" fmla="*/ 0 h 461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013" h="461665">
                    <a:moveTo>
                      <a:pt x="236063" y="0"/>
                    </a:moveTo>
                    <a:lnTo>
                      <a:pt x="344013" y="0"/>
                    </a:lnTo>
                    <a:lnTo>
                      <a:pt x="107950" y="461665"/>
                    </a:lnTo>
                    <a:lnTo>
                      <a:pt x="0" y="461665"/>
                    </a:lnTo>
                    <a:lnTo>
                      <a:pt x="236063" y="0"/>
                    </a:lnTo>
                    <a:close/>
                  </a:path>
                </a:pathLst>
              </a:custGeom>
              <a:solidFill>
                <a:schemeClr val="accent1">
                  <a:lumMod val="20000"/>
                  <a:lumOff val="80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cxnSp>
        <p:nvCxnSpPr>
          <p:cNvPr id="25" name="直接连接符 24">
            <a:extLst>
              <a:ext uri="{FF2B5EF4-FFF2-40B4-BE49-F238E27FC236}">
                <a16:creationId xmlns:a16="http://schemas.microsoft.com/office/drawing/2014/main" id="{F5177726-E438-43ED-B07E-98457F6343F7}"/>
              </a:ext>
            </a:extLst>
          </p:cNvPr>
          <p:cNvCxnSpPr/>
          <p:nvPr userDrawn="1"/>
        </p:nvCxnSpPr>
        <p:spPr>
          <a:xfrm>
            <a:off x="0" y="738828"/>
            <a:ext cx="91440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标题 1">
            <a:extLst>
              <a:ext uri="{FF2B5EF4-FFF2-40B4-BE49-F238E27FC236}">
                <a16:creationId xmlns:a16="http://schemas.microsoft.com/office/drawing/2014/main" id="{92F6DD47-FE4F-419C-96D9-91A2BB395BA1}"/>
              </a:ext>
            </a:extLst>
          </p:cNvPr>
          <p:cNvSpPr>
            <a:spLocks noGrp="1"/>
          </p:cNvSpPr>
          <p:nvPr>
            <p:ph type="title"/>
          </p:nvPr>
        </p:nvSpPr>
        <p:spPr>
          <a:xfrm>
            <a:off x="2145030" y="254000"/>
            <a:ext cx="7004050" cy="517850"/>
          </a:xfrm>
        </p:spPr>
        <p:txBody>
          <a:bodyPr>
            <a:normAutofit/>
          </a:bodyPr>
          <a:lstStyle>
            <a:lvl1pPr>
              <a:defRPr sz="2800" b="1">
                <a:solidFill>
                  <a:schemeClr val="accent2"/>
                </a:solidFill>
              </a:defRPr>
            </a:lvl1pPr>
          </a:lstStyle>
          <a:p>
            <a:r>
              <a:rPr lang="zh-CN" altLang="en-US" dirty="0"/>
              <a:t>单击此处编辑母版标题样式</a:t>
            </a:r>
          </a:p>
        </p:txBody>
      </p:sp>
      <p:sp>
        <p:nvSpPr>
          <p:cNvPr id="24" name="矩形 23">
            <a:extLst>
              <a:ext uri="{FF2B5EF4-FFF2-40B4-BE49-F238E27FC236}">
                <a16:creationId xmlns:a16="http://schemas.microsoft.com/office/drawing/2014/main" id="{D777A4BA-1AC6-4EEC-90D5-0542C1412E1C}"/>
              </a:ext>
            </a:extLst>
          </p:cNvPr>
          <p:cNvSpPr/>
          <p:nvPr userDrawn="1"/>
        </p:nvSpPr>
        <p:spPr>
          <a:xfrm>
            <a:off x="0" y="0"/>
            <a:ext cx="9144000" cy="517849"/>
          </a:xfrm>
          <a:prstGeom prst="rect">
            <a:avLst/>
          </a:prstGeom>
          <a:gradFill>
            <a:gsLst>
              <a:gs pos="0">
                <a:schemeClr val="bg1">
                  <a:alpha val="57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94637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两栏内容">
    <p:spTree>
      <p:nvGrpSpPr>
        <p:cNvPr id="1" name=""/>
        <p:cNvGrpSpPr/>
        <p:nvPr/>
      </p:nvGrpSpPr>
      <p:grpSpPr>
        <a:xfrm>
          <a:off x="0" y="0"/>
          <a:ext cx="0" cy="0"/>
          <a:chOff x="0" y="0"/>
          <a:chExt cx="0" cy="0"/>
        </a:xfrm>
      </p:grpSpPr>
      <p:pic>
        <p:nvPicPr>
          <p:cNvPr id="14" name="图片 13" descr="模糊的照片&#10;&#10;描述已自动生成">
            <a:extLst>
              <a:ext uri="{FF2B5EF4-FFF2-40B4-BE49-F238E27FC236}">
                <a16:creationId xmlns:a16="http://schemas.microsoft.com/office/drawing/2014/main" id="{FC9C0168-AC7B-48DD-B788-A97A4D1E0277}"/>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flipV="1">
            <a:off x="0" y="0"/>
            <a:ext cx="9144000" cy="1343025"/>
          </a:xfrm>
          <a:prstGeom prst="rect">
            <a:avLst/>
          </a:prstGeom>
        </p:spPr>
      </p:pic>
      <p:sp>
        <p:nvSpPr>
          <p:cNvPr id="18" name="矩形 17">
            <a:extLst>
              <a:ext uri="{FF2B5EF4-FFF2-40B4-BE49-F238E27FC236}">
                <a16:creationId xmlns:a16="http://schemas.microsoft.com/office/drawing/2014/main" id="{2FB2C6CD-3836-49CF-AA23-FC49274117E9}"/>
              </a:ext>
            </a:extLst>
          </p:cNvPr>
          <p:cNvSpPr/>
          <p:nvPr userDrawn="1"/>
        </p:nvSpPr>
        <p:spPr>
          <a:xfrm>
            <a:off x="1866899" y="246068"/>
            <a:ext cx="7277101" cy="482600"/>
          </a:xfrm>
          <a:prstGeom prst="rect">
            <a:avLst/>
          </a:prstGeom>
          <a:gradFill>
            <a:gsLst>
              <a:gs pos="100000">
                <a:schemeClr val="bg1">
                  <a:alpha val="0"/>
                </a:schemeClr>
              </a:gs>
              <a:gs pos="45000">
                <a:srgbClr val="0070C0">
                  <a:alpha val="22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E2E3F422-EA53-4A13-ACD2-F899EB309DC7}"/>
              </a:ext>
            </a:extLst>
          </p:cNvPr>
          <p:cNvGrpSpPr/>
          <p:nvPr userDrawn="1"/>
        </p:nvGrpSpPr>
        <p:grpSpPr>
          <a:xfrm>
            <a:off x="5080" y="256231"/>
            <a:ext cx="9138918" cy="482603"/>
            <a:chOff x="5080" y="310182"/>
            <a:chExt cx="9138918" cy="461668"/>
          </a:xfrm>
        </p:grpSpPr>
        <p:sp>
          <p:nvSpPr>
            <p:cNvPr id="20" name="任意多边形: 形状 19">
              <a:extLst>
                <a:ext uri="{FF2B5EF4-FFF2-40B4-BE49-F238E27FC236}">
                  <a16:creationId xmlns:a16="http://schemas.microsoft.com/office/drawing/2014/main" id="{7ADE69C2-3FEA-466B-B9AE-5EAEC5806FE2}"/>
                </a:ext>
              </a:extLst>
            </p:cNvPr>
            <p:cNvSpPr/>
            <p:nvPr userDrawn="1"/>
          </p:nvSpPr>
          <p:spPr>
            <a:xfrm flipH="1" flipV="1">
              <a:off x="1866899" y="310182"/>
              <a:ext cx="7277099" cy="461665"/>
            </a:xfrm>
            <a:custGeom>
              <a:avLst/>
              <a:gdLst>
                <a:gd name="connsiteX0" fmla="*/ 6924824 w 7160887"/>
                <a:gd name="connsiteY0" fmla="*/ 461665 h 461665"/>
                <a:gd name="connsiteX1" fmla="*/ 6546502 w 7160887"/>
                <a:gd name="connsiteY1" fmla="*/ 461665 h 461665"/>
                <a:gd name="connsiteX2" fmla="*/ 6517674 w 7160887"/>
                <a:gd name="connsiteY2" fmla="*/ 461665 h 461665"/>
                <a:gd name="connsiteX3" fmla="*/ 6383973 w 7160887"/>
                <a:gd name="connsiteY3" fmla="*/ 461665 h 461665"/>
                <a:gd name="connsiteX4" fmla="*/ 6250266 w 7160887"/>
                <a:gd name="connsiteY4" fmla="*/ 461665 h 461665"/>
                <a:gd name="connsiteX5" fmla="*/ 6221438 w 7160887"/>
                <a:gd name="connsiteY5" fmla="*/ 461665 h 461665"/>
                <a:gd name="connsiteX6" fmla="*/ 6087737 w 7160887"/>
                <a:gd name="connsiteY6" fmla="*/ 461665 h 461665"/>
                <a:gd name="connsiteX7" fmla="*/ 5843116 w 7160887"/>
                <a:gd name="connsiteY7" fmla="*/ 461665 h 461665"/>
                <a:gd name="connsiteX8" fmla="*/ 5721138 w 7160887"/>
                <a:gd name="connsiteY8" fmla="*/ 461665 h 461665"/>
                <a:gd name="connsiteX9" fmla="*/ 5709415 w 7160887"/>
                <a:gd name="connsiteY9" fmla="*/ 461665 h 461665"/>
                <a:gd name="connsiteX10" fmla="*/ 5680587 w 7160887"/>
                <a:gd name="connsiteY10" fmla="*/ 461665 h 461665"/>
                <a:gd name="connsiteX11" fmla="*/ 5546880 w 7160887"/>
                <a:gd name="connsiteY11" fmla="*/ 461665 h 461665"/>
                <a:gd name="connsiteX12" fmla="*/ 5424902 w 7160887"/>
                <a:gd name="connsiteY12" fmla="*/ 461665 h 461665"/>
                <a:gd name="connsiteX13" fmla="*/ 5413179 w 7160887"/>
                <a:gd name="connsiteY13" fmla="*/ 461665 h 461665"/>
                <a:gd name="connsiteX14" fmla="*/ 5384351 w 7160887"/>
                <a:gd name="connsiteY14" fmla="*/ 461665 h 461665"/>
                <a:gd name="connsiteX15" fmla="*/ 5322280 w 7160887"/>
                <a:gd name="connsiteY15" fmla="*/ 461665 h 461665"/>
                <a:gd name="connsiteX16" fmla="*/ 5317173 w 7160887"/>
                <a:gd name="connsiteY16" fmla="*/ 461665 h 461665"/>
                <a:gd name="connsiteX17" fmla="*/ 5046580 w 7160887"/>
                <a:gd name="connsiteY17" fmla="*/ 461665 h 461665"/>
                <a:gd name="connsiteX18" fmla="*/ 5026044 w 7160887"/>
                <a:gd name="connsiteY18" fmla="*/ 461665 h 461665"/>
                <a:gd name="connsiteX19" fmla="*/ 5020937 w 7160887"/>
                <a:gd name="connsiteY19" fmla="*/ 461665 h 461665"/>
                <a:gd name="connsiteX20" fmla="*/ 5017752 w 7160887"/>
                <a:gd name="connsiteY20" fmla="*/ 461665 h 461665"/>
                <a:gd name="connsiteX21" fmla="*/ 5006029 w 7160887"/>
                <a:gd name="connsiteY21" fmla="*/ 461665 h 461665"/>
                <a:gd name="connsiteX22" fmla="*/ 4884051 w 7160887"/>
                <a:gd name="connsiteY22" fmla="*/ 461665 h 461665"/>
                <a:gd name="connsiteX23" fmla="*/ 4750344 w 7160887"/>
                <a:gd name="connsiteY23" fmla="*/ 461665 h 461665"/>
                <a:gd name="connsiteX24" fmla="*/ 4721516 w 7160887"/>
                <a:gd name="connsiteY24" fmla="*/ 461665 h 461665"/>
                <a:gd name="connsiteX25" fmla="*/ 4709793 w 7160887"/>
                <a:gd name="connsiteY25" fmla="*/ 461665 h 461665"/>
                <a:gd name="connsiteX26" fmla="*/ 4647722 w 7160887"/>
                <a:gd name="connsiteY26" fmla="*/ 461665 h 461665"/>
                <a:gd name="connsiteX27" fmla="*/ 4642615 w 7160887"/>
                <a:gd name="connsiteY27" fmla="*/ 461665 h 461665"/>
                <a:gd name="connsiteX28" fmla="*/ 4618894 w 7160887"/>
                <a:gd name="connsiteY28" fmla="*/ 461665 h 461665"/>
                <a:gd name="connsiteX29" fmla="*/ 4613787 w 7160887"/>
                <a:gd name="connsiteY29" fmla="*/ 461665 h 461665"/>
                <a:gd name="connsiteX30" fmla="*/ 4587815 w 7160887"/>
                <a:gd name="connsiteY30" fmla="*/ 461665 h 461665"/>
                <a:gd name="connsiteX31" fmla="*/ 4443126 w 7160887"/>
                <a:gd name="connsiteY31" fmla="*/ 461665 h 461665"/>
                <a:gd name="connsiteX32" fmla="*/ 4351486 w 7160887"/>
                <a:gd name="connsiteY32" fmla="*/ 461665 h 461665"/>
                <a:gd name="connsiteX33" fmla="*/ 4346379 w 7160887"/>
                <a:gd name="connsiteY33" fmla="*/ 461665 h 461665"/>
                <a:gd name="connsiteX34" fmla="*/ 4343194 w 7160887"/>
                <a:gd name="connsiteY34" fmla="*/ 461665 h 461665"/>
                <a:gd name="connsiteX35" fmla="*/ 4322658 w 7160887"/>
                <a:gd name="connsiteY35" fmla="*/ 461665 h 461665"/>
                <a:gd name="connsiteX36" fmla="*/ 4317551 w 7160887"/>
                <a:gd name="connsiteY36" fmla="*/ 461665 h 461665"/>
                <a:gd name="connsiteX37" fmla="*/ 4209493 w 7160887"/>
                <a:gd name="connsiteY37" fmla="*/ 461665 h 461665"/>
                <a:gd name="connsiteX38" fmla="*/ 4180665 w 7160887"/>
                <a:gd name="connsiteY38" fmla="*/ 461665 h 461665"/>
                <a:gd name="connsiteX39" fmla="*/ 4146890 w 7160887"/>
                <a:gd name="connsiteY39" fmla="*/ 461665 h 461665"/>
                <a:gd name="connsiteX40" fmla="*/ 4046958 w 7160887"/>
                <a:gd name="connsiteY40" fmla="*/ 461665 h 461665"/>
                <a:gd name="connsiteX41" fmla="*/ 3944336 w 7160887"/>
                <a:gd name="connsiteY41" fmla="*/ 461665 h 461665"/>
                <a:gd name="connsiteX42" fmla="*/ 3939229 w 7160887"/>
                <a:gd name="connsiteY42" fmla="*/ 461665 h 461665"/>
                <a:gd name="connsiteX43" fmla="*/ 3913257 w 7160887"/>
                <a:gd name="connsiteY43" fmla="*/ 461665 h 461665"/>
                <a:gd name="connsiteX44" fmla="*/ 3884429 w 7160887"/>
                <a:gd name="connsiteY44" fmla="*/ 461665 h 461665"/>
                <a:gd name="connsiteX45" fmla="*/ 3822358 w 7160887"/>
                <a:gd name="connsiteY45" fmla="*/ 461665 h 461665"/>
                <a:gd name="connsiteX46" fmla="*/ 3817251 w 7160887"/>
                <a:gd name="connsiteY46" fmla="*/ 461665 h 461665"/>
                <a:gd name="connsiteX47" fmla="*/ 3768568 w 7160887"/>
                <a:gd name="connsiteY47" fmla="*/ 461665 h 461665"/>
                <a:gd name="connsiteX48" fmla="*/ 3739740 w 7160887"/>
                <a:gd name="connsiteY48" fmla="*/ 461665 h 461665"/>
                <a:gd name="connsiteX49" fmla="*/ 3648100 w 7160887"/>
                <a:gd name="connsiteY49" fmla="*/ 461665 h 461665"/>
                <a:gd name="connsiteX50" fmla="*/ 3642993 w 7160887"/>
                <a:gd name="connsiteY50" fmla="*/ 461665 h 461665"/>
                <a:gd name="connsiteX51" fmla="*/ 3606039 w 7160887"/>
                <a:gd name="connsiteY51" fmla="*/ 461665 h 461665"/>
                <a:gd name="connsiteX52" fmla="*/ 3526122 w 7160887"/>
                <a:gd name="connsiteY52" fmla="*/ 461665 h 461665"/>
                <a:gd name="connsiteX53" fmla="*/ 3521015 w 7160887"/>
                <a:gd name="connsiteY53" fmla="*/ 461665 h 461665"/>
                <a:gd name="connsiteX54" fmla="*/ 3506107 w 7160887"/>
                <a:gd name="connsiteY54" fmla="*/ 461665 h 461665"/>
                <a:gd name="connsiteX55" fmla="*/ 3472332 w 7160887"/>
                <a:gd name="connsiteY55" fmla="*/ 461665 h 461665"/>
                <a:gd name="connsiteX56" fmla="*/ 3443504 w 7160887"/>
                <a:gd name="connsiteY56" fmla="*/ 461665 h 461665"/>
                <a:gd name="connsiteX57" fmla="*/ 3309803 w 7160887"/>
                <a:gd name="connsiteY57" fmla="*/ 461665 h 461665"/>
                <a:gd name="connsiteX58" fmla="*/ 3281831 w 7160887"/>
                <a:gd name="connsiteY58" fmla="*/ 461665 h 461665"/>
                <a:gd name="connsiteX59" fmla="*/ 3209871 w 7160887"/>
                <a:gd name="connsiteY59" fmla="*/ 461665 h 461665"/>
                <a:gd name="connsiteX60" fmla="*/ 3147800 w 7160887"/>
                <a:gd name="connsiteY60" fmla="*/ 461665 h 461665"/>
                <a:gd name="connsiteX61" fmla="*/ 3142693 w 7160887"/>
                <a:gd name="connsiteY61" fmla="*/ 461665 h 461665"/>
                <a:gd name="connsiteX62" fmla="*/ 3118972 w 7160887"/>
                <a:gd name="connsiteY62" fmla="*/ 461665 h 461665"/>
                <a:gd name="connsiteX63" fmla="*/ 3113865 w 7160887"/>
                <a:gd name="connsiteY63" fmla="*/ 461665 h 461665"/>
                <a:gd name="connsiteX64" fmla="*/ 3065182 w 7160887"/>
                <a:gd name="connsiteY64" fmla="*/ 461665 h 461665"/>
                <a:gd name="connsiteX65" fmla="*/ 2985595 w 7160887"/>
                <a:gd name="connsiteY65" fmla="*/ 461665 h 461665"/>
                <a:gd name="connsiteX66" fmla="*/ 2931481 w 7160887"/>
                <a:gd name="connsiteY66" fmla="*/ 461665 h 461665"/>
                <a:gd name="connsiteX67" fmla="*/ 2902653 w 7160887"/>
                <a:gd name="connsiteY67" fmla="*/ 461665 h 461665"/>
                <a:gd name="connsiteX68" fmla="*/ 2851564 w 7160887"/>
                <a:gd name="connsiteY68" fmla="*/ 461665 h 461665"/>
                <a:gd name="connsiteX69" fmla="*/ 2846457 w 7160887"/>
                <a:gd name="connsiteY69" fmla="*/ 461665 h 461665"/>
                <a:gd name="connsiteX70" fmla="*/ 2822736 w 7160887"/>
                <a:gd name="connsiteY70" fmla="*/ 461665 h 461665"/>
                <a:gd name="connsiteX71" fmla="*/ 2817629 w 7160887"/>
                <a:gd name="connsiteY71" fmla="*/ 461665 h 461665"/>
                <a:gd name="connsiteX72" fmla="*/ 2768946 w 7160887"/>
                <a:gd name="connsiteY72" fmla="*/ 461665 h 461665"/>
                <a:gd name="connsiteX73" fmla="*/ 2635245 w 7160887"/>
                <a:gd name="connsiteY73" fmla="*/ 461665 h 461665"/>
                <a:gd name="connsiteX74" fmla="*/ 2607273 w 7160887"/>
                <a:gd name="connsiteY74" fmla="*/ 461665 h 461665"/>
                <a:gd name="connsiteX75" fmla="*/ 2606417 w 7160887"/>
                <a:gd name="connsiteY75" fmla="*/ 461665 h 461665"/>
                <a:gd name="connsiteX76" fmla="*/ 2578445 w 7160887"/>
                <a:gd name="connsiteY76" fmla="*/ 461665 h 461665"/>
                <a:gd name="connsiteX77" fmla="*/ 2544346 w 7160887"/>
                <a:gd name="connsiteY77" fmla="*/ 461665 h 461665"/>
                <a:gd name="connsiteX78" fmla="*/ 2539239 w 7160887"/>
                <a:gd name="connsiteY78" fmla="*/ 461665 h 461665"/>
                <a:gd name="connsiteX79" fmla="*/ 2444744 w 7160887"/>
                <a:gd name="connsiteY79" fmla="*/ 461665 h 461665"/>
                <a:gd name="connsiteX80" fmla="*/ 2444414 w 7160887"/>
                <a:gd name="connsiteY80" fmla="*/ 461665 h 461665"/>
                <a:gd name="connsiteX81" fmla="*/ 2439307 w 7160887"/>
                <a:gd name="connsiteY81" fmla="*/ 461665 h 461665"/>
                <a:gd name="connsiteX82" fmla="*/ 2311037 w 7160887"/>
                <a:gd name="connsiteY82" fmla="*/ 461665 h 461665"/>
                <a:gd name="connsiteX83" fmla="*/ 2282209 w 7160887"/>
                <a:gd name="connsiteY83" fmla="*/ 461665 h 461665"/>
                <a:gd name="connsiteX84" fmla="*/ 2248110 w 7160887"/>
                <a:gd name="connsiteY84" fmla="*/ 461665 h 461665"/>
                <a:gd name="connsiteX85" fmla="*/ 2243003 w 7160887"/>
                <a:gd name="connsiteY85" fmla="*/ 461665 h 461665"/>
                <a:gd name="connsiteX86" fmla="*/ 2228095 w 7160887"/>
                <a:gd name="connsiteY86" fmla="*/ 461665 h 461665"/>
                <a:gd name="connsiteX87" fmla="*/ 2148508 w 7160887"/>
                <a:gd name="connsiteY87" fmla="*/ 461665 h 461665"/>
                <a:gd name="connsiteX88" fmla="*/ 2148178 w 7160887"/>
                <a:gd name="connsiteY88" fmla="*/ 461665 h 461665"/>
                <a:gd name="connsiteX89" fmla="*/ 2143071 w 7160887"/>
                <a:gd name="connsiteY89" fmla="*/ 461665 h 461665"/>
                <a:gd name="connsiteX90" fmla="*/ 1931859 w 7160887"/>
                <a:gd name="connsiteY90" fmla="*/ 461665 h 461665"/>
                <a:gd name="connsiteX91" fmla="*/ 1903887 w 7160887"/>
                <a:gd name="connsiteY91" fmla="*/ 461665 h 461665"/>
                <a:gd name="connsiteX92" fmla="*/ 1869788 w 7160887"/>
                <a:gd name="connsiteY92" fmla="*/ 461665 h 461665"/>
                <a:gd name="connsiteX93" fmla="*/ 1864681 w 7160887"/>
                <a:gd name="connsiteY93" fmla="*/ 461665 h 461665"/>
                <a:gd name="connsiteX94" fmla="*/ 1840960 w 7160887"/>
                <a:gd name="connsiteY94" fmla="*/ 461665 h 461665"/>
                <a:gd name="connsiteX95" fmla="*/ 1835853 w 7160887"/>
                <a:gd name="connsiteY95" fmla="*/ 461665 h 461665"/>
                <a:gd name="connsiteX96" fmla="*/ 1770186 w 7160887"/>
                <a:gd name="connsiteY96" fmla="*/ 461665 h 461665"/>
                <a:gd name="connsiteX97" fmla="*/ 1741358 w 7160887"/>
                <a:gd name="connsiteY97" fmla="*/ 461665 h 461665"/>
                <a:gd name="connsiteX98" fmla="*/ 1607651 w 7160887"/>
                <a:gd name="connsiteY98" fmla="*/ 461665 h 461665"/>
                <a:gd name="connsiteX99" fmla="*/ 1573552 w 7160887"/>
                <a:gd name="connsiteY99" fmla="*/ 461665 h 461665"/>
                <a:gd name="connsiteX100" fmla="*/ 1568445 w 7160887"/>
                <a:gd name="connsiteY100" fmla="*/ 461665 h 461665"/>
                <a:gd name="connsiteX101" fmla="*/ 1544724 w 7160887"/>
                <a:gd name="connsiteY101" fmla="*/ 461665 h 461665"/>
                <a:gd name="connsiteX102" fmla="*/ 1539617 w 7160887"/>
                <a:gd name="connsiteY102" fmla="*/ 461665 h 461665"/>
                <a:gd name="connsiteX103" fmla="*/ 1473950 w 7160887"/>
                <a:gd name="connsiteY103" fmla="*/ 461665 h 461665"/>
                <a:gd name="connsiteX104" fmla="*/ 1445122 w 7160887"/>
                <a:gd name="connsiteY104" fmla="*/ 461665 h 461665"/>
                <a:gd name="connsiteX105" fmla="*/ 1383051 w 7160887"/>
                <a:gd name="connsiteY105" fmla="*/ 461665 h 461665"/>
                <a:gd name="connsiteX106" fmla="*/ 1377944 w 7160887"/>
                <a:gd name="connsiteY106" fmla="*/ 461665 h 461665"/>
                <a:gd name="connsiteX107" fmla="*/ 1166402 w 7160887"/>
                <a:gd name="connsiteY107" fmla="*/ 461665 h 461665"/>
                <a:gd name="connsiteX108" fmla="*/ 1161295 w 7160887"/>
                <a:gd name="connsiteY108" fmla="*/ 461665 h 461665"/>
                <a:gd name="connsiteX109" fmla="*/ 1086815 w 7160887"/>
                <a:gd name="connsiteY109" fmla="*/ 461665 h 461665"/>
                <a:gd name="connsiteX110" fmla="*/ 1081708 w 7160887"/>
                <a:gd name="connsiteY110" fmla="*/ 461665 h 461665"/>
                <a:gd name="connsiteX111" fmla="*/ 1066800 w 7160887"/>
                <a:gd name="connsiteY111" fmla="*/ 461665 h 461665"/>
                <a:gd name="connsiteX112" fmla="*/ 870166 w 7160887"/>
                <a:gd name="connsiteY112" fmla="*/ 461665 h 461665"/>
                <a:gd name="connsiteX113" fmla="*/ 865059 w 7160887"/>
                <a:gd name="connsiteY113" fmla="*/ 461665 h 461665"/>
                <a:gd name="connsiteX114" fmla="*/ 770564 w 7160887"/>
                <a:gd name="connsiteY114" fmla="*/ 461665 h 461665"/>
                <a:gd name="connsiteX115" fmla="*/ 708493 w 7160887"/>
                <a:gd name="connsiteY115" fmla="*/ 461665 h 461665"/>
                <a:gd name="connsiteX116" fmla="*/ 703386 w 7160887"/>
                <a:gd name="connsiteY116" fmla="*/ 461665 h 461665"/>
                <a:gd name="connsiteX117" fmla="*/ 679665 w 7160887"/>
                <a:gd name="connsiteY117" fmla="*/ 461665 h 461665"/>
                <a:gd name="connsiteX118" fmla="*/ 674558 w 7160887"/>
                <a:gd name="connsiteY118" fmla="*/ 461665 h 461665"/>
                <a:gd name="connsiteX119" fmla="*/ 412257 w 7160887"/>
                <a:gd name="connsiteY119" fmla="*/ 461665 h 461665"/>
                <a:gd name="connsiteX120" fmla="*/ 407150 w 7160887"/>
                <a:gd name="connsiteY120" fmla="*/ 461665 h 461665"/>
                <a:gd name="connsiteX121" fmla="*/ 383429 w 7160887"/>
                <a:gd name="connsiteY121" fmla="*/ 461665 h 461665"/>
                <a:gd name="connsiteX122" fmla="*/ 378322 w 7160887"/>
                <a:gd name="connsiteY122" fmla="*/ 461665 h 461665"/>
                <a:gd name="connsiteX123" fmla="*/ 5107 w 7160887"/>
                <a:gd name="connsiteY123" fmla="*/ 461665 h 461665"/>
                <a:gd name="connsiteX124" fmla="*/ 0 w 7160887"/>
                <a:gd name="connsiteY124" fmla="*/ 461665 h 461665"/>
                <a:gd name="connsiteX125" fmla="*/ 0 w 7160887"/>
                <a:gd name="connsiteY125" fmla="*/ 0 h 461665"/>
                <a:gd name="connsiteX126" fmla="*/ 241170 w 7160887"/>
                <a:gd name="connsiteY126" fmla="*/ 0 h 461665"/>
                <a:gd name="connsiteX127" fmla="*/ 378322 w 7160887"/>
                <a:gd name="connsiteY127" fmla="*/ 0 h 461665"/>
                <a:gd name="connsiteX128" fmla="*/ 407150 w 7160887"/>
                <a:gd name="connsiteY128" fmla="*/ 0 h 461665"/>
                <a:gd name="connsiteX129" fmla="*/ 619492 w 7160887"/>
                <a:gd name="connsiteY129" fmla="*/ 0 h 461665"/>
                <a:gd name="connsiteX130" fmla="*/ 648320 w 7160887"/>
                <a:gd name="connsiteY130" fmla="*/ 0 h 461665"/>
                <a:gd name="connsiteX131" fmla="*/ 674558 w 7160887"/>
                <a:gd name="connsiteY131" fmla="*/ 0 h 461665"/>
                <a:gd name="connsiteX132" fmla="*/ 703386 w 7160887"/>
                <a:gd name="connsiteY132" fmla="*/ 0 h 461665"/>
                <a:gd name="connsiteX133" fmla="*/ 770564 w 7160887"/>
                <a:gd name="connsiteY133" fmla="*/ 0 h 461665"/>
                <a:gd name="connsiteX134" fmla="*/ 865059 w 7160887"/>
                <a:gd name="connsiteY134" fmla="*/ 0 h 461665"/>
                <a:gd name="connsiteX135" fmla="*/ 915728 w 7160887"/>
                <a:gd name="connsiteY135" fmla="*/ 0 h 461665"/>
                <a:gd name="connsiteX136" fmla="*/ 944556 w 7160887"/>
                <a:gd name="connsiteY136" fmla="*/ 0 h 461665"/>
                <a:gd name="connsiteX137" fmla="*/ 1066800 w 7160887"/>
                <a:gd name="connsiteY137" fmla="*/ 0 h 461665"/>
                <a:gd name="connsiteX138" fmla="*/ 1081708 w 7160887"/>
                <a:gd name="connsiteY138" fmla="*/ 0 h 461665"/>
                <a:gd name="connsiteX139" fmla="*/ 1106229 w 7160887"/>
                <a:gd name="connsiteY139" fmla="*/ 0 h 461665"/>
                <a:gd name="connsiteX140" fmla="*/ 1161295 w 7160887"/>
                <a:gd name="connsiteY140" fmla="*/ 0 h 461665"/>
                <a:gd name="connsiteX141" fmla="*/ 1322878 w 7160887"/>
                <a:gd name="connsiteY141" fmla="*/ 0 h 461665"/>
                <a:gd name="connsiteX142" fmla="*/ 1377944 w 7160887"/>
                <a:gd name="connsiteY142" fmla="*/ 0 h 461665"/>
                <a:gd name="connsiteX143" fmla="*/ 1402465 w 7160887"/>
                <a:gd name="connsiteY143" fmla="*/ 0 h 461665"/>
                <a:gd name="connsiteX144" fmla="*/ 1445122 w 7160887"/>
                <a:gd name="connsiteY144" fmla="*/ 0 h 461665"/>
                <a:gd name="connsiteX145" fmla="*/ 1473950 w 7160887"/>
                <a:gd name="connsiteY145" fmla="*/ 0 h 461665"/>
                <a:gd name="connsiteX146" fmla="*/ 1539617 w 7160887"/>
                <a:gd name="connsiteY146" fmla="*/ 0 h 461665"/>
                <a:gd name="connsiteX147" fmla="*/ 1568445 w 7160887"/>
                <a:gd name="connsiteY147" fmla="*/ 0 h 461665"/>
                <a:gd name="connsiteX148" fmla="*/ 1619114 w 7160887"/>
                <a:gd name="connsiteY148" fmla="*/ 0 h 461665"/>
                <a:gd name="connsiteX149" fmla="*/ 1741358 w 7160887"/>
                <a:gd name="connsiteY149" fmla="*/ 0 h 461665"/>
                <a:gd name="connsiteX150" fmla="*/ 1770186 w 7160887"/>
                <a:gd name="connsiteY150" fmla="*/ 0 h 461665"/>
                <a:gd name="connsiteX151" fmla="*/ 1780787 w 7160887"/>
                <a:gd name="connsiteY151" fmla="*/ 0 h 461665"/>
                <a:gd name="connsiteX152" fmla="*/ 1809615 w 7160887"/>
                <a:gd name="connsiteY152" fmla="*/ 0 h 461665"/>
                <a:gd name="connsiteX153" fmla="*/ 1835853 w 7160887"/>
                <a:gd name="connsiteY153" fmla="*/ 0 h 461665"/>
                <a:gd name="connsiteX154" fmla="*/ 1843714 w 7160887"/>
                <a:gd name="connsiteY154" fmla="*/ 0 h 461665"/>
                <a:gd name="connsiteX155" fmla="*/ 1864681 w 7160887"/>
                <a:gd name="connsiteY155" fmla="*/ 0 h 461665"/>
                <a:gd name="connsiteX156" fmla="*/ 1931859 w 7160887"/>
                <a:gd name="connsiteY156" fmla="*/ 0 h 461665"/>
                <a:gd name="connsiteX157" fmla="*/ 2077023 w 7160887"/>
                <a:gd name="connsiteY157" fmla="*/ 0 h 461665"/>
                <a:gd name="connsiteX158" fmla="*/ 2105851 w 7160887"/>
                <a:gd name="connsiteY158" fmla="*/ 0 h 461665"/>
                <a:gd name="connsiteX159" fmla="*/ 2139950 w 7160887"/>
                <a:gd name="connsiteY159" fmla="*/ 0 h 461665"/>
                <a:gd name="connsiteX160" fmla="*/ 2143071 w 7160887"/>
                <a:gd name="connsiteY160" fmla="*/ 0 h 461665"/>
                <a:gd name="connsiteX161" fmla="*/ 2148508 w 7160887"/>
                <a:gd name="connsiteY161" fmla="*/ 0 h 461665"/>
                <a:gd name="connsiteX162" fmla="*/ 2228095 w 7160887"/>
                <a:gd name="connsiteY162" fmla="*/ 0 h 461665"/>
                <a:gd name="connsiteX163" fmla="*/ 2243003 w 7160887"/>
                <a:gd name="connsiteY163" fmla="*/ 0 h 461665"/>
                <a:gd name="connsiteX164" fmla="*/ 2384241 w 7160887"/>
                <a:gd name="connsiteY164" fmla="*/ 0 h 461665"/>
                <a:gd name="connsiteX165" fmla="*/ 2439307 w 7160887"/>
                <a:gd name="connsiteY165" fmla="*/ 0 h 461665"/>
                <a:gd name="connsiteX166" fmla="*/ 2444744 w 7160887"/>
                <a:gd name="connsiteY166" fmla="*/ 0 h 461665"/>
                <a:gd name="connsiteX167" fmla="*/ 2484173 w 7160887"/>
                <a:gd name="connsiteY167" fmla="*/ 0 h 461665"/>
                <a:gd name="connsiteX168" fmla="*/ 2518272 w 7160887"/>
                <a:gd name="connsiteY168" fmla="*/ 0 h 461665"/>
                <a:gd name="connsiteX169" fmla="*/ 2539239 w 7160887"/>
                <a:gd name="connsiteY169" fmla="*/ 0 h 461665"/>
                <a:gd name="connsiteX170" fmla="*/ 2547100 w 7160887"/>
                <a:gd name="connsiteY170" fmla="*/ 0 h 461665"/>
                <a:gd name="connsiteX171" fmla="*/ 2606417 w 7160887"/>
                <a:gd name="connsiteY171" fmla="*/ 0 h 461665"/>
                <a:gd name="connsiteX172" fmla="*/ 2635245 w 7160887"/>
                <a:gd name="connsiteY172" fmla="*/ 0 h 461665"/>
                <a:gd name="connsiteX173" fmla="*/ 2680477 w 7160887"/>
                <a:gd name="connsiteY173" fmla="*/ 0 h 461665"/>
                <a:gd name="connsiteX174" fmla="*/ 2780409 w 7160887"/>
                <a:gd name="connsiteY174" fmla="*/ 0 h 461665"/>
                <a:gd name="connsiteX175" fmla="*/ 2814508 w 7160887"/>
                <a:gd name="connsiteY175" fmla="*/ 0 h 461665"/>
                <a:gd name="connsiteX176" fmla="*/ 2817629 w 7160887"/>
                <a:gd name="connsiteY176" fmla="*/ 0 h 461665"/>
                <a:gd name="connsiteX177" fmla="*/ 2843336 w 7160887"/>
                <a:gd name="connsiteY177" fmla="*/ 0 h 461665"/>
                <a:gd name="connsiteX178" fmla="*/ 2846457 w 7160887"/>
                <a:gd name="connsiteY178" fmla="*/ 0 h 461665"/>
                <a:gd name="connsiteX179" fmla="*/ 2902653 w 7160887"/>
                <a:gd name="connsiteY179" fmla="*/ 0 h 461665"/>
                <a:gd name="connsiteX180" fmla="*/ 2931481 w 7160887"/>
                <a:gd name="connsiteY180" fmla="*/ 0 h 461665"/>
                <a:gd name="connsiteX181" fmla="*/ 3005009 w 7160887"/>
                <a:gd name="connsiteY181" fmla="*/ 0 h 461665"/>
                <a:gd name="connsiteX182" fmla="*/ 3058799 w 7160887"/>
                <a:gd name="connsiteY182" fmla="*/ 0 h 461665"/>
                <a:gd name="connsiteX183" fmla="*/ 3087627 w 7160887"/>
                <a:gd name="connsiteY183" fmla="*/ 0 h 461665"/>
                <a:gd name="connsiteX184" fmla="*/ 3113865 w 7160887"/>
                <a:gd name="connsiteY184" fmla="*/ 0 h 461665"/>
                <a:gd name="connsiteX185" fmla="*/ 3142693 w 7160887"/>
                <a:gd name="connsiteY185" fmla="*/ 0 h 461665"/>
                <a:gd name="connsiteX186" fmla="*/ 3209871 w 7160887"/>
                <a:gd name="connsiteY186" fmla="*/ 0 h 461665"/>
                <a:gd name="connsiteX187" fmla="*/ 3221658 w 7160887"/>
                <a:gd name="connsiteY187" fmla="*/ 0 h 461665"/>
                <a:gd name="connsiteX188" fmla="*/ 3301245 w 7160887"/>
                <a:gd name="connsiteY188" fmla="*/ 0 h 461665"/>
                <a:gd name="connsiteX189" fmla="*/ 3309803 w 7160887"/>
                <a:gd name="connsiteY189" fmla="*/ 0 h 461665"/>
                <a:gd name="connsiteX190" fmla="*/ 3355035 w 7160887"/>
                <a:gd name="connsiteY190" fmla="*/ 0 h 461665"/>
                <a:gd name="connsiteX191" fmla="*/ 3383863 w 7160887"/>
                <a:gd name="connsiteY191" fmla="*/ 0 h 461665"/>
                <a:gd name="connsiteX192" fmla="*/ 3506107 w 7160887"/>
                <a:gd name="connsiteY192" fmla="*/ 0 h 461665"/>
                <a:gd name="connsiteX193" fmla="*/ 3517894 w 7160887"/>
                <a:gd name="connsiteY193" fmla="*/ 0 h 461665"/>
                <a:gd name="connsiteX194" fmla="*/ 3521015 w 7160887"/>
                <a:gd name="connsiteY194" fmla="*/ 0 h 461665"/>
                <a:gd name="connsiteX195" fmla="*/ 3606039 w 7160887"/>
                <a:gd name="connsiteY195" fmla="*/ 0 h 461665"/>
                <a:gd name="connsiteX196" fmla="*/ 3642993 w 7160887"/>
                <a:gd name="connsiteY196" fmla="*/ 0 h 461665"/>
                <a:gd name="connsiteX197" fmla="*/ 3679567 w 7160887"/>
                <a:gd name="connsiteY197" fmla="*/ 0 h 461665"/>
                <a:gd name="connsiteX198" fmla="*/ 3708395 w 7160887"/>
                <a:gd name="connsiteY198" fmla="*/ 0 h 461665"/>
                <a:gd name="connsiteX199" fmla="*/ 3762185 w 7160887"/>
                <a:gd name="connsiteY199" fmla="*/ 0 h 461665"/>
                <a:gd name="connsiteX200" fmla="*/ 3817251 w 7160887"/>
                <a:gd name="connsiteY200" fmla="*/ 0 h 461665"/>
                <a:gd name="connsiteX201" fmla="*/ 3884163 w 7160887"/>
                <a:gd name="connsiteY201" fmla="*/ 0 h 461665"/>
                <a:gd name="connsiteX202" fmla="*/ 3884429 w 7160887"/>
                <a:gd name="connsiteY202" fmla="*/ 0 h 461665"/>
                <a:gd name="connsiteX203" fmla="*/ 3913257 w 7160887"/>
                <a:gd name="connsiteY203" fmla="*/ 0 h 461665"/>
                <a:gd name="connsiteX204" fmla="*/ 3939229 w 7160887"/>
                <a:gd name="connsiteY204" fmla="*/ 0 h 461665"/>
                <a:gd name="connsiteX205" fmla="*/ 3975803 w 7160887"/>
                <a:gd name="connsiteY205" fmla="*/ 0 h 461665"/>
                <a:gd name="connsiteX206" fmla="*/ 4004631 w 7160887"/>
                <a:gd name="connsiteY206" fmla="*/ 0 h 461665"/>
                <a:gd name="connsiteX207" fmla="*/ 4058421 w 7160887"/>
                <a:gd name="connsiteY207" fmla="*/ 0 h 461665"/>
                <a:gd name="connsiteX208" fmla="*/ 4180399 w 7160887"/>
                <a:gd name="connsiteY208" fmla="*/ 0 h 461665"/>
                <a:gd name="connsiteX209" fmla="*/ 4180665 w 7160887"/>
                <a:gd name="connsiteY209" fmla="*/ 0 h 461665"/>
                <a:gd name="connsiteX210" fmla="*/ 4209493 w 7160887"/>
                <a:gd name="connsiteY210" fmla="*/ 0 h 461665"/>
                <a:gd name="connsiteX211" fmla="*/ 4283021 w 7160887"/>
                <a:gd name="connsiteY211" fmla="*/ 0 h 461665"/>
                <a:gd name="connsiteX212" fmla="*/ 4317551 w 7160887"/>
                <a:gd name="connsiteY212" fmla="*/ 0 h 461665"/>
                <a:gd name="connsiteX213" fmla="*/ 4346379 w 7160887"/>
                <a:gd name="connsiteY213" fmla="*/ 0 h 461665"/>
                <a:gd name="connsiteX214" fmla="*/ 4382953 w 7160887"/>
                <a:gd name="connsiteY214" fmla="*/ 0 h 461665"/>
                <a:gd name="connsiteX215" fmla="*/ 4558721 w 7160887"/>
                <a:gd name="connsiteY215" fmla="*/ 0 h 461665"/>
                <a:gd name="connsiteX216" fmla="*/ 4579257 w 7160887"/>
                <a:gd name="connsiteY216" fmla="*/ 0 h 461665"/>
                <a:gd name="connsiteX217" fmla="*/ 4587549 w 7160887"/>
                <a:gd name="connsiteY217" fmla="*/ 0 h 461665"/>
                <a:gd name="connsiteX218" fmla="*/ 4587815 w 7160887"/>
                <a:gd name="connsiteY218" fmla="*/ 0 h 461665"/>
                <a:gd name="connsiteX219" fmla="*/ 4613787 w 7160887"/>
                <a:gd name="connsiteY219" fmla="*/ 0 h 461665"/>
                <a:gd name="connsiteX220" fmla="*/ 4642615 w 7160887"/>
                <a:gd name="connsiteY220" fmla="*/ 0 h 461665"/>
                <a:gd name="connsiteX221" fmla="*/ 4679189 w 7160887"/>
                <a:gd name="connsiteY221" fmla="*/ 0 h 461665"/>
                <a:gd name="connsiteX222" fmla="*/ 4709793 w 7160887"/>
                <a:gd name="connsiteY222" fmla="*/ 0 h 461665"/>
                <a:gd name="connsiteX223" fmla="*/ 4854957 w 7160887"/>
                <a:gd name="connsiteY223" fmla="*/ 0 h 461665"/>
                <a:gd name="connsiteX224" fmla="*/ 4883785 w 7160887"/>
                <a:gd name="connsiteY224" fmla="*/ 0 h 461665"/>
                <a:gd name="connsiteX225" fmla="*/ 4884051 w 7160887"/>
                <a:gd name="connsiteY225" fmla="*/ 0 h 461665"/>
                <a:gd name="connsiteX226" fmla="*/ 4957579 w 7160887"/>
                <a:gd name="connsiteY226" fmla="*/ 0 h 461665"/>
                <a:gd name="connsiteX227" fmla="*/ 4986407 w 7160887"/>
                <a:gd name="connsiteY227" fmla="*/ 0 h 461665"/>
                <a:gd name="connsiteX228" fmla="*/ 5006029 w 7160887"/>
                <a:gd name="connsiteY228" fmla="*/ 0 h 461665"/>
                <a:gd name="connsiteX229" fmla="*/ 5020937 w 7160887"/>
                <a:gd name="connsiteY229" fmla="*/ 0 h 461665"/>
                <a:gd name="connsiteX230" fmla="*/ 5253815 w 7160887"/>
                <a:gd name="connsiteY230" fmla="*/ 0 h 461665"/>
                <a:gd name="connsiteX231" fmla="*/ 5262107 w 7160887"/>
                <a:gd name="connsiteY231" fmla="*/ 0 h 461665"/>
                <a:gd name="connsiteX232" fmla="*/ 5282643 w 7160887"/>
                <a:gd name="connsiteY232" fmla="*/ 0 h 461665"/>
                <a:gd name="connsiteX233" fmla="*/ 5317173 w 7160887"/>
                <a:gd name="connsiteY233" fmla="*/ 0 h 461665"/>
                <a:gd name="connsiteX234" fmla="*/ 5384351 w 7160887"/>
                <a:gd name="connsiteY234" fmla="*/ 0 h 461665"/>
                <a:gd name="connsiteX235" fmla="*/ 5413179 w 7160887"/>
                <a:gd name="connsiteY235" fmla="*/ 0 h 461665"/>
                <a:gd name="connsiteX236" fmla="*/ 5558343 w 7160887"/>
                <a:gd name="connsiteY236" fmla="*/ 0 h 461665"/>
                <a:gd name="connsiteX237" fmla="*/ 5660965 w 7160887"/>
                <a:gd name="connsiteY237" fmla="*/ 0 h 461665"/>
                <a:gd name="connsiteX238" fmla="*/ 5680587 w 7160887"/>
                <a:gd name="connsiteY238" fmla="*/ 0 h 461665"/>
                <a:gd name="connsiteX239" fmla="*/ 5709415 w 7160887"/>
                <a:gd name="connsiteY239" fmla="*/ 0 h 461665"/>
                <a:gd name="connsiteX240" fmla="*/ 5782943 w 7160887"/>
                <a:gd name="connsiteY240" fmla="*/ 0 h 461665"/>
                <a:gd name="connsiteX241" fmla="*/ 5957201 w 7160887"/>
                <a:gd name="connsiteY241" fmla="*/ 0 h 461665"/>
                <a:gd name="connsiteX242" fmla="*/ 6079179 w 7160887"/>
                <a:gd name="connsiteY242" fmla="*/ 0 h 461665"/>
                <a:gd name="connsiteX243" fmla="*/ 6087737 w 7160887"/>
                <a:gd name="connsiteY243" fmla="*/ 0 h 461665"/>
                <a:gd name="connsiteX244" fmla="*/ 6383973 w 7160887"/>
                <a:gd name="connsiteY244" fmla="*/ 0 h 461665"/>
                <a:gd name="connsiteX245" fmla="*/ 6457501 w 7160887"/>
                <a:gd name="connsiteY245" fmla="*/ 0 h 461665"/>
                <a:gd name="connsiteX246" fmla="*/ 6486329 w 7160887"/>
                <a:gd name="connsiteY246" fmla="*/ 0 h 461665"/>
                <a:gd name="connsiteX247" fmla="*/ 6753737 w 7160887"/>
                <a:gd name="connsiteY247" fmla="*/ 0 h 461665"/>
                <a:gd name="connsiteX248" fmla="*/ 6782565 w 7160887"/>
                <a:gd name="connsiteY248" fmla="*/ 0 h 461665"/>
                <a:gd name="connsiteX249" fmla="*/ 7160887 w 7160887"/>
                <a:gd name="connsiteY249" fmla="*/ 0 h 461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7160887" h="461665">
                  <a:moveTo>
                    <a:pt x="6924824" y="461665"/>
                  </a:moveTo>
                  <a:lnTo>
                    <a:pt x="6546502" y="461665"/>
                  </a:lnTo>
                  <a:lnTo>
                    <a:pt x="6517674" y="461665"/>
                  </a:lnTo>
                  <a:lnTo>
                    <a:pt x="6383973" y="461665"/>
                  </a:lnTo>
                  <a:lnTo>
                    <a:pt x="6250266" y="461665"/>
                  </a:lnTo>
                  <a:lnTo>
                    <a:pt x="6221438" y="461665"/>
                  </a:lnTo>
                  <a:lnTo>
                    <a:pt x="6087737" y="461665"/>
                  </a:lnTo>
                  <a:lnTo>
                    <a:pt x="5843116" y="461665"/>
                  </a:lnTo>
                  <a:lnTo>
                    <a:pt x="5721138" y="461665"/>
                  </a:lnTo>
                  <a:lnTo>
                    <a:pt x="5709415" y="461665"/>
                  </a:lnTo>
                  <a:lnTo>
                    <a:pt x="5680587" y="461665"/>
                  </a:lnTo>
                  <a:lnTo>
                    <a:pt x="5546880" y="461665"/>
                  </a:lnTo>
                  <a:lnTo>
                    <a:pt x="5424902" y="461665"/>
                  </a:lnTo>
                  <a:lnTo>
                    <a:pt x="5413179" y="461665"/>
                  </a:lnTo>
                  <a:lnTo>
                    <a:pt x="5384351" y="461665"/>
                  </a:lnTo>
                  <a:lnTo>
                    <a:pt x="5322280" y="461665"/>
                  </a:lnTo>
                  <a:lnTo>
                    <a:pt x="5317173" y="461665"/>
                  </a:lnTo>
                  <a:lnTo>
                    <a:pt x="5046580" y="461665"/>
                  </a:lnTo>
                  <a:lnTo>
                    <a:pt x="5026044" y="461665"/>
                  </a:lnTo>
                  <a:lnTo>
                    <a:pt x="5020937" y="461665"/>
                  </a:lnTo>
                  <a:lnTo>
                    <a:pt x="5017752" y="461665"/>
                  </a:lnTo>
                  <a:lnTo>
                    <a:pt x="5006029" y="461665"/>
                  </a:lnTo>
                  <a:lnTo>
                    <a:pt x="4884051" y="461665"/>
                  </a:lnTo>
                  <a:lnTo>
                    <a:pt x="4750344" y="461665"/>
                  </a:lnTo>
                  <a:lnTo>
                    <a:pt x="4721516" y="461665"/>
                  </a:lnTo>
                  <a:lnTo>
                    <a:pt x="4709793" y="461665"/>
                  </a:lnTo>
                  <a:lnTo>
                    <a:pt x="4647722" y="461665"/>
                  </a:lnTo>
                  <a:lnTo>
                    <a:pt x="4642615" y="461665"/>
                  </a:lnTo>
                  <a:lnTo>
                    <a:pt x="4618894" y="461665"/>
                  </a:lnTo>
                  <a:lnTo>
                    <a:pt x="4613787" y="461665"/>
                  </a:lnTo>
                  <a:lnTo>
                    <a:pt x="4587815" y="461665"/>
                  </a:lnTo>
                  <a:lnTo>
                    <a:pt x="4443126" y="461665"/>
                  </a:lnTo>
                  <a:lnTo>
                    <a:pt x="4351486" y="461665"/>
                  </a:lnTo>
                  <a:lnTo>
                    <a:pt x="4346379" y="461665"/>
                  </a:lnTo>
                  <a:lnTo>
                    <a:pt x="4343194" y="461665"/>
                  </a:lnTo>
                  <a:lnTo>
                    <a:pt x="4322658" y="461665"/>
                  </a:lnTo>
                  <a:lnTo>
                    <a:pt x="4317551" y="461665"/>
                  </a:lnTo>
                  <a:lnTo>
                    <a:pt x="4209493" y="461665"/>
                  </a:lnTo>
                  <a:lnTo>
                    <a:pt x="4180665" y="461665"/>
                  </a:lnTo>
                  <a:lnTo>
                    <a:pt x="4146890" y="461665"/>
                  </a:lnTo>
                  <a:lnTo>
                    <a:pt x="4046958" y="461665"/>
                  </a:lnTo>
                  <a:lnTo>
                    <a:pt x="3944336" y="461665"/>
                  </a:lnTo>
                  <a:lnTo>
                    <a:pt x="3939229" y="461665"/>
                  </a:lnTo>
                  <a:lnTo>
                    <a:pt x="3913257" y="461665"/>
                  </a:lnTo>
                  <a:lnTo>
                    <a:pt x="3884429" y="461665"/>
                  </a:lnTo>
                  <a:lnTo>
                    <a:pt x="3822358" y="461665"/>
                  </a:lnTo>
                  <a:lnTo>
                    <a:pt x="3817251" y="461665"/>
                  </a:lnTo>
                  <a:lnTo>
                    <a:pt x="3768568" y="461665"/>
                  </a:lnTo>
                  <a:lnTo>
                    <a:pt x="3739740" y="461665"/>
                  </a:lnTo>
                  <a:lnTo>
                    <a:pt x="3648100" y="461665"/>
                  </a:lnTo>
                  <a:lnTo>
                    <a:pt x="3642993" y="461665"/>
                  </a:lnTo>
                  <a:lnTo>
                    <a:pt x="3606039" y="461665"/>
                  </a:lnTo>
                  <a:lnTo>
                    <a:pt x="3526122" y="461665"/>
                  </a:lnTo>
                  <a:lnTo>
                    <a:pt x="3521015" y="461665"/>
                  </a:lnTo>
                  <a:lnTo>
                    <a:pt x="3506107" y="461665"/>
                  </a:lnTo>
                  <a:lnTo>
                    <a:pt x="3472332" y="461665"/>
                  </a:lnTo>
                  <a:lnTo>
                    <a:pt x="3443504" y="461665"/>
                  </a:lnTo>
                  <a:lnTo>
                    <a:pt x="3309803" y="461665"/>
                  </a:lnTo>
                  <a:lnTo>
                    <a:pt x="3281831" y="461665"/>
                  </a:lnTo>
                  <a:lnTo>
                    <a:pt x="3209871" y="461665"/>
                  </a:lnTo>
                  <a:lnTo>
                    <a:pt x="3147800" y="461665"/>
                  </a:lnTo>
                  <a:lnTo>
                    <a:pt x="3142693" y="461665"/>
                  </a:lnTo>
                  <a:lnTo>
                    <a:pt x="3118972" y="461665"/>
                  </a:lnTo>
                  <a:lnTo>
                    <a:pt x="3113865" y="461665"/>
                  </a:lnTo>
                  <a:lnTo>
                    <a:pt x="3065182" y="461665"/>
                  </a:lnTo>
                  <a:lnTo>
                    <a:pt x="2985595" y="461665"/>
                  </a:lnTo>
                  <a:lnTo>
                    <a:pt x="2931481" y="461665"/>
                  </a:lnTo>
                  <a:lnTo>
                    <a:pt x="2902653" y="461665"/>
                  </a:lnTo>
                  <a:lnTo>
                    <a:pt x="2851564" y="461665"/>
                  </a:lnTo>
                  <a:lnTo>
                    <a:pt x="2846457" y="461665"/>
                  </a:lnTo>
                  <a:lnTo>
                    <a:pt x="2822736" y="461665"/>
                  </a:lnTo>
                  <a:lnTo>
                    <a:pt x="2817629" y="461665"/>
                  </a:lnTo>
                  <a:lnTo>
                    <a:pt x="2768946" y="461665"/>
                  </a:lnTo>
                  <a:lnTo>
                    <a:pt x="2635245" y="461665"/>
                  </a:lnTo>
                  <a:lnTo>
                    <a:pt x="2607273" y="461665"/>
                  </a:lnTo>
                  <a:lnTo>
                    <a:pt x="2606417" y="461665"/>
                  </a:lnTo>
                  <a:lnTo>
                    <a:pt x="2578445" y="461665"/>
                  </a:lnTo>
                  <a:lnTo>
                    <a:pt x="2544346" y="461665"/>
                  </a:lnTo>
                  <a:lnTo>
                    <a:pt x="2539239" y="461665"/>
                  </a:lnTo>
                  <a:lnTo>
                    <a:pt x="2444744" y="461665"/>
                  </a:lnTo>
                  <a:lnTo>
                    <a:pt x="2444414" y="461665"/>
                  </a:lnTo>
                  <a:lnTo>
                    <a:pt x="2439307" y="461665"/>
                  </a:lnTo>
                  <a:lnTo>
                    <a:pt x="2311037" y="461665"/>
                  </a:lnTo>
                  <a:lnTo>
                    <a:pt x="2282209" y="461665"/>
                  </a:lnTo>
                  <a:lnTo>
                    <a:pt x="2248110" y="461665"/>
                  </a:lnTo>
                  <a:lnTo>
                    <a:pt x="2243003" y="461665"/>
                  </a:lnTo>
                  <a:lnTo>
                    <a:pt x="2228095" y="461665"/>
                  </a:lnTo>
                  <a:lnTo>
                    <a:pt x="2148508" y="461665"/>
                  </a:lnTo>
                  <a:lnTo>
                    <a:pt x="2148178" y="461665"/>
                  </a:lnTo>
                  <a:lnTo>
                    <a:pt x="2143071" y="461665"/>
                  </a:lnTo>
                  <a:lnTo>
                    <a:pt x="1931859" y="461665"/>
                  </a:lnTo>
                  <a:lnTo>
                    <a:pt x="1903887" y="461665"/>
                  </a:lnTo>
                  <a:lnTo>
                    <a:pt x="1869788" y="461665"/>
                  </a:lnTo>
                  <a:lnTo>
                    <a:pt x="1864681" y="461665"/>
                  </a:lnTo>
                  <a:lnTo>
                    <a:pt x="1840960" y="461665"/>
                  </a:lnTo>
                  <a:lnTo>
                    <a:pt x="1835853" y="461665"/>
                  </a:lnTo>
                  <a:lnTo>
                    <a:pt x="1770186" y="461665"/>
                  </a:lnTo>
                  <a:lnTo>
                    <a:pt x="1741358" y="461665"/>
                  </a:lnTo>
                  <a:lnTo>
                    <a:pt x="1607651" y="461665"/>
                  </a:lnTo>
                  <a:lnTo>
                    <a:pt x="1573552" y="461665"/>
                  </a:lnTo>
                  <a:lnTo>
                    <a:pt x="1568445" y="461665"/>
                  </a:lnTo>
                  <a:lnTo>
                    <a:pt x="1544724" y="461665"/>
                  </a:lnTo>
                  <a:lnTo>
                    <a:pt x="1539617" y="461665"/>
                  </a:lnTo>
                  <a:lnTo>
                    <a:pt x="1473950" y="461665"/>
                  </a:lnTo>
                  <a:lnTo>
                    <a:pt x="1445122" y="461665"/>
                  </a:lnTo>
                  <a:lnTo>
                    <a:pt x="1383051" y="461665"/>
                  </a:lnTo>
                  <a:lnTo>
                    <a:pt x="1377944" y="461665"/>
                  </a:lnTo>
                  <a:lnTo>
                    <a:pt x="1166402" y="461665"/>
                  </a:lnTo>
                  <a:lnTo>
                    <a:pt x="1161295" y="461665"/>
                  </a:lnTo>
                  <a:lnTo>
                    <a:pt x="1086815" y="461665"/>
                  </a:lnTo>
                  <a:lnTo>
                    <a:pt x="1081708" y="461665"/>
                  </a:lnTo>
                  <a:lnTo>
                    <a:pt x="1066800" y="461665"/>
                  </a:lnTo>
                  <a:lnTo>
                    <a:pt x="870166" y="461665"/>
                  </a:lnTo>
                  <a:lnTo>
                    <a:pt x="865059" y="461665"/>
                  </a:lnTo>
                  <a:lnTo>
                    <a:pt x="770564" y="461665"/>
                  </a:lnTo>
                  <a:lnTo>
                    <a:pt x="708493" y="461665"/>
                  </a:lnTo>
                  <a:lnTo>
                    <a:pt x="703386" y="461665"/>
                  </a:lnTo>
                  <a:lnTo>
                    <a:pt x="679665" y="461665"/>
                  </a:lnTo>
                  <a:lnTo>
                    <a:pt x="674558" y="461665"/>
                  </a:lnTo>
                  <a:lnTo>
                    <a:pt x="412257" y="461665"/>
                  </a:lnTo>
                  <a:lnTo>
                    <a:pt x="407150" y="461665"/>
                  </a:lnTo>
                  <a:lnTo>
                    <a:pt x="383429" y="461665"/>
                  </a:lnTo>
                  <a:lnTo>
                    <a:pt x="378322" y="461665"/>
                  </a:lnTo>
                  <a:lnTo>
                    <a:pt x="5107" y="461665"/>
                  </a:lnTo>
                  <a:lnTo>
                    <a:pt x="0" y="461665"/>
                  </a:lnTo>
                  <a:lnTo>
                    <a:pt x="0" y="0"/>
                  </a:lnTo>
                  <a:lnTo>
                    <a:pt x="241170" y="0"/>
                  </a:lnTo>
                  <a:lnTo>
                    <a:pt x="378322" y="0"/>
                  </a:lnTo>
                  <a:lnTo>
                    <a:pt x="407150" y="0"/>
                  </a:lnTo>
                  <a:lnTo>
                    <a:pt x="619492" y="0"/>
                  </a:lnTo>
                  <a:lnTo>
                    <a:pt x="648320" y="0"/>
                  </a:lnTo>
                  <a:lnTo>
                    <a:pt x="674558" y="0"/>
                  </a:lnTo>
                  <a:lnTo>
                    <a:pt x="703386" y="0"/>
                  </a:lnTo>
                  <a:lnTo>
                    <a:pt x="770564" y="0"/>
                  </a:lnTo>
                  <a:lnTo>
                    <a:pt x="865059" y="0"/>
                  </a:lnTo>
                  <a:lnTo>
                    <a:pt x="915728" y="0"/>
                  </a:lnTo>
                  <a:lnTo>
                    <a:pt x="944556" y="0"/>
                  </a:lnTo>
                  <a:lnTo>
                    <a:pt x="1066800" y="0"/>
                  </a:lnTo>
                  <a:lnTo>
                    <a:pt x="1081708" y="0"/>
                  </a:lnTo>
                  <a:lnTo>
                    <a:pt x="1106229" y="0"/>
                  </a:lnTo>
                  <a:lnTo>
                    <a:pt x="1161295" y="0"/>
                  </a:lnTo>
                  <a:lnTo>
                    <a:pt x="1322878" y="0"/>
                  </a:lnTo>
                  <a:lnTo>
                    <a:pt x="1377944" y="0"/>
                  </a:lnTo>
                  <a:lnTo>
                    <a:pt x="1402465" y="0"/>
                  </a:lnTo>
                  <a:lnTo>
                    <a:pt x="1445122" y="0"/>
                  </a:lnTo>
                  <a:lnTo>
                    <a:pt x="1473950" y="0"/>
                  </a:lnTo>
                  <a:lnTo>
                    <a:pt x="1539617" y="0"/>
                  </a:lnTo>
                  <a:lnTo>
                    <a:pt x="1568445" y="0"/>
                  </a:lnTo>
                  <a:lnTo>
                    <a:pt x="1619114" y="0"/>
                  </a:lnTo>
                  <a:lnTo>
                    <a:pt x="1741358" y="0"/>
                  </a:lnTo>
                  <a:lnTo>
                    <a:pt x="1770186" y="0"/>
                  </a:lnTo>
                  <a:lnTo>
                    <a:pt x="1780787" y="0"/>
                  </a:lnTo>
                  <a:lnTo>
                    <a:pt x="1809615" y="0"/>
                  </a:lnTo>
                  <a:lnTo>
                    <a:pt x="1835853" y="0"/>
                  </a:lnTo>
                  <a:lnTo>
                    <a:pt x="1843714" y="0"/>
                  </a:lnTo>
                  <a:lnTo>
                    <a:pt x="1864681" y="0"/>
                  </a:lnTo>
                  <a:lnTo>
                    <a:pt x="1931859" y="0"/>
                  </a:lnTo>
                  <a:lnTo>
                    <a:pt x="2077023" y="0"/>
                  </a:lnTo>
                  <a:lnTo>
                    <a:pt x="2105851" y="0"/>
                  </a:lnTo>
                  <a:lnTo>
                    <a:pt x="2139950" y="0"/>
                  </a:lnTo>
                  <a:lnTo>
                    <a:pt x="2143071" y="0"/>
                  </a:lnTo>
                  <a:lnTo>
                    <a:pt x="2148508" y="0"/>
                  </a:lnTo>
                  <a:lnTo>
                    <a:pt x="2228095" y="0"/>
                  </a:lnTo>
                  <a:lnTo>
                    <a:pt x="2243003" y="0"/>
                  </a:lnTo>
                  <a:lnTo>
                    <a:pt x="2384241" y="0"/>
                  </a:lnTo>
                  <a:lnTo>
                    <a:pt x="2439307" y="0"/>
                  </a:lnTo>
                  <a:lnTo>
                    <a:pt x="2444744" y="0"/>
                  </a:lnTo>
                  <a:lnTo>
                    <a:pt x="2484173" y="0"/>
                  </a:lnTo>
                  <a:lnTo>
                    <a:pt x="2518272" y="0"/>
                  </a:lnTo>
                  <a:lnTo>
                    <a:pt x="2539239" y="0"/>
                  </a:lnTo>
                  <a:lnTo>
                    <a:pt x="2547100" y="0"/>
                  </a:lnTo>
                  <a:lnTo>
                    <a:pt x="2606417" y="0"/>
                  </a:lnTo>
                  <a:lnTo>
                    <a:pt x="2635245" y="0"/>
                  </a:lnTo>
                  <a:lnTo>
                    <a:pt x="2680477" y="0"/>
                  </a:lnTo>
                  <a:lnTo>
                    <a:pt x="2780409" y="0"/>
                  </a:lnTo>
                  <a:lnTo>
                    <a:pt x="2814508" y="0"/>
                  </a:lnTo>
                  <a:lnTo>
                    <a:pt x="2817629" y="0"/>
                  </a:lnTo>
                  <a:lnTo>
                    <a:pt x="2843336" y="0"/>
                  </a:lnTo>
                  <a:lnTo>
                    <a:pt x="2846457" y="0"/>
                  </a:lnTo>
                  <a:lnTo>
                    <a:pt x="2902653" y="0"/>
                  </a:lnTo>
                  <a:lnTo>
                    <a:pt x="2931481" y="0"/>
                  </a:lnTo>
                  <a:lnTo>
                    <a:pt x="3005009" y="0"/>
                  </a:lnTo>
                  <a:lnTo>
                    <a:pt x="3058799" y="0"/>
                  </a:lnTo>
                  <a:lnTo>
                    <a:pt x="3087627" y="0"/>
                  </a:lnTo>
                  <a:lnTo>
                    <a:pt x="3113865" y="0"/>
                  </a:lnTo>
                  <a:lnTo>
                    <a:pt x="3142693" y="0"/>
                  </a:lnTo>
                  <a:lnTo>
                    <a:pt x="3209871" y="0"/>
                  </a:lnTo>
                  <a:lnTo>
                    <a:pt x="3221658" y="0"/>
                  </a:lnTo>
                  <a:lnTo>
                    <a:pt x="3301245" y="0"/>
                  </a:lnTo>
                  <a:lnTo>
                    <a:pt x="3309803" y="0"/>
                  </a:lnTo>
                  <a:lnTo>
                    <a:pt x="3355035" y="0"/>
                  </a:lnTo>
                  <a:lnTo>
                    <a:pt x="3383863" y="0"/>
                  </a:lnTo>
                  <a:lnTo>
                    <a:pt x="3506107" y="0"/>
                  </a:lnTo>
                  <a:lnTo>
                    <a:pt x="3517894" y="0"/>
                  </a:lnTo>
                  <a:lnTo>
                    <a:pt x="3521015" y="0"/>
                  </a:lnTo>
                  <a:lnTo>
                    <a:pt x="3606039" y="0"/>
                  </a:lnTo>
                  <a:lnTo>
                    <a:pt x="3642993" y="0"/>
                  </a:lnTo>
                  <a:lnTo>
                    <a:pt x="3679567" y="0"/>
                  </a:lnTo>
                  <a:lnTo>
                    <a:pt x="3708395" y="0"/>
                  </a:lnTo>
                  <a:lnTo>
                    <a:pt x="3762185" y="0"/>
                  </a:lnTo>
                  <a:lnTo>
                    <a:pt x="3817251" y="0"/>
                  </a:lnTo>
                  <a:lnTo>
                    <a:pt x="3884163" y="0"/>
                  </a:lnTo>
                  <a:lnTo>
                    <a:pt x="3884429" y="0"/>
                  </a:lnTo>
                  <a:lnTo>
                    <a:pt x="3913257" y="0"/>
                  </a:lnTo>
                  <a:lnTo>
                    <a:pt x="3939229" y="0"/>
                  </a:lnTo>
                  <a:lnTo>
                    <a:pt x="3975803" y="0"/>
                  </a:lnTo>
                  <a:lnTo>
                    <a:pt x="4004631" y="0"/>
                  </a:lnTo>
                  <a:lnTo>
                    <a:pt x="4058421" y="0"/>
                  </a:lnTo>
                  <a:lnTo>
                    <a:pt x="4180399" y="0"/>
                  </a:lnTo>
                  <a:lnTo>
                    <a:pt x="4180665" y="0"/>
                  </a:lnTo>
                  <a:lnTo>
                    <a:pt x="4209493" y="0"/>
                  </a:lnTo>
                  <a:lnTo>
                    <a:pt x="4283021" y="0"/>
                  </a:lnTo>
                  <a:lnTo>
                    <a:pt x="4317551" y="0"/>
                  </a:lnTo>
                  <a:lnTo>
                    <a:pt x="4346379" y="0"/>
                  </a:lnTo>
                  <a:lnTo>
                    <a:pt x="4382953" y="0"/>
                  </a:lnTo>
                  <a:lnTo>
                    <a:pt x="4558721" y="0"/>
                  </a:lnTo>
                  <a:lnTo>
                    <a:pt x="4579257" y="0"/>
                  </a:lnTo>
                  <a:lnTo>
                    <a:pt x="4587549" y="0"/>
                  </a:lnTo>
                  <a:lnTo>
                    <a:pt x="4587815" y="0"/>
                  </a:lnTo>
                  <a:lnTo>
                    <a:pt x="4613787" y="0"/>
                  </a:lnTo>
                  <a:lnTo>
                    <a:pt x="4642615" y="0"/>
                  </a:lnTo>
                  <a:lnTo>
                    <a:pt x="4679189" y="0"/>
                  </a:lnTo>
                  <a:lnTo>
                    <a:pt x="4709793" y="0"/>
                  </a:lnTo>
                  <a:lnTo>
                    <a:pt x="4854957" y="0"/>
                  </a:lnTo>
                  <a:lnTo>
                    <a:pt x="4883785" y="0"/>
                  </a:lnTo>
                  <a:lnTo>
                    <a:pt x="4884051" y="0"/>
                  </a:lnTo>
                  <a:lnTo>
                    <a:pt x="4957579" y="0"/>
                  </a:lnTo>
                  <a:lnTo>
                    <a:pt x="4986407" y="0"/>
                  </a:lnTo>
                  <a:lnTo>
                    <a:pt x="5006029" y="0"/>
                  </a:lnTo>
                  <a:lnTo>
                    <a:pt x="5020937" y="0"/>
                  </a:lnTo>
                  <a:lnTo>
                    <a:pt x="5253815" y="0"/>
                  </a:lnTo>
                  <a:lnTo>
                    <a:pt x="5262107" y="0"/>
                  </a:lnTo>
                  <a:lnTo>
                    <a:pt x="5282643" y="0"/>
                  </a:lnTo>
                  <a:lnTo>
                    <a:pt x="5317173" y="0"/>
                  </a:lnTo>
                  <a:lnTo>
                    <a:pt x="5384351" y="0"/>
                  </a:lnTo>
                  <a:lnTo>
                    <a:pt x="5413179" y="0"/>
                  </a:lnTo>
                  <a:lnTo>
                    <a:pt x="5558343" y="0"/>
                  </a:lnTo>
                  <a:lnTo>
                    <a:pt x="5660965" y="0"/>
                  </a:lnTo>
                  <a:lnTo>
                    <a:pt x="5680587" y="0"/>
                  </a:lnTo>
                  <a:lnTo>
                    <a:pt x="5709415" y="0"/>
                  </a:lnTo>
                  <a:lnTo>
                    <a:pt x="5782943" y="0"/>
                  </a:lnTo>
                  <a:lnTo>
                    <a:pt x="5957201" y="0"/>
                  </a:lnTo>
                  <a:lnTo>
                    <a:pt x="6079179" y="0"/>
                  </a:lnTo>
                  <a:lnTo>
                    <a:pt x="6087737" y="0"/>
                  </a:lnTo>
                  <a:lnTo>
                    <a:pt x="6383973" y="0"/>
                  </a:lnTo>
                  <a:lnTo>
                    <a:pt x="6457501" y="0"/>
                  </a:lnTo>
                  <a:lnTo>
                    <a:pt x="6486329" y="0"/>
                  </a:lnTo>
                  <a:lnTo>
                    <a:pt x="6753737" y="0"/>
                  </a:lnTo>
                  <a:lnTo>
                    <a:pt x="6782565" y="0"/>
                  </a:lnTo>
                  <a:lnTo>
                    <a:pt x="7160887" y="0"/>
                  </a:lnTo>
                  <a:close/>
                </a:path>
              </a:pathLst>
            </a:cu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21" name="组合 20">
              <a:extLst>
                <a:ext uri="{FF2B5EF4-FFF2-40B4-BE49-F238E27FC236}">
                  <a16:creationId xmlns:a16="http://schemas.microsoft.com/office/drawing/2014/main" id="{3090E394-CAD8-4608-AB3C-095707B38B74}"/>
                </a:ext>
              </a:extLst>
            </p:cNvPr>
            <p:cNvGrpSpPr/>
            <p:nvPr userDrawn="1"/>
          </p:nvGrpSpPr>
          <p:grpSpPr>
            <a:xfrm>
              <a:off x="5080" y="310184"/>
              <a:ext cx="2139950" cy="461666"/>
              <a:chOff x="5080" y="257852"/>
              <a:chExt cx="2139950" cy="461666"/>
            </a:xfrm>
          </p:grpSpPr>
          <p:sp>
            <p:nvSpPr>
              <p:cNvPr id="22" name="任意多边形: 形状 21">
                <a:extLst>
                  <a:ext uri="{FF2B5EF4-FFF2-40B4-BE49-F238E27FC236}">
                    <a16:creationId xmlns:a16="http://schemas.microsoft.com/office/drawing/2014/main" id="{F6F21DC9-2B4B-4F31-B714-6947A7102FF1}"/>
                  </a:ext>
                </a:extLst>
              </p:cNvPr>
              <p:cNvSpPr/>
              <p:nvPr/>
            </p:nvSpPr>
            <p:spPr>
              <a:xfrm>
                <a:off x="5080" y="257853"/>
                <a:ext cx="2139950" cy="461665"/>
              </a:xfrm>
              <a:custGeom>
                <a:avLst/>
                <a:gdLst>
                  <a:gd name="connsiteX0" fmla="*/ 0 w 2139950"/>
                  <a:gd name="connsiteY0" fmla="*/ 0 h 461665"/>
                  <a:gd name="connsiteX1" fmla="*/ 241170 w 2139950"/>
                  <a:gd name="connsiteY1" fmla="*/ 0 h 461665"/>
                  <a:gd name="connsiteX2" fmla="*/ 1066800 w 2139950"/>
                  <a:gd name="connsiteY2" fmla="*/ 0 h 461665"/>
                  <a:gd name="connsiteX3" fmla="*/ 2139950 w 2139950"/>
                  <a:gd name="connsiteY3" fmla="*/ 0 h 461665"/>
                  <a:gd name="connsiteX4" fmla="*/ 1903887 w 2139950"/>
                  <a:gd name="connsiteY4" fmla="*/ 461665 h 461665"/>
                  <a:gd name="connsiteX5" fmla="*/ 1066800 w 2139950"/>
                  <a:gd name="connsiteY5" fmla="*/ 461665 h 461665"/>
                  <a:gd name="connsiteX6" fmla="*/ 5107 w 2139950"/>
                  <a:gd name="connsiteY6" fmla="*/ 461665 h 461665"/>
                  <a:gd name="connsiteX7" fmla="*/ 0 w 2139950"/>
                  <a:gd name="connsiteY7" fmla="*/ 461665 h 461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9950" h="461665">
                    <a:moveTo>
                      <a:pt x="0" y="0"/>
                    </a:moveTo>
                    <a:lnTo>
                      <a:pt x="241170" y="0"/>
                    </a:lnTo>
                    <a:lnTo>
                      <a:pt x="1066800" y="0"/>
                    </a:lnTo>
                    <a:lnTo>
                      <a:pt x="2139950" y="0"/>
                    </a:lnTo>
                    <a:lnTo>
                      <a:pt x="1903887" y="461665"/>
                    </a:lnTo>
                    <a:lnTo>
                      <a:pt x="1066800" y="461665"/>
                    </a:lnTo>
                    <a:lnTo>
                      <a:pt x="5107" y="461665"/>
                    </a:lnTo>
                    <a:lnTo>
                      <a:pt x="0" y="461665"/>
                    </a:lnTo>
                    <a:close/>
                  </a:path>
                </a:pathLst>
              </a:cu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3" name="任意多边形: 形状 22">
                <a:extLst>
                  <a:ext uri="{FF2B5EF4-FFF2-40B4-BE49-F238E27FC236}">
                    <a16:creationId xmlns:a16="http://schemas.microsoft.com/office/drawing/2014/main" id="{26A6280D-7387-42D7-AF50-4A27EF082C83}"/>
                  </a:ext>
                </a:extLst>
              </p:cNvPr>
              <p:cNvSpPr/>
              <p:nvPr/>
            </p:nvSpPr>
            <p:spPr>
              <a:xfrm>
                <a:off x="1743091" y="257852"/>
                <a:ext cx="344013" cy="461665"/>
              </a:xfrm>
              <a:custGeom>
                <a:avLst/>
                <a:gdLst>
                  <a:gd name="connsiteX0" fmla="*/ 236063 w 344013"/>
                  <a:gd name="connsiteY0" fmla="*/ 0 h 461665"/>
                  <a:gd name="connsiteX1" fmla="*/ 344013 w 344013"/>
                  <a:gd name="connsiteY1" fmla="*/ 0 h 461665"/>
                  <a:gd name="connsiteX2" fmla="*/ 107950 w 344013"/>
                  <a:gd name="connsiteY2" fmla="*/ 461665 h 461665"/>
                  <a:gd name="connsiteX3" fmla="*/ 0 w 344013"/>
                  <a:gd name="connsiteY3" fmla="*/ 461665 h 461665"/>
                  <a:gd name="connsiteX4" fmla="*/ 236063 w 344013"/>
                  <a:gd name="connsiteY4" fmla="*/ 0 h 461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013" h="461665">
                    <a:moveTo>
                      <a:pt x="236063" y="0"/>
                    </a:moveTo>
                    <a:lnTo>
                      <a:pt x="344013" y="0"/>
                    </a:lnTo>
                    <a:lnTo>
                      <a:pt x="107950" y="461665"/>
                    </a:lnTo>
                    <a:lnTo>
                      <a:pt x="0" y="461665"/>
                    </a:lnTo>
                    <a:lnTo>
                      <a:pt x="236063" y="0"/>
                    </a:lnTo>
                    <a:close/>
                  </a:path>
                </a:pathLst>
              </a:custGeom>
              <a:solidFill>
                <a:schemeClr val="accent1">
                  <a:lumMod val="20000"/>
                  <a:lumOff val="80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cxnSp>
        <p:nvCxnSpPr>
          <p:cNvPr id="25" name="直接连接符 24">
            <a:extLst>
              <a:ext uri="{FF2B5EF4-FFF2-40B4-BE49-F238E27FC236}">
                <a16:creationId xmlns:a16="http://schemas.microsoft.com/office/drawing/2014/main" id="{F5177726-E438-43ED-B07E-98457F6343F7}"/>
              </a:ext>
            </a:extLst>
          </p:cNvPr>
          <p:cNvCxnSpPr/>
          <p:nvPr userDrawn="1"/>
        </p:nvCxnSpPr>
        <p:spPr>
          <a:xfrm>
            <a:off x="0" y="738828"/>
            <a:ext cx="91440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标题 1">
            <a:extLst>
              <a:ext uri="{FF2B5EF4-FFF2-40B4-BE49-F238E27FC236}">
                <a16:creationId xmlns:a16="http://schemas.microsoft.com/office/drawing/2014/main" id="{92F6DD47-FE4F-419C-96D9-91A2BB395BA1}"/>
              </a:ext>
            </a:extLst>
          </p:cNvPr>
          <p:cNvSpPr>
            <a:spLocks noGrp="1"/>
          </p:cNvSpPr>
          <p:nvPr>
            <p:ph type="title"/>
          </p:nvPr>
        </p:nvSpPr>
        <p:spPr>
          <a:xfrm>
            <a:off x="2145030" y="254000"/>
            <a:ext cx="7004050" cy="517850"/>
          </a:xfrm>
        </p:spPr>
        <p:txBody>
          <a:bodyPr>
            <a:normAutofit/>
          </a:bodyPr>
          <a:lstStyle>
            <a:lvl1pPr>
              <a:defRPr sz="2800" b="1">
                <a:solidFill>
                  <a:schemeClr val="accent2"/>
                </a:solidFill>
              </a:defRPr>
            </a:lvl1pPr>
          </a:lstStyle>
          <a:p>
            <a:r>
              <a:rPr lang="zh-CN" altLang="en-US" dirty="0"/>
              <a:t>单击此处编辑母版标题样式</a:t>
            </a:r>
          </a:p>
        </p:txBody>
      </p:sp>
      <p:sp>
        <p:nvSpPr>
          <p:cNvPr id="24" name="矩形 23">
            <a:extLst>
              <a:ext uri="{FF2B5EF4-FFF2-40B4-BE49-F238E27FC236}">
                <a16:creationId xmlns:a16="http://schemas.microsoft.com/office/drawing/2014/main" id="{D777A4BA-1AC6-4EEC-90D5-0542C1412E1C}"/>
              </a:ext>
            </a:extLst>
          </p:cNvPr>
          <p:cNvSpPr/>
          <p:nvPr userDrawn="1"/>
        </p:nvSpPr>
        <p:spPr>
          <a:xfrm>
            <a:off x="0" y="0"/>
            <a:ext cx="9144000" cy="517849"/>
          </a:xfrm>
          <a:prstGeom prst="rect">
            <a:avLst/>
          </a:prstGeom>
          <a:gradFill>
            <a:gsLst>
              <a:gs pos="0">
                <a:schemeClr val="bg1">
                  <a:alpha val="57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39796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pic>
        <p:nvPicPr>
          <p:cNvPr id="4" name="图片 3" descr="模糊的照片&#10;&#10;描述已自动生成">
            <a:extLst>
              <a:ext uri="{FF2B5EF4-FFF2-40B4-BE49-F238E27FC236}">
                <a16:creationId xmlns:a16="http://schemas.microsoft.com/office/drawing/2014/main" id="{A5C398AC-7251-4DA5-9D25-17ECF7F18E86}"/>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flipV="1">
            <a:off x="0" y="0"/>
            <a:ext cx="9144000" cy="1343025"/>
          </a:xfrm>
          <a:prstGeom prst="rect">
            <a:avLst/>
          </a:prstGeom>
        </p:spPr>
      </p:pic>
      <p:sp>
        <p:nvSpPr>
          <p:cNvPr id="11" name="矩形 10">
            <a:extLst>
              <a:ext uri="{FF2B5EF4-FFF2-40B4-BE49-F238E27FC236}">
                <a16:creationId xmlns:a16="http://schemas.microsoft.com/office/drawing/2014/main" id="{13A84F40-B29D-4F22-90DE-8D5E45F08205}"/>
              </a:ext>
            </a:extLst>
          </p:cNvPr>
          <p:cNvSpPr/>
          <p:nvPr userDrawn="1"/>
        </p:nvSpPr>
        <p:spPr>
          <a:xfrm>
            <a:off x="254001" y="246068"/>
            <a:ext cx="8890000" cy="482600"/>
          </a:xfrm>
          <a:prstGeom prst="rect">
            <a:avLst/>
          </a:prstGeom>
          <a:gradFill>
            <a:gsLst>
              <a:gs pos="100000">
                <a:schemeClr val="bg1">
                  <a:alpha val="0"/>
                </a:schemeClr>
              </a:gs>
              <a:gs pos="45000">
                <a:srgbClr val="0070C0">
                  <a:alpha val="22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a:extLst>
              <a:ext uri="{FF2B5EF4-FFF2-40B4-BE49-F238E27FC236}">
                <a16:creationId xmlns:a16="http://schemas.microsoft.com/office/drawing/2014/main" id="{FD988BA6-9744-4147-AEEC-067DF23F777F}"/>
              </a:ext>
            </a:extLst>
          </p:cNvPr>
          <p:cNvSpPr/>
          <p:nvPr userDrawn="1"/>
        </p:nvSpPr>
        <p:spPr>
          <a:xfrm>
            <a:off x="5080" y="254001"/>
            <a:ext cx="541362" cy="482600"/>
          </a:xfrm>
          <a:custGeom>
            <a:avLst/>
            <a:gdLst>
              <a:gd name="connsiteX0" fmla="*/ 0 w 541362"/>
              <a:gd name="connsiteY0" fmla="*/ 0 h 482600"/>
              <a:gd name="connsiteX1" fmla="*/ 241170 w 541362"/>
              <a:gd name="connsiteY1" fmla="*/ 0 h 482600"/>
              <a:gd name="connsiteX2" fmla="*/ 541362 w 541362"/>
              <a:gd name="connsiteY2" fmla="*/ 0 h 482600"/>
              <a:gd name="connsiteX3" fmla="*/ 305299 w 541362"/>
              <a:gd name="connsiteY3" fmla="*/ 482600 h 482600"/>
              <a:gd name="connsiteX4" fmla="*/ 5107 w 541362"/>
              <a:gd name="connsiteY4" fmla="*/ 482600 h 482600"/>
              <a:gd name="connsiteX5" fmla="*/ 0 w 541362"/>
              <a:gd name="connsiteY5" fmla="*/ 482600 h 48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362" h="482600">
                <a:moveTo>
                  <a:pt x="0" y="0"/>
                </a:moveTo>
                <a:lnTo>
                  <a:pt x="241170" y="0"/>
                </a:lnTo>
                <a:lnTo>
                  <a:pt x="541362" y="0"/>
                </a:lnTo>
                <a:lnTo>
                  <a:pt x="305299" y="482600"/>
                </a:lnTo>
                <a:lnTo>
                  <a:pt x="5107" y="482600"/>
                </a:lnTo>
                <a:lnTo>
                  <a:pt x="0" y="482600"/>
                </a:lnTo>
                <a:close/>
              </a:path>
            </a:pathLst>
          </a:custGeom>
          <a:solidFill>
            <a:schemeClr val="accent2"/>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5" name="任意多边形: 形状 14">
            <a:extLst>
              <a:ext uri="{FF2B5EF4-FFF2-40B4-BE49-F238E27FC236}">
                <a16:creationId xmlns:a16="http://schemas.microsoft.com/office/drawing/2014/main" id="{E1DF5B17-5660-4E62-9533-3C609E788D8D}"/>
              </a:ext>
            </a:extLst>
          </p:cNvPr>
          <p:cNvSpPr/>
          <p:nvPr userDrawn="1"/>
        </p:nvSpPr>
        <p:spPr>
          <a:xfrm>
            <a:off x="168310" y="254000"/>
            <a:ext cx="344013" cy="482600"/>
          </a:xfrm>
          <a:custGeom>
            <a:avLst/>
            <a:gdLst>
              <a:gd name="connsiteX0" fmla="*/ 236063 w 344013"/>
              <a:gd name="connsiteY0" fmla="*/ 0 h 461665"/>
              <a:gd name="connsiteX1" fmla="*/ 344013 w 344013"/>
              <a:gd name="connsiteY1" fmla="*/ 0 h 461665"/>
              <a:gd name="connsiteX2" fmla="*/ 107950 w 344013"/>
              <a:gd name="connsiteY2" fmla="*/ 461665 h 461665"/>
              <a:gd name="connsiteX3" fmla="*/ 0 w 344013"/>
              <a:gd name="connsiteY3" fmla="*/ 461665 h 461665"/>
              <a:gd name="connsiteX4" fmla="*/ 236063 w 344013"/>
              <a:gd name="connsiteY4" fmla="*/ 0 h 461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013" h="461665">
                <a:moveTo>
                  <a:pt x="236063" y="0"/>
                </a:moveTo>
                <a:lnTo>
                  <a:pt x="344013" y="0"/>
                </a:lnTo>
                <a:lnTo>
                  <a:pt x="107950" y="461665"/>
                </a:lnTo>
                <a:lnTo>
                  <a:pt x="0" y="461665"/>
                </a:lnTo>
                <a:lnTo>
                  <a:pt x="236063" y="0"/>
                </a:lnTo>
                <a:close/>
              </a:path>
            </a:pathLst>
          </a:custGeom>
          <a:solidFill>
            <a:schemeClr val="accent1">
              <a:lumMod val="20000"/>
              <a:lumOff val="80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12" name="直接连接符 11">
            <a:extLst>
              <a:ext uri="{FF2B5EF4-FFF2-40B4-BE49-F238E27FC236}">
                <a16:creationId xmlns:a16="http://schemas.microsoft.com/office/drawing/2014/main" id="{F1674EC2-129A-444C-9579-649924F65046}"/>
              </a:ext>
            </a:extLst>
          </p:cNvPr>
          <p:cNvCxnSpPr/>
          <p:nvPr userDrawn="1"/>
        </p:nvCxnSpPr>
        <p:spPr>
          <a:xfrm>
            <a:off x="0" y="738828"/>
            <a:ext cx="91440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2EB59381-7429-4F9A-A89E-273F3CFF5EDB}"/>
              </a:ext>
            </a:extLst>
          </p:cNvPr>
          <p:cNvSpPr/>
          <p:nvPr userDrawn="1"/>
        </p:nvSpPr>
        <p:spPr>
          <a:xfrm>
            <a:off x="0" y="0"/>
            <a:ext cx="9144000" cy="517849"/>
          </a:xfrm>
          <a:prstGeom prst="rect">
            <a:avLst/>
          </a:prstGeom>
          <a:gradFill>
            <a:gsLst>
              <a:gs pos="0">
                <a:schemeClr val="bg1">
                  <a:alpha val="57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a:extLst>
              <a:ext uri="{FF2B5EF4-FFF2-40B4-BE49-F238E27FC236}">
                <a16:creationId xmlns:a16="http://schemas.microsoft.com/office/drawing/2014/main" id="{8CAC7C9E-DF88-475C-A9E6-4198CF361754}"/>
              </a:ext>
            </a:extLst>
          </p:cNvPr>
          <p:cNvSpPr>
            <a:spLocks noGrp="1"/>
          </p:cNvSpPr>
          <p:nvPr>
            <p:ph type="title"/>
          </p:nvPr>
        </p:nvSpPr>
        <p:spPr>
          <a:xfrm>
            <a:off x="628650" y="254000"/>
            <a:ext cx="8510270" cy="517850"/>
          </a:xfrm>
        </p:spPr>
        <p:txBody>
          <a:bodyPr>
            <a:normAutofit/>
          </a:bodyPr>
          <a:lstStyle>
            <a:lvl1pPr>
              <a:defRPr sz="2800" b="1">
                <a:solidFill>
                  <a:schemeClr val="accent2"/>
                </a:solidFill>
              </a:defRPr>
            </a:lvl1pPr>
          </a:lstStyle>
          <a:p>
            <a:r>
              <a:rPr lang="zh-CN" altLang="en-US" dirty="0"/>
              <a:t>单击此处编辑母版标题样式</a:t>
            </a:r>
          </a:p>
        </p:txBody>
      </p:sp>
      <p:sp>
        <p:nvSpPr>
          <p:cNvPr id="10" name="文本框 9">
            <a:extLst>
              <a:ext uri="{FF2B5EF4-FFF2-40B4-BE49-F238E27FC236}">
                <a16:creationId xmlns:a16="http://schemas.microsoft.com/office/drawing/2014/main" id="{79E19C64-431E-47EB-956E-46F43B1182BD}"/>
              </a:ext>
            </a:extLst>
          </p:cNvPr>
          <p:cNvSpPr txBox="1"/>
          <p:nvPr userDrawn="1"/>
        </p:nvSpPr>
        <p:spPr>
          <a:xfrm>
            <a:off x="8343900" y="6547604"/>
            <a:ext cx="767080" cy="276999"/>
          </a:xfrm>
          <a:prstGeom prst="rect">
            <a:avLst/>
          </a:prstGeom>
          <a:noFill/>
        </p:spPr>
        <p:txBody>
          <a:bodyPr wrap="square">
            <a:spAutoFit/>
          </a:bodyPr>
          <a:lstStyle/>
          <a:p>
            <a:pPr algn="r"/>
            <a:fld id="{D6D57904-7FC0-41E2-8B65-E7FBA2E33408}" type="slidenum">
              <a:rPr lang="zh-CN" altLang="en-US" sz="1200" smtClean="0">
                <a:solidFill>
                  <a:schemeClr val="tx1">
                    <a:lumMod val="65000"/>
                    <a:lumOff val="35000"/>
                  </a:schemeClr>
                </a:solidFill>
              </a:rPr>
              <a:pPr algn="r"/>
              <a:t>‹#›</a:t>
            </a:fld>
            <a:endParaRPr lang="en-US" altLang="zh-CN" sz="1200" dirty="0">
              <a:solidFill>
                <a:schemeClr val="tx1">
                  <a:lumMod val="65000"/>
                  <a:lumOff val="35000"/>
                </a:schemeClr>
              </a:solidFill>
            </a:endParaRPr>
          </a:p>
        </p:txBody>
      </p:sp>
    </p:spTree>
    <p:extLst>
      <p:ext uri="{BB962C8B-B14F-4D97-AF65-F5344CB8AC3E}">
        <p14:creationId xmlns:p14="http://schemas.microsoft.com/office/powerpoint/2010/main" val="548778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B1387137-136D-4AF1-A586-BCEC52457A6B}" type="datetimeFigureOut">
              <a:rPr lang="zh-CN" altLang="en-US" smtClean="0"/>
              <a:t>2025/4/7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3804122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1387137-136D-4AF1-A586-BCEC52457A6B}" type="datetimeFigureOut">
              <a:rPr lang="zh-CN" altLang="en-US" smtClean="0"/>
              <a:t>2025/4/7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1470703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descr="图片包含 游戏机, 电子, 电路&#10;&#10;描述已自动生成">
            <a:extLst>
              <a:ext uri="{FF2B5EF4-FFF2-40B4-BE49-F238E27FC236}">
                <a16:creationId xmlns:a16="http://schemas.microsoft.com/office/drawing/2014/main" id="{D913223E-13B8-4D47-90B9-B99A0860C059}"/>
              </a:ext>
            </a:extLst>
          </p:cNvPr>
          <p:cNvPicPr>
            <a:picLocks noChangeAspect="1"/>
          </p:cNvPicPr>
          <p:nvPr userDrawn="1"/>
        </p:nvPicPr>
        <p:blipFill rotWithShape="1">
          <a:blip r:embed="rId2">
            <a:alphaModFix amt="35000"/>
            <a:duotone>
              <a:schemeClr val="accent1">
                <a:shade val="45000"/>
                <a:satMod val="135000"/>
              </a:schemeClr>
              <a:prstClr val="white"/>
            </a:duotone>
            <a:extLst>
              <a:ext uri="{28A0092B-C50C-407E-A947-70E740481C1C}">
                <a14:useLocalDpi xmlns:a14="http://schemas.microsoft.com/office/drawing/2010/main" val="0"/>
              </a:ext>
            </a:extLst>
          </a:blip>
          <a:srcRect t="33501"/>
          <a:stretch/>
        </p:blipFill>
        <p:spPr>
          <a:xfrm>
            <a:off x="0" y="2806861"/>
            <a:ext cx="9144000" cy="4053764"/>
          </a:xfrm>
          <a:prstGeom prst="rect">
            <a:avLst/>
          </a:prstGeom>
        </p:spPr>
      </p:pic>
      <p:sp>
        <p:nvSpPr>
          <p:cNvPr id="6" name="矩形 5">
            <a:extLst>
              <a:ext uri="{FF2B5EF4-FFF2-40B4-BE49-F238E27FC236}">
                <a16:creationId xmlns:a16="http://schemas.microsoft.com/office/drawing/2014/main" id="{22823304-15E4-45FE-A62E-1EC27EC1473E}"/>
              </a:ext>
            </a:extLst>
          </p:cNvPr>
          <p:cNvSpPr/>
          <p:nvPr userDrawn="1"/>
        </p:nvSpPr>
        <p:spPr>
          <a:xfrm>
            <a:off x="0" y="2806860"/>
            <a:ext cx="9144000" cy="2889089"/>
          </a:xfrm>
          <a:prstGeom prst="rect">
            <a:avLst/>
          </a:prstGeom>
          <a:gradFill>
            <a:gsLst>
              <a:gs pos="31000">
                <a:schemeClr val="bg1"/>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89086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1387137-136D-4AF1-A586-BCEC52457A6B}" type="datetimeFigureOut">
              <a:rPr lang="zh-CN" altLang="en-US" smtClean="0"/>
              <a:t>2025/4/7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3608516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1387137-136D-4AF1-A586-BCEC52457A6B}" type="datetimeFigureOut">
              <a:rPr lang="zh-CN" altLang="en-US" smtClean="0"/>
              <a:t>2025/4/7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1540679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1387137-136D-4AF1-A586-BCEC52457A6B}" type="datetimeFigureOut">
              <a:rPr lang="zh-CN" altLang="en-US" smtClean="0"/>
              <a:t>2025/4/7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9856027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1387137-136D-4AF1-A586-BCEC52457A6B}" type="datetimeFigureOut">
              <a:rPr lang="zh-CN" altLang="en-US" smtClean="0"/>
              <a:t>2025/4/7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237236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387137-136D-4AF1-A586-BCEC52457A6B}" type="datetimeFigureOut">
              <a:rPr lang="zh-CN" altLang="en-US" smtClean="0"/>
              <a:t>2025/4/7</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D57904-7FC0-41E2-8B65-E7FBA2E33408}" type="slidenum">
              <a:rPr lang="zh-CN" altLang="en-US" smtClean="0"/>
              <a:t>‹#›</a:t>
            </a:fld>
            <a:endParaRPr lang="zh-CN" altLang="en-US"/>
          </a:p>
        </p:txBody>
      </p:sp>
    </p:spTree>
    <p:extLst>
      <p:ext uri="{BB962C8B-B14F-4D97-AF65-F5344CB8AC3E}">
        <p14:creationId xmlns:p14="http://schemas.microsoft.com/office/powerpoint/2010/main" val="4486289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73" r:id="rId4"/>
    <p:sldLayoutId id="2147483672" r:id="rId5"/>
    <p:sldLayoutId id="2147483665" r:id="rId6"/>
    <p:sldLayoutId id="2147483666" r:id="rId7"/>
    <p:sldLayoutId id="2147483667" r:id="rId8"/>
    <p:sldLayoutId id="2147483668" r:id="rId9"/>
    <p:sldLayoutId id="2147483669" r:id="rId10"/>
    <p:sldLayoutId id="2147483670" r:id="rId11"/>
    <p:sldLayoutId id="214748367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10" Type="http://schemas.openxmlformats.org/officeDocument/2006/relationships/image" Target="../media/image9.png"/><Relationship Id="rId4" Type="http://schemas.openxmlformats.org/officeDocument/2006/relationships/diagramLayout" Target="../diagrams/layout3.xml"/><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3.xml"/><Relationship Id="rId5" Type="http://schemas.openxmlformats.org/officeDocument/2006/relationships/image" Target="../media/image42.pn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51.png"/><Relationship Id="rId4" Type="http://schemas.openxmlformats.org/officeDocument/2006/relationships/image" Target="../media/image50.png"/></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3.xml"/><Relationship Id="rId5" Type="http://schemas.openxmlformats.org/officeDocument/2006/relationships/image" Target="../media/image54.png"/><Relationship Id="rId4" Type="http://schemas.openxmlformats.org/officeDocument/2006/relationships/image" Target="../media/image53.png"/></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0.xml"/><Relationship Id="rId1" Type="http://schemas.openxmlformats.org/officeDocument/2006/relationships/slideLayout" Target="../slideLayouts/slideLayout3.xml"/><Relationship Id="rId5" Type="http://schemas.openxmlformats.org/officeDocument/2006/relationships/image" Target="../media/image57.png"/><Relationship Id="rId4" Type="http://schemas.openxmlformats.org/officeDocument/2006/relationships/image" Target="../media/image56.png"/></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59.png"/></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62.png"/></Relationships>
</file>

<file path=ppt/slides/_rels/slide4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4.xml"/><Relationship Id="rId1" Type="http://schemas.openxmlformats.org/officeDocument/2006/relationships/slideLayout" Target="../slideLayouts/slideLayout3.xml"/><Relationship Id="rId5" Type="http://schemas.openxmlformats.org/officeDocument/2006/relationships/image" Target="../media/image65.png"/><Relationship Id="rId4" Type="http://schemas.openxmlformats.org/officeDocument/2006/relationships/image" Target="../media/image64.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47.xml"/><Relationship Id="rId1" Type="http://schemas.openxmlformats.org/officeDocument/2006/relationships/slideLayout" Target="../slideLayouts/slideLayout8.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任意多边形: 形状 43">
            <a:extLst>
              <a:ext uri="{FF2B5EF4-FFF2-40B4-BE49-F238E27FC236}">
                <a16:creationId xmlns:a16="http://schemas.microsoft.com/office/drawing/2014/main" id="{F903EF8C-13D3-422C-9C3F-5EECC23210A7}"/>
              </a:ext>
            </a:extLst>
          </p:cNvPr>
          <p:cNvSpPr/>
          <p:nvPr/>
        </p:nvSpPr>
        <p:spPr>
          <a:xfrm>
            <a:off x="-3002" y="70339"/>
            <a:ext cx="9144000" cy="1972884"/>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pic>
        <p:nvPicPr>
          <p:cNvPr id="4" name="图片 3" descr="图片包含 游戏机, 电子, 电路&#10;&#10;描述已自动生成">
            <a:extLst>
              <a:ext uri="{FF2B5EF4-FFF2-40B4-BE49-F238E27FC236}">
                <a16:creationId xmlns:a16="http://schemas.microsoft.com/office/drawing/2014/main" id="{7267D691-9E5F-4B76-AC48-75808F7659EC}"/>
              </a:ext>
            </a:extLst>
          </p:cNvPr>
          <p:cNvPicPr>
            <a:picLocks noChangeAspect="1"/>
          </p:cNvPicPr>
          <p:nvPr/>
        </p:nvPicPr>
        <p:blipFill rotWithShape="1">
          <a:blip r:embed="rId3">
            <a:alphaModFix amt="35000"/>
            <a:duotone>
              <a:schemeClr val="accent1">
                <a:shade val="45000"/>
                <a:satMod val="135000"/>
              </a:schemeClr>
              <a:prstClr val="white"/>
            </a:duotone>
            <a:extLst>
              <a:ext uri="{28A0092B-C50C-407E-A947-70E740481C1C}">
                <a14:useLocalDpi xmlns:a14="http://schemas.microsoft.com/office/drawing/2010/main" val="0"/>
              </a:ext>
            </a:extLst>
          </a:blip>
          <a:srcRect t="33501"/>
          <a:stretch/>
        </p:blipFill>
        <p:spPr>
          <a:xfrm>
            <a:off x="0" y="2823486"/>
            <a:ext cx="9144000" cy="4053764"/>
          </a:xfrm>
          <a:prstGeom prst="rect">
            <a:avLst/>
          </a:prstGeom>
        </p:spPr>
      </p:pic>
      <p:grpSp>
        <p:nvGrpSpPr>
          <p:cNvPr id="43" name="组合 42">
            <a:extLst>
              <a:ext uri="{FF2B5EF4-FFF2-40B4-BE49-F238E27FC236}">
                <a16:creationId xmlns:a16="http://schemas.microsoft.com/office/drawing/2014/main" id="{5059C803-46ED-4E2F-A5E4-357C7C1F5003}"/>
              </a:ext>
            </a:extLst>
          </p:cNvPr>
          <p:cNvGrpSpPr/>
          <p:nvPr/>
        </p:nvGrpSpPr>
        <p:grpSpPr>
          <a:xfrm>
            <a:off x="0" y="1686560"/>
            <a:ext cx="9144000" cy="3110396"/>
            <a:chOff x="0" y="1854055"/>
            <a:chExt cx="9144000" cy="3149891"/>
          </a:xfrm>
        </p:grpSpPr>
        <p:sp>
          <p:nvSpPr>
            <p:cNvPr id="36" name="任意多边形: 形状 35">
              <a:extLst>
                <a:ext uri="{FF2B5EF4-FFF2-40B4-BE49-F238E27FC236}">
                  <a16:creationId xmlns:a16="http://schemas.microsoft.com/office/drawing/2014/main" id="{1CC174CC-5E51-4D15-B389-913DF819886D}"/>
                </a:ext>
              </a:extLst>
            </p:cNvPr>
            <p:cNvSpPr/>
            <p:nvPr/>
          </p:nvSpPr>
          <p:spPr>
            <a:xfrm flipV="1">
              <a:off x="0" y="1854055"/>
              <a:ext cx="9144000" cy="3149891"/>
            </a:xfrm>
            <a:custGeom>
              <a:avLst/>
              <a:gdLst>
                <a:gd name="connsiteX0" fmla="*/ 0 w 9144000"/>
                <a:gd name="connsiteY0" fmla="*/ 3022396 h 3022396"/>
                <a:gd name="connsiteX1" fmla="*/ 182855 w 9144000"/>
                <a:gd name="connsiteY1" fmla="*/ 2991446 h 3022396"/>
                <a:gd name="connsiteX2" fmla="*/ 4572000 w 9144000"/>
                <a:gd name="connsiteY2" fmla="*/ 2690394 h 3022396"/>
                <a:gd name="connsiteX3" fmla="*/ 8961145 w 9144000"/>
                <a:gd name="connsiteY3" fmla="*/ 2991446 h 3022396"/>
                <a:gd name="connsiteX4" fmla="*/ 9144000 w 9144000"/>
                <a:gd name="connsiteY4" fmla="*/ 3022396 h 3022396"/>
                <a:gd name="connsiteX5" fmla="*/ 9144000 w 9144000"/>
                <a:gd name="connsiteY5" fmla="*/ 2113213 h 3022396"/>
                <a:gd name="connsiteX6" fmla="*/ 9144000 w 9144000"/>
                <a:gd name="connsiteY6" fmla="*/ 909183 h 3022396"/>
                <a:gd name="connsiteX7" fmla="*/ 9144000 w 9144000"/>
                <a:gd name="connsiteY7" fmla="*/ 0 h 3022396"/>
                <a:gd name="connsiteX8" fmla="*/ 8961145 w 9144000"/>
                <a:gd name="connsiteY8" fmla="*/ 30950 h 3022396"/>
                <a:gd name="connsiteX9" fmla="*/ 4572000 w 9144000"/>
                <a:gd name="connsiteY9" fmla="*/ 332003 h 3022396"/>
                <a:gd name="connsiteX10" fmla="*/ 182855 w 9144000"/>
                <a:gd name="connsiteY10" fmla="*/ 30950 h 3022396"/>
                <a:gd name="connsiteX11" fmla="*/ 0 w 9144000"/>
                <a:gd name="connsiteY11" fmla="*/ 0 h 3022396"/>
                <a:gd name="connsiteX12" fmla="*/ 0 w 9144000"/>
                <a:gd name="connsiteY12" fmla="*/ 909183 h 3022396"/>
                <a:gd name="connsiteX13" fmla="*/ 0 w 9144000"/>
                <a:gd name="connsiteY13" fmla="*/ 2113213 h 3022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000" h="3022396">
                  <a:moveTo>
                    <a:pt x="0" y="3022396"/>
                  </a:moveTo>
                  <a:lnTo>
                    <a:pt x="182855" y="2991446"/>
                  </a:lnTo>
                  <a:cubicBezTo>
                    <a:pt x="1342108" y="2804396"/>
                    <a:pt x="2882061" y="2690394"/>
                    <a:pt x="4572000" y="2690394"/>
                  </a:cubicBezTo>
                  <a:cubicBezTo>
                    <a:pt x="6261940" y="2690394"/>
                    <a:pt x="7801892" y="2804396"/>
                    <a:pt x="8961145" y="2991446"/>
                  </a:cubicBezTo>
                  <a:lnTo>
                    <a:pt x="9144000" y="3022396"/>
                  </a:lnTo>
                  <a:lnTo>
                    <a:pt x="9144000" y="2113213"/>
                  </a:lnTo>
                  <a:lnTo>
                    <a:pt x="9144000" y="909183"/>
                  </a:lnTo>
                  <a:lnTo>
                    <a:pt x="9144000" y="0"/>
                  </a:lnTo>
                  <a:lnTo>
                    <a:pt x="8961145" y="30950"/>
                  </a:lnTo>
                  <a:cubicBezTo>
                    <a:pt x="7801892" y="218000"/>
                    <a:pt x="6261940" y="332003"/>
                    <a:pt x="4572000" y="332003"/>
                  </a:cubicBezTo>
                  <a:cubicBezTo>
                    <a:pt x="2882061" y="332003"/>
                    <a:pt x="1342108" y="218000"/>
                    <a:pt x="182855" y="30950"/>
                  </a:cubicBezTo>
                  <a:lnTo>
                    <a:pt x="0" y="0"/>
                  </a:lnTo>
                  <a:lnTo>
                    <a:pt x="0" y="909183"/>
                  </a:lnTo>
                  <a:lnTo>
                    <a:pt x="0" y="2113213"/>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7" name="任意多边形: 形状 26">
              <a:extLst>
                <a:ext uri="{FF2B5EF4-FFF2-40B4-BE49-F238E27FC236}">
                  <a16:creationId xmlns:a16="http://schemas.microsoft.com/office/drawing/2014/main" id="{323E7CEE-01D1-4B48-8885-E33536F4DFEF}"/>
                </a:ext>
              </a:extLst>
            </p:cNvPr>
            <p:cNvSpPr/>
            <p:nvPr/>
          </p:nvSpPr>
          <p:spPr>
            <a:xfrm flipV="1">
              <a:off x="0" y="2051052"/>
              <a:ext cx="9144000" cy="2755896"/>
            </a:xfrm>
            <a:custGeom>
              <a:avLst/>
              <a:gdLst>
                <a:gd name="connsiteX0" fmla="*/ 0 w 9144000"/>
                <a:gd name="connsiteY0" fmla="*/ 2617516 h 2617516"/>
                <a:gd name="connsiteX1" fmla="*/ 182855 w 9144000"/>
                <a:gd name="connsiteY1" fmla="*/ 2600232 h 2617516"/>
                <a:gd name="connsiteX2" fmla="*/ 4572000 w 9144000"/>
                <a:gd name="connsiteY2" fmla="*/ 2432109 h 2617516"/>
                <a:gd name="connsiteX3" fmla="*/ 8961145 w 9144000"/>
                <a:gd name="connsiteY3" fmla="*/ 2600232 h 2617516"/>
                <a:gd name="connsiteX4" fmla="*/ 9144000 w 9144000"/>
                <a:gd name="connsiteY4" fmla="*/ 2617516 h 2617516"/>
                <a:gd name="connsiteX5" fmla="*/ 9144000 w 9144000"/>
                <a:gd name="connsiteY5" fmla="*/ 2109782 h 2617516"/>
                <a:gd name="connsiteX6" fmla="*/ 9144000 w 9144000"/>
                <a:gd name="connsiteY6" fmla="*/ 507734 h 2617516"/>
                <a:gd name="connsiteX7" fmla="*/ 9144000 w 9144000"/>
                <a:gd name="connsiteY7" fmla="*/ 0 h 2617516"/>
                <a:gd name="connsiteX8" fmla="*/ 8961145 w 9144000"/>
                <a:gd name="connsiteY8" fmla="*/ 17284 h 2617516"/>
                <a:gd name="connsiteX9" fmla="*/ 4572000 w 9144000"/>
                <a:gd name="connsiteY9" fmla="*/ 185407 h 2617516"/>
                <a:gd name="connsiteX10" fmla="*/ 182855 w 9144000"/>
                <a:gd name="connsiteY10" fmla="*/ 17284 h 2617516"/>
                <a:gd name="connsiteX11" fmla="*/ 0 w 9144000"/>
                <a:gd name="connsiteY11" fmla="*/ 0 h 2617516"/>
                <a:gd name="connsiteX12" fmla="*/ 0 w 9144000"/>
                <a:gd name="connsiteY12" fmla="*/ 507734 h 2617516"/>
                <a:gd name="connsiteX13" fmla="*/ 0 w 9144000"/>
                <a:gd name="connsiteY13" fmla="*/ 2109782 h 2617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000" h="2617516">
                  <a:moveTo>
                    <a:pt x="0" y="2617516"/>
                  </a:moveTo>
                  <a:lnTo>
                    <a:pt x="182855" y="2600232"/>
                  </a:lnTo>
                  <a:cubicBezTo>
                    <a:pt x="1342108" y="2495774"/>
                    <a:pt x="2882061" y="2432109"/>
                    <a:pt x="4572000" y="2432109"/>
                  </a:cubicBezTo>
                  <a:cubicBezTo>
                    <a:pt x="6261940" y="2432109"/>
                    <a:pt x="7801892" y="2495774"/>
                    <a:pt x="8961145" y="2600232"/>
                  </a:cubicBezTo>
                  <a:lnTo>
                    <a:pt x="9144000" y="2617516"/>
                  </a:lnTo>
                  <a:lnTo>
                    <a:pt x="9144000" y="2109782"/>
                  </a:lnTo>
                  <a:lnTo>
                    <a:pt x="9144000" y="507734"/>
                  </a:lnTo>
                  <a:lnTo>
                    <a:pt x="9144000" y="0"/>
                  </a:lnTo>
                  <a:lnTo>
                    <a:pt x="8961145" y="17284"/>
                  </a:lnTo>
                  <a:cubicBezTo>
                    <a:pt x="7801892" y="121742"/>
                    <a:pt x="6261940" y="185407"/>
                    <a:pt x="4572000" y="185407"/>
                  </a:cubicBezTo>
                  <a:cubicBezTo>
                    <a:pt x="2882061" y="185407"/>
                    <a:pt x="1342108" y="121742"/>
                    <a:pt x="182855" y="17284"/>
                  </a:cubicBezTo>
                  <a:lnTo>
                    <a:pt x="0" y="0"/>
                  </a:lnTo>
                  <a:lnTo>
                    <a:pt x="0" y="507734"/>
                  </a:lnTo>
                  <a:lnTo>
                    <a:pt x="0" y="21097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sp>
        <p:nvSpPr>
          <p:cNvPr id="17" name="文本框 16">
            <a:extLst>
              <a:ext uri="{FF2B5EF4-FFF2-40B4-BE49-F238E27FC236}">
                <a16:creationId xmlns:a16="http://schemas.microsoft.com/office/drawing/2014/main" id="{557A072C-5D8D-47C3-87A2-1311AAAFF450}"/>
              </a:ext>
            </a:extLst>
          </p:cNvPr>
          <p:cNvSpPr txBox="1"/>
          <p:nvPr/>
        </p:nvSpPr>
        <p:spPr>
          <a:xfrm>
            <a:off x="427644" y="2272261"/>
            <a:ext cx="7850942" cy="1938992"/>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4000" b="1" dirty="0">
                <a:solidFill>
                  <a:srgbClr val="FFFFFF"/>
                </a:solidFill>
                <a:latin typeface="Arial"/>
                <a:ea typeface="微软雅黑"/>
              </a:rPr>
              <a:t>LM on FPGA: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4000" b="1" dirty="0">
                <a:solidFill>
                  <a:srgbClr val="FFFFFF"/>
                </a:solidFill>
                <a:latin typeface="Arial"/>
                <a:ea typeface="微软雅黑"/>
              </a:rPr>
              <a:t>How to reduce resource overhead</a:t>
            </a:r>
            <a:r>
              <a:rPr lang="zh-CN" altLang="en-US" sz="4000" b="1" dirty="0">
                <a:solidFill>
                  <a:srgbClr val="FFFFFF"/>
                </a:solidFill>
                <a:latin typeface="Arial"/>
                <a:ea typeface="微软雅黑"/>
              </a:rPr>
              <a:t>？</a:t>
            </a:r>
          </a:p>
        </p:txBody>
      </p:sp>
      <p:sp>
        <p:nvSpPr>
          <p:cNvPr id="2" name="矩形 1">
            <a:extLst>
              <a:ext uri="{FF2B5EF4-FFF2-40B4-BE49-F238E27FC236}">
                <a16:creationId xmlns:a16="http://schemas.microsoft.com/office/drawing/2014/main" id="{518AD708-6388-45C3-A238-5D9BC06CA4DC}"/>
              </a:ext>
            </a:extLst>
          </p:cNvPr>
          <p:cNvSpPr/>
          <p:nvPr/>
        </p:nvSpPr>
        <p:spPr>
          <a:xfrm>
            <a:off x="2226188" y="6121354"/>
            <a:ext cx="1653017" cy="461665"/>
          </a:xfrm>
          <a:prstGeom prst="rect">
            <a:avLst/>
          </a:prstGeom>
        </p:spPr>
        <p:txBody>
          <a:bodyPr wrap="none">
            <a:spAutoFit/>
          </a:bodyPr>
          <a:lstStyle/>
          <a:p>
            <a:r>
              <a:rPr lang="en-US" altLang="zh-CN" sz="2400" b="1" dirty="0">
                <a:solidFill>
                  <a:srgbClr val="082E72"/>
                </a:solidFill>
              </a:rPr>
              <a:t>Liu Kaixin</a:t>
            </a:r>
            <a:endParaRPr lang="zh-CN" altLang="en-US" sz="2400" b="1" dirty="0"/>
          </a:p>
        </p:txBody>
      </p:sp>
      <p:pic>
        <p:nvPicPr>
          <p:cNvPr id="19" name="图片 18">
            <a:extLst>
              <a:ext uri="{FF2B5EF4-FFF2-40B4-BE49-F238E27FC236}">
                <a16:creationId xmlns:a16="http://schemas.microsoft.com/office/drawing/2014/main" id="{1231364E-8AAF-49F2-8815-7E0B216382A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264796" y="6065330"/>
            <a:ext cx="2138081" cy="573714"/>
          </a:xfrm>
          <a:prstGeom prst="rect">
            <a:avLst/>
          </a:prstGeom>
        </p:spPr>
      </p:pic>
      <p:sp>
        <p:nvSpPr>
          <p:cNvPr id="3" name="矩形 2">
            <a:extLst>
              <a:ext uri="{FF2B5EF4-FFF2-40B4-BE49-F238E27FC236}">
                <a16:creationId xmlns:a16="http://schemas.microsoft.com/office/drawing/2014/main" id="{59CA6A1C-7332-E043-6FF5-654F5FF7CB40}"/>
              </a:ext>
            </a:extLst>
          </p:cNvPr>
          <p:cNvSpPr/>
          <p:nvPr/>
        </p:nvSpPr>
        <p:spPr>
          <a:xfrm>
            <a:off x="6625569" y="4659191"/>
            <a:ext cx="1851789" cy="307777"/>
          </a:xfrm>
          <a:prstGeom prst="rect">
            <a:avLst/>
          </a:prstGeom>
        </p:spPr>
        <p:txBody>
          <a:bodyPr wrap="none">
            <a:spAutoFit/>
          </a:bodyPr>
          <a:lstStyle/>
          <a:p>
            <a:pPr lvl="1"/>
            <a:r>
              <a:rPr lang="en-US" altLang="zh-CN" sz="1400" b="1" dirty="0">
                <a:solidFill>
                  <a:srgbClr val="082E72"/>
                </a:solidFill>
              </a:rPr>
              <a:t>ACM FPGA25’</a:t>
            </a:r>
            <a:endParaRPr lang="zh-CN" altLang="en-US" sz="1400" b="1" dirty="0"/>
          </a:p>
        </p:txBody>
      </p:sp>
    </p:spTree>
    <p:extLst>
      <p:ext uri="{BB962C8B-B14F-4D97-AF65-F5344CB8AC3E}">
        <p14:creationId xmlns:p14="http://schemas.microsoft.com/office/powerpoint/2010/main" val="453473077"/>
      </p:ext>
    </p:extLst>
  </p:cSld>
  <p:clrMapOvr>
    <a:masterClrMapping/>
  </p:clrMapOvr>
  <mc:AlternateContent xmlns:mc="http://schemas.openxmlformats.org/markup-compatibility/2006" xmlns:p14="http://schemas.microsoft.com/office/powerpoint/2010/main">
    <mc:Choice Requires="p14">
      <p:transition spd="slow" p14:dur="2000" advTm="11017"/>
    </mc:Choice>
    <mc:Fallback xmlns="">
      <p:transition spd="slow" advTm="1101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任意多边形: 形状 43">
            <a:extLst>
              <a:ext uri="{FF2B5EF4-FFF2-40B4-BE49-F238E27FC236}">
                <a16:creationId xmlns:a16="http://schemas.microsoft.com/office/drawing/2014/main" id="{F903EF8C-13D3-422C-9C3F-5EECC23210A7}"/>
              </a:ext>
            </a:extLst>
          </p:cNvPr>
          <p:cNvSpPr/>
          <p:nvPr/>
        </p:nvSpPr>
        <p:spPr>
          <a:xfrm>
            <a:off x="0" y="255832"/>
            <a:ext cx="9144000" cy="1464728"/>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5" name="组合 4">
            <a:extLst>
              <a:ext uri="{FF2B5EF4-FFF2-40B4-BE49-F238E27FC236}">
                <a16:creationId xmlns:a16="http://schemas.microsoft.com/office/drawing/2014/main" id="{66D773D4-1EAF-4F9F-8F72-7F1400FEED3D}"/>
              </a:ext>
            </a:extLst>
          </p:cNvPr>
          <p:cNvGrpSpPr/>
          <p:nvPr/>
        </p:nvGrpSpPr>
        <p:grpSpPr>
          <a:xfrm>
            <a:off x="2171123" y="3172065"/>
            <a:ext cx="4811810" cy="712614"/>
            <a:chOff x="2254250" y="3340100"/>
            <a:chExt cx="4811810" cy="712614"/>
          </a:xfrm>
        </p:grpSpPr>
        <p:sp>
          <p:nvSpPr>
            <p:cNvPr id="27"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6" name="文本框 25">
              <a:extLst>
                <a:ext uri="{FF2B5EF4-FFF2-40B4-BE49-F238E27FC236}">
                  <a16:creationId xmlns:a16="http://schemas.microsoft.com/office/drawing/2014/main" id="{1215BA3E-7692-4205-997B-ABC7094D720C}"/>
                </a:ext>
              </a:extLst>
            </p:cNvPr>
            <p:cNvSpPr txBox="1"/>
            <p:nvPr/>
          </p:nvSpPr>
          <p:spPr>
            <a:xfrm>
              <a:off x="3161383" y="3404020"/>
              <a:ext cx="3904677"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3200" b="1" dirty="0">
                  <a:solidFill>
                    <a:schemeClr val="accent2"/>
                  </a:solidFill>
                  <a:latin typeface="Arial"/>
                  <a:ea typeface="微软雅黑"/>
                </a:rPr>
                <a:t>Solutions</a:t>
              </a:r>
              <a:endParaRPr kumimoji="0" lang="zh-CN" altLang="en-US" sz="3200" b="1" i="0" u="none" strike="noStrike" kern="1200" cap="none" spc="0" normalizeH="0" baseline="0" noProof="0" dirty="0">
                <a:ln>
                  <a:noFill/>
                </a:ln>
                <a:solidFill>
                  <a:schemeClr val="accent2"/>
                </a:solidFill>
                <a:effectLst/>
                <a:uLnTx/>
                <a:uFillTx/>
                <a:latin typeface="Arial"/>
                <a:ea typeface="微软雅黑"/>
                <a:cs typeface="+mn-cs"/>
              </a:endParaRPr>
            </a:p>
          </p:txBody>
        </p:sp>
        <p:sp>
          <p:nvSpPr>
            <p:cNvPr id="28"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2</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2" name="组合 1">
            <a:extLst>
              <a:ext uri="{FF2B5EF4-FFF2-40B4-BE49-F238E27FC236}">
                <a16:creationId xmlns:a16="http://schemas.microsoft.com/office/drawing/2014/main" id="{37694966-2907-4426-A062-130A961177FE}"/>
              </a:ext>
            </a:extLst>
          </p:cNvPr>
          <p:cNvGrpSpPr/>
          <p:nvPr/>
        </p:nvGrpSpPr>
        <p:grpSpPr>
          <a:xfrm>
            <a:off x="2171123" y="4141406"/>
            <a:ext cx="4811810" cy="712614"/>
            <a:chOff x="2254250" y="4293307"/>
            <a:chExt cx="4635500" cy="712614"/>
          </a:xfrm>
        </p:grpSpPr>
        <p:sp>
          <p:nvSpPr>
            <p:cNvPr id="30" name="矩形: 圆角 29">
              <a:extLst>
                <a:ext uri="{FF2B5EF4-FFF2-40B4-BE49-F238E27FC236}">
                  <a16:creationId xmlns:a16="http://schemas.microsoft.com/office/drawing/2014/main" id="{6E6D3661-6F3C-42F9-943D-06B5502C0D49}"/>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 name="文本框 28">
              <a:extLst>
                <a:ext uri="{FF2B5EF4-FFF2-40B4-BE49-F238E27FC236}">
                  <a16:creationId xmlns:a16="http://schemas.microsoft.com/office/drawing/2014/main" id="{89370DE9-AA64-4B9B-B0D7-52179A05A705}"/>
                </a:ext>
              </a:extLst>
            </p:cNvPr>
            <p:cNvSpPr txBox="1"/>
            <p:nvPr/>
          </p:nvSpPr>
          <p:spPr>
            <a:xfrm>
              <a:off x="3161383" y="4357227"/>
              <a:ext cx="3728366"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accent2"/>
                  </a:solidFill>
                  <a:effectLst/>
                  <a:uLnTx/>
                  <a:uFillTx/>
                  <a:latin typeface="Arial"/>
                  <a:ea typeface="微软雅黑"/>
                  <a:cs typeface="+mn-cs"/>
                </a:rPr>
                <a:t>Evaluation</a:t>
              </a:r>
              <a:endParaRPr kumimoji="0" lang="zh-CN" altLang="en-US" sz="3200" b="1" i="0" u="none" strike="noStrike" kern="1200" cap="none" spc="0" normalizeH="0" baseline="0" noProof="0" dirty="0">
                <a:ln>
                  <a:noFill/>
                </a:ln>
                <a:solidFill>
                  <a:schemeClr val="accent2"/>
                </a:solidFill>
                <a:effectLst/>
                <a:uLnTx/>
                <a:uFillTx/>
                <a:latin typeface="Arial"/>
                <a:ea typeface="微软雅黑"/>
                <a:cs typeface="+mn-cs"/>
              </a:endParaRPr>
            </a:p>
          </p:txBody>
        </p:sp>
        <p:sp>
          <p:nvSpPr>
            <p:cNvPr id="31" name="矩形: 圆角 30">
              <a:extLst>
                <a:ext uri="{FF2B5EF4-FFF2-40B4-BE49-F238E27FC236}">
                  <a16:creationId xmlns:a16="http://schemas.microsoft.com/office/drawing/2014/main" id="{6853312C-FE7E-43A1-8259-2E8524987954}"/>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3</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pic>
        <p:nvPicPr>
          <p:cNvPr id="35" name="图片 34">
            <a:extLst>
              <a:ext uri="{FF2B5EF4-FFF2-40B4-BE49-F238E27FC236}">
                <a16:creationId xmlns:a16="http://schemas.microsoft.com/office/drawing/2014/main" id="{B3D4F314-124A-40B2-A730-A29E4C6616E5}"/>
              </a:ext>
            </a:extLst>
          </p:cNvPr>
          <p:cNvPicPr>
            <a:picLocks noChangeAspect="1"/>
          </p:cNvPicPr>
          <p:nvPr/>
        </p:nvPicPr>
        <p:blipFill rotWithShape="1">
          <a:blip r:embed="rId3"/>
          <a:srcRect l="12055" t="-13637" r="12055" b="-13637"/>
          <a:stretch/>
        </p:blipFill>
        <p:spPr>
          <a:xfrm>
            <a:off x="0" y="1252486"/>
            <a:ext cx="9144000" cy="600802"/>
          </a:xfrm>
          <a:prstGeom prst="rect">
            <a:avLst/>
          </a:prstGeom>
        </p:spPr>
      </p:pic>
      <p:sp>
        <p:nvSpPr>
          <p:cNvPr id="36" name="文本框 35">
            <a:extLst>
              <a:ext uri="{FF2B5EF4-FFF2-40B4-BE49-F238E27FC236}">
                <a16:creationId xmlns:a16="http://schemas.microsoft.com/office/drawing/2014/main" id="{F02B1E6C-1DF5-4B5B-8154-6A921C91B413}"/>
              </a:ext>
            </a:extLst>
          </p:cNvPr>
          <p:cNvSpPr txBox="1"/>
          <p:nvPr/>
        </p:nvSpPr>
        <p:spPr>
          <a:xfrm>
            <a:off x="2476502" y="684783"/>
            <a:ext cx="4190998"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800" b="1" i="0" u="none" strike="noStrike" kern="1200" cap="none" spc="600" normalizeH="0" baseline="0" noProof="0" dirty="0">
                <a:ln>
                  <a:noFill/>
                </a:ln>
                <a:solidFill>
                  <a:srgbClr val="082E72"/>
                </a:solidFill>
                <a:effectLst/>
                <a:uLnTx/>
                <a:uFillTx/>
                <a:latin typeface="+mj-ea"/>
                <a:ea typeface="+mj-ea"/>
              </a:rPr>
              <a:t>Content</a:t>
            </a:r>
            <a:endParaRPr kumimoji="0" lang="zh-CN" altLang="en-US" sz="4800" b="1" i="0" u="none" strike="noStrike" kern="1200" cap="none" spc="600" normalizeH="0" baseline="0" noProof="0" dirty="0">
              <a:ln>
                <a:noFill/>
              </a:ln>
              <a:solidFill>
                <a:srgbClr val="082E72"/>
              </a:solidFill>
              <a:effectLst/>
              <a:uLnTx/>
              <a:uFillTx/>
              <a:latin typeface="+mj-ea"/>
              <a:ea typeface="+mj-ea"/>
            </a:endParaRPr>
          </a:p>
        </p:txBody>
      </p:sp>
      <p:grpSp>
        <p:nvGrpSpPr>
          <p:cNvPr id="40" name="组合 39">
            <a:extLst>
              <a:ext uri="{FF2B5EF4-FFF2-40B4-BE49-F238E27FC236}">
                <a16:creationId xmlns:a16="http://schemas.microsoft.com/office/drawing/2014/main" id="{F903167E-F437-400B-8A0D-F2E6B88BA5DE}"/>
              </a:ext>
            </a:extLst>
          </p:cNvPr>
          <p:cNvGrpSpPr/>
          <p:nvPr/>
        </p:nvGrpSpPr>
        <p:grpSpPr>
          <a:xfrm>
            <a:off x="2166095" y="2202724"/>
            <a:ext cx="4811810" cy="712614"/>
            <a:chOff x="2254250" y="2386893"/>
            <a:chExt cx="4635500" cy="712614"/>
          </a:xfrm>
        </p:grpSpPr>
        <p:sp>
          <p:nvSpPr>
            <p:cNvPr id="41" name="矩形: 圆角 40">
              <a:extLst>
                <a:ext uri="{FF2B5EF4-FFF2-40B4-BE49-F238E27FC236}">
                  <a16:creationId xmlns:a16="http://schemas.microsoft.com/office/drawing/2014/main" id="{ABF40475-9EC0-4D47-B264-39E638B68E01}"/>
                </a:ext>
              </a:extLst>
            </p:cNvPr>
            <p:cNvSpPr/>
            <p:nvPr/>
          </p:nvSpPr>
          <p:spPr>
            <a:xfrm>
              <a:off x="2254250" y="2386893"/>
              <a:ext cx="4635500" cy="712614"/>
            </a:xfrm>
            <a:prstGeom prst="roundRect">
              <a:avLst>
                <a:gd name="adj" fmla="val 9538"/>
              </a:avLst>
            </a:prstGeom>
            <a:solidFill>
              <a:schemeClr val="accent2"/>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42" name="文本框 41">
              <a:extLst>
                <a:ext uri="{FF2B5EF4-FFF2-40B4-BE49-F238E27FC236}">
                  <a16:creationId xmlns:a16="http://schemas.microsoft.com/office/drawing/2014/main" id="{AF45E508-A19F-4202-BB28-E21D9F4E7C8B}"/>
                </a:ext>
              </a:extLst>
            </p:cNvPr>
            <p:cNvSpPr txBox="1"/>
            <p:nvPr/>
          </p:nvSpPr>
          <p:spPr>
            <a:xfrm>
              <a:off x="3161383" y="2450813"/>
              <a:ext cx="3271167"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3200" b="1" dirty="0">
                  <a:solidFill>
                    <a:srgbClr val="FFFFFF"/>
                  </a:solidFill>
                  <a:latin typeface="Arial"/>
                  <a:ea typeface="微软雅黑"/>
                </a:rPr>
                <a:t>Background</a:t>
              </a:r>
              <a:endParaRPr kumimoji="0" lang="zh-CN" altLang="en-US" sz="32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43" name="矩形: 圆角 42">
              <a:extLst>
                <a:ext uri="{FF2B5EF4-FFF2-40B4-BE49-F238E27FC236}">
                  <a16:creationId xmlns:a16="http://schemas.microsoft.com/office/drawing/2014/main" id="{ED033169-BE0B-4F71-9E1E-894B8CF2C89A}"/>
                </a:ext>
              </a:extLst>
            </p:cNvPr>
            <p:cNvSpPr/>
            <p:nvPr/>
          </p:nvSpPr>
          <p:spPr>
            <a:xfrm>
              <a:off x="2326524" y="2457450"/>
              <a:ext cx="571500" cy="571500"/>
            </a:xfrm>
            <a:prstGeom prst="roundRect">
              <a:avLst>
                <a:gd name="adj" fmla="val 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1</a:t>
              </a:r>
              <a:endParaRPr kumimoji="0" lang="zh-CN" altLang="en-US" sz="2400" b="1" i="0" u="none" strike="noStrike" kern="1200" cap="none" spc="0" normalizeH="0" baseline="0" noProof="0" dirty="0">
                <a:ln>
                  <a:noFill/>
                </a:ln>
                <a:solidFill>
                  <a:schemeClr val="accent2"/>
                </a:solidFill>
                <a:effectLst/>
                <a:uLnTx/>
                <a:uFillTx/>
                <a:latin typeface="Arial"/>
                <a:ea typeface="微软雅黑"/>
                <a:cs typeface="+mn-cs"/>
              </a:endParaRPr>
            </a:p>
          </p:txBody>
        </p:sp>
      </p:grpSp>
      <p:grpSp>
        <p:nvGrpSpPr>
          <p:cNvPr id="22" name="组合 21">
            <a:extLst>
              <a:ext uri="{FF2B5EF4-FFF2-40B4-BE49-F238E27FC236}">
                <a16:creationId xmlns:a16="http://schemas.microsoft.com/office/drawing/2014/main" id="{0EF83F33-1AF2-423A-9712-D58D5A7ECEC3}"/>
              </a:ext>
            </a:extLst>
          </p:cNvPr>
          <p:cNvGrpSpPr/>
          <p:nvPr/>
        </p:nvGrpSpPr>
        <p:grpSpPr>
          <a:xfrm>
            <a:off x="2171123" y="5110747"/>
            <a:ext cx="4811810" cy="712614"/>
            <a:chOff x="2254250" y="4293307"/>
            <a:chExt cx="4635500" cy="712614"/>
          </a:xfrm>
        </p:grpSpPr>
        <p:sp>
          <p:nvSpPr>
            <p:cNvPr id="23" name="矩形: 圆角 22">
              <a:extLst>
                <a:ext uri="{FF2B5EF4-FFF2-40B4-BE49-F238E27FC236}">
                  <a16:creationId xmlns:a16="http://schemas.microsoft.com/office/drawing/2014/main" id="{6CBADD52-1F11-4738-A7CE-78FEA7C0501D}"/>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4" name="文本框 23">
              <a:extLst>
                <a:ext uri="{FF2B5EF4-FFF2-40B4-BE49-F238E27FC236}">
                  <a16:creationId xmlns:a16="http://schemas.microsoft.com/office/drawing/2014/main" id="{C996080B-4C42-4A3D-9628-C797DF7467D4}"/>
                </a:ext>
              </a:extLst>
            </p:cNvPr>
            <p:cNvSpPr txBox="1"/>
            <p:nvPr/>
          </p:nvSpPr>
          <p:spPr>
            <a:xfrm>
              <a:off x="3161384" y="4357227"/>
              <a:ext cx="3728365"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accent2"/>
                  </a:solidFill>
                  <a:effectLst/>
                  <a:uLnTx/>
                  <a:uFillTx/>
                  <a:latin typeface="Arial"/>
                  <a:ea typeface="微软雅黑"/>
                  <a:cs typeface="+mn-cs"/>
                </a:rPr>
                <a:t>Future Outlook</a:t>
              </a:r>
              <a:endParaRPr kumimoji="0" lang="zh-CN" altLang="en-US" sz="3200" b="1" i="0" u="none" strike="noStrike" kern="1200" cap="none" spc="0" normalizeH="0" baseline="0" noProof="0" dirty="0">
                <a:ln>
                  <a:noFill/>
                </a:ln>
                <a:solidFill>
                  <a:schemeClr val="accent2"/>
                </a:solidFill>
                <a:effectLst/>
                <a:uLnTx/>
                <a:uFillTx/>
                <a:latin typeface="Arial"/>
                <a:ea typeface="微软雅黑"/>
                <a:cs typeface="+mn-cs"/>
              </a:endParaRPr>
            </a:p>
          </p:txBody>
        </p:sp>
        <p:sp>
          <p:nvSpPr>
            <p:cNvPr id="25" name="矩形: 圆角 24">
              <a:extLst>
                <a:ext uri="{FF2B5EF4-FFF2-40B4-BE49-F238E27FC236}">
                  <a16:creationId xmlns:a16="http://schemas.microsoft.com/office/drawing/2014/main" id="{40ACA169-10F3-4938-89FD-48EB7773B2F6}"/>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4</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spTree>
    <p:extLst>
      <p:ext uri="{BB962C8B-B14F-4D97-AF65-F5344CB8AC3E}">
        <p14:creationId xmlns:p14="http://schemas.microsoft.com/office/powerpoint/2010/main" val="1920803602"/>
      </p:ext>
    </p:extLst>
  </p:cSld>
  <p:clrMapOvr>
    <a:masterClrMapping/>
  </p:clrMapOvr>
  <mc:AlternateContent xmlns:mc="http://schemas.openxmlformats.org/markup-compatibility/2006" xmlns:p14="http://schemas.microsoft.com/office/powerpoint/2010/main">
    <mc:Choice Requires="p14">
      <p:transition spd="slow" p14:dur="2000" advTm="3297"/>
    </mc:Choice>
    <mc:Fallback xmlns="">
      <p:transition spd="slow" advTm="329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A88D1-FCD5-2DAA-3EB4-C8427058266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A558FE4-B4B9-EB99-456E-892EB0284A9E}"/>
              </a:ext>
            </a:extLst>
          </p:cNvPr>
          <p:cNvSpPr>
            <a:spLocks noGrp="1"/>
          </p:cNvSpPr>
          <p:nvPr>
            <p:ph type="title"/>
          </p:nvPr>
        </p:nvSpPr>
        <p:spPr>
          <a:xfrm>
            <a:off x="2145030" y="254000"/>
            <a:ext cx="5857548" cy="517850"/>
          </a:xfrm>
        </p:spPr>
        <p:txBody>
          <a:bodyPr>
            <a:normAutofit fontScale="90000"/>
          </a:bodyPr>
          <a:lstStyle/>
          <a:p>
            <a:r>
              <a:rPr lang="en-US" altLang="zh-CN" dirty="0"/>
              <a:t>How to REDUCE resource overhead?</a:t>
            </a:r>
            <a:endParaRPr lang="zh-CN" altLang="en-US" dirty="0"/>
          </a:p>
        </p:txBody>
      </p:sp>
      <p:sp>
        <p:nvSpPr>
          <p:cNvPr id="16" name="文本框 15">
            <a:extLst>
              <a:ext uri="{FF2B5EF4-FFF2-40B4-BE49-F238E27FC236}">
                <a16:creationId xmlns:a16="http://schemas.microsoft.com/office/drawing/2014/main" id="{DE2B5CFF-41C6-D17C-A456-63CDFC67A5C5}"/>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Background</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graphicFrame>
        <p:nvGraphicFramePr>
          <p:cNvPr id="4" name="图示 3">
            <a:extLst>
              <a:ext uri="{FF2B5EF4-FFF2-40B4-BE49-F238E27FC236}">
                <a16:creationId xmlns:a16="http://schemas.microsoft.com/office/drawing/2014/main" id="{39A51A30-25FD-1F08-2DCC-4E541DD9357B}"/>
              </a:ext>
            </a:extLst>
          </p:cNvPr>
          <p:cNvGraphicFramePr/>
          <p:nvPr>
            <p:extLst>
              <p:ext uri="{D42A27DB-BD31-4B8C-83A1-F6EECF244321}">
                <p14:modId xmlns:p14="http://schemas.microsoft.com/office/powerpoint/2010/main" val="4285067970"/>
              </p:ext>
            </p:extLst>
          </p:nvPr>
        </p:nvGraphicFramePr>
        <p:xfrm>
          <a:off x="305853" y="635213"/>
          <a:ext cx="8380948" cy="41974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图片 9">
            <a:extLst>
              <a:ext uri="{FF2B5EF4-FFF2-40B4-BE49-F238E27FC236}">
                <a16:creationId xmlns:a16="http://schemas.microsoft.com/office/drawing/2014/main" id="{D5DED91D-8E09-504C-6FAC-5CD05A42324F}"/>
              </a:ext>
            </a:extLst>
          </p:cNvPr>
          <p:cNvPicPr>
            <a:picLocks noChangeAspect="1"/>
          </p:cNvPicPr>
          <p:nvPr/>
        </p:nvPicPr>
        <p:blipFill>
          <a:blip r:embed="rId8"/>
          <a:stretch>
            <a:fillRect/>
          </a:stretch>
        </p:blipFill>
        <p:spPr>
          <a:xfrm>
            <a:off x="5848349" y="4155155"/>
            <a:ext cx="2452322" cy="1678308"/>
          </a:xfrm>
          <a:prstGeom prst="rect">
            <a:avLst/>
          </a:prstGeom>
        </p:spPr>
      </p:pic>
      <p:pic>
        <p:nvPicPr>
          <p:cNvPr id="1026" name="Picture 2" descr="Deep learning model size trend in terms of model parameters (billions)... |  Download Scientific Diagram">
            <a:extLst>
              <a:ext uri="{FF2B5EF4-FFF2-40B4-BE49-F238E27FC236}">
                <a16:creationId xmlns:a16="http://schemas.microsoft.com/office/drawing/2014/main" id="{8458DC56-BA48-70BC-A11C-0359703FCCA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5853" y="4676181"/>
            <a:ext cx="3343275" cy="1885950"/>
          </a:xfrm>
          <a:prstGeom prst="rect">
            <a:avLst/>
          </a:prstGeom>
          <a:noFill/>
          <a:extLst>
            <a:ext uri="{909E8E84-426E-40DD-AFC4-6F175D3DCCD1}">
              <a14:hiddenFill xmlns:a14="http://schemas.microsoft.com/office/drawing/2010/main">
                <a:solidFill>
                  <a:srgbClr val="FFFFFF"/>
                </a:solidFill>
              </a14:hiddenFill>
            </a:ext>
          </a:extLst>
        </p:spPr>
      </p:pic>
      <p:sp>
        <p:nvSpPr>
          <p:cNvPr id="13" name="箭头: 右 12">
            <a:extLst>
              <a:ext uri="{FF2B5EF4-FFF2-40B4-BE49-F238E27FC236}">
                <a16:creationId xmlns:a16="http://schemas.microsoft.com/office/drawing/2014/main" id="{84DBFBF5-4552-D707-51FC-958A79B3EE94}"/>
              </a:ext>
            </a:extLst>
          </p:cNvPr>
          <p:cNvSpPr/>
          <p:nvPr/>
        </p:nvSpPr>
        <p:spPr>
          <a:xfrm>
            <a:off x="3881804" y="4938630"/>
            <a:ext cx="1843376" cy="12084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Growing Overhead!</a:t>
            </a:r>
            <a:endParaRPr lang="zh-CN" altLang="en-US" dirty="0"/>
          </a:p>
        </p:txBody>
      </p:sp>
      <p:pic>
        <p:nvPicPr>
          <p:cNvPr id="20" name="图片 19">
            <a:extLst>
              <a:ext uri="{FF2B5EF4-FFF2-40B4-BE49-F238E27FC236}">
                <a16:creationId xmlns:a16="http://schemas.microsoft.com/office/drawing/2014/main" id="{2C665098-47CC-1DDD-90DB-407A29C30BBF}"/>
              </a:ext>
            </a:extLst>
          </p:cNvPr>
          <p:cNvPicPr>
            <a:picLocks noChangeAspect="1"/>
          </p:cNvPicPr>
          <p:nvPr/>
        </p:nvPicPr>
        <p:blipFill>
          <a:blip r:embed="rId8"/>
          <a:stretch>
            <a:fillRect/>
          </a:stretch>
        </p:blipFill>
        <p:spPr>
          <a:xfrm>
            <a:off x="6000749" y="4307555"/>
            <a:ext cx="2452322" cy="1678308"/>
          </a:xfrm>
          <a:prstGeom prst="rect">
            <a:avLst/>
          </a:prstGeom>
        </p:spPr>
      </p:pic>
      <p:pic>
        <p:nvPicPr>
          <p:cNvPr id="21" name="图片 20">
            <a:extLst>
              <a:ext uri="{FF2B5EF4-FFF2-40B4-BE49-F238E27FC236}">
                <a16:creationId xmlns:a16="http://schemas.microsoft.com/office/drawing/2014/main" id="{87BE8159-0805-2831-5C71-E6AA610298B3}"/>
              </a:ext>
            </a:extLst>
          </p:cNvPr>
          <p:cNvPicPr>
            <a:picLocks noChangeAspect="1"/>
          </p:cNvPicPr>
          <p:nvPr/>
        </p:nvPicPr>
        <p:blipFill>
          <a:blip r:embed="rId8"/>
          <a:stretch>
            <a:fillRect/>
          </a:stretch>
        </p:blipFill>
        <p:spPr>
          <a:xfrm>
            <a:off x="6233425" y="4471478"/>
            <a:ext cx="2452322" cy="1678308"/>
          </a:xfrm>
          <a:prstGeom prst="rect">
            <a:avLst/>
          </a:prstGeom>
        </p:spPr>
      </p:pic>
      <p:pic>
        <p:nvPicPr>
          <p:cNvPr id="3" name="图片 2">
            <a:extLst>
              <a:ext uri="{FF2B5EF4-FFF2-40B4-BE49-F238E27FC236}">
                <a16:creationId xmlns:a16="http://schemas.microsoft.com/office/drawing/2014/main" id="{E16DBBB7-9D2D-E94E-04C6-B0F704EA5C57}"/>
              </a:ext>
            </a:extLst>
          </p:cNvPr>
          <p:cNvPicPr>
            <a:picLocks noChangeAspect="1"/>
          </p:cNvPicPr>
          <p:nvPr/>
        </p:nvPicPr>
        <p:blipFill>
          <a:blip r:embed="rId8"/>
          <a:stretch>
            <a:fillRect/>
          </a:stretch>
        </p:blipFill>
        <p:spPr>
          <a:xfrm>
            <a:off x="6385825" y="4623878"/>
            <a:ext cx="2452322" cy="1678308"/>
          </a:xfrm>
          <a:prstGeom prst="rect">
            <a:avLst/>
          </a:prstGeom>
        </p:spPr>
      </p:pic>
      <p:pic>
        <p:nvPicPr>
          <p:cNvPr id="6" name="图片 5">
            <a:extLst>
              <a:ext uri="{FF2B5EF4-FFF2-40B4-BE49-F238E27FC236}">
                <a16:creationId xmlns:a16="http://schemas.microsoft.com/office/drawing/2014/main" id="{5892D783-CE26-DA8A-C06B-D0B91B47A758}"/>
              </a:ext>
            </a:extLst>
          </p:cNvPr>
          <p:cNvPicPr>
            <a:picLocks noChangeAspect="1"/>
          </p:cNvPicPr>
          <p:nvPr/>
        </p:nvPicPr>
        <p:blipFill>
          <a:blip r:embed="rId8"/>
          <a:stretch>
            <a:fillRect/>
          </a:stretch>
        </p:blipFill>
        <p:spPr>
          <a:xfrm>
            <a:off x="6538225" y="4776278"/>
            <a:ext cx="2452322" cy="1678308"/>
          </a:xfrm>
          <a:prstGeom prst="rect">
            <a:avLst/>
          </a:prstGeom>
        </p:spPr>
      </p:pic>
    </p:spTree>
    <p:extLst>
      <p:ext uri="{BB962C8B-B14F-4D97-AF65-F5344CB8AC3E}">
        <p14:creationId xmlns:p14="http://schemas.microsoft.com/office/powerpoint/2010/main" val="1221509507"/>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EF34E-5CB3-E94F-5B73-829CF550640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4424872-7E3A-FD92-5332-AD7EBF97A637}"/>
              </a:ext>
            </a:extLst>
          </p:cNvPr>
          <p:cNvSpPr>
            <a:spLocks noGrp="1"/>
          </p:cNvSpPr>
          <p:nvPr>
            <p:ph type="title"/>
          </p:nvPr>
        </p:nvSpPr>
        <p:spPr>
          <a:xfrm>
            <a:off x="2145030" y="254000"/>
            <a:ext cx="5857548" cy="517850"/>
          </a:xfrm>
        </p:spPr>
        <p:txBody>
          <a:bodyPr>
            <a:normAutofit fontScale="90000"/>
          </a:bodyPr>
          <a:lstStyle/>
          <a:p>
            <a:r>
              <a:rPr lang="en-US" altLang="zh-CN" dirty="0"/>
              <a:t>How to REDUCE resource overhead?</a:t>
            </a:r>
            <a:endParaRPr lang="zh-CN" altLang="en-US" dirty="0"/>
          </a:p>
        </p:txBody>
      </p:sp>
      <p:sp>
        <p:nvSpPr>
          <p:cNvPr id="16" name="文本框 15">
            <a:extLst>
              <a:ext uri="{FF2B5EF4-FFF2-40B4-BE49-F238E27FC236}">
                <a16:creationId xmlns:a16="http://schemas.microsoft.com/office/drawing/2014/main" id="{E00AA620-58D9-A30E-3B7D-A73392E5C530}"/>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Background</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graphicFrame>
        <p:nvGraphicFramePr>
          <p:cNvPr id="7" name="图示 6">
            <a:extLst>
              <a:ext uri="{FF2B5EF4-FFF2-40B4-BE49-F238E27FC236}">
                <a16:creationId xmlns:a16="http://schemas.microsoft.com/office/drawing/2014/main" id="{6B696BAA-6381-23CD-9E9C-8E17FC674549}"/>
              </a:ext>
            </a:extLst>
          </p:cNvPr>
          <p:cNvGraphicFramePr/>
          <p:nvPr>
            <p:extLst>
              <p:ext uri="{D42A27DB-BD31-4B8C-83A1-F6EECF244321}">
                <p14:modId xmlns:p14="http://schemas.microsoft.com/office/powerpoint/2010/main" val="3558834196"/>
              </p:ext>
            </p:extLst>
          </p:nvPr>
        </p:nvGraphicFramePr>
        <p:xfrm>
          <a:off x="783294" y="1173330"/>
          <a:ext cx="7577411" cy="33161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文本框 7">
            <a:extLst>
              <a:ext uri="{FF2B5EF4-FFF2-40B4-BE49-F238E27FC236}">
                <a16:creationId xmlns:a16="http://schemas.microsoft.com/office/drawing/2014/main" id="{EAA4A9B3-7BBF-5695-C7EF-CC991C38C66B}"/>
              </a:ext>
            </a:extLst>
          </p:cNvPr>
          <p:cNvSpPr txBox="1"/>
          <p:nvPr/>
        </p:nvSpPr>
        <p:spPr>
          <a:xfrm>
            <a:off x="505995" y="1097459"/>
            <a:ext cx="2699951" cy="369332"/>
          </a:xfrm>
          <a:prstGeom prst="rect">
            <a:avLst/>
          </a:prstGeom>
          <a:noFill/>
        </p:spPr>
        <p:txBody>
          <a:bodyPr wrap="square" rtlCol="0">
            <a:spAutoFit/>
          </a:bodyPr>
          <a:lstStyle/>
          <a:p>
            <a:r>
              <a:rPr lang="en-US" altLang="zh-CN" dirty="0"/>
              <a:t>LUT-based NN Timeline</a:t>
            </a:r>
            <a:endParaRPr lang="zh-CN" altLang="en-US" dirty="0"/>
          </a:p>
        </p:txBody>
      </p:sp>
      <p:sp>
        <p:nvSpPr>
          <p:cNvPr id="9" name="文本框 8">
            <a:extLst>
              <a:ext uri="{FF2B5EF4-FFF2-40B4-BE49-F238E27FC236}">
                <a16:creationId xmlns:a16="http://schemas.microsoft.com/office/drawing/2014/main" id="{B8336B4D-79F7-F945-7103-1FDFC8D1B95C}"/>
              </a:ext>
            </a:extLst>
          </p:cNvPr>
          <p:cNvSpPr txBox="1"/>
          <p:nvPr/>
        </p:nvSpPr>
        <p:spPr>
          <a:xfrm>
            <a:off x="883443" y="5177481"/>
            <a:ext cx="7377111" cy="923330"/>
          </a:xfrm>
          <a:prstGeom prst="rect">
            <a:avLst/>
          </a:prstGeom>
          <a:noFill/>
        </p:spPr>
        <p:txBody>
          <a:bodyPr wrap="square" rtlCol="0">
            <a:spAutoFit/>
          </a:bodyPr>
          <a:lstStyle/>
          <a:p>
            <a:r>
              <a:rPr lang="en-US" altLang="zh-CN" i="1" dirty="0"/>
              <a:t>  “Despite these innovations, the </a:t>
            </a:r>
            <a:r>
              <a:rPr lang="en-US" altLang="zh-CN" b="1" i="1" dirty="0">
                <a:solidFill>
                  <a:schemeClr val="accent4"/>
                </a:solidFill>
              </a:rPr>
              <a:t>exponential growth in L-LUT size </a:t>
            </a:r>
            <a:r>
              <a:rPr lang="en-US" altLang="zh-CN" i="1" dirty="0"/>
              <a:t>with increasing input dimensions remains a significant limitation, particularly </a:t>
            </a:r>
            <a:r>
              <a:rPr lang="en-US" altLang="zh-CN" i="1" u="sng" dirty="0"/>
              <a:t>when larger networks and higher resolutions are required</a:t>
            </a:r>
            <a:r>
              <a:rPr lang="en-US" altLang="zh-CN" i="1" dirty="0"/>
              <a:t>.”</a:t>
            </a:r>
            <a:endParaRPr lang="zh-CN" altLang="en-US" i="1" dirty="0"/>
          </a:p>
        </p:txBody>
      </p:sp>
    </p:spTree>
    <p:extLst>
      <p:ext uri="{BB962C8B-B14F-4D97-AF65-F5344CB8AC3E}">
        <p14:creationId xmlns:p14="http://schemas.microsoft.com/office/powerpoint/2010/main" val="2318962614"/>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任意多边形: 形状 43">
            <a:extLst>
              <a:ext uri="{FF2B5EF4-FFF2-40B4-BE49-F238E27FC236}">
                <a16:creationId xmlns:a16="http://schemas.microsoft.com/office/drawing/2014/main" id="{F903EF8C-13D3-422C-9C3F-5EECC23210A7}"/>
              </a:ext>
            </a:extLst>
          </p:cNvPr>
          <p:cNvSpPr/>
          <p:nvPr/>
        </p:nvSpPr>
        <p:spPr>
          <a:xfrm>
            <a:off x="0" y="255832"/>
            <a:ext cx="9144000" cy="1464728"/>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2" name="组合 1">
            <a:extLst>
              <a:ext uri="{FF2B5EF4-FFF2-40B4-BE49-F238E27FC236}">
                <a16:creationId xmlns:a16="http://schemas.microsoft.com/office/drawing/2014/main" id="{37694966-2907-4426-A062-130A961177FE}"/>
              </a:ext>
            </a:extLst>
          </p:cNvPr>
          <p:cNvGrpSpPr/>
          <p:nvPr/>
        </p:nvGrpSpPr>
        <p:grpSpPr>
          <a:xfrm>
            <a:off x="2171123" y="4141406"/>
            <a:ext cx="4811810" cy="712614"/>
            <a:chOff x="2254250" y="4293307"/>
            <a:chExt cx="4635500" cy="712614"/>
          </a:xfrm>
        </p:grpSpPr>
        <p:sp>
          <p:nvSpPr>
            <p:cNvPr id="30" name="矩形: 圆角 29">
              <a:extLst>
                <a:ext uri="{FF2B5EF4-FFF2-40B4-BE49-F238E27FC236}">
                  <a16:creationId xmlns:a16="http://schemas.microsoft.com/office/drawing/2014/main" id="{6E6D3661-6F3C-42F9-943D-06B5502C0D49}"/>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 name="文本框 28">
              <a:extLst>
                <a:ext uri="{FF2B5EF4-FFF2-40B4-BE49-F238E27FC236}">
                  <a16:creationId xmlns:a16="http://schemas.microsoft.com/office/drawing/2014/main" id="{89370DE9-AA64-4B9B-B0D7-52179A05A705}"/>
                </a:ext>
              </a:extLst>
            </p:cNvPr>
            <p:cNvSpPr txBox="1"/>
            <p:nvPr/>
          </p:nvSpPr>
          <p:spPr>
            <a:xfrm>
              <a:off x="3161383" y="4357227"/>
              <a:ext cx="3728366"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3200" b="1" dirty="0">
                  <a:solidFill>
                    <a:schemeClr val="accent2"/>
                  </a:solidFill>
                  <a:latin typeface="Arial"/>
                  <a:ea typeface="微软雅黑"/>
                </a:rPr>
                <a:t>Evaluation</a:t>
              </a:r>
              <a:endParaRPr kumimoji="0" lang="zh-CN" altLang="en-US" sz="3200" b="1" i="0" u="none" strike="noStrike" kern="1200" cap="none" spc="0" normalizeH="0" baseline="0" noProof="0" dirty="0">
                <a:ln>
                  <a:noFill/>
                </a:ln>
                <a:solidFill>
                  <a:schemeClr val="accent2"/>
                </a:solidFill>
                <a:effectLst/>
                <a:uLnTx/>
                <a:uFillTx/>
                <a:latin typeface="Arial"/>
                <a:ea typeface="微软雅黑"/>
                <a:cs typeface="+mn-cs"/>
              </a:endParaRPr>
            </a:p>
          </p:txBody>
        </p:sp>
        <p:sp>
          <p:nvSpPr>
            <p:cNvPr id="31" name="矩形: 圆角 30">
              <a:extLst>
                <a:ext uri="{FF2B5EF4-FFF2-40B4-BE49-F238E27FC236}">
                  <a16:creationId xmlns:a16="http://schemas.microsoft.com/office/drawing/2014/main" id="{6853312C-FE7E-43A1-8259-2E8524987954}"/>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3</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pic>
        <p:nvPicPr>
          <p:cNvPr id="35" name="图片 34">
            <a:extLst>
              <a:ext uri="{FF2B5EF4-FFF2-40B4-BE49-F238E27FC236}">
                <a16:creationId xmlns:a16="http://schemas.microsoft.com/office/drawing/2014/main" id="{B3D4F314-124A-40B2-A730-A29E4C6616E5}"/>
              </a:ext>
            </a:extLst>
          </p:cNvPr>
          <p:cNvPicPr>
            <a:picLocks noChangeAspect="1"/>
          </p:cNvPicPr>
          <p:nvPr/>
        </p:nvPicPr>
        <p:blipFill rotWithShape="1">
          <a:blip r:embed="rId3"/>
          <a:srcRect l="12055" t="-13637" r="12055" b="-13637"/>
          <a:stretch/>
        </p:blipFill>
        <p:spPr>
          <a:xfrm>
            <a:off x="0" y="1252486"/>
            <a:ext cx="9144000" cy="600802"/>
          </a:xfrm>
          <a:prstGeom prst="rect">
            <a:avLst/>
          </a:prstGeom>
        </p:spPr>
      </p:pic>
      <p:sp>
        <p:nvSpPr>
          <p:cNvPr id="36" name="文本框 35">
            <a:extLst>
              <a:ext uri="{FF2B5EF4-FFF2-40B4-BE49-F238E27FC236}">
                <a16:creationId xmlns:a16="http://schemas.microsoft.com/office/drawing/2014/main" id="{F02B1E6C-1DF5-4B5B-8154-6A921C91B413}"/>
              </a:ext>
            </a:extLst>
          </p:cNvPr>
          <p:cNvSpPr txBox="1"/>
          <p:nvPr/>
        </p:nvSpPr>
        <p:spPr>
          <a:xfrm>
            <a:off x="2476502" y="684783"/>
            <a:ext cx="4190998"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800" b="1" i="0" u="none" strike="noStrike" kern="1200" cap="none" spc="600" normalizeH="0" baseline="0" noProof="0" dirty="0">
                <a:ln>
                  <a:noFill/>
                </a:ln>
                <a:solidFill>
                  <a:srgbClr val="082E72"/>
                </a:solidFill>
                <a:effectLst/>
                <a:uLnTx/>
                <a:uFillTx/>
                <a:latin typeface="+mj-ea"/>
                <a:ea typeface="+mj-ea"/>
              </a:rPr>
              <a:t>Content</a:t>
            </a:r>
            <a:endParaRPr kumimoji="0" lang="zh-CN" altLang="en-US" sz="4800" b="1" i="0" u="none" strike="noStrike" kern="1200" cap="none" spc="600" normalizeH="0" baseline="0" noProof="0" dirty="0">
              <a:ln>
                <a:noFill/>
              </a:ln>
              <a:solidFill>
                <a:srgbClr val="082E72"/>
              </a:solidFill>
              <a:effectLst/>
              <a:uLnTx/>
              <a:uFillTx/>
              <a:latin typeface="+mj-ea"/>
              <a:ea typeface="+mj-ea"/>
            </a:endParaRPr>
          </a:p>
        </p:txBody>
      </p:sp>
      <p:grpSp>
        <p:nvGrpSpPr>
          <p:cNvPr id="22" name="组合 21">
            <a:extLst>
              <a:ext uri="{FF2B5EF4-FFF2-40B4-BE49-F238E27FC236}">
                <a16:creationId xmlns:a16="http://schemas.microsoft.com/office/drawing/2014/main" id="{0EF83F33-1AF2-423A-9712-D58D5A7ECEC3}"/>
              </a:ext>
            </a:extLst>
          </p:cNvPr>
          <p:cNvGrpSpPr/>
          <p:nvPr/>
        </p:nvGrpSpPr>
        <p:grpSpPr>
          <a:xfrm>
            <a:off x="2171123" y="5110747"/>
            <a:ext cx="4811810" cy="712614"/>
            <a:chOff x="2254250" y="4293307"/>
            <a:chExt cx="4635500" cy="712614"/>
          </a:xfrm>
        </p:grpSpPr>
        <p:sp>
          <p:nvSpPr>
            <p:cNvPr id="23" name="矩形: 圆角 22">
              <a:extLst>
                <a:ext uri="{FF2B5EF4-FFF2-40B4-BE49-F238E27FC236}">
                  <a16:creationId xmlns:a16="http://schemas.microsoft.com/office/drawing/2014/main" id="{6CBADD52-1F11-4738-A7CE-78FEA7C0501D}"/>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4" name="文本框 23">
              <a:extLst>
                <a:ext uri="{FF2B5EF4-FFF2-40B4-BE49-F238E27FC236}">
                  <a16:creationId xmlns:a16="http://schemas.microsoft.com/office/drawing/2014/main" id="{C996080B-4C42-4A3D-9628-C797DF7467D4}"/>
                </a:ext>
              </a:extLst>
            </p:cNvPr>
            <p:cNvSpPr txBox="1"/>
            <p:nvPr/>
          </p:nvSpPr>
          <p:spPr>
            <a:xfrm>
              <a:off x="3161384" y="4357227"/>
              <a:ext cx="3728365"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accent2"/>
                  </a:solidFill>
                  <a:effectLst/>
                  <a:uLnTx/>
                  <a:uFillTx/>
                  <a:latin typeface="Arial"/>
                  <a:ea typeface="微软雅黑"/>
                  <a:cs typeface="+mn-cs"/>
                </a:rPr>
                <a:t>Future Outlook</a:t>
              </a:r>
              <a:endParaRPr kumimoji="0" lang="zh-CN" altLang="en-US" sz="3200" b="1" i="0" u="none" strike="noStrike" kern="1200" cap="none" spc="0" normalizeH="0" baseline="0" noProof="0" dirty="0">
                <a:ln>
                  <a:noFill/>
                </a:ln>
                <a:solidFill>
                  <a:schemeClr val="accent2"/>
                </a:solidFill>
                <a:effectLst/>
                <a:uLnTx/>
                <a:uFillTx/>
                <a:latin typeface="Arial"/>
                <a:ea typeface="微软雅黑"/>
                <a:cs typeface="+mn-cs"/>
              </a:endParaRPr>
            </a:p>
          </p:txBody>
        </p:sp>
        <p:sp>
          <p:nvSpPr>
            <p:cNvPr id="25" name="矩形: 圆角 24">
              <a:extLst>
                <a:ext uri="{FF2B5EF4-FFF2-40B4-BE49-F238E27FC236}">
                  <a16:creationId xmlns:a16="http://schemas.microsoft.com/office/drawing/2014/main" id="{40ACA169-10F3-4938-89FD-48EB7773B2F6}"/>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4</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32" name="组合 31">
            <a:extLst>
              <a:ext uri="{FF2B5EF4-FFF2-40B4-BE49-F238E27FC236}">
                <a16:creationId xmlns:a16="http://schemas.microsoft.com/office/drawing/2014/main" id="{66D773D4-1EAF-4F9F-8F72-7F1400FEED3D}"/>
              </a:ext>
            </a:extLst>
          </p:cNvPr>
          <p:cNvGrpSpPr/>
          <p:nvPr/>
        </p:nvGrpSpPr>
        <p:grpSpPr>
          <a:xfrm>
            <a:off x="2171123" y="2202724"/>
            <a:ext cx="4811810" cy="712614"/>
            <a:chOff x="2254250" y="3340100"/>
            <a:chExt cx="4811810" cy="712614"/>
          </a:xfrm>
        </p:grpSpPr>
        <p:sp>
          <p:nvSpPr>
            <p:cNvPr id="33"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4" name="文本框 33">
              <a:extLst>
                <a:ext uri="{FF2B5EF4-FFF2-40B4-BE49-F238E27FC236}">
                  <a16:creationId xmlns:a16="http://schemas.microsoft.com/office/drawing/2014/main" id="{1215BA3E-7692-4205-997B-ABC7094D720C}"/>
                </a:ext>
              </a:extLst>
            </p:cNvPr>
            <p:cNvSpPr txBox="1"/>
            <p:nvPr/>
          </p:nvSpPr>
          <p:spPr>
            <a:xfrm>
              <a:off x="3161383" y="3404020"/>
              <a:ext cx="3904677" cy="584775"/>
            </a:xfrm>
            <a:prstGeom prst="rect">
              <a:avLst/>
            </a:prstGeom>
            <a:noFill/>
          </p:spPr>
          <p:txBody>
            <a:bodyPr wrap="square">
              <a:spAutoFit/>
            </a:bodyPr>
            <a:lstStyle/>
            <a:p>
              <a:pPr>
                <a:defRPr/>
              </a:pPr>
              <a:r>
                <a:rPr lang="en-US" altLang="zh-CN" sz="3200" b="1" dirty="0">
                  <a:solidFill>
                    <a:schemeClr val="accent2"/>
                  </a:solidFill>
                </a:rPr>
                <a:t>Background</a:t>
              </a:r>
              <a:endParaRPr lang="zh-CN" altLang="en-US" sz="3200" b="1" dirty="0">
                <a:solidFill>
                  <a:schemeClr val="accent2"/>
                </a:solidFill>
              </a:endParaRPr>
            </a:p>
          </p:txBody>
        </p:sp>
        <p:sp>
          <p:nvSpPr>
            <p:cNvPr id="37"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1</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38" name="组合 37">
            <a:extLst>
              <a:ext uri="{FF2B5EF4-FFF2-40B4-BE49-F238E27FC236}">
                <a16:creationId xmlns:a16="http://schemas.microsoft.com/office/drawing/2014/main" id="{F903167E-F437-400B-8A0D-F2E6B88BA5DE}"/>
              </a:ext>
            </a:extLst>
          </p:cNvPr>
          <p:cNvGrpSpPr/>
          <p:nvPr/>
        </p:nvGrpSpPr>
        <p:grpSpPr>
          <a:xfrm>
            <a:off x="2171123" y="3172065"/>
            <a:ext cx="4886833" cy="712614"/>
            <a:chOff x="2254250" y="2386893"/>
            <a:chExt cx="4707774" cy="712614"/>
          </a:xfrm>
        </p:grpSpPr>
        <p:sp>
          <p:nvSpPr>
            <p:cNvPr id="39" name="矩形: 圆角 40">
              <a:extLst>
                <a:ext uri="{FF2B5EF4-FFF2-40B4-BE49-F238E27FC236}">
                  <a16:creationId xmlns:a16="http://schemas.microsoft.com/office/drawing/2014/main" id="{ABF40475-9EC0-4D47-B264-39E638B68E01}"/>
                </a:ext>
              </a:extLst>
            </p:cNvPr>
            <p:cNvSpPr/>
            <p:nvPr/>
          </p:nvSpPr>
          <p:spPr>
            <a:xfrm>
              <a:off x="2254250" y="2386893"/>
              <a:ext cx="4635500" cy="712614"/>
            </a:xfrm>
            <a:prstGeom prst="roundRect">
              <a:avLst>
                <a:gd name="adj" fmla="val 9538"/>
              </a:avLst>
            </a:prstGeom>
            <a:solidFill>
              <a:schemeClr val="accent2"/>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45" name="文本框 44">
              <a:extLst>
                <a:ext uri="{FF2B5EF4-FFF2-40B4-BE49-F238E27FC236}">
                  <a16:creationId xmlns:a16="http://schemas.microsoft.com/office/drawing/2014/main" id="{AF45E508-A19F-4202-BB28-E21D9F4E7C8B}"/>
                </a:ext>
              </a:extLst>
            </p:cNvPr>
            <p:cNvSpPr txBox="1"/>
            <p:nvPr/>
          </p:nvSpPr>
          <p:spPr>
            <a:xfrm>
              <a:off x="3161383" y="2450813"/>
              <a:ext cx="3800641" cy="584775"/>
            </a:xfrm>
            <a:prstGeom prst="rect">
              <a:avLst/>
            </a:prstGeom>
            <a:noFill/>
          </p:spPr>
          <p:txBody>
            <a:bodyPr wrap="square">
              <a:spAutoFit/>
            </a:bodyPr>
            <a:lstStyle/>
            <a:p>
              <a:pPr lvl="0">
                <a:defRPr/>
              </a:pPr>
              <a:r>
                <a:rPr lang="en-US" altLang="zh-CN" sz="3200" b="1" dirty="0">
                  <a:solidFill>
                    <a:srgbClr val="FFFFFF"/>
                  </a:solidFill>
                </a:rPr>
                <a:t>Solutions</a:t>
              </a:r>
              <a:endParaRPr lang="zh-CN" altLang="en-US" sz="3200" b="1" dirty="0">
                <a:solidFill>
                  <a:srgbClr val="FFFFFF"/>
                </a:solidFill>
              </a:endParaRPr>
            </a:p>
          </p:txBody>
        </p:sp>
        <p:sp>
          <p:nvSpPr>
            <p:cNvPr id="46" name="矩形: 圆角 42">
              <a:extLst>
                <a:ext uri="{FF2B5EF4-FFF2-40B4-BE49-F238E27FC236}">
                  <a16:creationId xmlns:a16="http://schemas.microsoft.com/office/drawing/2014/main" id="{ED033169-BE0B-4F71-9E1E-894B8CF2C89A}"/>
                </a:ext>
              </a:extLst>
            </p:cNvPr>
            <p:cNvSpPr/>
            <p:nvPr/>
          </p:nvSpPr>
          <p:spPr>
            <a:xfrm>
              <a:off x="2326524" y="2457450"/>
              <a:ext cx="571500" cy="571500"/>
            </a:xfrm>
            <a:prstGeom prst="roundRect">
              <a:avLst>
                <a:gd name="adj" fmla="val 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2</a:t>
              </a:r>
              <a:endParaRPr kumimoji="0" lang="zh-CN" altLang="en-US" sz="2400" b="1" i="0" u="none" strike="noStrike" kern="1200" cap="none" spc="0" normalizeH="0" baseline="0" noProof="0" dirty="0">
                <a:ln>
                  <a:noFill/>
                </a:ln>
                <a:solidFill>
                  <a:schemeClr val="accent2"/>
                </a:solidFill>
                <a:effectLst/>
                <a:uLnTx/>
                <a:uFillTx/>
                <a:latin typeface="Arial"/>
                <a:ea typeface="微软雅黑"/>
                <a:cs typeface="+mn-cs"/>
              </a:endParaRPr>
            </a:p>
          </p:txBody>
        </p:sp>
      </p:grpSp>
    </p:spTree>
    <p:extLst>
      <p:ext uri="{BB962C8B-B14F-4D97-AF65-F5344CB8AC3E}">
        <p14:creationId xmlns:p14="http://schemas.microsoft.com/office/powerpoint/2010/main" val="3848578064"/>
      </p:ext>
    </p:extLst>
  </p:cSld>
  <p:clrMapOvr>
    <a:masterClrMapping/>
  </p:clrMapOvr>
  <mc:AlternateContent xmlns:mc="http://schemas.openxmlformats.org/markup-compatibility/2006" xmlns:p14="http://schemas.microsoft.com/office/powerpoint/2010/main">
    <mc:Choice Requires="p14">
      <p:transition spd="slow" p14:dur="2000" advTm="3297"/>
    </mc:Choice>
    <mc:Fallback xmlns="">
      <p:transition spd="slow" advTm="329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8E597-A7AE-3EE2-915D-6517BEF5A16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9D1E77D-449F-2635-A1A8-54103CA594C3}"/>
              </a:ext>
            </a:extLst>
          </p:cNvPr>
          <p:cNvSpPr>
            <a:spLocks noGrp="1"/>
          </p:cNvSpPr>
          <p:nvPr>
            <p:ph type="title"/>
          </p:nvPr>
        </p:nvSpPr>
        <p:spPr>
          <a:xfrm>
            <a:off x="2145030" y="254000"/>
            <a:ext cx="5857548" cy="517850"/>
          </a:xfrm>
        </p:spPr>
        <p:txBody>
          <a:bodyPr>
            <a:normAutofit/>
          </a:bodyPr>
          <a:lstStyle/>
          <a:p>
            <a:r>
              <a:rPr lang="en-US" altLang="zh-CN" dirty="0"/>
              <a:t>Overview</a:t>
            </a:r>
            <a:endParaRPr lang="zh-CN" altLang="en-US" dirty="0"/>
          </a:p>
        </p:txBody>
      </p:sp>
      <p:sp>
        <p:nvSpPr>
          <p:cNvPr id="16" name="文本框 15">
            <a:extLst>
              <a:ext uri="{FF2B5EF4-FFF2-40B4-BE49-F238E27FC236}">
                <a16:creationId xmlns:a16="http://schemas.microsoft.com/office/drawing/2014/main" id="{2E1671BA-B3C8-8378-AB1E-178E531376E0}"/>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Solutions</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graphicFrame>
        <p:nvGraphicFramePr>
          <p:cNvPr id="6" name="图示 5">
            <a:extLst>
              <a:ext uri="{FF2B5EF4-FFF2-40B4-BE49-F238E27FC236}">
                <a16:creationId xmlns:a16="http://schemas.microsoft.com/office/drawing/2014/main" id="{02195431-7E9E-0F5C-0E59-36FC3777B739}"/>
              </a:ext>
            </a:extLst>
          </p:cNvPr>
          <p:cNvGraphicFramePr/>
          <p:nvPr/>
        </p:nvGraphicFramePr>
        <p:xfrm>
          <a:off x="2163028" y="1497167"/>
          <a:ext cx="4817943" cy="45889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文本框 4">
            <a:extLst>
              <a:ext uri="{FF2B5EF4-FFF2-40B4-BE49-F238E27FC236}">
                <a16:creationId xmlns:a16="http://schemas.microsoft.com/office/drawing/2014/main" id="{F7A1961D-BB67-8FD7-BBCD-7B6535FF1BAE}"/>
              </a:ext>
            </a:extLst>
          </p:cNvPr>
          <p:cNvSpPr txBox="1"/>
          <p:nvPr/>
        </p:nvSpPr>
        <p:spPr>
          <a:xfrm>
            <a:off x="4729655" y="811343"/>
            <a:ext cx="4174709" cy="646331"/>
          </a:xfrm>
          <a:prstGeom prst="rect">
            <a:avLst/>
          </a:prstGeom>
          <a:noFill/>
        </p:spPr>
        <p:txBody>
          <a:bodyPr wrap="square" rtlCol="0">
            <a:spAutoFit/>
          </a:bodyPr>
          <a:lstStyle/>
          <a:p>
            <a:pPr algn="r"/>
            <a:r>
              <a:rPr lang="en-US" altLang="zh-CN" b="1" i="1" dirty="0">
                <a:solidFill>
                  <a:srgbClr val="FF0000"/>
                </a:solidFill>
              </a:rPr>
              <a:t>3 Papers</a:t>
            </a:r>
          </a:p>
          <a:p>
            <a:pPr algn="r"/>
            <a:r>
              <a:rPr lang="en-US" altLang="zh-CN" b="1" i="1" dirty="0">
                <a:solidFill>
                  <a:srgbClr val="FF0000"/>
                </a:solidFill>
              </a:rPr>
              <a:t>3 Approaches</a:t>
            </a:r>
            <a:endParaRPr lang="zh-CN" altLang="en-US" b="1" i="1" dirty="0">
              <a:solidFill>
                <a:srgbClr val="FF0000"/>
              </a:solidFill>
            </a:endParaRPr>
          </a:p>
        </p:txBody>
      </p:sp>
      <p:pic>
        <p:nvPicPr>
          <p:cNvPr id="8" name="图片 7">
            <a:extLst>
              <a:ext uri="{FF2B5EF4-FFF2-40B4-BE49-F238E27FC236}">
                <a16:creationId xmlns:a16="http://schemas.microsoft.com/office/drawing/2014/main" id="{EB834A37-A26D-7C47-7E71-81966DC926CF}"/>
              </a:ext>
            </a:extLst>
          </p:cNvPr>
          <p:cNvPicPr>
            <a:picLocks noChangeAspect="1"/>
          </p:cNvPicPr>
          <p:nvPr/>
        </p:nvPicPr>
        <p:blipFill>
          <a:blip r:embed="rId8"/>
          <a:stretch>
            <a:fillRect/>
          </a:stretch>
        </p:blipFill>
        <p:spPr>
          <a:xfrm>
            <a:off x="207309" y="3846687"/>
            <a:ext cx="1820186" cy="2368081"/>
          </a:xfrm>
          <a:prstGeom prst="rect">
            <a:avLst/>
          </a:prstGeom>
        </p:spPr>
      </p:pic>
      <p:pic>
        <p:nvPicPr>
          <p:cNvPr id="11" name="图片 10">
            <a:extLst>
              <a:ext uri="{FF2B5EF4-FFF2-40B4-BE49-F238E27FC236}">
                <a16:creationId xmlns:a16="http://schemas.microsoft.com/office/drawing/2014/main" id="{9374667B-525B-5F2A-11F6-3BB4AA16FB01}"/>
              </a:ext>
            </a:extLst>
          </p:cNvPr>
          <p:cNvPicPr>
            <a:picLocks noChangeAspect="1"/>
          </p:cNvPicPr>
          <p:nvPr/>
        </p:nvPicPr>
        <p:blipFill>
          <a:blip r:embed="rId9"/>
          <a:stretch>
            <a:fillRect/>
          </a:stretch>
        </p:blipFill>
        <p:spPr>
          <a:xfrm>
            <a:off x="147450" y="1317592"/>
            <a:ext cx="1939904" cy="2111408"/>
          </a:xfrm>
          <a:prstGeom prst="rect">
            <a:avLst/>
          </a:prstGeom>
        </p:spPr>
      </p:pic>
      <p:pic>
        <p:nvPicPr>
          <p:cNvPr id="14" name="图片 13">
            <a:extLst>
              <a:ext uri="{FF2B5EF4-FFF2-40B4-BE49-F238E27FC236}">
                <a16:creationId xmlns:a16="http://schemas.microsoft.com/office/drawing/2014/main" id="{1B00508B-B6E2-F9F7-0313-732284B9A45C}"/>
              </a:ext>
            </a:extLst>
          </p:cNvPr>
          <p:cNvPicPr>
            <a:picLocks noChangeAspect="1"/>
          </p:cNvPicPr>
          <p:nvPr/>
        </p:nvPicPr>
        <p:blipFill>
          <a:blip r:embed="rId10"/>
          <a:stretch>
            <a:fillRect/>
          </a:stretch>
        </p:blipFill>
        <p:spPr>
          <a:xfrm>
            <a:off x="6993844" y="2494205"/>
            <a:ext cx="2017467" cy="2443556"/>
          </a:xfrm>
          <a:prstGeom prst="rect">
            <a:avLst/>
          </a:prstGeom>
        </p:spPr>
      </p:pic>
    </p:spTree>
    <p:extLst>
      <p:ext uri="{BB962C8B-B14F-4D97-AF65-F5344CB8AC3E}">
        <p14:creationId xmlns:p14="http://schemas.microsoft.com/office/powerpoint/2010/main" val="2927137593"/>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5F016-B581-F03B-89C8-5030A264A72B}"/>
            </a:ext>
          </a:extLst>
        </p:cNvPr>
        <p:cNvGrpSpPr/>
        <p:nvPr/>
      </p:nvGrpSpPr>
      <p:grpSpPr>
        <a:xfrm>
          <a:off x="0" y="0"/>
          <a:ext cx="0" cy="0"/>
          <a:chOff x="0" y="0"/>
          <a:chExt cx="0" cy="0"/>
        </a:xfrm>
      </p:grpSpPr>
      <p:sp>
        <p:nvSpPr>
          <p:cNvPr id="44" name="任意多边形: 形状 43">
            <a:extLst>
              <a:ext uri="{FF2B5EF4-FFF2-40B4-BE49-F238E27FC236}">
                <a16:creationId xmlns:a16="http://schemas.microsoft.com/office/drawing/2014/main" id="{E633F8C8-9FB0-8B26-EA33-5F21449D5E33}"/>
              </a:ext>
            </a:extLst>
          </p:cNvPr>
          <p:cNvSpPr/>
          <p:nvPr/>
        </p:nvSpPr>
        <p:spPr>
          <a:xfrm>
            <a:off x="0" y="255832"/>
            <a:ext cx="9144000" cy="1464728"/>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2" name="组合 1">
            <a:extLst>
              <a:ext uri="{FF2B5EF4-FFF2-40B4-BE49-F238E27FC236}">
                <a16:creationId xmlns:a16="http://schemas.microsoft.com/office/drawing/2014/main" id="{4101CEE7-8E62-1E1C-C3BC-43B16388BEC7}"/>
              </a:ext>
            </a:extLst>
          </p:cNvPr>
          <p:cNvGrpSpPr/>
          <p:nvPr/>
        </p:nvGrpSpPr>
        <p:grpSpPr>
          <a:xfrm>
            <a:off x="2166095" y="4574113"/>
            <a:ext cx="4811810" cy="712614"/>
            <a:chOff x="2254250" y="4293307"/>
            <a:chExt cx="4635500" cy="712614"/>
          </a:xfrm>
        </p:grpSpPr>
        <p:sp>
          <p:nvSpPr>
            <p:cNvPr id="30" name="矩形: 圆角 29">
              <a:extLst>
                <a:ext uri="{FF2B5EF4-FFF2-40B4-BE49-F238E27FC236}">
                  <a16:creationId xmlns:a16="http://schemas.microsoft.com/office/drawing/2014/main" id="{B0CBF673-2DF6-BB2D-E4A0-35129010416B}"/>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 name="文本框 28">
              <a:extLst>
                <a:ext uri="{FF2B5EF4-FFF2-40B4-BE49-F238E27FC236}">
                  <a16:creationId xmlns:a16="http://schemas.microsoft.com/office/drawing/2014/main" id="{DFEB68A7-5B3B-8B7C-119D-CCE8955C131B}"/>
                </a:ext>
              </a:extLst>
            </p:cNvPr>
            <p:cNvSpPr txBox="1"/>
            <p:nvPr/>
          </p:nvSpPr>
          <p:spPr>
            <a:xfrm>
              <a:off x="3161383" y="4357227"/>
              <a:ext cx="3728366"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3200" b="1" dirty="0">
                  <a:solidFill>
                    <a:schemeClr val="accent2"/>
                  </a:solidFill>
                  <a:latin typeface="Arial"/>
                  <a:ea typeface="微软雅黑"/>
                </a:rPr>
                <a:t>AmigoLUT</a:t>
              </a:r>
              <a:endParaRPr kumimoji="0" lang="zh-CN" altLang="en-US" sz="3200" b="1" i="0" u="none" strike="noStrike" kern="1200" cap="none" spc="0" normalizeH="0" baseline="0" noProof="0" dirty="0">
                <a:ln>
                  <a:noFill/>
                </a:ln>
                <a:solidFill>
                  <a:schemeClr val="accent2"/>
                </a:solidFill>
                <a:effectLst/>
                <a:uLnTx/>
                <a:uFillTx/>
                <a:latin typeface="Arial"/>
                <a:ea typeface="微软雅黑"/>
                <a:cs typeface="+mn-cs"/>
              </a:endParaRPr>
            </a:p>
          </p:txBody>
        </p:sp>
        <p:sp>
          <p:nvSpPr>
            <p:cNvPr id="31" name="矩形: 圆角 30">
              <a:extLst>
                <a:ext uri="{FF2B5EF4-FFF2-40B4-BE49-F238E27FC236}">
                  <a16:creationId xmlns:a16="http://schemas.microsoft.com/office/drawing/2014/main" id="{0609939F-3389-6123-7363-4F68B43E979D}"/>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3</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pic>
        <p:nvPicPr>
          <p:cNvPr id="35" name="图片 34">
            <a:extLst>
              <a:ext uri="{FF2B5EF4-FFF2-40B4-BE49-F238E27FC236}">
                <a16:creationId xmlns:a16="http://schemas.microsoft.com/office/drawing/2014/main" id="{1D729A22-0868-7CF6-A056-1ED4588D68B6}"/>
              </a:ext>
            </a:extLst>
          </p:cNvPr>
          <p:cNvPicPr>
            <a:picLocks noChangeAspect="1"/>
          </p:cNvPicPr>
          <p:nvPr/>
        </p:nvPicPr>
        <p:blipFill rotWithShape="1">
          <a:blip r:embed="rId3"/>
          <a:srcRect l="12055" t="-13637" r="12055" b="-13637"/>
          <a:stretch/>
        </p:blipFill>
        <p:spPr>
          <a:xfrm>
            <a:off x="0" y="1252486"/>
            <a:ext cx="9144000" cy="600802"/>
          </a:xfrm>
          <a:prstGeom prst="rect">
            <a:avLst/>
          </a:prstGeom>
        </p:spPr>
      </p:pic>
      <p:sp>
        <p:nvSpPr>
          <p:cNvPr id="36" name="文本框 35">
            <a:extLst>
              <a:ext uri="{FF2B5EF4-FFF2-40B4-BE49-F238E27FC236}">
                <a16:creationId xmlns:a16="http://schemas.microsoft.com/office/drawing/2014/main" id="{806A259E-74DB-8B92-6ADE-DF6892303296}"/>
              </a:ext>
            </a:extLst>
          </p:cNvPr>
          <p:cNvSpPr txBox="1"/>
          <p:nvPr/>
        </p:nvSpPr>
        <p:spPr>
          <a:xfrm>
            <a:off x="2171123" y="689697"/>
            <a:ext cx="4506430" cy="830997"/>
          </a:xfrm>
          <a:prstGeom prst="rect">
            <a:avLst/>
          </a:prstGeom>
          <a:noFill/>
        </p:spPr>
        <p:txBody>
          <a:bodyPr wrap="square">
            <a:spAutoFit/>
          </a:bodyPr>
          <a:lstStyle/>
          <a:p>
            <a:pPr lvl="1" algn="ctr">
              <a:defRPr/>
            </a:pPr>
            <a:r>
              <a:rPr kumimoji="0" lang="en-US" altLang="zh-CN" sz="4800" b="1" i="0" u="none" strike="noStrike" kern="1200" cap="none" spc="600" normalizeH="0" baseline="0" noProof="0" dirty="0">
                <a:ln>
                  <a:noFill/>
                </a:ln>
                <a:solidFill>
                  <a:srgbClr val="082E72"/>
                </a:solidFill>
                <a:effectLst/>
                <a:uLnTx/>
                <a:uFillTx/>
                <a:latin typeface="+mj-ea"/>
                <a:ea typeface="+mj-ea"/>
              </a:rPr>
              <a:t>Solutions</a:t>
            </a:r>
            <a:endParaRPr kumimoji="0" lang="zh-CN" altLang="en-US" sz="4800" b="1" i="0" u="none" strike="noStrike" kern="1200" cap="none" spc="600" normalizeH="0" baseline="0" noProof="0" dirty="0">
              <a:ln>
                <a:noFill/>
              </a:ln>
              <a:solidFill>
                <a:srgbClr val="082E72"/>
              </a:solidFill>
              <a:effectLst/>
              <a:uLnTx/>
              <a:uFillTx/>
              <a:latin typeface="+mj-ea"/>
              <a:ea typeface="+mj-ea"/>
            </a:endParaRPr>
          </a:p>
        </p:txBody>
      </p:sp>
      <p:grpSp>
        <p:nvGrpSpPr>
          <p:cNvPr id="32" name="组合 31">
            <a:extLst>
              <a:ext uri="{FF2B5EF4-FFF2-40B4-BE49-F238E27FC236}">
                <a16:creationId xmlns:a16="http://schemas.microsoft.com/office/drawing/2014/main" id="{102ED2D8-636D-32A1-5F3D-1D9607C3A0C5}"/>
              </a:ext>
            </a:extLst>
          </p:cNvPr>
          <p:cNvGrpSpPr/>
          <p:nvPr/>
        </p:nvGrpSpPr>
        <p:grpSpPr>
          <a:xfrm>
            <a:off x="2166095" y="3579484"/>
            <a:ext cx="4811810" cy="712614"/>
            <a:chOff x="2254250" y="3340100"/>
            <a:chExt cx="4811810" cy="712614"/>
          </a:xfrm>
        </p:grpSpPr>
        <p:sp>
          <p:nvSpPr>
            <p:cNvPr id="33" name="矩形: 圆角 26">
              <a:extLst>
                <a:ext uri="{FF2B5EF4-FFF2-40B4-BE49-F238E27FC236}">
                  <a16:creationId xmlns:a16="http://schemas.microsoft.com/office/drawing/2014/main" id="{29AB274C-A7D2-94D7-5F3F-77F58B741219}"/>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4" name="文本框 33">
              <a:extLst>
                <a:ext uri="{FF2B5EF4-FFF2-40B4-BE49-F238E27FC236}">
                  <a16:creationId xmlns:a16="http://schemas.microsoft.com/office/drawing/2014/main" id="{FFA8755C-24D1-AA4D-16B1-1D3DB2F9C156}"/>
                </a:ext>
              </a:extLst>
            </p:cNvPr>
            <p:cNvSpPr txBox="1"/>
            <p:nvPr/>
          </p:nvSpPr>
          <p:spPr>
            <a:xfrm>
              <a:off x="3161383" y="3404020"/>
              <a:ext cx="3904677" cy="584775"/>
            </a:xfrm>
            <a:prstGeom prst="rect">
              <a:avLst/>
            </a:prstGeom>
            <a:noFill/>
          </p:spPr>
          <p:txBody>
            <a:bodyPr wrap="square">
              <a:spAutoFit/>
            </a:bodyPr>
            <a:lstStyle/>
            <a:p>
              <a:pPr>
                <a:defRPr/>
              </a:pPr>
              <a:r>
                <a:rPr lang="en-US" altLang="zh-CN" sz="3200" b="1" dirty="0">
                  <a:solidFill>
                    <a:schemeClr val="accent2"/>
                  </a:solidFill>
                </a:rPr>
                <a:t>TreeLUT</a:t>
              </a:r>
              <a:endParaRPr lang="zh-CN" altLang="en-US" sz="3200" b="1" dirty="0">
                <a:solidFill>
                  <a:schemeClr val="accent2"/>
                </a:solidFill>
              </a:endParaRPr>
            </a:p>
          </p:txBody>
        </p:sp>
        <p:sp>
          <p:nvSpPr>
            <p:cNvPr id="37" name="矩形: 圆角 27">
              <a:extLst>
                <a:ext uri="{FF2B5EF4-FFF2-40B4-BE49-F238E27FC236}">
                  <a16:creationId xmlns:a16="http://schemas.microsoft.com/office/drawing/2014/main" id="{D32A59A7-C715-B3E9-1B87-2933D8EA489F}"/>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a:ea typeface="微软雅黑"/>
                  <a:cs typeface="+mn-cs"/>
                </a:rPr>
                <a:t>2</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38" name="组合 37">
            <a:extLst>
              <a:ext uri="{FF2B5EF4-FFF2-40B4-BE49-F238E27FC236}">
                <a16:creationId xmlns:a16="http://schemas.microsoft.com/office/drawing/2014/main" id="{DBE5D8B8-0EC7-9677-D5DA-E8339BBC7D74}"/>
              </a:ext>
            </a:extLst>
          </p:cNvPr>
          <p:cNvGrpSpPr/>
          <p:nvPr/>
        </p:nvGrpSpPr>
        <p:grpSpPr>
          <a:xfrm>
            <a:off x="2166095" y="2584855"/>
            <a:ext cx="4886833" cy="712614"/>
            <a:chOff x="2254250" y="2376408"/>
            <a:chExt cx="4707774" cy="712614"/>
          </a:xfrm>
        </p:grpSpPr>
        <p:sp>
          <p:nvSpPr>
            <p:cNvPr id="39" name="矩形: 圆角 40">
              <a:extLst>
                <a:ext uri="{FF2B5EF4-FFF2-40B4-BE49-F238E27FC236}">
                  <a16:creationId xmlns:a16="http://schemas.microsoft.com/office/drawing/2014/main" id="{38EEFB34-BBD5-E048-00C0-32FD86099E69}"/>
                </a:ext>
              </a:extLst>
            </p:cNvPr>
            <p:cNvSpPr/>
            <p:nvPr/>
          </p:nvSpPr>
          <p:spPr>
            <a:xfrm>
              <a:off x="2254250" y="2376408"/>
              <a:ext cx="4635500" cy="712614"/>
            </a:xfrm>
            <a:prstGeom prst="roundRect">
              <a:avLst>
                <a:gd name="adj" fmla="val 9538"/>
              </a:avLst>
            </a:prstGeom>
            <a:solidFill>
              <a:schemeClr val="accent2"/>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45" name="文本框 44">
              <a:extLst>
                <a:ext uri="{FF2B5EF4-FFF2-40B4-BE49-F238E27FC236}">
                  <a16:creationId xmlns:a16="http://schemas.microsoft.com/office/drawing/2014/main" id="{DF81080F-88A8-F4A8-19F0-BF4E3AAA2174}"/>
                </a:ext>
              </a:extLst>
            </p:cNvPr>
            <p:cNvSpPr txBox="1"/>
            <p:nvPr/>
          </p:nvSpPr>
          <p:spPr>
            <a:xfrm>
              <a:off x="3161383" y="2450813"/>
              <a:ext cx="3800641" cy="584775"/>
            </a:xfrm>
            <a:prstGeom prst="rect">
              <a:avLst/>
            </a:prstGeom>
            <a:noFill/>
          </p:spPr>
          <p:txBody>
            <a:bodyPr wrap="square">
              <a:spAutoFit/>
            </a:bodyPr>
            <a:lstStyle/>
            <a:p>
              <a:pPr lvl="0">
                <a:defRPr/>
              </a:pPr>
              <a:r>
                <a:rPr lang="en-US" altLang="zh-CN" sz="3200" b="1" dirty="0">
                  <a:solidFill>
                    <a:srgbClr val="FFFFFF"/>
                  </a:solidFill>
                </a:rPr>
                <a:t>ReducedLUT</a:t>
              </a:r>
              <a:endParaRPr lang="zh-CN" altLang="en-US" sz="3200" b="1" dirty="0">
                <a:solidFill>
                  <a:srgbClr val="FFFFFF"/>
                </a:solidFill>
              </a:endParaRPr>
            </a:p>
          </p:txBody>
        </p:sp>
        <p:sp>
          <p:nvSpPr>
            <p:cNvPr id="46" name="矩形: 圆角 42">
              <a:extLst>
                <a:ext uri="{FF2B5EF4-FFF2-40B4-BE49-F238E27FC236}">
                  <a16:creationId xmlns:a16="http://schemas.microsoft.com/office/drawing/2014/main" id="{766928B9-9B0C-F346-AD95-3B830009D484}"/>
                </a:ext>
              </a:extLst>
            </p:cNvPr>
            <p:cNvSpPr/>
            <p:nvPr/>
          </p:nvSpPr>
          <p:spPr>
            <a:xfrm>
              <a:off x="2326524" y="2457450"/>
              <a:ext cx="571500" cy="571500"/>
            </a:xfrm>
            <a:prstGeom prst="roundRect">
              <a:avLst>
                <a:gd name="adj" fmla="val 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accent2"/>
                  </a:solidFill>
                  <a:effectLst/>
                  <a:uLnTx/>
                  <a:uFillTx/>
                  <a:latin typeface="Arial"/>
                  <a:ea typeface="微软雅黑"/>
                  <a:cs typeface="+mn-cs"/>
                </a:rPr>
                <a:t>1</a:t>
              </a:r>
              <a:endParaRPr kumimoji="0" lang="zh-CN" altLang="en-US" sz="2400" b="1" i="0" u="none" strike="noStrike" kern="1200" cap="none" spc="0" normalizeH="0" baseline="0" noProof="0" dirty="0">
                <a:ln>
                  <a:noFill/>
                </a:ln>
                <a:solidFill>
                  <a:schemeClr val="accent2"/>
                </a:solidFill>
                <a:effectLst/>
                <a:uLnTx/>
                <a:uFillTx/>
                <a:latin typeface="Arial"/>
                <a:ea typeface="微软雅黑"/>
                <a:cs typeface="+mn-cs"/>
              </a:endParaRPr>
            </a:p>
          </p:txBody>
        </p:sp>
      </p:grpSp>
    </p:spTree>
    <p:extLst>
      <p:ext uri="{BB962C8B-B14F-4D97-AF65-F5344CB8AC3E}">
        <p14:creationId xmlns:p14="http://schemas.microsoft.com/office/powerpoint/2010/main" val="3912423440"/>
      </p:ext>
    </p:extLst>
  </p:cSld>
  <p:clrMapOvr>
    <a:masterClrMapping/>
  </p:clrMapOvr>
  <mc:AlternateContent xmlns:mc="http://schemas.openxmlformats.org/markup-compatibility/2006" xmlns:p14="http://schemas.microsoft.com/office/powerpoint/2010/main">
    <mc:Choice Requires="p14">
      <p:transition spd="slow" p14:dur="2000" advTm="3297"/>
    </mc:Choice>
    <mc:Fallback xmlns="">
      <p:transition spd="slow" advTm="329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035CA-5BB8-C432-9A3C-B9FE6E24845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5A26A0F-62C0-65D0-F147-7CCF3E6F0165}"/>
              </a:ext>
            </a:extLst>
          </p:cNvPr>
          <p:cNvSpPr>
            <a:spLocks noGrp="1"/>
          </p:cNvSpPr>
          <p:nvPr>
            <p:ph type="title"/>
          </p:nvPr>
        </p:nvSpPr>
        <p:spPr>
          <a:xfrm>
            <a:off x="2145029" y="254000"/>
            <a:ext cx="6746723" cy="517850"/>
          </a:xfrm>
        </p:spPr>
        <p:txBody>
          <a:bodyPr>
            <a:normAutofit fontScale="90000"/>
          </a:bodyPr>
          <a:lstStyle/>
          <a:p>
            <a:r>
              <a:rPr lang="en-US" altLang="zh-CN" dirty="0"/>
              <a:t>Don’t care about the non-existing input</a:t>
            </a:r>
            <a:endParaRPr lang="zh-CN" altLang="en-US" dirty="0"/>
          </a:p>
        </p:txBody>
      </p:sp>
      <p:sp>
        <p:nvSpPr>
          <p:cNvPr id="16" name="文本框 15">
            <a:extLst>
              <a:ext uri="{FF2B5EF4-FFF2-40B4-BE49-F238E27FC236}">
                <a16:creationId xmlns:a16="http://schemas.microsoft.com/office/drawing/2014/main" id="{B9B94D60-9258-52C0-9D8B-66649C07061C}"/>
              </a:ext>
            </a:extLst>
          </p:cNvPr>
          <p:cNvSpPr txBox="1"/>
          <p:nvPr/>
        </p:nvSpPr>
        <p:spPr>
          <a:xfrm>
            <a:off x="65223" y="312870"/>
            <a:ext cx="1851865"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ReducedLUT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D9318A8F-11AC-1F1F-3D2F-89EB3805B355}"/>
              </a:ext>
            </a:extLst>
          </p:cNvPr>
          <p:cNvSpPr txBox="1"/>
          <p:nvPr/>
        </p:nvSpPr>
        <p:spPr>
          <a:xfrm>
            <a:off x="254428" y="955639"/>
            <a:ext cx="8889571" cy="2308324"/>
          </a:xfrm>
          <a:prstGeom prst="rect">
            <a:avLst/>
          </a:prstGeom>
          <a:noFill/>
        </p:spPr>
        <p:txBody>
          <a:bodyPr wrap="square" rtlCol="0">
            <a:spAutoFit/>
          </a:bodyPr>
          <a:lstStyle/>
          <a:p>
            <a:pPr lvl="0">
              <a:defRPr/>
            </a:pPr>
            <a:r>
              <a:rPr lang="en-US" altLang="zh-CN" dirty="0">
                <a:latin typeface="Times New Roman" panose="02020603050405020304" pitchFamily="18" charset="0"/>
                <a:cs typeface="Times New Roman" panose="02020603050405020304" pitchFamily="18" charset="0"/>
              </a:rPr>
              <a:t>In most cases, the </a:t>
            </a:r>
            <a:r>
              <a:rPr lang="en-US" altLang="zh-CN" b="1" dirty="0">
                <a:latin typeface="Times New Roman" panose="02020603050405020304" pitchFamily="18" charset="0"/>
                <a:cs typeface="Times New Roman" panose="02020603050405020304" pitchFamily="18" charset="0"/>
              </a:rPr>
              <a:t>possible input combination </a:t>
            </a:r>
            <a:r>
              <a:rPr lang="en-US" altLang="zh-CN" dirty="0">
                <a:latin typeface="Times New Roman" panose="02020603050405020304" pitchFamily="18" charset="0"/>
                <a:cs typeface="Times New Roman" panose="02020603050405020304" pitchFamily="18" charset="0"/>
              </a:rPr>
              <a:t>of a network only takes part in </a:t>
            </a:r>
            <a:r>
              <a:rPr lang="en-US" altLang="zh-CN" b="1" dirty="0">
                <a:latin typeface="Times New Roman" panose="02020603050405020304" pitchFamily="18" charset="0"/>
                <a:cs typeface="Times New Roman" panose="02020603050405020304" pitchFamily="18" charset="0"/>
              </a:rPr>
              <a:t>a small portion </a:t>
            </a:r>
            <a:r>
              <a:rPr lang="en-US" altLang="zh-CN" dirty="0">
                <a:latin typeface="Times New Roman" panose="02020603050405020304" pitchFamily="18" charset="0"/>
                <a:cs typeface="Times New Roman" panose="02020603050405020304" pitchFamily="18" charset="0"/>
              </a:rPr>
              <a:t>of input space for most specific application.</a:t>
            </a:r>
          </a:p>
          <a:p>
            <a:pPr lvl="0">
              <a:defRPr/>
            </a:pP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a:defRPr/>
            </a:pPr>
            <a:r>
              <a:rPr lang="en-US" altLang="zh-CN" b="1" dirty="0">
                <a:solidFill>
                  <a:srgbClr val="FF0000"/>
                </a:solidFill>
                <a:latin typeface="Times New Roman" panose="02020603050405020304" pitchFamily="18" charset="0"/>
                <a:ea typeface="微软雅黑"/>
                <a:cs typeface="Times New Roman" panose="02020603050405020304" pitchFamily="18" charset="0"/>
              </a:rPr>
              <a:t>Compression with Don’t-cares </a:t>
            </a: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lang="en-US" altLang="zh-CN" dirty="0">
                <a:solidFill>
                  <a:prstClr val="black"/>
                </a:solidFill>
                <a:latin typeface="Times New Roman" panose="02020603050405020304" pitchFamily="18" charset="0"/>
                <a:ea typeface="微软雅黑"/>
                <a:cs typeface="Times New Roman" panose="02020603050405020304" pitchFamily="18" charset="0"/>
              </a:rPr>
              <a:t>Near-zero accuracy drop, yet </a:t>
            </a:r>
            <a:r>
              <a:rPr lang="en-US" altLang="zh-CN" b="1" dirty="0">
                <a:solidFill>
                  <a:prstClr val="black"/>
                </a:solidFill>
                <a:latin typeface="Times New Roman" panose="02020603050405020304" pitchFamily="18" charset="0"/>
                <a:ea typeface="微软雅黑"/>
                <a:cs typeface="Times New Roman" panose="02020603050405020304" pitchFamily="18" charset="0"/>
              </a:rPr>
              <a:t>huge drop in terms of P-LUT utilization</a:t>
            </a:r>
            <a:r>
              <a:rPr lang="en-US" altLang="zh-CN" dirty="0">
                <a:solidFill>
                  <a:prstClr val="black"/>
                </a:solidFill>
                <a:latin typeface="Times New Roman" panose="02020603050405020304" pitchFamily="18" charset="0"/>
                <a:ea typeface="微软雅黑"/>
                <a:cs typeface="Times New Roman" panose="02020603050405020304" pitchFamily="18" charset="0"/>
              </a:rPr>
              <a:t>.</a:t>
            </a:r>
          </a:p>
          <a:p>
            <a:pPr lvl="0">
              <a:defRPr/>
            </a:pPr>
            <a:endPar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lvl="0">
              <a:defRPr/>
            </a:pP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Challenge</a:t>
            </a:r>
          </a:p>
          <a:p>
            <a:pPr marL="742950" lvl="1" indent="-285750">
              <a:buFont typeface="Wingdings" panose="05000000000000000000" pitchFamily="2" charset="2"/>
              <a:buChar char="ü"/>
              <a:defRPr/>
            </a:pP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How to utilize Don’t-cares to compress L-LUT in a NN </a:t>
            </a:r>
            <a:r>
              <a:rPr kumimoji="0" lang="en-US" altLang="zh-CN" i="0" u="none" strike="noStrike" kern="1200" cap="none" spc="0" normalizeH="0" baseline="0" noProof="0" dirty="0" err="1">
                <a:ln>
                  <a:noFill/>
                </a:ln>
                <a:solidFill>
                  <a:prstClr val="black"/>
                </a:solidFill>
                <a:effectLst/>
                <a:uLnTx/>
                <a:uFillTx/>
                <a:latin typeface="Times New Roman" panose="02020603050405020304" pitchFamily="18" charset="0"/>
                <a:ea typeface="微软雅黑"/>
                <a:cs typeface="Times New Roman" panose="02020603050405020304" pitchFamily="18" charset="0"/>
              </a:rPr>
              <a:t>imple</a:t>
            </a:r>
            <a:r>
              <a:rPr lang="en-US" altLang="zh-CN" dirty="0">
                <a:solidFill>
                  <a:prstClr val="black"/>
                </a:solidFill>
                <a:latin typeface="Times New Roman" panose="02020603050405020304" pitchFamily="18" charset="0"/>
                <a:ea typeface="微软雅黑"/>
                <a:cs typeface="Times New Roman" panose="02020603050405020304" pitchFamily="18" charset="0"/>
              </a:rPr>
              <a:t>mentation</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t>
            </a:r>
            <a:endParaRPr kumimoji="0" lang="zh-CN" altLang="en-US"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pic>
        <p:nvPicPr>
          <p:cNvPr id="9" name="图片 8">
            <a:extLst>
              <a:ext uri="{FF2B5EF4-FFF2-40B4-BE49-F238E27FC236}">
                <a16:creationId xmlns:a16="http://schemas.microsoft.com/office/drawing/2014/main" id="{EA63988A-0A71-3A14-DA0B-E7D60F5C9DC9}"/>
              </a:ext>
            </a:extLst>
          </p:cNvPr>
          <p:cNvPicPr>
            <a:picLocks noChangeAspect="1"/>
          </p:cNvPicPr>
          <p:nvPr/>
        </p:nvPicPr>
        <p:blipFill>
          <a:blip r:embed="rId3"/>
          <a:stretch>
            <a:fillRect/>
          </a:stretch>
        </p:blipFill>
        <p:spPr>
          <a:xfrm>
            <a:off x="0" y="3776717"/>
            <a:ext cx="9144000" cy="2125644"/>
          </a:xfrm>
          <a:prstGeom prst="rect">
            <a:avLst/>
          </a:prstGeom>
        </p:spPr>
      </p:pic>
    </p:spTree>
    <p:extLst>
      <p:ext uri="{BB962C8B-B14F-4D97-AF65-F5344CB8AC3E}">
        <p14:creationId xmlns:p14="http://schemas.microsoft.com/office/powerpoint/2010/main" val="27684028"/>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09D5A-3C29-94DB-D925-086223591F1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3003D5C-1C49-D918-9207-38D6DBB588EF}"/>
              </a:ext>
            </a:extLst>
          </p:cNvPr>
          <p:cNvSpPr>
            <a:spLocks noGrp="1"/>
          </p:cNvSpPr>
          <p:nvPr>
            <p:ph type="title"/>
          </p:nvPr>
        </p:nvSpPr>
        <p:spPr>
          <a:xfrm>
            <a:off x="2145029" y="254000"/>
            <a:ext cx="6746723" cy="517850"/>
          </a:xfrm>
        </p:spPr>
        <p:txBody>
          <a:bodyPr>
            <a:normAutofit/>
          </a:bodyPr>
          <a:lstStyle/>
          <a:p>
            <a:r>
              <a:rPr lang="en-US" altLang="zh-CN" dirty="0"/>
              <a:t>Preliminaries</a:t>
            </a:r>
            <a:endParaRPr lang="zh-CN" altLang="en-US" dirty="0"/>
          </a:p>
        </p:txBody>
      </p:sp>
      <p:sp>
        <p:nvSpPr>
          <p:cNvPr id="16" name="文本框 15">
            <a:extLst>
              <a:ext uri="{FF2B5EF4-FFF2-40B4-BE49-F238E27FC236}">
                <a16:creationId xmlns:a16="http://schemas.microsoft.com/office/drawing/2014/main" id="{9356E5CE-0A84-78F2-77A4-B1B25DB0518C}"/>
              </a:ext>
            </a:extLst>
          </p:cNvPr>
          <p:cNvSpPr txBox="1"/>
          <p:nvPr/>
        </p:nvSpPr>
        <p:spPr>
          <a:xfrm>
            <a:off x="65223" y="312870"/>
            <a:ext cx="1851865"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ReducedLUT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42BBA1FD-878A-2273-54E6-773EAEB8B5C2}"/>
              </a:ext>
            </a:extLst>
          </p:cNvPr>
          <p:cNvSpPr txBox="1"/>
          <p:nvPr/>
        </p:nvSpPr>
        <p:spPr>
          <a:xfrm>
            <a:off x="254429" y="1072585"/>
            <a:ext cx="8889571" cy="4247317"/>
          </a:xfrm>
          <a:prstGeom prst="rect">
            <a:avLst/>
          </a:prstGeom>
          <a:noFill/>
        </p:spPr>
        <p:txBody>
          <a:bodyPr wrap="square" rtlCol="0">
            <a:spAutoFit/>
          </a:bodyPr>
          <a:lstStyle/>
          <a:p>
            <a:pPr lvl="0">
              <a:defRPr/>
            </a:pPr>
            <a:r>
              <a:rPr lang="en-US" altLang="zh-CN" dirty="0">
                <a:solidFill>
                  <a:srgbClr val="FF0000"/>
                </a:solidFill>
                <a:latin typeface="Times New Roman" panose="02020603050405020304" pitchFamily="18" charset="0"/>
                <a:cs typeface="Times New Roman" panose="02020603050405020304" pitchFamily="18" charset="0"/>
              </a:rPr>
              <a:t>LUT-based NN</a:t>
            </a:r>
          </a:p>
          <a:p>
            <a:pPr marL="285750" indent="-285750">
              <a:buFont typeface="Wingdings" panose="05000000000000000000" pitchFamily="2" charset="2"/>
              <a:buChar char="ü"/>
              <a:defRPr/>
            </a:pPr>
            <a:r>
              <a:rPr lang="en-US" altLang="zh-CN" dirty="0">
                <a:latin typeface="Times New Roman" panose="02020603050405020304" pitchFamily="18" charset="0"/>
                <a:cs typeface="Times New Roman" panose="02020603050405020304" pitchFamily="18" charset="0"/>
              </a:rPr>
              <a:t>Prior works’ solutions are </a:t>
            </a:r>
            <a:r>
              <a:rPr lang="en-US" altLang="zh-CN" b="1" dirty="0">
                <a:latin typeface="Times New Roman" panose="02020603050405020304" pitchFamily="18" charset="0"/>
                <a:cs typeface="Times New Roman" panose="02020603050405020304" pitchFamily="18" charset="0"/>
              </a:rPr>
              <a:t>absorbing neurons </a:t>
            </a:r>
            <a:r>
              <a:rPr lang="en-US" altLang="zh-CN" dirty="0">
                <a:latin typeface="Times New Roman" panose="02020603050405020304" pitchFamily="18" charset="0"/>
                <a:cs typeface="Times New Roman" panose="02020603050405020304" pitchFamily="18" charset="0"/>
              </a:rPr>
              <a:t>or even </a:t>
            </a:r>
            <a:r>
              <a:rPr lang="en-US" altLang="zh-CN" b="1" dirty="0">
                <a:latin typeface="Times New Roman" panose="02020603050405020304" pitchFamily="18" charset="0"/>
                <a:cs typeface="Times New Roman" panose="02020603050405020304" pitchFamily="18" charset="0"/>
              </a:rPr>
              <a:t>entire sub-networks </a:t>
            </a:r>
            <a:r>
              <a:rPr lang="en-US" altLang="zh-CN" dirty="0">
                <a:latin typeface="Times New Roman" panose="02020603050405020304" pitchFamily="18" charset="0"/>
                <a:cs typeface="Times New Roman" panose="02020603050405020304" pitchFamily="18" charset="0"/>
              </a:rPr>
              <a:t>into a L-LUT</a:t>
            </a:r>
          </a:p>
          <a:p>
            <a:pPr marL="285750" indent="-285750">
              <a:buFont typeface="Wingdings" panose="05000000000000000000" pitchFamily="2" charset="2"/>
              <a:buChar char="ü"/>
              <a:defRPr/>
            </a:pPr>
            <a:r>
              <a:rPr lang="en-US" altLang="zh-CN" dirty="0">
                <a:latin typeface="Times New Roman" panose="02020603050405020304" pitchFamily="18" charset="0"/>
                <a:cs typeface="Times New Roman" panose="02020603050405020304" pitchFamily="18" charset="0"/>
              </a:rPr>
              <a:t>Exponential growth in L-LUTs’ size and input dimensions makes L-LUT to be </a:t>
            </a:r>
            <a:r>
              <a:rPr lang="en-US" altLang="zh-CN" b="1" dirty="0">
                <a:latin typeface="Times New Roman" panose="02020603050405020304" pitchFamily="18" charset="0"/>
                <a:cs typeface="Times New Roman" panose="02020603050405020304" pitchFamily="18" charset="0"/>
              </a:rPr>
              <a:t>irregular</a:t>
            </a:r>
            <a:r>
              <a:rPr lang="en-US" altLang="zh-CN"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lacking predictable patterns</a:t>
            </a:r>
            <a:r>
              <a:rPr lang="en-US" altLang="zh-CN" dirty="0">
                <a:latin typeface="Times New Roman" panose="02020603050405020304" pitchFamily="18" charset="0"/>
                <a:cs typeface="Times New Roman" panose="02020603050405020304" pitchFamily="18" charset="0"/>
              </a:rPr>
              <a:t> and </a:t>
            </a:r>
            <a:r>
              <a:rPr lang="en-US" altLang="zh-CN" b="1" dirty="0">
                <a:latin typeface="Times New Roman" panose="02020603050405020304" pitchFamily="18" charset="0"/>
                <a:cs typeface="Times New Roman" panose="02020603050405020304" pitchFamily="18" charset="0"/>
              </a:rPr>
              <a:t>logic simplification freedom</a:t>
            </a:r>
            <a:r>
              <a:rPr lang="en-US" altLang="zh-CN" dirty="0">
                <a:latin typeface="Times New Roman" panose="02020603050405020304" pitchFamily="18" charset="0"/>
                <a:cs typeface="Times New Roman" panose="02020603050405020304" pitchFamily="18" charset="0"/>
              </a:rPr>
              <a:t>.</a:t>
            </a:r>
          </a:p>
          <a:p>
            <a:pPr lvl="0">
              <a:defRPr/>
            </a:pP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lvl="0">
              <a:defRPr/>
            </a:pPr>
            <a:r>
              <a:rPr lang="en-US" altLang="zh-CN" dirty="0">
                <a:solidFill>
                  <a:srgbClr val="FF0000"/>
                </a:solidFill>
                <a:latin typeface="Times New Roman" panose="02020603050405020304" pitchFamily="18" charset="0"/>
                <a:ea typeface="微软雅黑"/>
                <a:cs typeface="Times New Roman" panose="02020603050405020304" pitchFamily="18" charset="0"/>
              </a:rPr>
              <a:t>LUT compression</a:t>
            </a:r>
          </a:p>
          <a:p>
            <a:pPr marL="285750" lvl="0" indent="-285750">
              <a:buFont typeface="Wingdings" panose="05000000000000000000" pitchFamily="2" charset="2"/>
              <a:buChar char="ü"/>
              <a:defRPr/>
            </a:pPr>
            <a:r>
              <a:rPr lang="en-US" altLang="zh-CN" dirty="0">
                <a:latin typeface="Times New Roman" panose="02020603050405020304" pitchFamily="18" charset="0"/>
                <a:ea typeface="微软雅黑"/>
                <a:cs typeface="Times New Roman" panose="02020603050405020304" pitchFamily="18" charset="0"/>
              </a:rPr>
              <a:t>For a given function with </a:t>
            </a:r>
            <a:r>
              <a:rPr lang="en-US" altLang="zh-CN" dirty="0">
                <a:solidFill>
                  <a:srgbClr val="FF0000"/>
                </a:solidFill>
                <a:latin typeface="Times New Roman" panose="02020603050405020304" pitchFamily="18" charset="0"/>
                <a:ea typeface="微软雅黑"/>
                <a:cs typeface="Times New Roman" panose="02020603050405020304" pitchFamily="18" charset="0"/>
              </a:rPr>
              <a:t>w_in </a:t>
            </a:r>
            <a:r>
              <a:rPr lang="en-US" altLang="zh-CN" dirty="0">
                <a:latin typeface="Times New Roman" panose="02020603050405020304" pitchFamily="18" charset="0"/>
                <a:ea typeface="微软雅黑"/>
                <a:cs typeface="Times New Roman" panose="02020603050405020304" pitchFamily="18" charset="0"/>
              </a:rPr>
              <a:t>input resolution and </a:t>
            </a:r>
            <a:r>
              <a:rPr lang="en-US" altLang="zh-CN" dirty="0">
                <a:solidFill>
                  <a:srgbClr val="FF0000"/>
                </a:solidFill>
                <a:latin typeface="Times New Roman" panose="02020603050405020304" pitchFamily="18" charset="0"/>
                <a:ea typeface="微软雅黑"/>
                <a:cs typeface="Times New Roman" panose="02020603050405020304" pitchFamily="18" charset="0"/>
              </a:rPr>
              <a:t>w_out </a:t>
            </a:r>
            <a:r>
              <a:rPr lang="en-US" altLang="zh-CN" dirty="0">
                <a:latin typeface="Times New Roman" panose="02020603050405020304" pitchFamily="18" charset="0"/>
                <a:ea typeface="微软雅黑"/>
                <a:cs typeface="Times New Roman" panose="02020603050405020304" pitchFamily="18" charset="0"/>
              </a:rPr>
              <a:t>output resolution, we have L-LUT of size </a:t>
            </a:r>
            <a:r>
              <a:rPr lang="en-US" altLang="zh-CN" b="1" dirty="0">
                <a:solidFill>
                  <a:srgbClr val="FF0000"/>
                </a:solidFill>
                <a:latin typeface="Times New Roman" panose="02020603050405020304" pitchFamily="18" charset="0"/>
                <a:ea typeface="微软雅黑"/>
                <a:cs typeface="Times New Roman" panose="02020603050405020304" pitchFamily="18" charset="0"/>
              </a:rPr>
              <a:t>2^(w_in)*w_out</a:t>
            </a:r>
            <a:r>
              <a:rPr lang="en-US" altLang="zh-CN" dirty="0">
                <a:latin typeface="Times New Roman" panose="02020603050405020304" pitchFamily="18" charset="0"/>
                <a:ea typeface="微软雅黑"/>
                <a:cs typeface="Times New Roman" panose="02020603050405020304" pitchFamily="18" charset="0"/>
              </a:rPr>
              <a:t>.</a:t>
            </a:r>
          </a:p>
          <a:p>
            <a:pPr marL="285750" lvl="0" indent="-285750">
              <a:buFont typeface="Wingdings" panose="05000000000000000000" pitchFamily="2" charset="2"/>
              <a:buChar char="ü"/>
              <a:defRPr/>
            </a:pPr>
            <a:r>
              <a:rPr lang="en-US" altLang="zh-CN" dirty="0">
                <a:latin typeface="Times New Roman" panose="02020603050405020304" pitchFamily="18" charset="0"/>
                <a:ea typeface="微软雅黑"/>
                <a:cs typeface="Times New Roman" panose="02020603050405020304" pitchFamily="18" charset="0"/>
              </a:rPr>
              <a:t>Traditional method includes:</a:t>
            </a:r>
          </a:p>
          <a:p>
            <a:pPr marL="742950" lvl="1" indent="-285750">
              <a:buFont typeface="Arial" panose="020B0604020202020204" pitchFamily="34" charset="0"/>
              <a:buChar char="•"/>
              <a:defRPr/>
            </a:pPr>
            <a:r>
              <a:rPr lang="en-US" altLang="zh-CN" dirty="0">
                <a:latin typeface="Times New Roman" panose="02020603050405020304" pitchFamily="18" charset="0"/>
                <a:ea typeface="微软雅黑"/>
                <a:cs typeface="Times New Roman" panose="02020603050405020304" pitchFamily="18" charset="0"/>
              </a:rPr>
              <a:t>Decompose a function into a </a:t>
            </a:r>
            <a:r>
              <a:rPr lang="en-US" altLang="zh-CN" b="1" dirty="0">
                <a:latin typeface="Times New Roman" panose="02020603050405020304" pitchFamily="18" charset="0"/>
                <a:ea typeface="微软雅黑"/>
                <a:cs typeface="Times New Roman" panose="02020603050405020304" pitchFamily="18" charset="0"/>
              </a:rPr>
              <a:t>table of initial value</a:t>
            </a:r>
            <a:r>
              <a:rPr lang="en-US" altLang="zh-CN" dirty="0">
                <a:latin typeface="Times New Roman" panose="02020603050405020304" pitchFamily="18" charset="0"/>
                <a:ea typeface="微软雅黑"/>
                <a:cs typeface="Times New Roman" panose="02020603050405020304" pitchFamily="18" charset="0"/>
              </a:rPr>
              <a:t> and </a:t>
            </a:r>
            <a:r>
              <a:rPr lang="en-US" altLang="zh-CN" b="1" dirty="0">
                <a:latin typeface="Times New Roman" panose="02020603050405020304" pitchFamily="18" charset="0"/>
                <a:ea typeface="微软雅黑"/>
                <a:cs typeface="Times New Roman" panose="02020603050405020304" pitchFamily="18" charset="0"/>
              </a:rPr>
              <a:t>table of offset.</a:t>
            </a:r>
          </a:p>
          <a:p>
            <a:pPr marL="742950" lvl="1" indent="-285750">
              <a:buFont typeface="Arial" panose="020B0604020202020204" pitchFamily="34" charset="0"/>
              <a:buChar char="•"/>
              <a:defRPr/>
            </a:pPr>
            <a:r>
              <a:rPr lang="en-US" altLang="zh-CN" dirty="0">
                <a:latin typeface="Times New Roman" panose="02020603050405020304" pitchFamily="18" charset="0"/>
                <a:ea typeface="微软雅黑"/>
                <a:cs typeface="Times New Roman" panose="02020603050405020304" pitchFamily="18" charset="0"/>
              </a:rPr>
              <a:t>Divide function into </a:t>
            </a:r>
            <a:r>
              <a:rPr lang="en-US" altLang="zh-CN" b="1" dirty="0">
                <a:latin typeface="Times New Roman" panose="02020603050405020304" pitchFamily="18" charset="0"/>
                <a:ea typeface="微软雅黑"/>
                <a:cs typeface="Times New Roman" panose="02020603050405020304" pitchFamily="18" charset="0"/>
              </a:rPr>
              <a:t>smaller regions </a:t>
            </a:r>
            <a:r>
              <a:rPr lang="en-US" altLang="zh-CN" dirty="0">
                <a:latin typeface="Times New Roman" panose="02020603050405020304" pitchFamily="18" charset="0"/>
                <a:ea typeface="微软雅黑"/>
                <a:cs typeface="Times New Roman" panose="02020603050405020304" pitchFamily="18" charset="0"/>
              </a:rPr>
              <a:t>and approximate each with </a:t>
            </a:r>
            <a:r>
              <a:rPr lang="en-US" altLang="zh-CN" b="1" dirty="0">
                <a:latin typeface="Times New Roman" panose="02020603050405020304" pitchFamily="18" charset="0"/>
                <a:ea typeface="微软雅黑"/>
                <a:cs typeface="Times New Roman" panose="02020603050405020304" pitchFamily="18" charset="0"/>
              </a:rPr>
              <a:t>polynomial coefficients</a:t>
            </a:r>
            <a:r>
              <a:rPr lang="en-US" altLang="zh-CN" dirty="0">
                <a:latin typeface="Times New Roman" panose="02020603050405020304" pitchFamily="18" charset="0"/>
                <a:ea typeface="微软雅黑"/>
                <a:cs typeface="Times New Roman" panose="02020603050405020304" pitchFamily="18" charset="0"/>
              </a:rPr>
              <a:t> stored in LUT.</a:t>
            </a:r>
          </a:p>
          <a:p>
            <a:pPr marL="285750" lvl="0" indent="-285750">
              <a:buFont typeface="Wingdings" panose="05000000000000000000" pitchFamily="2" charset="2"/>
              <a:buChar char="ü"/>
              <a:defRPr/>
            </a:pPr>
            <a:r>
              <a:rPr lang="en-US" altLang="zh-CN" dirty="0">
                <a:latin typeface="Times New Roman" panose="02020603050405020304" pitchFamily="18" charset="0"/>
                <a:ea typeface="微软雅黑"/>
                <a:cs typeface="Times New Roman" panose="02020603050405020304" pitchFamily="18" charset="0"/>
              </a:rPr>
              <a:t>Prior works:</a:t>
            </a:r>
          </a:p>
          <a:p>
            <a:pPr marL="742950" lvl="1" indent="-285750">
              <a:buFont typeface="Arial" panose="020B0604020202020204" pitchFamily="34" charset="0"/>
              <a:buChar char="•"/>
              <a:defRPr/>
            </a:pPr>
            <a:r>
              <a:rPr lang="en-US" altLang="zh-CN" dirty="0">
                <a:latin typeface="Times New Roman" panose="02020603050405020304" pitchFamily="18" charset="0"/>
                <a:ea typeface="微软雅黑"/>
                <a:cs typeface="Times New Roman" panose="02020603050405020304" pitchFamily="18" charset="0"/>
              </a:rPr>
              <a:t>BDD minimization takes don’t-care terms into account but </a:t>
            </a:r>
            <a:r>
              <a:rPr lang="en-US" altLang="zh-CN" b="1" dirty="0">
                <a:latin typeface="Times New Roman" panose="02020603050405020304" pitchFamily="18" charset="0"/>
                <a:ea typeface="微软雅黑"/>
                <a:cs typeface="Times New Roman" panose="02020603050405020304" pitchFamily="18" charset="0"/>
              </a:rPr>
              <a:t>struggle</a:t>
            </a:r>
            <a:r>
              <a:rPr lang="en-US" altLang="zh-CN" dirty="0">
                <a:latin typeface="Times New Roman" panose="02020603050405020304" pitchFamily="18" charset="0"/>
                <a:ea typeface="微软雅黑"/>
                <a:cs typeface="Times New Roman" panose="02020603050405020304" pitchFamily="18" charset="0"/>
              </a:rPr>
              <a:t> to deal with </a:t>
            </a:r>
            <a:r>
              <a:rPr lang="en-US" altLang="zh-CN" b="1" dirty="0">
                <a:latin typeface="Times New Roman" panose="02020603050405020304" pitchFamily="18" charset="0"/>
                <a:ea typeface="微软雅黑"/>
                <a:cs typeface="Times New Roman" panose="02020603050405020304" pitchFamily="18" charset="0"/>
              </a:rPr>
              <a:t>complicate and irregular LUT</a:t>
            </a:r>
            <a:r>
              <a:rPr lang="en-US" altLang="zh-CN" dirty="0">
                <a:latin typeface="Times New Roman" panose="02020603050405020304" pitchFamily="18" charset="0"/>
                <a:ea typeface="微软雅黑"/>
                <a:cs typeface="Times New Roman" panose="02020603050405020304" pitchFamily="18" charset="0"/>
              </a:rPr>
              <a:t> generated by NNs.</a:t>
            </a:r>
          </a:p>
        </p:txBody>
      </p:sp>
    </p:spTree>
    <p:extLst>
      <p:ext uri="{BB962C8B-B14F-4D97-AF65-F5344CB8AC3E}">
        <p14:creationId xmlns:p14="http://schemas.microsoft.com/office/powerpoint/2010/main" val="706033147"/>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6DFB7-AB51-E293-580D-5C550BD85EF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D8D1E73-CD43-D958-CA09-02AA5B34C1D2}"/>
              </a:ext>
            </a:extLst>
          </p:cNvPr>
          <p:cNvSpPr>
            <a:spLocks noGrp="1"/>
          </p:cNvSpPr>
          <p:nvPr>
            <p:ph type="title"/>
          </p:nvPr>
        </p:nvSpPr>
        <p:spPr>
          <a:xfrm>
            <a:off x="2145029" y="254000"/>
            <a:ext cx="6746723" cy="517850"/>
          </a:xfrm>
        </p:spPr>
        <p:txBody>
          <a:bodyPr>
            <a:normAutofit/>
          </a:bodyPr>
          <a:lstStyle/>
          <a:p>
            <a:r>
              <a:rPr lang="en-US" altLang="zh-CN" dirty="0"/>
              <a:t>Preliminaries</a:t>
            </a:r>
            <a:endParaRPr lang="zh-CN" altLang="en-US" dirty="0"/>
          </a:p>
        </p:txBody>
      </p:sp>
      <p:sp>
        <p:nvSpPr>
          <p:cNvPr id="16" name="文本框 15">
            <a:extLst>
              <a:ext uri="{FF2B5EF4-FFF2-40B4-BE49-F238E27FC236}">
                <a16:creationId xmlns:a16="http://schemas.microsoft.com/office/drawing/2014/main" id="{91047578-6065-E66A-37D4-8E7476A3E328}"/>
              </a:ext>
            </a:extLst>
          </p:cNvPr>
          <p:cNvSpPr txBox="1"/>
          <p:nvPr/>
        </p:nvSpPr>
        <p:spPr>
          <a:xfrm>
            <a:off x="65223" y="312870"/>
            <a:ext cx="1851865"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ReducedLUT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60965E2B-C005-6A13-975B-0531E37CD6AD}"/>
              </a:ext>
            </a:extLst>
          </p:cNvPr>
          <p:cNvSpPr txBox="1"/>
          <p:nvPr/>
        </p:nvSpPr>
        <p:spPr>
          <a:xfrm>
            <a:off x="127214" y="1028343"/>
            <a:ext cx="8889571" cy="5355312"/>
          </a:xfrm>
          <a:prstGeom prst="rect">
            <a:avLst/>
          </a:prstGeom>
          <a:noFill/>
        </p:spPr>
        <p:txBody>
          <a:bodyPr wrap="square" rtlCol="0">
            <a:spAutoFit/>
          </a:bodyPr>
          <a:lstStyle/>
          <a:p>
            <a:pPr lvl="0">
              <a:defRPr/>
            </a:pPr>
            <a:r>
              <a:rPr lang="en-US" altLang="zh-CN" dirty="0">
                <a:solidFill>
                  <a:srgbClr val="FF0000"/>
                </a:solidFill>
                <a:latin typeface="Times New Roman" panose="02020603050405020304" pitchFamily="18" charset="0"/>
                <a:ea typeface="微软雅黑"/>
                <a:cs typeface="Times New Roman" panose="02020603050405020304" pitchFamily="18" charset="0"/>
              </a:rPr>
              <a:t>LUT compression</a:t>
            </a:r>
          </a:p>
          <a:p>
            <a:pPr marL="285750" lvl="0" indent="-285750">
              <a:buFont typeface="Wingdings" panose="05000000000000000000" pitchFamily="2" charset="2"/>
              <a:buChar char="ü"/>
              <a:defRPr/>
            </a:pPr>
            <a:r>
              <a:rPr lang="en-US" altLang="zh-CN" dirty="0">
                <a:latin typeface="Times New Roman" panose="02020603050405020304" pitchFamily="18" charset="0"/>
                <a:ea typeface="微软雅黑"/>
                <a:cs typeface="Times New Roman" panose="02020603050405020304" pitchFamily="18" charset="0"/>
              </a:rPr>
              <a:t>Prior works:</a:t>
            </a:r>
          </a:p>
          <a:p>
            <a:pPr marL="742950" lvl="1" indent="-285750">
              <a:buFont typeface="Arial" panose="020B0604020202020204" pitchFamily="34" charset="0"/>
              <a:buChar char="•"/>
              <a:defRPr/>
            </a:pPr>
            <a:r>
              <a:rPr lang="en-US" altLang="zh-CN" dirty="0">
                <a:latin typeface="Times New Roman" panose="02020603050405020304" pitchFamily="18" charset="0"/>
                <a:ea typeface="微软雅黑"/>
                <a:cs typeface="Times New Roman" panose="02020603050405020304" pitchFamily="18" charset="0"/>
              </a:rPr>
              <a:t>BDD minimization takes don’t-care terms into account but </a:t>
            </a:r>
            <a:r>
              <a:rPr lang="en-US" altLang="zh-CN" b="1" dirty="0">
                <a:latin typeface="Times New Roman" panose="02020603050405020304" pitchFamily="18" charset="0"/>
                <a:ea typeface="微软雅黑"/>
                <a:cs typeface="Times New Roman" panose="02020603050405020304" pitchFamily="18" charset="0"/>
              </a:rPr>
              <a:t>struggle</a:t>
            </a:r>
            <a:r>
              <a:rPr lang="en-US" altLang="zh-CN" dirty="0">
                <a:latin typeface="Times New Roman" panose="02020603050405020304" pitchFamily="18" charset="0"/>
                <a:ea typeface="微软雅黑"/>
                <a:cs typeface="Times New Roman" panose="02020603050405020304" pitchFamily="18" charset="0"/>
              </a:rPr>
              <a:t> to deal with </a:t>
            </a:r>
            <a:r>
              <a:rPr lang="en-US" altLang="zh-CN" b="1" dirty="0">
                <a:latin typeface="Times New Roman" panose="02020603050405020304" pitchFamily="18" charset="0"/>
                <a:ea typeface="微软雅黑"/>
                <a:cs typeface="Times New Roman" panose="02020603050405020304" pitchFamily="18" charset="0"/>
              </a:rPr>
              <a:t>complicate and irregular LUT</a:t>
            </a:r>
            <a:r>
              <a:rPr lang="en-US" altLang="zh-CN" dirty="0">
                <a:latin typeface="Times New Roman" panose="02020603050405020304" pitchFamily="18" charset="0"/>
                <a:ea typeface="微软雅黑"/>
                <a:cs typeface="Times New Roman" panose="02020603050405020304" pitchFamily="18" charset="0"/>
              </a:rPr>
              <a:t> generated by NNs.</a:t>
            </a:r>
          </a:p>
          <a:p>
            <a:pPr marL="742950" lvl="1" indent="-285750">
              <a:buFont typeface="Arial" panose="020B0604020202020204" pitchFamily="34" charset="0"/>
              <a:buChar char="•"/>
              <a:defRPr/>
            </a:pPr>
            <a:r>
              <a:rPr lang="en-US" altLang="zh-CN" dirty="0">
                <a:latin typeface="Times New Roman" panose="02020603050405020304" pitchFamily="18" charset="0"/>
                <a:ea typeface="微软雅黑"/>
                <a:cs typeface="Times New Roman" panose="02020603050405020304" pitchFamily="18" charset="0"/>
              </a:rPr>
              <a:t>CompressedLUT:</a:t>
            </a:r>
          </a:p>
          <a:p>
            <a:pPr marL="1200150" lvl="2" indent="-285750">
              <a:buFont typeface="Arial" panose="020B0604020202020204" pitchFamily="34" charset="0"/>
              <a:buChar char="•"/>
              <a:defRPr/>
            </a:pPr>
            <a:r>
              <a:rPr lang="en-US" altLang="zh-CN" dirty="0">
                <a:latin typeface="Times New Roman" panose="02020603050405020304" pitchFamily="18" charset="0"/>
                <a:ea typeface="微软雅黑"/>
                <a:cs typeface="Times New Roman" panose="02020603050405020304" pitchFamily="18" charset="0"/>
              </a:rPr>
              <a:t>Decompose </a:t>
            </a:r>
            <a:r>
              <a:rPr lang="en-US" altLang="zh-CN" b="1" dirty="0">
                <a:latin typeface="Times New Roman" panose="02020603050405020304" pitchFamily="18" charset="0"/>
                <a:ea typeface="微软雅黑"/>
                <a:cs typeface="Times New Roman" panose="02020603050405020304" pitchFamily="18" charset="0"/>
              </a:rPr>
              <a:t>T</a:t>
            </a:r>
            <a:r>
              <a:rPr lang="en-US" altLang="zh-CN" dirty="0">
                <a:latin typeface="Times New Roman" panose="02020603050405020304" pitchFamily="18" charset="0"/>
                <a:ea typeface="微软雅黑"/>
                <a:cs typeface="Times New Roman" panose="02020603050405020304" pitchFamily="18" charset="0"/>
              </a:rPr>
              <a:t> into a </a:t>
            </a:r>
            <a:r>
              <a:rPr lang="en-US" altLang="zh-CN" b="1" dirty="0" err="1">
                <a:latin typeface="Times New Roman" panose="02020603050405020304" pitchFamily="18" charset="0"/>
                <a:ea typeface="微软雅黑"/>
                <a:cs typeface="Times New Roman" panose="02020603050405020304" pitchFamily="18" charset="0"/>
              </a:rPr>
              <a:t>T_bias</a:t>
            </a:r>
            <a:r>
              <a:rPr lang="en-US" altLang="zh-CN" dirty="0">
                <a:latin typeface="Times New Roman" panose="02020603050405020304" pitchFamily="18" charset="0"/>
                <a:ea typeface="微软雅黑"/>
                <a:cs typeface="Times New Roman" panose="02020603050405020304" pitchFamily="18" charset="0"/>
              </a:rPr>
              <a:t> (minimum values) and a group of </a:t>
            </a:r>
            <a:r>
              <a:rPr lang="en-US" altLang="zh-CN" b="1" dirty="0" err="1">
                <a:latin typeface="Times New Roman" panose="02020603050405020304" pitchFamily="18" charset="0"/>
                <a:ea typeface="微软雅黑"/>
                <a:cs typeface="Times New Roman" panose="02020603050405020304" pitchFamily="18" charset="0"/>
              </a:rPr>
              <a:t>T_st</a:t>
            </a:r>
            <a:r>
              <a:rPr lang="en-US" altLang="zh-CN" b="1" dirty="0">
                <a:latin typeface="Times New Roman" panose="02020603050405020304" pitchFamily="18" charset="0"/>
                <a:ea typeface="微软雅黑"/>
                <a:cs typeface="Times New Roman" panose="02020603050405020304" pitchFamily="18" charset="0"/>
              </a:rPr>
              <a:t> </a:t>
            </a:r>
            <a:r>
              <a:rPr lang="en-US" altLang="zh-CN" dirty="0">
                <a:latin typeface="Times New Roman" panose="02020603050405020304" pitchFamily="18" charset="0"/>
                <a:ea typeface="微软雅黑"/>
                <a:cs typeface="Times New Roman" panose="02020603050405020304" pitchFamily="18" charset="0"/>
              </a:rPr>
              <a:t>(residuals) s;</a:t>
            </a:r>
          </a:p>
          <a:p>
            <a:pPr marL="1200150" lvl="2" indent="-285750">
              <a:buFont typeface="Arial" panose="020B0604020202020204" pitchFamily="34" charset="0"/>
              <a:buChar char="•"/>
              <a:defRPr/>
            </a:pPr>
            <a:r>
              <a:rPr lang="en-US" altLang="zh-CN" b="1" dirty="0" err="1">
                <a:latin typeface="Times New Roman" panose="02020603050405020304" pitchFamily="18" charset="0"/>
                <a:ea typeface="微软雅黑"/>
                <a:cs typeface="Times New Roman" panose="02020603050405020304" pitchFamily="18" charset="0"/>
              </a:rPr>
              <a:t>T_st</a:t>
            </a:r>
            <a:r>
              <a:rPr lang="en-US" altLang="zh-CN" b="1" dirty="0">
                <a:latin typeface="Times New Roman" panose="02020603050405020304" pitchFamily="18" charset="0"/>
                <a:ea typeface="微软雅黑"/>
                <a:cs typeface="Times New Roman" panose="02020603050405020304" pitchFamily="18" charset="0"/>
              </a:rPr>
              <a:t> </a:t>
            </a:r>
            <a:r>
              <a:rPr lang="en-US" altLang="zh-CN" dirty="0">
                <a:latin typeface="Times New Roman" panose="02020603050405020304" pitchFamily="18" charset="0"/>
                <a:ea typeface="微软雅黑"/>
                <a:cs typeface="Times New Roman" panose="02020603050405020304" pitchFamily="18" charset="0"/>
              </a:rPr>
              <a:t>often shows </a:t>
            </a:r>
            <a:r>
              <a:rPr lang="en-US" altLang="zh-CN" dirty="0">
                <a:solidFill>
                  <a:srgbClr val="FF0000"/>
                </a:solidFill>
                <a:latin typeface="Times New Roman" panose="02020603050405020304" pitchFamily="18" charset="0"/>
                <a:ea typeface="微软雅黑"/>
                <a:cs typeface="Times New Roman" panose="02020603050405020304" pitchFamily="18" charset="0"/>
              </a:rPr>
              <a:t>self-similarity</a:t>
            </a:r>
            <a:r>
              <a:rPr lang="en-US" altLang="zh-CN" dirty="0">
                <a:latin typeface="Times New Roman" panose="02020603050405020304" pitchFamily="18" charset="0"/>
                <a:ea typeface="微软雅黑"/>
                <a:cs typeface="Times New Roman" panose="02020603050405020304" pitchFamily="18" charset="0"/>
              </a:rPr>
              <a:t> </a:t>
            </a:r>
          </a:p>
          <a:p>
            <a:pPr marL="1657350" lvl="3" indent="-285750">
              <a:buFont typeface="Arial" panose="020B0604020202020204" pitchFamily="34" charset="0"/>
              <a:buChar char="•"/>
              <a:defRPr/>
            </a:pPr>
            <a:r>
              <a:rPr lang="en-US" altLang="zh-CN" dirty="0">
                <a:solidFill>
                  <a:srgbClr val="FF0000"/>
                </a:solidFill>
                <a:latin typeface="Times New Roman" panose="02020603050405020304" pitchFamily="18" charset="0"/>
                <a:ea typeface="微软雅黑"/>
                <a:cs typeface="Times New Roman" panose="02020603050405020304" pitchFamily="18" charset="0"/>
              </a:rPr>
              <a:t>Compress</a:t>
            </a:r>
            <a:r>
              <a:rPr lang="en-US" altLang="zh-CN" dirty="0">
                <a:latin typeface="Times New Roman" panose="02020603050405020304" pitchFamily="18" charset="0"/>
                <a:ea typeface="微软雅黑"/>
                <a:cs typeface="Times New Roman" panose="02020603050405020304" pitchFamily="18" charset="0"/>
              </a:rPr>
              <a:t> the group of </a:t>
            </a:r>
            <a:r>
              <a:rPr lang="en-US" altLang="zh-CN" b="1" dirty="0" err="1">
                <a:latin typeface="Times New Roman" panose="02020603050405020304" pitchFamily="18" charset="0"/>
                <a:ea typeface="微软雅黑"/>
                <a:cs typeface="Times New Roman" panose="02020603050405020304" pitchFamily="18" charset="0"/>
              </a:rPr>
              <a:t>T_st</a:t>
            </a:r>
            <a:r>
              <a:rPr lang="en-US" altLang="zh-CN" b="1" dirty="0">
                <a:latin typeface="Times New Roman" panose="02020603050405020304" pitchFamily="18" charset="0"/>
                <a:ea typeface="微软雅黑"/>
                <a:cs typeface="Times New Roman" panose="02020603050405020304" pitchFamily="18" charset="0"/>
              </a:rPr>
              <a:t> </a:t>
            </a:r>
            <a:r>
              <a:rPr lang="en-US" altLang="zh-CN" dirty="0">
                <a:latin typeface="Times New Roman" panose="02020603050405020304" pitchFamily="18" charset="0"/>
                <a:ea typeface="微软雅黑"/>
                <a:cs typeface="Times New Roman" panose="02020603050405020304" pitchFamily="18" charset="0"/>
              </a:rPr>
              <a:t>s into </a:t>
            </a:r>
            <a:r>
              <a:rPr lang="en-US" altLang="zh-CN" b="1" dirty="0" err="1">
                <a:latin typeface="Times New Roman" panose="02020603050405020304" pitchFamily="18" charset="0"/>
                <a:ea typeface="微软雅黑"/>
                <a:cs typeface="Times New Roman" panose="02020603050405020304" pitchFamily="18" charset="0"/>
              </a:rPr>
              <a:t>T_ust</a:t>
            </a:r>
            <a:r>
              <a:rPr lang="en-US" altLang="zh-CN" dirty="0">
                <a:latin typeface="Times New Roman" panose="02020603050405020304" pitchFamily="18" charset="0"/>
                <a:ea typeface="微软雅黑"/>
                <a:cs typeface="Times New Roman" panose="02020603050405020304" pitchFamily="18" charset="0"/>
              </a:rPr>
              <a:t>, </a:t>
            </a:r>
            <a:r>
              <a:rPr lang="en-US" altLang="zh-CN" b="1" dirty="0" err="1">
                <a:latin typeface="Times New Roman" panose="02020603050405020304" pitchFamily="18" charset="0"/>
                <a:ea typeface="微软雅黑"/>
                <a:cs typeface="Times New Roman" panose="02020603050405020304" pitchFamily="18" charset="0"/>
              </a:rPr>
              <a:t>T_idx</a:t>
            </a:r>
            <a:r>
              <a:rPr lang="en-US" altLang="zh-CN" dirty="0">
                <a:latin typeface="Times New Roman" panose="02020603050405020304" pitchFamily="18" charset="0"/>
                <a:ea typeface="微软雅黑"/>
                <a:cs typeface="Times New Roman" panose="02020603050405020304" pitchFamily="18" charset="0"/>
              </a:rPr>
              <a:t> and </a:t>
            </a:r>
            <a:r>
              <a:rPr lang="en-US" altLang="zh-CN" b="1" dirty="0" err="1">
                <a:latin typeface="Times New Roman" panose="02020603050405020304" pitchFamily="18" charset="0"/>
                <a:ea typeface="微软雅黑"/>
                <a:cs typeface="Times New Roman" panose="02020603050405020304" pitchFamily="18" charset="0"/>
              </a:rPr>
              <a:t>T_rsh</a:t>
            </a:r>
            <a:r>
              <a:rPr lang="en-US" altLang="zh-CN" dirty="0">
                <a:latin typeface="Times New Roman" panose="02020603050405020304" pitchFamily="18" charset="0"/>
                <a:ea typeface="微软雅黑"/>
                <a:cs typeface="Times New Roman" panose="02020603050405020304" pitchFamily="18" charset="0"/>
              </a:rPr>
              <a:t>;</a:t>
            </a:r>
          </a:p>
          <a:p>
            <a:pPr marL="1657350" lvl="3" indent="-285750">
              <a:buFont typeface="Arial" panose="020B0604020202020204" pitchFamily="34" charset="0"/>
              <a:buChar char="•"/>
              <a:defRPr/>
            </a:pPr>
            <a:r>
              <a:rPr lang="en-US" altLang="zh-CN" dirty="0">
                <a:latin typeface="Times New Roman" panose="02020603050405020304" pitchFamily="18" charset="0"/>
                <a:ea typeface="微软雅黑"/>
                <a:cs typeface="Times New Roman" panose="02020603050405020304" pitchFamily="18" charset="0"/>
              </a:rPr>
              <a:t>Input of a table </a:t>
            </a:r>
            <a:r>
              <a:rPr lang="en-US" altLang="zh-CN" b="1" dirty="0">
                <a:latin typeface="Times New Roman" panose="02020603050405020304" pitchFamily="18" charset="0"/>
                <a:ea typeface="微软雅黑"/>
                <a:cs typeface="Times New Roman" panose="02020603050405020304" pitchFamily="18" charset="0"/>
              </a:rPr>
              <a:t>x = {</a:t>
            </a:r>
            <a:r>
              <a:rPr lang="en-US" altLang="zh-CN" b="1" dirty="0" err="1">
                <a:latin typeface="Times New Roman" panose="02020603050405020304" pitchFamily="18" charset="0"/>
                <a:ea typeface="微软雅黑"/>
                <a:cs typeface="Times New Roman" panose="02020603050405020304" pitchFamily="18" charset="0"/>
              </a:rPr>
              <a:t>x_hb</a:t>
            </a:r>
            <a:r>
              <a:rPr lang="en-US" altLang="zh-CN" b="1" dirty="0">
                <a:latin typeface="Times New Roman" panose="02020603050405020304" pitchFamily="18" charset="0"/>
                <a:ea typeface="微软雅黑"/>
                <a:cs typeface="Times New Roman" panose="02020603050405020304" pitchFamily="18" charset="0"/>
              </a:rPr>
              <a:t>, </a:t>
            </a:r>
            <a:r>
              <a:rPr lang="en-US" altLang="zh-CN" b="1" dirty="0" err="1">
                <a:latin typeface="Times New Roman" panose="02020603050405020304" pitchFamily="18" charset="0"/>
                <a:ea typeface="微软雅黑"/>
                <a:cs typeface="Times New Roman" panose="02020603050405020304" pitchFamily="18" charset="0"/>
              </a:rPr>
              <a:t>x_lb</a:t>
            </a:r>
            <a:r>
              <a:rPr lang="en-US" altLang="zh-CN" b="1" dirty="0">
                <a:latin typeface="Times New Roman" panose="02020603050405020304" pitchFamily="18" charset="0"/>
                <a:ea typeface="微软雅黑"/>
                <a:cs typeface="Times New Roman" panose="02020603050405020304" pitchFamily="18" charset="0"/>
              </a:rPr>
              <a:t>}</a:t>
            </a:r>
            <a:r>
              <a:rPr lang="en-US" altLang="zh-CN" dirty="0">
                <a:latin typeface="Times New Roman" panose="02020603050405020304" pitchFamily="18" charset="0"/>
                <a:ea typeface="微软雅黑"/>
                <a:cs typeface="Times New Roman" panose="02020603050405020304" pitchFamily="18" charset="0"/>
              </a:rPr>
              <a:t>;</a:t>
            </a:r>
          </a:p>
          <a:p>
            <a:pPr marL="1657350" lvl="3" indent="-285750">
              <a:buFont typeface="Arial" panose="020B0604020202020204" pitchFamily="34" charset="0"/>
              <a:buChar char="•"/>
              <a:defRPr/>
            </a:pPr>
            <a:r>
              <a:rPr lang="en-US" altLang="zh-CN" dirty="0">
                <a:latin typeface="Times New Roman" panose="02020603050405020304" pitchFamily="18" charset="0"/>
                <a:ea typeface="微软雅黑"/>
                <a:cs typeface="Times New Roman" panose="02020603050405020304" pitchFamily="18" charset="0"/>
              </a:rPr>
              <a:t> </a:t>
            </a:r>
          </a:p>
          <a:p>
            <a:pPr marL="1657350" lvl="3" indent="-285750">
              <a:buFont typeface="Arial" panose="020B0604020202020204" pitchFamily="34" charset="0"/>
              <a:buChar char="•"/>
              <a:defRPr/>
            </a:pPr>
            <a:endParaRPr lang="en-US" altLang="zh-CN" dirty="0">
              <a:latin typeface="Times New Roman" panose="02020603050405020304" pitchFamily="18" charset="0"/>
              <a:ea typeface="微软雅黑"/>
              <a:cs typeface="Times New Roman" panose="02020603050405020304" pitchFamily="18" charset="0"/>
            </a:endParaRPr>
          </a:p>
          <a:p>
            <a:pPr marL="1200150" lvl="2" indent="-285750">
              <a:buFont typeface="Arial" panose="020B0604020202020204" pitchFamily="34" charset="0"/>
              <a:buChar char="•"/>
              <a:defRPr/>
            </a:pPr>
            <a:r>
              <a:rPr lang="en-US" altLang="zh-CN" dirty="0">
                <a:latin typeface="Times New Roman" panose="02020603050405020304" pitchFamily="18" charset="0"/>
                <a:ea typeface="微软雅黑"/>
                <a:cs typeface="Times New Roman" panose="02020603050405020304" pitchFamily="18" charset="0"/>
              </a:rPr>
              <a:t>For tables with higher dynamic range and large local variations</a:t>
            </a:r>
          </a:p>
          <a:p>
            <a:pPr marL="1657350" lvl="3" indent="-285750">
              <a:buFont typeface="Arial" panose="020B0604020202020204" pitchFamily="34" charset="0"/>
              <a:buChar char="•"/>
              <a:defRPr/>
            </a:pPr>
            <a:r>
              <a:rPr lang="en-US" altLang="zh-CN" b="1" dirty="0">
                <a:latin typeface="Times New Roman" panose="02020603050405020304" pitchFamily="18" charset="0"/>
                <a:ea typeface="微软雅黑"/>
                <a:cs typeface="Times New Roman" panose="02020603050405020304" pitchFamily="18" charset="0"/>
              </a:rPr>
              <a:t>T[x] = {</a:t>
            </a:r>
            <a:r>
              <a:rPr lang="en-US" altLang="zh-CN" b="1" dirty="0" err="1">
                <a:latin typeface="Times New Roman" panose="02020603050405020304" pitchFamily="18" charset="0"/>
                <a:ea typeface="微软雅黑"/>
                <a:cs typeface="Times New Roman" panose="02020603050405020304" pitchFamily="18" charset="0"/>
              </a:rPr>
              <a:t>T_hb</a:t>
            </a:r>
            <a:r>
              <a:rPr lang="en-US" altLang="zh-CN" b="1" dirty="0">
                <a:latin typeface="Times New Roman" panose="02020603050405020304" pitchFamily="18" charset="0"/>
                <a:ea typeface="微软雅黑"/>
                <a:cs typeface="Times New Roman" panose="02020603050405020304" pitchFamily="18" charset="0"/>
              </a:rPr>
              <a:t>[x], </a:t>
            </a:r>
            <a:r>
              <a:rPr lang="en-US" altLang="zh-CN" b="1" dirty="0" err="1">
                <a:latin typeface="Times New Roman" panose="02020603050405020304" pitchFamily="18" charset="0"/>
                <a:ea typeface="微软雅黑"/>
                <a:cs typeface="Times New Roman" panose="02020603050405020304" pitchFamily="18" charset="0"/>
              </a:rPr>
              <a:t>T_lb</a:t>
            </a:r>
            <a:r>
              <a:rPr lang="en-US" altLang="zh-CN" b="1" dirty="0">
                <a:latin typeface="Times New Roman" panose="02020603050405020304" pitchFamily="18" charset="0"/>
                <a:ea typeface="微软雅黑"/>
                <a:cs typeface="Times New Roman" panose="02020603050405020304" pitchFamily="18" charset="0"/>
              </a:rPr>
              <a:t>[x]}</a:t>
            </a:r>
            <a:r>
              <a:rPr lang="en-US" altLang="zh-CN" dirty="0">
                <a:latin typeface="Times New Roman" panose="02020603050405020304" pitchFamily="18" charset="0"/>
                <a:ea typeface="微软雅黑"/>
                <a:cs typeface="Times New Roman" panose="02020603050405020304" pitchFamily="18" charset="0"/>
              </a:rPr>
              <a:t>;</a:t>
            </a:r>
          </a:p>
          <a:p>
            <a:pPr marL="1657350" lvl="3" indent="-285750">
              <a:buFont typeface="Arial" panose="020B0604020202020204" pitchFamily="34" charset="0"/>
              <a:buChar char="•"/>
              <a:defRPr/>
            </a:pPr>
            <a:r>
              <a:rPr lang="en-US" altLang="zh-CN" dirty="0">
                <a:latin typeface="Times New Roman" panose="02020603050405020304" pitchFamily="18" charset="0"/>
                <a:ea typeface="微软雅黑"/>
                <a:cs typeface="Times New Roman" panose="02020603050405020304" pitchFamily="18" charset="0"/>
              </a:rPr>
              <a:t>The lower bits table is not compressed. </a:t>
            </a:r>
          </a:p>
          <a:p>
            <a:pPr marL="1657350" lvl="3" indent="-285750">
              <a:buFont typeface="Arial" panose="020B0604020202020204" pitchFamily="34" charset="0"/>
              <a:buChar char="•"/>
              <a:defRPr/>
            </a:pPr>
            <a:r>
              <a:rPr lang="en-US" altLang="zh-CN" dirty="0">
                <a:latin typeface="Times New Roman" panose="02020603050405020304" pitchFamily="18" charset="0"/>
                <a:ea typeface="微软雅黑"/>
                <a:cs typeface="Times New Roman" panose="02020603050405020304" pitchFamily="18" charset="0"/>
              </a:rPr>
              <a:t>The higher bits table undergoes previous compression.</a:t>
            </a:r>
          </a:p>
          <a:p>
            <a:pPr marL="1657350" lvl="3" indent="-285750">
              <a:buFont typeface="Arial" panose="020B0604020202020204" pitchFamily="34" charset="0"/>
              <a:buChar char="•"/>
              <a:defRPr/>
            </a:pPr>
            <a:endParaRPr lang="en-US" altLang="zh-CN" dirty="0">
              <a:latin typeface="Times New Roman" panose="02020603050405020304" pitchFamily="18" charset="0"/>
              <a:ea typeface="微软雅黑"/>
              <a:cs typeface="Times New Roman" panose="02020603050405020304" pitchFamily="18" charset="0"/>
            </a:endParaRPr>
          </a:p>
          <a:p>
            <a:pPr marL="1657350" lvl="3" indent="-285750">
              <a:buFont typeface="Arial" panose="020B0604020202020204" pitchFamily="34" charset="0"/>
              <a:buChar char="•"/>
              <a:defRPr/>
            </a:pPr>
            <a:endParaRPr lang="en-US" altLang="zh-CN" dirty="0">
              <a:latin typeface="Times New Roman" panose="02020603050405020304" pitchFamily="18" charset="0"/>
              <a:ea typeface="微软雅黑"/>
              <a:cs typeface="Times New Roman" panose="02020603050405020304" pitchFamily="18" charset="0"/>
            </a:endParaRPr>
          </a:p>
          <a:p>
            <a:pPr lvl="3">
              <a:defRPr/>
            </a:pPr>
            <a:r>
              <a:rPr lang="en-US" altLang="zh-CN" b="1" dirty="0">
                <a:solidFill>
                  <a:srgbClr val="FF0000"/>
                </a:solidFill>
                <a:latin typeface="Times New Roman" panose="02020603050405020304" pitchFamily="18" charset="0"/>
                <a:ea typeface="微软雅黑"/>
                <a:cs typeface="Times New Roman" panose="02020603050405020304" pitchFamily="18" charset="0"/>
              </a:rPr>
              <a:t>Don’t-care terms provide more compression freedom !!!</a:t>
            </a:r>
            <a:endParaRPr lang="zh-CN" altLang="en-US" b="1" dirty="0">
              <a:solidFill>
                <a:srgbClr val="FF0000"/>
              </a:solidFill>
              <a:latin typeface="Times New Roman" panose="02020603050405020304" pitchFamily="18" charset="0"/>
              <a:ea typeface="微软雅黑"/>
              <a:cs typeface="Times New Roman" panose="02020603050405020304" pitchFamily="18" charset="0"/>
            </a:endParaRPr>
          </a:p>
          <a:p>
            <a:pPr lvl="3">
              <a:defRPr/>
            </a:pPr>
            <a:endParaRPr lang="en-US" altLang="zh-CN" dirty="0">
              <a:latin typeface="Times New Roman" panose="02020603050405020304" pitchFamily="18" charset="0"/>
              <a:ea typeface="微软雅黑"/>
              <a:cs typeface="Times New Roman" panose="02020603050405020304" pitchFamily="18" charset="0"/>
            </a:endParaRPr>
          </a:p>
        </p:txBody>
      </p:sp>
      <p:pic>
        <p:nvPicPr>
          <p:cNvPr id="5" name="图片 4">
            <a:extLst>
              <a:ext uri="{FF2B5EF4-FFF2-40B4-BE49-F238E27FC236}">
                <a16:creationId xmlns:a16="http://schemas.microsoft.com/office/drawing/2014/main" id="{1EDF5757-553C-8895-E14C-102BFE0FF592}"/>
              </a:ext>
            </a:extLst>
          </p:cNvPr>
          <p:cNvPicPr>
            <a:picLocks noChangeAspect="1"/>
          </p:cNvPicPr>
          <p:nvPr/>
        </p:nvPicPr>
        <p:blipFill>
          <a:blip r:embed="rId3"/>
          <a:stretch>
            <a:fillRect/>
          </a:stretch>
        </p:blipFill>
        <p:spPr>
          <a:xfrm>
            <a:off x="1860331" y="3539576"/>
            <a:ext cx="4972744" cy="409632"/>
          </a:xfrm>
          <a:prstGeom prst="rect">
            <a:avLst/>
          </a:prstGeom>
        </p:spPr>
      </p:pic>
    </p:spTree>
    <p:extLst>
      <p:ext uri="{BB962C8B-B14F-4D97-AF65-F5344CB8AC3E}">
        <p14:creationId xmlns:p14="http://schemas.microsoft.com/office/powerpoint/2010/main" val="1250599099"/>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5421F-F177-0EEC-2D5A-CF505D96A45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6A554A5-2E5F-3751-631F-ACAF4B9F40E2}"/>
              </a:ext>
            </a:extLst>
          </p:cNvPr>
          <p:cNvSpPr>
            <a:spLocks noGrp="1"/>
          </p:cNvSpPr>
          <p:nvPr>
            <p:ph type="title"/>
          </p:nvPr>
        </p:nvSpPr>
        <p:spPr>
          <a:xfrm>
            <a:off x="2145029" y="254000"/>
            <a:ext cx="6746723" cy="517850"/>
          </a:xfrm>
        </p:spPr>
        <p:txBody>
          <a:bodyPr>
            <a:normAutofit/>
          </a:bodyPr>
          <a:lstStyle/>
          <a:p>
            <a:r>
              <a:rPr lang="en-US" altLang="zh-CN" dirty="0"/>
              <a:t>Preliminaries</a:t>
            </a:r>
            <a:endParaRPr lang="zh-CN" altLang="en-US" dirty="0"/>
          </a:p>
        </p:txBody>
      </p:sp>
      <p:sp>
        <p:nvSpPr>
          <p:cNvPr id="16" name="文本框 15">
            <a:extLst>
              <a:ext uri="{FF2B5EF4-FFF2-40B4-BE49-F238E27FC236}">
                <a16:creationId xmlns:a16="http://schemas.microsoft.com/office/drawing/2014/main" id="{81AA427B-5F3F-1D83-A9CF-A620499763B7}"/>
              </a:ext>
            </a:extLst>
          </p:cNvPr>
          <p:cNvSpPr txBox="1"/>
          <p:nvPr/>
        </p:nvSpPr>
        <p:spPr>
          <a:xfrm>
            <a:off x="65223" y="312870"/>
            <a:ext cx="1851865"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ReducedLUT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8D347B2C-086C-9D6A-FFF3-7C0663B4D6A1}"/>
              </a:ext>
            </a:extLst>
          </p:cNvPr>
          <p:cNvSpPr txBox="1"/>
          <p:nvPr/>
        </p:nvSpPr>
        <p:spPr>
          <a:xfrm>
            <a:off x="127214" y="1028343"/>
            <a:ext cx="8889571" cy="369332"/>
          </a:xfrm>
          <a:prstGeom prst="rect">
            <a:avLst/>
          </a:prstGeom>
          <a:noFill/>
        </p:spPr>
        <p:txBody>
          <a:bodyPr wrap="square" rtlCol="0">
            <a:spAutoFit/>
          </a:bodyPr>
          <a:lstStyle/>
          <a:p>
            <a:pPr lvl="0">
              <a:defRPr/>
            </a:pPr>
            <a:r>
              <a:rPr lang="en-US" altLang="zh-CN" dirty="0">
                <a:solidFill>
                  <a:srgbClr val="FF0000"/>
                </a:solidFill>
                <a:latin typeface="Times New Roman" panose="02020603050405020304" pitchFamily="18" charset="0"/>
                <a:ea typeface="微软雅黑"/>
                <a:cs typeface="Times New Roman" panose="02020603050405020304" pitchFamily="18" charset="0"/>
              </a:rPr>
              <a:t>ReducedLUT example: </a:t>
            </a:r>
            <a:r>
              <a:rPr lang="en-US" altLang="zh-CN" dirty="0">
                <a:latin typeface="Times New Roman" panose="02020603050405020304" pitchFamily="18" charset="0"/>
                <a:ea typeface="微软雅黑"/>
                <a:cs typeface="Times New Roman" panose="02020603050405020304" pitchFamily="18" charset="0"/>
              </a:rPr>
              <a:t>(</a:t>
            </a:r>
            <a:r>
              <a:rPr lang="en-US" altLang="zh-CN" dirty="0" err="1">
                <a:latin typeface="Times New Roman" panose="02020603050405020304" pitchFamily="18" charset="0"/>
                <a:ea typeface="微软雅黑"/>
                <a:cs typeface="Times New Roman" panose="02020603050405020304" pitchFamily="18" charset="0"/>
              </a:rPr>
              <a:t>T_bias</a:t>
            </a:r>
            <a:r>
              <a:rPr lang="en-US" altLang="zh-CN" dirty="0">
                <a:latin typeface="Times New Roman" panose="02020603050405020304" pitchFamily="18" charset="0"/>
                <a:ea typeface="微软雅黑"/>
                <a:cs typeface="Times New Roman" panose="02020603050405020304" pitchFamily="18" charset="0"/>
              </a:rPr>
              <a:t> not shown)</a:t>
            </a:r>
          </a:p>
        </p:txBody>
      </p:sp>
      <p:pic>
        <p:nvPicPr>
          <p:cNvPr id="6" name="图片 5">
            <a:extLst>
              <a:ext uri="{FF2B5EF4-FFF2-40B4-BE49-F238E27FC236}">
                <a16:creationId xmlns:a16="http://schemas.microsoft.com/office/drawing/2014/main" id="{FB1F2717-BCE9-87A7-B929-C47C081EF45F}"/>
              </a:ext>
            </a:extLst>
          </p:cNvPr>
          <p:cNvPicPr>
            <a:picLocks noChangeAspect="1"/>
          </p:cNvPicPr>
          <p:nvPr/>
        </p:nvPicPr>
        <p:blipFill>
          <a:blip r:embed="rId3"/>
          <a:stretch>
            <a:fillRect/>
          </a:stretch>
        </p:blipFill>
        <p:spPr>
          <a:xfrm>
            <a:off x="2145029" y="1397675"/>
            <a:ext cx="4663617" cy="5206325"/>
          </a:xfrm>
          <a:prstGeom prst="rect">
            <a:avLst/>
          </a:prstGeom>
        </p:spPr>
      </p:pic>
    </p:spTree>
    <p:extLst>
      <p:ext uri="{BB962C8B-B14F-4D97-AF65-F5344CB8AC3E}">
        <p14:creationId xmlns:p14="http://schemas.microsoft.com/office/powerpoint/2010/main" val="3993103522"/>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75858-5770-328C-CBC8-91AFD2CFAE5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7E4F473-157A-1A6B-542B-FC5FD08AC7F4}"/>
              </a:ext>
            </a:extLst>
          </p:cNvPr>
          <p:cNvSpPr>
            <a:spLocks noGrp="1"/>
          </p:cNvSpPr>
          <p:nvPr>
            <p:ph type="title"/>
          </p:nvPr>
        </p:nvSpPr>
        <p:spPr>
          <a:xfrm>
            <a:off x="2145029" y="254000"/>
            <a:ext cx="6746723" cy="517850"/>
          </a:xfrm>
        </p:spPr>
        <p:txBody>
          <a:bodyPr>
            <a:normAutofit/>
          </a:bodyPr>
          <a:lstStyle/>
          <a:p>
            <a:r>
              <a:rPr lang="en-US" altLang="zh-CN" dirty="0"/>
              <a:t>Methodology</a:t>
            </a:r>
            <a:endParaRPr lang="zh-CN" altLang="en-US" dirty="0"/>
          </a:p>
        </p:txBody>
      </p:sp>
      <p:sp>
        <p:nvSpPr>
          <p:cNvPr id="16" name="文本框 15">
            <a:extLst>
              <a:ext uri="{FF2B5EF4-FFF2-40B4-BE49-F238E27FC236}">
                <a16:creationId xmlns:a16="http://schemas.microsoft.com/office/drawing/2014/main" id="{CDBDF19E-B5B8-903B-6164-9FEF659090C3}"/>
              </a:ext>
            </a:extLst>
          </p:cNvPr>
          <p:cNvSpPr txBox="1"/>
          <p:nvPr/>
        </p:nvSpPr>
        <p:spPr>
          <a:xfrm>
            <a:off x="65223" y="312870"/>
            <a:ext cx="1851865"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ReducedLUT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C13DC2B7-4BC3-EC82-ADF9-B184C4CCDDF2}"/>
              </a:ext>
            </a:extLst>
          </p:cNvPr>
          <p:cNvSpPr txBox="1"/>
          <p:nvPr/>
        </p:nvSpPr>
        <p:spPr>
          <a:xfrm>
            <a:off x="127214" y="1020030"/>
            <a:ext cx="8889571" cy="369332"/>
          </a:xfrm>
          <a:prstGeom prst="rect">
            <a:avLst/>
          </a:prstGeom>
          <a:noFill/>
        </p:spPr>
        <p:txBody>
          <a:bodyPr wrap="square" rtlCol="0">
            <a:spAutoFit/>
          </a:bodyPr>
          <a:lstStyle/>
          <a:p>
            <a:pPr marL="285750" lvl="0" indent="-285750">
              <a:buFont typeface="Wingdings" panose="05000000000000000000" pitchFamily="2" charset="2"/>
              <a:buChar char="ü"/>
              <a:defRPr/>
            </a:pPr>
            <a:r>
              <a:rPr lang="en-US" altLang="zh-CN" dirty="0">
                <a:solidFill>
                  <a:srgbClr val="FF0000"/>
                </a:solidFill>
                <a:latin typeface="Times New Roman" panose="02020603050405020304" pitchFamily="18" charset="0"/>
                <a:ea typeface="微软雅黑"/>
                <a:cs typeface="Times New Roman" panose="02020603050405020304" pitchFamily="18" charset="0"/>
              </a:rPr>
              <a:t>Identification of Don’t care Conditions</a:t>
            </a:r>
            <a:endParaRPr lang="en-US" altLang="zh-CN" dirty="0">
              <a:latin typeface="Times New Roman" panose="02020603050405020304" pitchFamily="18" charset="0"/>
              <a:ea typeface="微软雅黑"/>
              <a:cs typeface="Times New Roman" panose="02020603050405020304" pitchFamily="18" charset="0"/>
            </a:endParaRPr>
          </a:p>
        </p:txBody>
      </p:sp>
      <p:pic>
        <p:nvPicPr>
          <p:cNvPr id="5" name="图片 4">
            <a:extLst>
              <a:ext uri="{FF2B5EF4-FFF2-40B4-BE49-F238E27FC236}">
                <a16:creationId xmlns:a16="http://schemas.microsoft.com/office/drawing/2014/main" id="{80687023-3567-240A-7EB7-72C1C5C3524A}"/>
              </a:ext>
            </a:extLst>
          </p:cNvPr>
          <p:cNvPicPr>
            <a:picLocks noChangeAspect="1"/>
          </p:cNvPicPr>
          <p:nvPr/>
        </p:nvPicPr>
        <p:blipFill>
          <a:blip r:embed="rId3"/>
          <a:stretch>
            <a:fillRect/>
          </a:stretch>
        </p:blipFill>
        <p:spPr>
          <a:xfrm>
            <a:off x="-1" y="1875765"/>
            <a:ext cx="9144000" cy="2114176"/>
          </a:xfrm>
          <a:prstGeom prst="rect">
            <a:avLst/>
          </a:prstGeom>
        </p:spPr>
      </p:pic>
      <p:pic>
        <p:nvPicPr>
          <p:cNvPr id="8" name="图片 7">
            <a:extLst>
              <a:ext uri="{FF2B5EF4-FFF2-40B4-BE49-F238E27FC236}">
                <a16:creationId xmlns:a16="http://schemas.microsoft.com/office/drawing/2014/main" id="{3D38506D-D4E1-546D-8479-12460D01E4A0}"/>
              </a:ext>
            </a:extLst>
          </p:cNvPr>
          <p:cNvPicPr>
            <a:picLocks noChangeAspect="1"/>
          </p:cNvPicPr>
          <p:nvPr/>
        </p:nvPicPr>
        <p:blipFill>
          <a:blip r:embed="rId4"/>
          <a:stretch>
            <a:fillRect/>
          </a:stretch>
        </p:blipFill>
        <p:spPr>
          <a:xfrm>
            <a:off x="2145029" y="4423854"/>
            <a:ext cx="4753638" cy="1086002"/>
          </a:xfrm>
          <a:prstGeom prst="rect">
            <a:avLst/>
          </a:prstGeom>
        </p:spPr>
      </p:pic>
    </p:spTree>
    <p:extLst>
      <p:ext uri="{BB962C8B-B14F-4D97-AF65-F5344CB8AC3E}">
        <p14:creationId xmlns:p14="http://schemas.microsoft.com/office/powerpoint/2010/main" val="257017670"/>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35F6E-46EB-835E-6821-9278E74BEFB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8D8928E-0547-B64B-3197-8ADB2713B250}"/>
              </a:ext>
            </a:extLst>
          </p:cNvPr>
          <p:cNvSpPr>
            <a:spLocks noGrp="1"/>
          </p:cNvSpPr>
          <p:nvPr>
            <p:ph type="title"/>
          </p:nvPr>
        </p:nvSpPr>
        <p:spPr>
          <a:xfrm>
            <a:off x="2145029" y="254000"/>
            <a:ext cx="6746723" cy="517850"/>
          </a:xfrm>
        </p:spPr>
        <p:txBody>
          <a:bodyPr>
            <a:normAutofit/>
          </a:bodyPr>
          <a:lstStyle/>
          <a:p>
            <a:r>
              <a:rPr lang="en-US" altLang="zh-CN" dirty="0"/>
              <a:t>Methodology</a:t>
            </a:r>
            <a:endParaRPr lang="zh-CN" altLang="en-US" dirty="0"/>
          </a:p>
        </p:txBody>
      </p:sp>
      <p:sp>
        <p:nvSpPr>
          <p:cNvPr id="16" name="文本框 15">
            <a:extLst>
              <a:ext uri="{FF2B5EF4-FFF2-40B4-BE49-F238E27FC236}">
                <a16:creationId xmlns:a16="http://schemas.microsoft.com/office/drawing/2014/main" id="{558A7D8C-9659-D91C-3625-64F3A798BBD5}"/>
              </a:ext>
            </a:extLst>
          </p:cNvPr>
          <p:cNvSpPr txBox="1"/>
          <p:nvPr/>
        </p:nvSpPr>
        <p:spPr>
          <a:xfrm>
            <a:off x="65223" y="312870"/>
            <a:ext cx="1851865"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ReducedLUT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50373A80-32D3-87DC-7875-7DB8D5C55EC1}"/>
              </a:ext>
            </a:extLst>
          </p:cNvPr>
          <p:cNvSpPr txBox="1"/>
          <p:nvPr/>
        </p:nvSpPr>
        <p:spPr>
          <a:xfrm>
            <a:off x="0" y="712980"/>
            <a:ext cx="8889571" cy="5909310"/>
          </a:xfrm>
          <a:prstGeom prst="rect">
            <a:avLst/>
          </a:prstGeom>
          <a:noFill/>
        </p:spPr>
        <p:txBody>
          <a:bodyPr wrap="square" rtlCol="0">
            <a:spAutoFit/>
          </a:bodyPr>
          <a:lstStyle/>
          <a:p>
            <a:pPr marL="285750" lvl="0" indent="-285750">
              <a:buFont typeface="Wingdings" panose="05000000000000000000" pitchFamily="2" charset="2"/>
              <a:buChar char="ü"/>
              <a:defRPr/>
            </a:pPr>
            <a:r>
              <a:rPr lang="en-US" altLang="zh-CN" dirty="0">
                <a:solidFill>
                  <a:srgbClr val="FF0000"/>
                </a:solidFill>
                <a:latin typeface="Times New Roman" panose="02020603050405020304" pitchFamily="18" charset="0"/>
                <a:ea typeface="微软雅黑"/>
                <a:cs typeface="Times New Roman" panose="02020603050405020304" pitchFamily="18" charset="0"/>
              </a:rPr>
              <a:t>L-LUT Compression</a:t>
            </a:r>
          </a:p>
          <a:p>
            <a:pPr lvl="1">
              <a:defRPr/>
            </a:pPr>
            <a:r>
              <a:rPr lang="en-US" altLang="zh-CN" u="sng" dirty="0">
                <a:latin typeface="Times New Roman" panose="02020603050405020304" pitchFamily="18" charset="0"/>
                <a:ea typeface="微软雅黑"/>
                <a:cs typeface="Times New Roman" panose="02020603050405020304" pitchFamily="18" charset="0"/>
              </a:rPr>
              <a:t>Preparation Phase</a:t>
            </a:r>
          </a:p>
          <a:p>
            <a:pPr marL="800100" lvl="1" indent="-342900">
              <a:buFont typeface="+mj-lt"/>
              <a:buAutoNum type="arabicPeriod"/>
              <a:defRPr/>
            </a:pPr>
            <a:r>
              <a:rPr lang="en-US" altLang="zh-CN" dirty="0">
                <a:latin typeface="Times New Roman" panose="02020603050405020304" pitchFamily="18" charset="0"/>
                <a:ea typeface="微软雅黑"/>
                <a:cs typeface="Times New Roman" panose="02020603050405020304" pitchFamily="18" charset="0"/>
              </a:rPr>
              <a:t>L-LUT table, </a:t>
            </a:r>
            <a:r>
              <a:rPr lang="en-US" altLang="zh-CN" b="1" dirty="0">
                <a:latin typeface="Times New Roman" panose="02020603050405020304" pitchFamily="18" charset="0"/>
                <a:ea typeface="微软雅黑"/>
                <a:cs typeface="Times New Roman" panose="02020603050405020304" pitchFamily="18" charset="0"/>
              </a:rPr>
              <a:t>T</a:t>
            </a:r>
            <a:r>
              <a:rPr lang="en-US" altLang="zh-CN" dirty="0">
                <a:latin typeface="Times New Roman" panose="02020603050405020304" pitchFamily="18" charset="0"/>
                <a:ea typeface="微软雅黑"/>
                <a:cs typeface="Times New Roman" panose="02020603050405020304" pitchFamily="18" charset="0"/>
              </a:rPr>
              <a:t>, is first decomposed into a set of sub-tables </a:t>
            </a:r>
            <a:r>
              <a:rPr lang="en-US" altLang="zh-CN" b="1" dirty="0" err="1">
                <a:latin typeface="Times New Roman" panose="02020603050405020304" pitchFamily="18" charset="0"/>
                <a:ea typeface="微软雅黑"/>
                <a:cs typeface="Times New Roman" panose="02020603050405020304" pitchFamily="18" charset="0"/>
              </a:rPr>
              <a:t>T_st</a:t>
            </a:r>
            <a:r>
              <a:rPr lang="en-US" altLang="zh-CN" dirty="0">
                <a:latin typeface="Times New Roman" panose="02020603050405020304" pitchFamily="18" charset="0"/>
                <a:ea typeface="微软雅黑"/>
                <a:cs typeface="Times New Roman" panose="02020603050405020304" pitchFamily="18" charset="0"/>
              </a:rPr>
              <a:t>, each with M entries:</a:t>
            </a:r>
          </a:p>
          <a:p>
            <a:pPr marL="1257300" lvl="2" indent="-342900">
              <a:buFont typeface="Arial" panose="020B0604020202020204" pitchFamily="34" charset="0"/>
              <a:buChar char="•"/>
              <a:defRPr/>
            </a:pPr>
            <a:r>
              <a:rPr lang="en-US" altLang="zh-CN" b="1" dirty="0" err="1">
                <a:latin typeface="Times New Roman" panose="02020603050405020304" pitchFamily="18" charset="0"/>
                <a:ea typeface="微软雅黑"/>
                <a:cs typeface="Times New Roman" panose="02020603050405020304" pitchFamily="18" charset="0"/>
              </a:rPr>
              <a:t>T_st</a:t>
            </a:r>
            <a:r>
              <a:rPr lang="en-US" altLang="zh-CN" b="1" dirty="0">
                <a:latin typeface="Times New Roman" panose="02020603050405020304" pitchFamily="18" charset="0"/>
                <a:ea typeface="微软雅黑"/>
                <a:cs typeface="Times New Roman" panose="02020603050405020304" pitchFamily="18" charset="0"/>
              </a:rPr>
              <a:t> = {ST1, …, </a:t>
            </a:r>
            <a:r>
              <a:rPr lang="en-US" altLang="zh-CN" b="1" dirty="0" err="1">
                <a:latin typeface="Times New Roman" panose="02020603050405020304" pitchFamily="18" charset="0"/>
                <a:ea typeface="微软雅黑"/>
                <a:cs typeface="Times New Roman" panose="02020603050405020304" pitchFamily="18" charset="0"/>
              </a:rPr>
              <a:t>STn</a:t>
            </a:r>
            <a:r>
              <a:rPr lang="en-US" altLang="zh-CN" b="1" dirty="0">
                <a:latin typeface="Times New Roman" panose="02020603050405020304" pitchFamily="18" charset="0"/>
                <a:ea typeface="微软雅黑"/>
                <a:cs typeface="Times New Roman" panose="02020603050405020304" pitchFamily="18" charset="0"/>
              </a:rPr>
              <a:t>}</a:t>
            </a:r>
            <a:r>
              <a:rPr lang="en-US" altLang="zh-CN" dirty="0">
                <a:latin typeface="Times New Roman" panose="02020603050405020304" pitchFamily="18" charset="0"/>
                <a:ea typeface="微软雅黑"/>
                <a:cs typeface="Times New Roman" panose="02020603050405020304" pitchFamily="18" charset="0"/>
              </a:rPr>
              <a:t>;</a:t>
            </a:r>
          </a:p>
          <a:p>
            <a:pPr marL="800100" lvl="1" indent="-342900">
              <a:buFont typeface="+mj-lt"/>
              <a:buAutoNum type="arabicPeriod"/>
              <a:defRPr/>
            </a:pPr>
            <a:r>
              <a:rPr lang="en-US" altLang="zh-CN" dirty="0">
                <a:latin typeface="Times New Roman" panose="02020603050405020304" pitchFamily="18" charset="0"/>
                <a:ea typeface="微软雅黑"/>
                <a:cs typeface="Times New Roman" panose="02020603050405020304" pitchFamily="18" charset="0"/>
              </a:rPr>
              <a:t>Generate similarity matrix </a:t>
            </a:r>
            <a:r>
              <a:rPr lang="en-US" altLang="zh-CN" b="1" dirty="0">
                <a:latin typeface="Times New Roman" panose="02020603050405020304" pitchFamily="18" charset="0"/>
                <a:ea typeface="微软雅黑"/>
                <a:cs typeface="Times New Roman" panose="02020603050405020304" pitchFamily="18" charset="0"/>
              </a:rPr>
              <a:t>SM</a:t>
            </a:r>
            <a:r>
              <a:rPr lang="en-US" altLang="zh-CN" dirty="0">
                <a:latin typeface="Times New Roman" panose="02020603050405020304" pitchFamily="18" charset="0"/>
                <a:ea typeface="微软雅黑"/>
                <a:cs typeface="Times New Roman" panose="02020603050405020304" pitchFamily="18" charset="0"/>
              </a:rPr>
              <a:t>:</a:t>
            </a:r>
          </a:p>
          <a:p>
            <a:pPr marL="1257300" lvl="2" indent="-342900">
              <a:buFont typeface="Arial" panose="020B0604020202020204" pitchFamily="34" charset="0"/>
              <a:buChar char="•"/>
              <a:defRPr/>
            </a:pPr>
            <a:endParaRPr lang="en-US" altLang="zh-CN" dirty="0">
              <a:latin typeface="Times New Roman" panose="02020603050405020304" pitchFamily="18" charset="0"/>
              <a:ea typeface="微软雅黑"/>
              <a:cs typeface="Times New Roman" panose="02020603050405020304" pitchFamily="18" charset="0"/>
            </a:endParaRPr>
          </a:p>
          <a:p>
            <a:pPr marL="1257300" lvl="2" indent="-342900">
              <a:buFont typeface="Arial" panose="020B0604020202020204" pitchFamily="34" charset="0"/>
              <a:buChar char="•"/>
              <a:defRPr/>
            </a:pPr>
            <a:endParaRPr lang="en-US" altLang="zh-CN" dirty="0">
              <a:latin typeface="Times New Roman" panose="02020603050405020304" pitchFamily="18" charset="0"/>
              <a:ea typeface="微软雅黑"/>
              <a:cs typeface="Times New Roman" panose="02020603050405020304" pitchFamily="18" charset="0"/>
            </a:endParaRPr>
          </a:p>
          <a:p>
            <a:pPr marL="1257300" lvl="2" indent="-342900">
              <a:buFont typeface="Arial" panose="020B0604020202020204" pitchFamily="34" charset="0"/>
              <a:buChar char="•"/>
              <a:defRPr/>
            </a:pPr>
            <a:endParaRPr lang="en-US" altLang="zh-CN" dirty="0">
              <a:latin typeface="Times New Roman" panose="02020603050405020304" pitchFamily="18" charset="0"/>
              <a:ea typeface="微软雅黑"/>
              <a:cs typeface="Times New Roman" panose="02020603050405020304" pitchFamily="18" charset="0"/>
            </a:endParaRPr>
          </a:p>
          <a:p>
            <a:pPr marL="800100" lvl="1" indent="-342900">
              <a:buFont typeface="+mj-lt"/>
              <a:buAutoNum type="arabicPeriod"/>
              <a:defRPr/>
            </a:pPr>
            <a:r>
              <a:rPr lang="en-US" altLang="zh-CN" dirty="0">
                <a:latin typeface="Times New Roman" panose="02020603050405020304" pitchFamily="18" charset="0"/>
                <a:ea typeface="微软雅黑"/>
                <a:cs typeface="Times New Roman" panose="02020603050405020304" pitchFamily="18" charset="0"/>
              </a:rPr>
              <a:t>Generate similarity vector, </a:t>
            </a:r>
            <a:r>
              <a:rPr lang="en-US" altLang="zh-CN" b="1" dirty="0">
                <a:latin typeface="Times New Roman" panose="02020603050405020304" pitchFamily="18" charset="0"/>
                <a:ea typeface="微软雅黑"/>
                <a:cs typeface="Times New Roman" panose="02020603050405020304" pitchFamily="18" charset="0"/>
              </a:rPr>
              <a:t>SV</a:t>
            </a:r>
            <a:r>
              <a:rPr lang="en-US" altLang="zh-CN" dirty="0">
                <a:latin typeface="Times New Roman" panose="02020603050405020304" pitchFamily="18" charset="0"/>
                <a:ea typeface="微软雅黑"/>
                <a:cs typeface="Times New Roman" panose="02020603050405020304" pitchFamily="18" charset="0"/>
              </a:rPr>
              <a:t>, sum of each column of </a:t>
            </a:r>
            <a:r>
              <a:rPr lang="en-US" altLang="zh-CN" b="1" dirty="0">
                <a:latin typeface="Times New Roman" panose="02020603050405020304" pitchFamily="18" charset="0"/>
                <a:ea typeface="微软雅黑"/>
                <a:cs typeface="Times New Roman" panose="02020603050405020304" pitchFamily="18" charset="0"/>
              </a:rPr>
              <a:t>SM</a:t>
            </a:r>
            <a:r>
              <a:rPr lang="en-US" altLang="zh-CN" dirty="0">
                <a:latin typeface="Times New Roman" panose="02020603050405020304" pitchFamily="18" charset="0"/>
                <a:ea typeface="微软雅黑"/>
                <a:cs typeface="Times New Roman" panose="02020603050405020304" pitchFamily="18" charset="0"/>
              </a:rPr>
              <a:t>.</a:t>
            </a:r>
          </a:p>
          <a:p>
            <a:pPr marL="1257300" lvl="2" indent="-342900">
              <a:buFont typeface="Arial" panose="020B0604020202020204" pitchFamily="34" charset="0"/>
              <a:buChar char="•"/>
              <a:defRPr/>
            </a:pPr>
            <a:r>
              <a:rPr lang="en-US" altLang="zh-CN" dirty="0">
                <a:latin typeface="Times New Roman" panose="02020603050405020304" pitchFamily="18" charset="0"/>
                <a:ea typeface="微软雅黑"/>
                <a:cs typeface="Times New Roman" panose="02020603050405020304" pitchFamily="18" charset="0"/>
              </a:rPr>
              <a:t>where the values in </a:t>
            </a:r>
            <a:r>
              <a:rPr lang="en-US" altLang="zh-CN" b="1" dirty="0">
                <a:latin typeface="Times New Roman" panose="02020603050405020304" pitchFamily="18" charset="0"/>
                <a:ea typeface="微软雅黑"/>
                <a:cs typeface="Times New Roman" panose="02020603050405020304" pitchFamily="18" charset="0"/>
              </a:rPr>
              <a:t>SV</a:t>
            </a:r>
            <a:r>
              <a:rPr lang="en-US" altLang="zh-CN" dirty="0">
                <a:latin typeface="Times New Roman" panose="02020603050405020304" pitchFamily="18" charset="0"/>
                <a:ea typeface="微软雅黑"/>
                <a:cs typeface="Times New Roman" panose="02020603050405020304" pitchFamily="18" charset="0"/>
              </a:rPr>
              <a:t> represent the </a:t>
            </a:r>
            <a:r>
              <a:rPr lang="en-US" altLang="zh-CN" dirty="0">
                <a:solidFill>
                  <a:srgbClr val="FF0000"/>
                </a:solidFill>
                <a:latin typeface="Times New Roman" panose="02020603050405020304" pitchFamily="18" charset="0"/>
                <a:ea typeface="微软雅黑"/>
                <a:cs typeface="Times New Roman" panose="02020603050405020304" pitchFamily="18" charset="0"/>
              </a:rPr>
              <a:t>number of dependencies</a:t>
            </a:r>
            <a:r>
              <a:rPr lang="en-US" altLang="zh-CN" dirty="0">
                <a:latin typeface="Times New Roman" panose="02020603050405020304" pitchFamily="18" charset="0"/>
                <a:ea typeface="微软雅黑"/>
                <a:cs typeface="Times New Roman" panose="02020603050405020304" pitchFamily="18" charset="0"/>
              </a:rPr>
              <a:t> each </a:t>
            </a:r>
            <a:r>
              <a:rPr lang="en-US" altLang="zh-CN" b="1" dirty="0" err="1">
                <a:latin typeface="Times New Roman" panose="02020603050405020304" pitchFamily="18" charset="0"/>
                <a:ea typeface="微软雅黑"/>
                <a:cs typeface="Times New Roman" panose="02020603050405020304" pitchFamily="18" charset="0"/>
              </a:rPr>
              <a:t>T_st</a:t>
            </a:r>
            <a:r>
              <a:rPr lang="en-US" altLang="zh-CN" dirty="0">
                <a:latin typeface="Times New Roman" panose="02020603050405020304" pitchFamily="18" charset="0"/>
                <a:ea typeface="微软雅黑"/>
                <a:cs typeface="Times New Roman" panose="02020603050405020304" pitchFamily="18" charset="0"/>
              </a:rPr>
              <a:t> has.</a:t>
            </a:r>
            <a:endParaRPr lang="en-US" altLang="zh-CN" u="sng" dirty="0">
              <a:latin typeface="Times New Roman" panose="02020603050405020304" pitchFamily="18" charset="0"/>
              <a:ea typeface="微软雅黑"/>
              <a:cs typeface="Times New Roman" panose="02020603050405020304" pitchFamily="18" charset="0"/>
            </a:endParaRPr>
          </a:p>
          <a:p>
            <a:pPr lvl="1">
              <a:defRPr/>
            </a:pPr>
            <a:r>
              <a:rPr lang="en-US" altLang="zh-CN" u="sng" dirty="0">
                <a:latin typeface="Times New Roman" panose="02020603050405020304" pitchFamily="18" charset="0"/>
                <a:ea typeface="微软雅黑"/>
                <a:cs typeface="Times New Roman" panose="02020603050405020304" pitchFamily="18" charset="0"/>
              </a:rPr>
              <a:t>Compression Phase</a:t>
            </a:r>
            <a:endParaRPr lang="en-US" altLang="zh-CN" dirty="0">
              <a:latin typeface="Times New Roman" panose="02020603050405020304" pitchFamily="18" charset="0"/>
              <a:ea typeface="微软雅黑"/>
              <a:cs typeface="Times New Roman" panose="02020603050405020304" pitchFamily="18" charset="0"/>
            </a:endParaRPr>
          </a:p>
          <a:p>
            <a:pPr marL="800100" lvl="1" indent="-342900">
              <a:buFont typeface="+mj-lt"/>
              <a:buAutoNum type="arabicPeriod"/>
              <a:defRPr/>
            </a:pPr>
            <a:r>
              <a:rPr lang="en-US" altLang="zh-CN" dirty="0">
                <a:latin typeface="Times New Roman" panose="02020603050405020304" pitchFamily="18" charset="0"/>
                <a:ea typeface="微软雅黑"/>
                <a:cs typeface="Times New Roman" panose="02020603050405020304" pitchFamily="18" charset="0"/>
              </a:rPr>
              <a:t>ReducedLUT first </a:t>
            </a:r>
            <a:r>
              <a:rPr lang="en-US" altLang="zh-CN" b="1" dirty="0">
                <a:latin typeface="Times New Roman" panose="02020603050405020304" pitchFamily="18" charset="0"/>
                <a:ea typeface="微软雅黑"/>
                <a:cs typeface="Times New Roman" panose="02020603050405020304" pitchFamily="18" charset="0"/>
              </a:rPr>
              <a:t>treats every entry as a care</a:t>
            </a:r>
            <a:r>
              <a:rPr lang="en-US" altLang="zh-CN" dirty="0">
                <a:latin typeface="Times New Roman" panose="02020603050405020304" pitchFamily="18" charset="0"/>
                <a:ea typeface="微软雅黑"/>
                <a:cs typeface="Times New Roman" panose="02020603050405020304" pitchFamily="18" charset="0"/>
              </a:rPr>
              <a:t>,</a:t>
            </a:r>
            <a:r>
              <a:rPr lang="en-US" altLang="zh-CN" dirty="0">
                <a:solidFill>
                  <a:srgbClr val="FF0000"/>
                </a:solidFill>
                <a:latin typeface="Times New Roman" panose="02020603050405020304" pitchFamily="18" charset="0"/>
                <a:ea typeface="微软雅黑"/>
                <a:cs typeface="Times New Roman" panose="02020603050405020304" pitchFamily="18" charset="0"/>
              </a:rPr>
              <a:t> then find out unique sub-table in a descending order iteratively. </a:t>
            </a:r>
            <a:r>
              <a:rPr lang="en-US" altLang="zh-CN" dirty="0">
                <a:latin typeface="Times New Roman" panose="02020603050405020304" pitchFamily="18" charset="0"/>
                <a:ea typeface="微软雅黑"/>
                <a:cs typeface="Times New Roman" panose="02020603050405020304" pitchFamily="18" charset="0"/>
              </a:rPr>
              <a:t>(Similar to QM method)</a:t>
            </a:r>
          </a:p>
          <a:p>
            <a:pPr marL="800100" lvl="1" indent="-342900">
              <a:buFont typeface="+mj-lt"/>
              <a:buAutoNum type="arabicPeriod"/>
              <a:defRPr/>
            </a:pPr>
            <a:r>
              <a:rPr lang="en-US" altLang="zh-CN" dirty="0">
                <a:solidFill>
                  <a:srgbClr val="FF0000"/>
                </a:solidFill>
                <a:latin typeface="Times New Roman" panose="02020603050405020304" pitchFamily="18" charset="0"/>
                <a:ea typeface="微软雅黑"/>
                <a:cs typeface="Times New Roman" panose="02020603050405020304" pitchFamily="18" charset="0"/>
              </a:rPr>
              <a:t>Change the don’t-care entry </a:t>
            </a:r>
            <a:r>
              <a:rPr lang="en-US" altLang="zh-CN" dirty="0">
                <a:latin typeface="Times New Roman" panose="02020603050405020304" pitchFamily="18" charset="0"/>
                <a:ea typeface="微软雅黑"/>
                <a:cs typeface="Times New Roman" panose="02020603050405020304" pitchFamily="18" charset="0"/>
              </a:rPr>
              <a:t>in </a:t>
            </a:r>
            <a:r>
              <a:rPr lang="en-US" altLang="zh-CN" dirty="0" err="1">
                <a:latin typeface="Times New Roman" panose="02020603050405020304" pitchFamily="18" charset="0"/>
                <a:ea typeface="微软雅黑"/>
                <a:cs typeface="Times New Roman" panose="02020603050405020304" pitchFamily="18" charset="0"/>
              </a:rPr>
              <a:t>STmin</a:t>
            </a:r>
            <a:r>
              <a:rPr lang="en-US" altLang="zh-CN" dirty="0">
                <a:latin typeface="Times New Roman" panose="02020603050405020304" pitchFamily="18" charset="0"/>
                <a:ea typeface="微软雅黑"/>
                <a:cs typeface="Times New Roman" panose="02020603050405020304" pitchFamily="18" charset="0"/>
              </a:rPr>
              <a:t> so that it can be generated from </a:t>
            </a:r>
            <a:r>
              <a:rPr lang="en-US" altLang="zh-CN" dirty="0" err="1">
                <a:latin typeface="Times New Roman" panose="02020603050405020304" pitchFamily="18" charset="0"/>
                <a:ea typeface="微软雅黑"/>
                <a:cs typeface="Times New Roman" panose="02020603050405020304" pitchFamily="18" charset="0"/>
              </a:rPr>
              <a:t>STmax</a:t>
            </a:r>
            <a:r>
              <a:rPr lang="en-US" altLang="zh-CN" dirty="0">
                <a:latin typeface="Times New Roman" panose="02020603050405020304" pitchFamily="18" charset="0"/>
                <a:ea typeface="微软雅黑"/>
                <a:cs typeface="Times New Roman" panose="02020603050405020304" pitchFamily="18" charset="0"/>
              </a:rPr>
              <a:t>. (If not success, try the second </a:t>
            </a:r>
            <a:r>
              <a:rPr lang="en-US" altLang="zh-CN" dirty="0" err="1">
                <a:latin typeface="Times New Roman" panose="02020603050405020304" pitchFamily="18" charset="0"/>
                <a:ea typeface="微软雅黑"/>
                <a:cs typeface="Times New Roman" panose="02020603050405020304" pitchFamily="18" charset="0"/>
              </a:rPr>
              <a:t>STmax</a:t>
            </a:r>
            <a:r>
              <a:rPr lang="en-US" altLang="zh-CN" dirty="0">
                <a:latin typeface="Times New Roman" panose="02020603050405020304" pitchFamily="18" charset="0"/>
                <a:ea typeface="微软雅黑"/>
                <a:cs typeface="Times New Roman" panose="02020603050405020304" pitchFamily="18" charset="0"/>
              </a:rPr>
              <a:t>)</a:t>
            </a:r>
          </a:p>
          <a:p>
            <a:pPr marL="800100" lvl="1" indent="-342900">
              <a:buFont typeface="+mj-lt"/>
              <a:buAutoNum type="arabicPeriod"/>
              <a:defRPr/>
            </a:pPr>
            <a:r>
              <a:rPr lang="en-US" altLang="zh-CN" dirty="0">
                <a:latin typeface="Times New Roman" panose="02020603050405020304" pitchFamily="18" charset="0"/>
                <a:ea typeface="微软雅黑"/>
                <a:cs typeface="Times New Roman" panose="02020603050405020304" pitchFamily="18" charset="0"/>
              </a:rPr>
              <a:t>If the replacement is successful, </a:t>
            </a:r>
            <a:r>
              <a:rPr lang="en-US" altLang="zh-CN" b="1" dirty="0">
                <a:latin typeface="Times New Roman" panose="02020603050405020304" pitchFamily="18" charset="0"/>
                <a:ea typeface="微软雅黑"/>
                <a:cs typeface="Times New Roman" panose="02020603050405020304" pitchFamily="18" charset="0"/>
              </a:rPr>
              <a:t>check whether </a:t>
            </a:r>
            <a:r>
              <a:rPr lang="en-US" altLang="zh-CN" b="1" dirty="0" err="1">
                <a:latin typeface="Times New Roman" panose="02020603050405020304" pitchFamily="18" charset="0"/>
                <a:ea typeface="微软雅黑"/>
                <a:cs typeface="Times New Roman" panose="02020603050405020304" pitchFamily="18" charset="0"/>
              </a:rPr>
              <a:t>STmin’s</a:t>
            </a:r>
            <a:r>
              <a:rPr lang="en-US" altLang="zh-CN" b="1" dirty="0">
                <a:latin typeface="Times New Roman" panose="02020603050405020304" pitchFamily="18" charset="0"/>
                <a:ea typeface="微软雅黑"/>
                <a:cs typeface="Times New Roman" panose="02020603050405020304" pitchFamily="18" charset="0"/>
              </a:rPr>
              <a:t> dependencies can be generated by the rest of ST.</a:t>
            </a:r>
          </a:p>
          <a:p>
            <a:pPr marL="800100" lvl="1" indent="-342900">
              <a:buFont typeface="+mj-lt"/>
              <a:buAutoNum type="arabicPeriod"/>
              <a:defRPr/>
            </a:pPr>
            <a:r>
              <a:rPr lang="en-US" altLang="zh-CN" b="1" dirty="0">
                <a:latin typeface="Times New Roman" panose="02020603050405020304" pitchFamily="18" charset="0"/>
                <a:ea typeface="微软雅黑"/>
                <a:cs typeface="Times New Roman" panose="02020603050405020304" pitchFamily="18" charset="0"/>
              </a:rPr>
              <a:t>Intermediate data is stored</a:t>
            </a:r>
            <a:r>
              <a:rPr lang="en-US" altLang="zh-CN" dirty="0">
                <a:latin typeface="Times New Roman" panose="02020603050405020304" pitchFamily="18" charset="0"/>
                <a:ea typeface="微软雅黑"/>
                <a:cs typeface="Times New Roman" panose="02020603050405020304" pitchFamily="18" charset="0"/>
              </a:rPr>
              <a:t> for possible rollback in case of local (not global) best compression.</a:t>
            </a:r>
          </a:p>
          <a:p>
            <a:pPr marL="800100" lvl="1" indent="-342900">
              <a:buFont typeface="+mj-lt"/>
              <a:buAutoNum type="arabicPeriod"/>
              <a:defRPr/>
            </a:pPr>
            <a:r>
              <a:rPr lang="en-US" altLang="zh-CN" b="1" dirty="0">
                <a:latin typeface="Times New Roman" panose="02020603050405020304" pitchFamily="18" charset="0"/>
                <a:ea typeface="微软雅黑"/>
                <a:cs typeface="Times New Roman" panose="02020603050405020304" pitchFamily="18" charset="0"/>
              </a:rPr>
              <a:t>Boolean mask </a:t>
            </a:r>
            <a:r>
              <a:rPr lang="en-US" altLang="zh-CN" dirty="0">
                <a:latin typeface="Times New Roman" panose="02020603050405020304" pitchFamily="18" charset="0"/>
                <a:ea typeface="微软雅黑"/>
                <a:cs typeface="Times New Roman" panose="02020603050405020304" pitchFamily="18" charset="0"/>
              </a:rPr>
              <a:t>is used to ensure that the replaced don’t-care entry won’t be changed twice.</a:t>
            </a:r>
          </a:p>
        </p:txBody>
      </p:sp>
      <p:pic>
        <p:nvPicPr>
          <p:cNvPr id="6" name="图片 5">
            <a:extLst>
              <a:ext uri="{FF2B5EF4-FFF2-40B4-BE49-F238E27FC236}">
                <a16:creationId xmlns:a16="http://schemas.microsoft.com/office/drawing/2014/main" id="{8B744312-A042-DEAA-59BA-86B531581041}"/>
              </a:ext>
            </a:extLst>
          </p:cNvPr>
          <p:cNvPicPr>
            <a:picLocks noChangeAspect="1"/>
          </p:cNvPicPr>
          <p:nvPr/>
        </p:nvPicPr>
        <p:blipFill>
          <a:blip r:embed="rId3"/>
          <a:stretch>
            <a:fillRect/>
          </a:stretch>
        </p:blipFill>
        <p:spPr>
          <a:xfrm>
            <a:off x="3138287" y="2208155"/>
            <a:ext cx="2867425" cy="733527"/>
          </a:xfrm>
          <a:prstGeom prst="rect">
            <a:avLst/>
          </a:prstGeom>
        </p:spPr>
      </p:pic>
    </p:spTree>
    <p:extLst>
      <p:ext uri="{BB962C8B-B14F-4D97-AF65-F5344CB8AC3E}">
        <p14:creationId xmlns:p14="http://schemas.microsoft.com/office/powerpoint/2010/main" val="355814483"/>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6399C-43DA-D812-3A6D-E9588169EC3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EB7AEDA-ECB3-2CD9-97C1-E056D55A1FF4}"/>
              </a:ext>
            </a:extLst>
          </p:cNvPr>
          <p:cNvSpPr>
            <a:spLocks noGrp="1"/>
          </p:cNvSpPr>
          <p:nvPr>
            <p:ph type="title"/>
          </p:nvPr>
        </p:nvSpPr>
        <p:spPr>
          <a:xfrm>
            <a:off x="2145029" y="254000"/>
            <a:ext cx="6746723" cy="517850"/>
          </a:xfrm>
        </p:spPr>
        <p:txBody>
          <a:bodyPr>
            <a:normAutofit/>
          </a:bodyPr>
          <a:lstStyle/>
          <a:p>
            <a:r>
              <a:rPr lang="en-US" altLang="zh-CN" dirty="0"/>
              <a:t>Methodology</a:t>
            </a:r>
            <a:endParaRPr lang="zh-CN" altLang="en-US" dirty="0"/>
          </a:p>
        </p:txBody>
      </p:sp>
      <p:sp>
        <p:nvSpPr>
          <p:cNvPr id="16" name="文本框 15">
            <a:extLst>
              <a:ext uri="{FF2B5EF4-FFF2-40B4-BE49-F238E27FC236}">
                <a16:creationId xmlns:a16="http://schemas.microsoft.com/office/drawing/2014/main" id="{C7C2F454-97AA-9867-C922-DCE149835815}"/>
              </a:ext>
            </a:extLst>
          </p:cNvPr>
          <p:cNvSpPr txBox="1"/>
          <p:nvPr/>
        </p:nvSpPr>
        <p:spPr>
          <a:xfrm>
            <a:off x="65223" y="312870"/>
            <a:ext cx="1851865"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ReducedLUT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B9C8F7C5-89C0-2977-F9D9-4AC04830D9DE}"/>
              </a:ext>
            </a:extLst>
          </p:cNvPr>
          <p:cNvSpPr txBox="1"/>
          <p:nvPr/>
        </p:nvSpPr>
        <p:spPr>
          <a:xfrm>
            <a:off x="254429" y="1106631"/>
            <a:ext cx="8889571" cy="2862322"/>
          </a:xfrm>
          <a:prstGeom prst="rect">
            <a:avLst/>
          </a:prstGeom>
          <a:noFill/>
        </p:spPr>
        <p:txBody>
          <a:bodyPr wrap="square" rtlCol="0">
            <a:spAutoFit/>
          </a:bodyPr>
          <a:lstStyle/>
          <a:p>
            <a:pPr marL="285750" lvl="0" indent="-285750">
              <a:buFont typeface="Wingdings" panose="05000000000000000000" pitchFamily="2" charset="2"/>
              <a:buChar char="ü"/>
              <a:defRPr/>
            </a:pPr>
            <a:r>
              <a:rPr lang="en-US" altLang="zh-CN" dirty="0">
                <a:solidFill>
                  <a:srgbClr val="FF0000"/>
                </a:solidFill>
                <a:latin typeface="Times New Roman" panose="02020603050405020304" pitchFamily="18" charset="0"/>
                <a:ea typeface="微软雅黑"/>
                <a:cs typeface="Times New Roman" panose="02020603050405020304" pitchFamily="18" charset="0"/>
              </a:rPr>
              <a:t>Exiguity</a:t>
            </a:r>
          </a:p>
          <a:p>
            <a:pPr>
              <a:buNone/>
            </a:pPr>
            <a:r>
              <a:rPr lang="en-US" altLang="zh-CN" dirty="0">
                <a:solidFill>
                  <a:srgbClr val="FF0000"/>
                </a:solidFill>
                <a:latin typeface="Times New Roman" panose="02020603050405020304" pitchFamily="18" charset="0"/>
                <a:ea typeface="微软雅黑"/>
                <a:cs typeface="Times New Roman" panose="02020603050405020304" pitchFamily="18" charset="0"/>
              </a:rPr>
              <a:t>	</a:t>
            </a:r>
            <a:r>
              <a:rPr lang="en-US" altLang="zh-CN" dirty="0">
                <a:latin typeface="Times New Roman" panose="02020603050405020304" pitchFamily="18" charset="0"/>
                <a:ea typeface="微软雅黑"/>
                <a:cs typeface="Times New Roman" panose="02020603050405020304" pitchFamily="18" charset="0"/>
              </a:rPr>
              <a:t>“</a:t>
            </a:r>
            <a:r>
              <a:rPr lang="en-US" altLang="zh-CN" i="1" dirty="0">
                <a:latin typeface="Times New Roman" panose="02020603050405020304" pitchFamily="18" charset="0"/>
                <a:ea typeface="微软雅黑"/>
                <a:cs typeface="Times New Roman" panose="02020603050405020304" pitchFamily="18" charset="0"/>
              </a:rPr>
              <a:t>In section 2.2.2, the merging process of 2 ST is followed by a re-generation check(step 5). If the don’t-care entry of </a:t>
            </a:r>
            <a:r>
              <a:rPr lang="en-US" altLang="zh-CN" i="1" dirty="0" err="1">
                <a:latin typeface="Times New Roman" panose="02020603050405020304" pitchFamily="18" charset="0"/>
                <a:ea typeface="微软雅黑"/>
                <a:cs typeface="Times New Roman" panose="02020603050405020304" pitchFamily="18" charset="0"/>
              </a:rPr>
              <a:t>STmin</a:t>
            </a:r>
            <a:r>
              <a:rPr lang="en-US" altLang="zh-CN" i="1" dirty="0">
                <a:latin typeface="Times New Roman" panose="02020603050405020304" pitchFamily="18" charset="0"/>
                <a:ea typeface="微软雅黑"/>
                <a:cs typeface="Times New Roman" panose="02020603050405020304" pitchFamily="18" charset="0"/>
              </a:rPr>
              <a:t> is changed, </a:t>
            </a:r>
            <a:r>
              <a:rPr lang="en-US" altLang="zh-CN" i="1" dirty="0" err="1">
                <a:latin typeface="Times New Roman" panose="02020603050405020304" pitchFamily="18" charset="0"/>
                <a:ea typeface="微软雅黑"/>
                <a:cs typeface="Times New Roman" panose="02020603050405020304" pitchFamily="18" charset="0"/>
              </a:rPr>
              <a:t>STmin’s</a:t>
            </a:r>
            <a:r>
              <a:rPr lang="en-US" altLang="zh-CN" i="1" dirty="0">
                <a:latin typeface="Times New Roman" panose="02020603050405020304" pitchFamily="18" charset="0"/>
                <a:ea typeface="微软雅黑"/>
                <a:cs typeface="Times New Roman" panose="02020603050405020304" pitchFamily="18" charset="0"/>
              </a:rPr>
              <a:t> dependencies may not validate because dependent tables’ corresponding entry must also change. </a:t>
            </a:r>
            <a:r>
              <a:rPr lang="en-US" altLang="zh-CN" b="1" i="1" dirty="0">
                <a:latin typeface="Times New Roman" panose="02020603050405020304" pitchFamily="18" charset="0"/>
                <a:ea typeface="微软雅黑"/>
                <a:cs typeface="Times New Roman" panose="02020603050405020304" pitchFamily="18" charset="0"/>
              </a:rPr>
              <a:t>Therefore we need to ensure that </a:t>
            </a:r>
            <a:r>
              <a:rPr lang="en-US" altLang="zh-CN" b="1" i="1" dirty="0" err="1">
                <a:latin typeface="Times New Roman" panose="02020603050405020304" pitchFamily="18" charset="0"/>
                <a:ea typeface="微软雅黑"/>
                <a:cs typeface="Times New Roman" panose="02020603050405020304" pitchFamily="18" charset="0"/>
              </a:rPr>
              <a:t>STmin’s</a:t>
            </a:r>
            <a:r>
              <a:rPr lang="en-US" altLang="zh-CN" b="1" i="1" dirty="0">
                <a:latin typeface="Times New Roman" panose="02020603050405020304" pitchFamily="18" charset="0"/>
                <a:ea typeface="微软雅黑"/>
                <a:cs typeface="Times New Roman" panose="02020603050405020304" pitchFamily="18" charset="0"/>
              </a:rPr>
              <a:t> dependencies must be able to be re-generated by the remaining STs</a:t>
            </a:r>
            <a:r>
              <a:rPr lang="en-US" altLang="zh-CN" i="1" dirty="0">
                <a:latin typeface="Times New Roman" panose="02020603050405020304" pitchFamily="18" charset="0"/>
                <a:ea typeface="微软雅黑"/>
                <a:cs typeface="Times New Roman" panose="02020603050405020304" pitchFamily="18" charset="0"/>
              </a:rPr>
              <a:t>.</a:t>
            </a:r>
            <a:r>
              <a:rPr lang="en-US" altLang="zh-CN" dirty="0">
                <a:latin typeface="Times New Roman" panose="02020603050405020304" pitchFamily="18" charset="0"/>
                <a:ea typeface="微软雅黑"/>
                <a:cs typeface="Times New Roman" panose="02020603050405020304" pitchFamily="18" charset="0"/>
              </a:rPr>
              <a:t>”</a:t>
            </a:r>
          </a:p>
          <a:p>
            <a:pPr>
              <a:buNone/>
            </a:pPr>
            <a:endParaRPr lang="en-US" altLang="zh-CN" dirty="0">
              <a:solidFill>
                <a:srgbClr val="FF0000"/>
              </a:solidFill>
              <a:latin typeface="Times New Roman" panose="02020603050405020304" pitchFamily="18" charset="0"/>
              <a:ea typeface="微软雅黑"/>
              <a:cs typeface="Times New Roman" panose="02020603050405020304" pitchFamily="18" charset="0"/>
            </a:endParaRPr>
          </a:p>
          <a:p>
            <a:pPr>
              <a:buNone/>
            </a:pPr>
            <a:r>
              <a:rPr lang="en-US" altLang="zh-CN" dirty="0">
                <a:solidFill>
                  <a:srgbClr val="FF0000"/>
                </a:solidFill>
                <a:latin typeface="Times New Roman" panose="02020603050405020304" pitchFamily="18" charset="0"/>
                <a:ea typeface="微软雅黑"/>
                <a:cs typeface="Times New Roman" panose="02020603050405020304" pitchFamily="18" charset="0"/>
              </a:rPr>
              <a:t>	</a:t>
            </a:r>
            <a:r>
              <a:rPr lang="en-US" altLang="zh-CN" dirty="0">
                <a:latin typeface="Times New Roman" panose="02020603050405020304" pitchFamily="18" charset="0"/>
                <a:ea typeface="微软雅黑"/>
                <a:cs typeface="Times New Roman" panose="02020603050405020304" pitchFamily="18" charset="0"/>
              </a:rPr>
              <a:t>However, STs with </a:t>
            </a:r>
            <a:r>
              <a:rPr lang="en-US" altLang="zh-CN" b="1" dirty="0">
                <a:latin typeface="Times New Roman" panose="02020603050405020304" pitchFamily="18" charset="0"/>
                <a:ea typeface="微软雅黑"/>
                <a:cs typeface="Times New Roman" panose="02020603050405020304" pitchFamily="18" charset="0"/>
              </a:rPr>
              <a:t>too much dependencies </a:t>
            </a:r>
            <a:r>
              <a:rPr lang="en-US" altLang="zh-CN" dirty="0">
                <a:latin typeface="Times New Roman" panose="02020603050405020304" pitchFamily="18" charset="0"/>
                <a:ea typeface="微软雅黑"/>
                <a:cs typeface="Times New Roman" panose="02020603050405020304" pitchFamily="18" charset="0"/>
              </a:rPr>
              <a:t>make this check </a:t>
            </a:r>
            <a:r>
              <a:rPr lang="en-US" altLang="zh-CN" b="1" dirty="0">
                <a:latin typeface="Times New Roman" panose="02020603050405020304" pitchFamily="18" charset="0"/>
                <a:ea typeface="微软雅黑"/>
                <a:cs typeface="Times New Roman" panose="02020603050405020304" pitchFamily="18" charset="0"/>
              </a:rPr>
              <a:t>too difficult</a:t>
            </a:r>
            <a:r>
              <a:rPr lang="en-US" altLang="zh-CN" dirty="0">
                <a:latin typeface="Times New Roman" panose="02020603050405020304" pitchFamily="18" charset="0"/>
                <a:ea typeface="微软雅黑"/>
                <a:cs typeface="Times New Roman" panose="02020603050405020304" pitchFamily="18" charset="0"/>
              </a:rPr>
              <a:t>.</a:t>
            </a:r>
          </a:p>
          <a:p>
            <a:endParaRPr lang="en-US" altLang="zh-CN" dirty="0">
              <a:latin typeface="Times New Roman" panose="02020603050405020304" pitchFamily="18" charset="0"/>
              <a:ea typeface="微软雅黑"/>
              <a:cs typeface="Times New Roman" panose="02020603050405020304" pitchFamily="18" charset="0"/>
            </a:endParaRPr>
          </a:p>
          <a:p>
            <a:r>
              <a:rPr lang="en-US" altLang="zh-CN" b="1" dirty="0">
                <a:latin typeface="Times New Roman" panose="02020603050405020304" pitchFamily="18" charset="0"/>
                <a:ea typeface="微软雅黑"/>
                <a:cs typeface="Times New Roman" panose="02020603050405020304" pitchFamily="18" charset="0"/>
              </a:rPr>
              <a:t>Exiguity</a:t>
            </a:r>
            <a:r>
              <a:rPr lang="en-US" altLang="zh-CN" dirty="0">
                <a:latin typeface="Times New Roman" panose="02020603050405020304" pitchFamily="18" charset="0"/>
                <a:ea typeface="微软雅黑"/>
                <a:cs typeface="Times New Roman" panose="02020603050405020304" pitchFamily="18" charset="0"/>
              </a:rPr>
              <a:t> is a </a:t>
            </a:r>
            <a:r>
              <a:rPr lang="en-US" altLang="zh-CN" b="1" dirty="0">
                <a:latin typeface="Times New Roman" panose="02020603050405020304" pitchFamily="18" charset="0"/>
                <a:ea typeface="微软雅黑"/>
                <a:cs typeface="Times New Roman" panose="02020603050405020304" pitchFamily="18" charset="0"/>
              </a:rPr>
              <a:t>threshold value</a:t>
            </a:r>
            <a:r>
              <a:rPr lang="en-US" altLang="zh-CN" dirty="0">
                <a:latin typeface="Times New Roman" panose="02020603050405020304" pitchFamily="18" charset="0"/>
                <a:ea typeface="微软雅黑"/>
                <a:cs typeface="Times New Roman" panose="02020603050405020304" pitchFamily="18" charset="0"/>
              </a:rPr>
              <a:t>, above which, STs are no longer needed to be merged.</a:t>
            </a:r>
          </a:p>
          <a:p>
            <a:pPr lvl="1">
              <a:defRPr/>
            </a:pPr>
            <a:endParaRPr lang="en-US" altLang="zh-CN" dirty="0">
              <a:latin typeface="Times New Roman" panose="02020603050405020304" pitchFamily="18" charset="0"/>
              <a:ea typeface="微软雅黑"/>
              <a:cs typeface="Times New Roman" panose="02020603050405020304" pitchFamily="18" charset="0"/>
            </a:endParaRPr>
          </a:p>
        </p:txBody>
      </p:sp>
    </p:spTree>
    <p:extLst>
      <p:ext uri="{BB962C8B-B14F-4D97-AF65-F5344CB8AC3E}">
        <p14:creationId xmlns:p14="http://schemas.microsoft.com/office/powerpoint/2010/main" val="2456733238"/>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48E31-4B3D-7B4C-C800-EB0C7A32AECA}"/>
            </a:ext>
          </a:extLst>
        </p:cNvPr>
        <p:cNvGrpSpPr/>
        <p:nvPr/>
      </p:nvGrpSpPr>
      <p:grpSpPr>
        <a:xfrm>
          <a:off x="0" y="0"/>
          <a:ext cx="0" cy="0"/>
          <a:chOff x="0" y="0"/>
          <a:chExt cx="0" cy="0"/>
        </a:xfrm>
      </p:grpSpPr>
      <p:sp>
        <p:nvSpPr>
          <p:cNvPr id="44" name="任意多边形: 形状 43">
            <a:extLst>
              <a:ext uri="{FF2B5EF4-FFF2-40B4-BE49-F238E27FC236}">
                <a16:creationId xmlns:a16="http://schemas.microsoft.com/office/drawing/2014/main" id="{E378669E-90CF-8189-B955-3A8262608F60}"/>
              </a:ext>
            </a:extLst>
          </p:cNvPr>
          <p:cNvSpPr/>
          <p:nvPr/>
        </p:nvSpPr>
        <p:spPr>
          <a:xfrm>
            <a:off x="0" y="255832"/>
            <a:ext cx="9144000" cy="1464728"/>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2" name="组合 1">
            <a:extLst>
              <a:ext uri="{FF2B5EF4-FFF2-40B4-BE49-F238E27FC236}">
                <a16:creationId xmlns:a16="http://schemas.microsoft.com/office/drawing/2014/main" id="{BFA2CCF2-C987-508B-0954-5AFCFF111EB1}"/>
              </a:ext>
            </a:extLst>
          </p:cNvPr>
          <p:cNvGrpSpPr/>
          <p:nvPr/>
        </p:nvGrpSpPr>
        <p:grpSpPr>
          <a:xfrm>
            <a:off x="2166095" y="4574113"/>
            <a:ext cx="4811810" cy="712614"/>
            <a:chOff x="2254250" y="4293307"/>
            <a:chExt cx="4635500" cy="712614"/>
          </a:xfrm>
        </p:grpSpPr>
        <p:sp>
          <p:nvSpPr>
            <p:cNvPr id="30" name="矩形: 圆角 29">
              <a:extLst>
                <a:ext uri="{FF2B5EF4-FFF2-40B4-BE49-F238E27FC236}">
                  <a16:creationId xmlns:a16="http://schemas.microsoft.com/office/drawing/2014/main" id="{2A11A95B-1E9D-4A04-09B7-792C393B438C}"/>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 name="文本框 28">
              <a:extLst>
                <a:ext uri="{FF2B5EF4-FFF2-40B4-BE49-F238E27FC236}">
                  <a16:creationId xmlns:a16="http://schemas.microsoft.com/office/drawing/2014/main" id="{8A5A7D33-7693-82BA-063D-E807E2D5BC2D}"/>
                </a:ext>
              </a:extLst>
            </p:cNvPr>
            <p:cNvSpPr txBox="1"/>
            <p:nvPr/>
          </p:nvSpPr>
          <p:spPr>
            <a:xfrm>
              <a:off x="3161383" y="4357227"/>
              <a:ext cx="3728366"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3200" b="1" dirty="0">
                  <a:solidFill>
                    <a:schemeClr val="accent2"/>
                  </a:solidFill>
                  <a:latin typeface="Arial"/>
                  <a:ea typeface="微软雅黑"/>
                </a:rPr>
                <a:t>AmigoLUT</a:t>
              </a:r>
              <a:endParaRPr kumimoji="0" lang="zh-CN" altLang="en-US" sz="3200" b="1" i="0" u="none" strike="noStrike" kern="1200" cap="none" spc="0" normalizeH="0" baseline="0" noProof="0" dirty="0">
                <a:ln>
                  <a:noFill/>
                </a:ln>
                <a:solidFill>
                  <a:schemeClr val="accent2"/>
                </a:solidFill>
                <a:effectLst/>
                <a:uLnTx/>
                <a:uFillTx/>
                <a:latin typeface="Arial"/>
                <a:ea typeface="微软雅黑"/>
                <a:cs typeface="+mn-cs"/>
              </a:endParaRPr>
            </a:p>
          </p:txBody>
        </p:sp>
        <p:sp>
          <p:nvSpPr>
            <p:cNvPr id="31" name="矩形: 圆角 30">
              <a:extLst>
                <a:ext uri="{FF2B5EF4-FFF2-40B4-BE49-F238E27FC236}">
                  <a16:creationId xmlns:a16="http://schemas.microsoft.com/office/drawing/2014/main" id="{1FAA8C76-A708-31C7-CB27-0A3A667007A7}"/>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3</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pic>
        <p:nvPicPr>
          <p:cNvPr id="35" name="图片 34">
            <a:extLst>
              <a:ext uri="{FF2B5EF4-FFF2-40B4-BE49-F238E27FC236}">
                <a16:creationId xmlns:a16="http://schemas.microsoft.com/office/drawing/2014/main" id="{5D50F736-E3C0-0A31-7804-4D4A7755C098}"/>
              </a:ext>
            </a:extLst>
          </p:cNvPr>
          <p:cNvPicPr>
            <a:picLocks noChangeAspect="1"/>
          </p:cNvPicPr>
          <p:nvPr/>
        </p:nvPicPr>
        <p:blipFill rotWithShape="1">
          <a:blip r:embed="rId3"/>
          <a:srcRect l="12055" t="-13637" r="12055" b="-13637"/>
          <a:stretch/>
        </p:blipFill>
        <p:spPr>
          <a:xfrm>
            <a:off x="0" y="1252486"/>
            <a:ext cx="9144000" cy="600802"/>
          </a:xfrm>
          <a:prstGeom prst="rect">
            <a:avLst/>
          </a:prstGeom>
        </p:spPr>
      </p:pic>
      <p:sp>
        <p:nvSpPr>
          <p:cNvPr id="36" name="文本框 35">
            <a:extLst>
              <a:ext uri="{FF2B5EF4-FFF2-40B4-BE49-F238E27FC236}">
                <a16:creationId xmlns:a16="http://schemas.microsoft.com/office/drawing/2014/main" id="{A7AC8ED6-1074-A20A-8808-4F99E47A56CB}"/>
              </a:ext>
            </a:extLst>
          </p:cNvPr>
          <p:cNvSpPr txBox="1"/>
          <p:nvPr/>
        </p:nvSpPr>
        <p:spPr>
          <a:xfrm>
            <a:off x="2171123" y="689697"/>
            <a:ext cx="4506430" cy="830997"/>
          </a:xfrm>
          <a:prstGeom prst="rect">
            <a:avLst/>
          </a:prstGeom>
          <a:noFill/>
        </p:spPr>
        <p:txBody>
          <a:bodyPr wrap="square">
            <a:spAutoFit/>
          </a:bodyPr>
          <a:lstStyle/>
          <a:p>
            <a:pPr lvl="1" algn="ctr">
              <a:defRPr/>
            </a:pPr>
            <a:r>
              <a:rPr kumimoji="0" lang="en-US" altLang="zh-CN" sz="4800" b="1" i="0" u="none" strike="noStrike" kern="1200" cap="none" spc="600" normalizeH="0" baseline="0" noProof="0" dirty="0">
                <a:ln>
                  <a:noFill/>
                </a:ln>
                <a:solidFill>
                  <a:srgbClr val="082E72"/>
                </a:solidFill>
                <a:effectLst/>
                <a:uLnTx/>
                <a:uFillTx/>
                <a:latin typeface="+mj-ea"/>
                <a:ea typeface="+mj-ea"/>
              </a:rPr>
              <a:t>Solutions</a:t>
            </a:r>
            <a:endParaRPr kumimoji="0" lang="zh-CN" altLang="en-US" sz="4800" b="1" i="0" u="none" strike="noStrike" kern="1200" cap="none" spc="600" normalizeH="0" baseline="0" noProof="0" dirty="0">
              <a:ln>
                <a:noFill/>
              </a:ln>
              <a:solidFill>
                <a:srgbClr val="082E72"/>
              </a:solidFill>
              <a:effectLst/>
              <a:uLnTx/>
              <a:uFillTx/>
              <a:latin typeface="+mj-ea"/>
              <a:ea typeface="+mj-ea"/>
            </a:endParaRPr>
          </a:p>
        </p:txBody>
      </p:sp>
      <p:grpSp>
        <p:nvGrpSpPr>
          <p:cNvPr id="32" name="组合 31">
            <a:extLst>
              <a:ext uri="{FF2B5EF4-FFF2-40B4-BE49-F238E27FC236}">
                <a16:creationId xmlns:a16="http://schemas.microsoft.com/office/drawing/2014/main" id="{042AF4BC-A153-4AC2-F028-9C2F0677FDE8}"/>
              </a:ext>
            </a:extLst>
          </p:cNvPr>
          <p:cNvGrpSpPr/>
          <p:nvPr/>
        </p:nvGrpSpPr>
        <p:grpSpPr>
          <a:xfrm>
            <a:off x="2166095" y="2635431"/>
            <a:ext cx="4811810" cy="712614"/>
            <a:chOff x="2254250" y="3340100"/>
            <a:chExt cx="4811810" cy="712614"/>
          </a:xfrm>
        </p:grpSpPr>
        <p:sp>
          <p:nvSpPr>
            <p:cNvPr id="33" name="矩形: 圆角 26">
              <a:extLst>
                <a:ext uri="{FF2B5EF4-FFF2-40B4-BE49-F238E27FC236}">
                  <a16:creationId xmlns:a16="http://schemas.microsoft.com/office/drawing/2014/main" id="{77AD9870-9E3D-D69D-30B6-2EC2900E9E89}"/>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4" name="文本框 33">
              <a:extLst>
                <a:ext uri="{FF2B5EF4-FFF2-40B4-BE49-F238E27FC236}">
                  <a16:creationId xmlns:a16="http://schemas.microsoft.com/office/drawing/2014/main" id="{A3ADA2BB-A018-82C2-E818-AD5431D57446}"/>
                </a:ext>
              </a:extLst>
            </p:cNvPr>
            <p:cNvSpPr txBox="1"/>
            <p:nvPr/>
          </p:nvSpPr>
          <p:spPr>
            <a:xfrm>
              <a:off x="3161383" y="3404020"/>
              <a:ext cx="3904677" cy="584775"/>
            </a:xfrm>
            <a:prstGeom prst="rect">
              <a:avLst/>
            </a:prstGeom>
            <a:noFill/>
          </p:spPr>
          <p:txBody>
            <a:bodyPr wrap="square">
              <a:spAutoFit/>
            </a:bodyPr>
            <a:lstStyle/>
            <a:p>
              <a:pPr>
                <a:defRPr/>
              </a:pPr>
              <a:r>
                <a:rPr lang="en-US" altLang="zh-CN" sz="3200" b="1" dirty="0">
                  <a:solidFill>
                    <a:schemeClr val="accent2"/>
                  </a:solidFill>
                </a:rPr>
                <a:t>ReducedLUT</a:t>
              </a:r>
              <a:endParaRPr lang="zh-CN" altLang="en-US" sz="3200" b="1" dirty="0">
                <a:solidFill>
                  <a:schemeClr val="accent2"/>
                </a:solidFill>
              </a:endParaRPr>
            </a:p>
          </p:txBody>
        </p:sp>
        <p:sp>
          <p:nvSpPr>
            <p:cNvPr id="37" name="矩形: 圆角 27">
              <a:extLst>
                <a:ext uri="{FF2B5EF4-FFF2-40B4-BE49-F238E27FC236}">
                  <a16:creationId xmlns:a16="http://schemas.microsoft.com/office/drawing/2014/main" id="{728A8D0C-9AD0-73B3-4369-2C9A6A2B12BE}"/>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1</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38" name="组合 37">
            <a:extLst>
              <a:ext uri="{FF2B5EF4-FFF2-40B4-BE49-F238E27FC236}">
                <a16:creationId xmlns:a16="http://schemas.microsoft.com/office/drawing/2014/main" id="{529CD190-7F7E-2599-06AC-B45A7C3A70DE}"/>
              </a:ext>
            </a:extLst>
          </p:cNvPr>
          <p:cNvGrpSpPr/>
          <p:nvPr/>
        </p:nvGrpSpPr>
        <p:grpSpPr>
          <a:xfrm>
            <a:off x="2166095" y="3604772"/>
            <a:ext cx="4886833" cy="712614"/>
            <a:chOff x="2254250" y="2386893"/>
            <a:chExt cx="4707774" cy="712614"/>
          </a:xfrm>
        </p:grpSpPr>
        <p:sp>
          <p:nvSpPr>
            <p:cNvPr id="39" name="矩形: 圆角 40">
              <a:extLst>
                <a:ext uri="{FF2B5EF4-FFF2-40B4-BE49-F238E27FC236}">
                  <a16:creationId xmlns:a16="http://schemas.microsoft.com/office/drawing/2014/main" id="{241CBED4-FE90-E902-C7D0-780FC0E15109}"/>
                </a:ext>
              </a:extLst>
            </p:cNvPr>
            <p:cNvSpPr/>
            <p:nvPr/>
          </p:nvSpPr>
          <p:spPr>
            <a:xfrm>
              <a:off x="2254250" y="2386893"/>
              <a:ext cx="4635500" cy="712614"/>
            </a:xfrm>
            <a:prstGeom prst="roundRect">
              <a:avLst>
                <a:gd name="adj" fmla="val 9538"/>
              </a:avLst>
            </a:prstGeom>
            <a:solidFill>
              <a:schemeClr val="accent2"/>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45" name="文本框 44">
              <a:extLst>
                <a:ext uri="{FF2B5EF4-FFF2-40B4-BE49-F238E27FC236}">
                  <a16:creationId xmlns:a16="http://schemas.microsoft.com/office/drawing/2014/main" id="{001B705A-6B3A-2FE0-C5E9-89318C00E580}"/>
                </a:ext>
              </a:extLst>
            </p:cNvPr>
            <p:cNvSpPr txBox="1"/>
            <p:nvPr/>
          </p:nvSpPr>
          <p:spPr>
            <a:xfrm>
              <a:off x="3161383" y="2450813"/>
              <a:ext cx="3800641" cy="584775"/>
            </a:xfrm>
            <a:prstGeom prst="rect">
              <a:avLst/>
            </a:prstGeom>
            <a:noFill/>
          </p:spPr>
          <p:txBody>
            <a:bodyPr wrap="square">
              <a:spAutoFit/>
            </a:bodyPr>
            <a:lstStyle/>
            <a:p>
              <a:pPr lvl="0">
                <a:defRPr/>
              </a:pPr>
              <a:r>
                <a:rPr lang="en-US" altLang="zh-CN" sz="3200" b="1" dirty="0">
                  <a:solidFill>
                    <a:srgbClr val="FFFFFF"/>
                  </a:solidFill>
                </a:rPr>
                <a:t>TreeLUT</a:t>
              </a:r>
              <a:endParaRPr lang="zh-CN" altLang="en-US" sz="3200" b="1" dirty="0">
                <a:solidFill>
                  <a:srgbClr val="FFFFFF"/>
                </a:solidFill>
              </a:endParaRPr>
            </a:p>
          </p:txBody>
        </p:sp>
        <p:sp>
          <p:nvSpPr>
            <p:cNvPr id="46" name="矩形: 圆角 42">
              <a:extLst>
                <a:ext uri="{FF2B5EF4-FFF2-40B4-BE49-F238E27FC236}">
                  <a16:creationId xmlns:a16="http://schemas.microsoft.com/office/drawing/2014/main" id="{DCC77F63-F28F-BA50-A5CC-B6DFA5FB236D}"/>
                </a:ext>
              </a:extLst>
            </p:cNvPr>
            <p:cNvSpPr/>
            <p:nvPr/>
          </p:nvSpPr>
          <p:spPr>
            <a:xfrm>
              <a:off x="2326524" y="2457450"/>
              <a:ext cx="571500" cy="571500"/>
            </a:xfrm>
            <a:prstGeom prst="roundRect">
              <a:avLst>
                <a:gd name="adj" fmla="val 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2</a:t>
              </a:r>
              <a:endParaRPr kumimoji="0" lang="zh-CN" altLang="en-US" sz="2400" b="1" i="0" u="none" strike="noStrike" kern="1200" cap="none" spc="0" normalizeH="0" baseline="0" noProof="0" dirty="0">
                <a:ln>
                  <a:noFill/>
                </a:ln>
                <a:solidFill>
                  <a:schemeClr val="accent2"/>
                </a:solidFill>
                <a:effectLst/>
                <a:uLnTx/>
                <a:uFillTx/>
                <a:latin typeface="Arial"/>
                <a:ea typeface="微软雅黑"/>
                <a:cs typeface="+mn-cs"/>
              </a:endParaRPr>
            </a:p>
          </p:txBody>
        </p:sp>
      </p:grpSp>
    </p:spTree>
    <p:extLst>
      <p:ext uri="{BB962C8B-B14F-4D97-AF65-F5344CB8AC3E}">
        <p14:creationId xmlns:p14="http://schemas.microsoft.com/office/powerpoint/2010/main" val="242801495"/>
      </p:ext>
    </p:extLst>
  </p:cSld>
  <p:clrMapOvr>
    <a:masterClrMapping/>
  </p:clrMapOvr>
  <mc:AlternateContent xmlns:mc="http://schemas.openxmlformats.org/markup-compatibility/2006" xmlns:p14="http://schemas.microsoft.com/office/powerpoint/2010/main">
    <mc:Choice Requires="p14">
      <p:transition spd="slow" p14:dur="2000" advTm="3297"/>
    </mc:Choice>
    <mc:Fallback xmlns="">
      <p:transition spd="slow" advTm="3297"/>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FE534-8097-A126-2998-28C086AB3D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76F798C-2148-B9A1-C79C-5D9F149C98CB}"/>
              </a:ext>
            </a:extLst>
          </p:cNvPr>
          <p:cNvSpPr>
            <a:spLocks noGrp="1"/>
          </p:cNvSpPr>
          <p:nvPr>
            <p:ph type="title"/>
          </p:nvPr>
        </p:nvSpPr>
        <p:spPr>
          <a:xfrm>
            <a:off x="2145029" y="254000"/>
            <a:ext cx="6488167" cy="517850"/>
          </a:xfrm>
        </p:spPr>
        <p:txBody>
          <a:bodyPr>
            <a:normAutofit/>
          </a:bodyPr>
          <a:lstStyle/>
          <a:p>
            <a:r>
              <a:rPr lang="en-US" altLang="zh-CN" dirty="0"/>
              <a:t>GBDT fits better on FPGA</a:t>
            </a:r>
            <a:endParaRPr lang="zh-CN" altLang="en-US" dirty="0"/>
          </a:p>
        </p:txBody>
      </p:sp>
      <p:sp>
        <p:nvSpPr>
          <p:cNvPr id="16" name="文本框 15">
            <a:extLst>
              <a:ext uri="{FF2B5EF4-FFF2-40B4-BE49-F238E27FC236}">
                <a16:creationId xmlns:a16="http://schemas.microsoft.com/office/drawing/2014/main" id="{FEFCCA14-34B6-40A3-C6C0-52419F5793AB}"/>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TreeLUT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97E1BBB6-4A3C-C682-3527-30B83624CBF6}"/>
              </a:ext>
            </a:extLst>
          </p:cNvPr>
          <p:cNvSpPr txBox="1"/>
          <p:nvPr/>
        </p:nvSpPr>
        <p:spPr>
          <a:xfrm>
            <a:off x="414146" y="916375"/>
            <a:ext cx="8315707" cy="2585323"/>
          </a:xfrm>
          <a:prstGeom prst="rect">
            <a:avLst/>
          </a:prstGeom>
          <a:noFill/>
        </p:spPr>
        <p:txBody>
          <a:bodyPr wrap="square" rtlCol="0">
            <a:spAutoFit/>
          </a:bodyPr>
          <a:lstStyle/>
          <a:p>
            <a:r>
              <a:rPr lang="en-US" altLang="zh-CN" dirty="0">
                <a:solidFill>
                  <a:prstClr val="black"/>
                </a:solidFill>
                <a:latin typeface="Times New Roman" panose="02020603050405020304" pitchFamily="18" charset="0"/>
                <a:ea typeface="微软雅黑"/>
                <a:cs typeface="Times New Roman" panose="02020603050405020304" pitchFamily="18" charset="0"/>
              </a:rPr>
              <a:t>Former works are done to implement NNs on FPGA. These approaches need</a:t>
            </a:r>
            <a:r>
              <a:rPr lang="en-US" altLang="zh-CN" b="1" dirty="0">
                <a:solidFill>
                  <a:prstClr val="black"/>
                </a:solidFill>
                <a:latin typeface="Times New Roman" panose="02020603050405020304" pitchFamily="18" charset="0"/>
                <a:ea typeface="微软雅黑"/>
                <a:cs typeface="Times New Roman" panose="02020603050405020304" pitchFamily="18" charset="0"/>
              </a:rPr>
              <a:t> heavily quantized</a:t>
            </a:r>
            <a:r>
              <a:rPr lang="en-US" altLang="zh-CN" dirty="0">
                <a:solidFill>
                  <a:prstClr val="black"/>
                </a:solidFill>
                <a:latin typeface="Times New Roman" panose="02020603050405020304" pitchFamily="18" charset="0"/>
                <a:ea typeface="微软雅黑"/>
                <a:cs typeface="Times New Roman" panose="02020603050405020304" pitchFamily="18" charset="0"/>
              </a:rPr>
              <a:t> (thus hurting accuracy) and have </a:t>
            </a:r>
            <a:r>
              <a:rPr lang="en-US" altLang="zh-CN" b="1" dirty="0">
                <a:solidFill>
                  <a:prstClr val="black"/>
                </a:solidFill>
                <a:latin typeface="Times New Roman" panose="02020603050405020304" pitchFamily="18" charset="0"/>
                <a:ea typeface="微软雅黑"/>
                <a:cs typeface="Times New Roman" panose="02020603050405020304" pitchFamily="18" charset="0"/>
              </a:rPr>
              <a:t>time-consuming training process.</a:t>
            </a:r>
          </a:p>
          <a:p>
            <a:endPar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r>
              <a:rPr lang="en-US" altLang="zh-CN" b="1" dirty="0">
                <a:solidFill>
                  <a:srgbClr val="FF0000"/>
                </a:solidFill>
                <a:latin typeface="Times New Roman" panose="02020603050405020304" pitchFamily="18" charset="0"/>
                <a:ea typeface="微软雅黑"/>
                <a:cs typeface="Times New Roman" panose="02020603050405020304" pitchFamily="18" charset="0"/>
              </a:rPr>
              <a:t>GBDT</a:t>
            </a:r>
            <a:r>
              <a:rPr lang="en-US" altLang="zh-CN" dirty="0">
                <a:solidFill>
                  <a:prstClr val="black"/>
                </a:solidFill>
                <a:latin typeface="Times New Roman" panose="02020603050405020304" pitchFamily="18" charset="0"/>
                <a:ea typeface="微软雅黑"/>
                <a:cs typeface="Times New Roman" panose="02020603050405020304" pitchFamily="18" charset="0"/>
              </a:rPr>
              <a:t> performs </a:t>
            </a:r>
            <a:r>
              <a:rPr lang="en-US" altLang="zh-CN" b="1" dirty="0">
                <a:solidFill>
                  <a:prstClr val="black"/>
                </a:solidFill>
                <a:latin typeface="Times New Roman" panose="02020603050405020304" pitchFamily="18" charset="0"/>
                <a:ea typeface="微软雅黑"/>
                <a:cs typeface="Times New Roman" panose="02020603050405020304" pitchFamily="18" charset="0"/>
              </a:rPr>
              <a:t>equally well </a:t>
            </a:r>
            <a:r>
              <a:rPr lang="en-US" altLang="zh-CN" dirty="0">
                <a:solidFill>
                  <a:prstClr val="black"/>
                </a:solidFill>
                <a:latin typeface="Times New Roman" panose="02020603050405020304" pitchFamily="18" charset="0"/>
                <a:ea typeface="微软雅黑"/>
                <a:cs typeface="Times New Roman" panose="02020603050405020304" pitchFamily="18" charset="0"/>
              </a:rPr>
              <a:t>(</a:t>
            </a:r>
            <a:r>
              <a:rPr lang="en-US" altLang="zh-CN" b="1" dirty="0">
                <a:solidFill>
                  <a:prstClr val="black"/>
                </a:solidFill>
                <a:latin typeface="Times New Roman" panose="02020603050405020304" pitchFamily="18" charset="0"/>
                <a:ea typeface="微软雅黑"/>
                <a:cs typeface="Times New Roman" panose="02020603050405020304" pitchFamily="18" charset="0"/>
              </a:rPr>
              <a:t>outperform</a:t>
            </a:r>
            <a:r>
              <a:rPr lang="en-US" altLang="zh-CN" dirty="0">
                <a:solidFill>
                  <a:prstClr val="black"/>
                </a:solidFill>
                <a:latin typeface="Times New Roman" panose="02020603050405020304" pitchFamily="18" charset="0"/>
                <a:ea typeface="微软雅黑"/>
                <a:cs typeface="Times New Roman" panose="02020603050405020304" pitchFamily="18" charset="0"/>
              </a:rPr>
              <a:t> in some cases) as NNs</a:t>
            </a:r>
          </a:p>
          <a:p>
            <a:pPr lvl="0">
              <a:defRPr/>
            </a:pPr>
            <a:endPar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lvl="0">
              <a:defRPr/>
            </a:pP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Challenges</a:t>
            </a:r>
          </a:p>
          <a:p>
            <a:pPr marL="742950" lvl="1" indent="-285750">
              <a:buFont typeface="Wingdings" panose="05000000000000000000" pitchFamily="2" charset="2"/>
              <a:buChar char="ü"/>
              <a:defRPr/>
            </a:pP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How to avoid </a:t>
            </a:r>
            <a:r>
              <a:rPr kumimoji="0" lang="en-US" altLang="zh-CN"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accuracy-hurting</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and </a:t>
            </a:r>
            <a:r>
              <a:rPr kumimoji="0" lang="en-US" altLang="zh-CN"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complicated</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quantization?</a:t>
            </a:r>
          </a:p>
          <a:p>
            <a:pPr marL="742950" lvl="1" indent="-285750">
              <a:buFont typeface="Wingdings" panose="05000000000000000000" pitchFamily="2" charset="2"/>
              <a:buChar char="ü"/>
              <a:defRPr/>
            </a:pP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How to </a:t>
            </a:r>
            <a:r>
              <a:rPr kumimoji="0" lang="en-US" altLang="zh-CN"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implement GBDT </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on FPGAs?  </a:t>
            </a:r>
          </a:p>
          <a:p>
            <a:pPr marL="742950" lvl="1" indent="-285750">
              <a:buFont typeface="Wingdings" panose="05000000000000000000" pitchFamily="2" charset="2"/>
              <a:buChar char="ü"/>
              <a:defRPr/>
            </a:pP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Better tool flow? </a:t>
            </a:r>
            <a:r>
              <a:rPr lang="en-US" altLang="zh-CN" b="1" dirty="0">
                <a:solidFill>
                  <a:prstClr val="black"/>
                </a:solidFill>
                <a:latin typeface="Times New Roman" panose="02020603050405020304" pitchFamily="18" charset="0"/>
                <a:ea typeface="微软雅黑"/>
                <a:cs typeface="Times New Roman" panose="02020603050405020304" pitchFamily="18" charset="0"/>
              </a:rPr>
              <a:t>Less time-consuming</a:t>
            </a:r>
            <a:r>
              <a:rPr lang="en-US" altLang="zh-CN" dirty="0">
                <a:solidFill>
                  <a:prstClr val="black"/>
                </a:solidFill>
                <a:latin typeface="Times New Roman" panose="02020603050405020304" pitchFamily="18" charset="0"/>
                <a:ea typeface="微软雅黑"/>
                <a:cs typeface="Times New Roman" panose="02020603050405020304" pitchFamily="18" charset="0"/>
              </a:rPr>
              <a:t>?</a:t>
            </a:r>
            <a:endParaRPr kumimoji="0" lang="zh-CN" altLang="en-US"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7" name="文本框 6">
            <a:extLst>
              <a:ext uri="{FF2B5EF4-FFF2-40B4-BE49-F238E27FC236}">
                <a16:creationId xmlns:a16="http://schemas.microsoft.com/office/drawing/2014/main" id="{8DD32063-797F-53B4-938D-6A9D17E96986}"/>
              </a:ext>
            </a:extLst>
          </p:cNvPr>
          <p:cNvSpPr txBox="1"/>
          <p:nvPr/>
        </p:nvSpPr>
        <p:spPr>
          <a:xfrm>
            <a:off x="6864599" y="5863542"/>
            <a:ext cx="2146971" cy="646331"/>
          </a:xfrm>
          <a:prstGeom prst="rect">
            <a:avLst/>
          </a:prstGeom>
          <a:noFill/>
        </p:spPr>
        <p:txBody>
          <a:bodyPr wrap="square" rtlCol="0">
            <a:spAutoFit/>
          </a:bodyPr>
          <a:lstStyle/>
          <a:p>
            <a:r>
              <a:rPr lang="en-US" altLang="zh-CN" dirty="0">
                <a:solidFill>
                  <a:srgbClr val="FF0000"/>
                </a:solidFill>
                <a:latin typeface="Times New Roman" panose="02020603050405020304" pitchFamily="18" charset="0"/>
                <a:ea typeface="微软雅黑"/>
                <a:cs typeface="Times New Roman" panose="02020603050405020304" pitchFamily="18" charset="0"/>
              </a:rPr>
              <a:t>Intuitively, DT maps to LUT better…</a:t>
            </a:r>
            <a:endParaRPr lang="zh-CN" altLang="en-US" dirty="0">
              <a:solidFill>
                <a:srgbClr val="FF0000"/>
              </a:solidFill>
              <a:latin typeface="Times New Roman" panose="02020603050405020304" pitchFamily="18" charset="0"/>
              <a:ea typeface="微软雅黑"/>
              <a:cs typeface="Times New Roman" panose="02020603050405020304" pitchFamily="18" charset="0"/>
            </a:endParaRPr>
          </a:p>
        </p:txBody>
      </p:sp>
      <p:pic>
        <p:nvPicPr>
          <p:cNvPr id="6" name="图片 5">
            <a:extLst>
              <a:ext uri="{FF2B5EF4-FFF2-40B4-BE49-F238E27FC236}">
                <a16:creationId xmlns:a16="http://schemas.microsoft.com/office/drawing/2014/main" id="{55B9B8DC-9754-DD4F-0F12-D19D01A4053B}"/>
              </a:ext>
            </a:extLst>
          </p:cNvPr>
          <p:cNvPicPr>
            <a:picLocks noChangeAspect="1"/>
          </p:cNvPicPr>
          <p:nvPr/>
        </p:nvPicPr>
        <p:blipFill>
          <a:blip r:embed="rId3"/>
          <a:stretch>
            <a:fillRect/>
          </a:stretch>
        </p:blipFill>
        <p:spPr>
          <a:xfrm>
            <a:off x="2725710" y="3577139"/>
            <a:ext cx="3692578" cy="2691786"/>
          </a:xfrm>
          <a:prstGeom prst="rect">
            <a:avLst/>
          </a:prstGeom>
        </p:spPr>
      </p:pic>
    </p:spTree>
    <p:extLst>
      <p:ext uri="{BB962C8B-B14F-4D97-AF65-F5344CB8AC3E}">
        <p14:creationId xmlns:p14="http://schemas.microsoft.com/office/powerpoint/2010/main" val="3934183919"/>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7821C-6B01-2E53-F8AA-F4F141E96C4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4567411-87DE-7D45-E6CB-A413591CE82A}"/>
              </a:ext>
            </a:extLst>
          </p:cNvPr>
          <p:cNvSpPr>
            <a:spLocks noGrp="1"/>
          </p:cNvSpPr>
          <p:nvPr>
            <p:ph type="title"/>
          </p:nvPr>
        </p:nvSpPr>
        <p:spPr>
          <a:xfrm>
            <a:off x="2145029" y="254000"/>
            <a:ext cx="6584824" cy="517850"/>
          </a:xfrm>
        </p:spPr>
        <p:txBody>
          <a:bodyPr>
            <a:normAutofit fontScale="90000"/>
          </a:bodyPr>
          <a:lstStyle/>
          <a:p>
            <a:r>
              <a:rPr lang="en-US" altLang="zh-CN" dirty="0"/>
              <a:t>What is a Gadient Boosting Decision Tree? </a:t>
            </a:r>
            <a:endParaRPr lang="zh-CN" altLang="en-US" dirty="0"/>
          </a:p>
        </p:txBody>
      </p:sp>
      <p:sp>
        <p:nvSpPr>
          <p:cNvPr id="16" name="文本框 15">
            <a:extLst>
              <a:ext uri="{FF2B5EF4-FFF2-40B4-BE49-F238E27FC236}">
                <a16:creationId xmlns:a16="http://schemas.microsoft.com/office/drawing/2014/main" id="{8BAD364D-8BB8-641E-F09B-913A530C8E3D}"/>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TreeLUT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7163F132-54F2-0F7C-DBA3-D55A80C2B8D6}"/>
              </a:ext>
            </a:extLst>
          </p:cNvPr>
          <p:cNvSpPr txBox="1"/>
          <p:nvPr/>
        </p:nvSpPr>
        <p:spPr>
          <a:xfrm>
            <a:off x="414146" y="916375"/>
            <a:ext cx="8315707" cy="369332"/>
          </a:xfrm>
          <a:prstGeom prst="rect">
            <a:avLst/>
          </a:prstGeom>
          <a:noFill/>
        </p:spPr>
        <p:txBody>
          <a:bodyPr wrap="square" rtlCol="0">
            <a:spAutoFit/>
          </a:bodyPr>
          <a:lstStyle/>
          <a:p>
            <a:pPr marL="285750" indent="-285750">
              <a:buFont typeface="Wingdings" panose="05000000000000000000" pitchFamily="2" charset="2"/>
              <a:buChar char="ü"/>
            </a:pPr>
            <a:r>
              <a:rPr lang="en-US" altLang="zh-CN" b="1" dirty="0">
                <a:solidFill>
                  <a:srgbClr val="FF0000"/>
                </a:solidFill>
                <a:latin typeface="Times New Roman" panose="02020603050405020304" pitchFamily="18" charset="0"/>
                <a:ea typeface="微软雅黑"/>
                <a:cs typeface="Times New Roman" panose="02020603050405020304" pitchFamily="18" charset="0"/>
              </a:rPr>
              <a:t>Gradient Boosting Decision Tree</a:t>
            </a:r>
          </a:p>
        </p:txBody>
      </p:sp>
      <p:pic>
        <p:nvPicPr>
          <p:cNvPr id="5" name="图片 4">
            <a:extLst>
              <a:ext uri="{FF2B5EF4-FFF2-40B4-BE49-F238E27FC236}">
                <a16:creationId xmlns:a16="http://schemas.microsoft.com/office/drawing/2014/main" id="{2729BA30-1CAA-5DC6-EBB9-38AA095F0F7B}"/>
              </a:ext>
            </a:extLst>
          </p:cNvPr>
          <p:cNvPicPr>
            <a:picLocks noChangeAspect="1"/>
          </p:cNvPicPr>
          <p:nvPr/>
        </p:nvPicPr>
        <p:blipFill>
          <a:blip r:embed="rId3"/>
          <a:stretch>
            <a:fillRect/>
          </a:stretch>
        </p:blipFill>
        <p:spPr>
          <a:xfrm>
            <a:off x="583964" y="1285707"/>
            <a:ext cx="5315692" cy="5077534"/>
          </a:xfrm>
          <a:prstGeom prst="rect">
            <a:avLst/>
          </a:prstGeom>
        </p:spPr>
      </p:pic>
      <p:pic>
        <p:nvPicPr>
          <p:cNvPr id="6" name="图片 5">
            <a:extLst>
              <a:ext uri="{FF2B5EF4-FFF2-40B4-BE49-F238E27FC236}">
                <a16:creationId xmlns:a16="http://schemas.microsoft.com/office/drawing/2014/main" id="{D5049C28-A7DB-7643-DC87-82A53F375636}"/>
              </a:ext>
            </a:extLst>
          </p:cNvPr>
          <p:cNvPicPr>
            <a:picLocks noChangeAspect="1"/>
          </p:cNvPicPr>
          <p:nvPr/>
        </p:nvPicPr>
        <p:blipFill>
          <a:blip r:embed="rId4"/>
          <a:stretch>
            <a:fillRect/>
          </a:stretch>
        </p:blipFill>
        <p:spPr>
          <a:xfrm>
            <a:off x="6069474" y="4464297"/>
            <a:ext cx="2095792" cy="733527"/>
          </a:xfrm>
          <a:prstGeom prst="rect">
            <a:avLst/>
          </a:prstGeom>
        </p:spPr>
      </p:pic>
      <p:sp>
        <p:nvSpPr>
          <p:cNvPr id="7" name="文本框 6">
            <a:extLst>
              <a:ext uri="{FF2B5EF4-FFF2-40B4-BE49-F238E27FC236}">
                <a16:creationId xmlns:a16="http://schemas.microsoft.com/office/drawing/2014/main" id="{F60BFA1C-C704-15AD-07D1-AB09F34A5D21}"/>
              </a:ext>
            </a:extLst>
          </p:cNvPr>
          <p:cNvSpPr txBox="1"/>
          <p:nvPr/>
        </p:nvSpPr>
        <p:spPr>
          <a:xfrm>
            <a:off x="6265024" y="2690336"/>
            <a:ext cx="2743200" cy="369332"/>
          </a:xfrm>
          <a:prstGeom prst="rect">
            <a:avLst/>
          </a:prstGeom>
          <a:noFill/>
        </p:spPr>
        <p:txBody>
          <a:bodyPr wrap="square" rtlCol="0">
            <a:spAutoFit/>
          </a:bodyPr>
          <a:lstStyle/>
          <a:p>
            <a:r>
              <a:rPr lang="en-US" altLang="zh-CN" dirty="0">
                <a:solidFill>
                  <a:prstClr val="black"/>
                </a:solidFill>
                <a:latin typeface="Times New Roman" panose="02020603050405020304" pitchFamily="18" charset="0"/>
                <a:ea typeface="微软雅黑"/>
                <a:cs typeface="Times New Roman" panose="02020603050405020304" pitchFamily="18" charset="0"/>
              </a:rPr>
              <a:t>	</a:t>
            </a:r>
            <a:endParaRPr lang="zh-CN" altLang="en-US" dirty="0">
              <a:solidFill>
                <a:prstClr val="black"/>
              </a:solidFill>
              <a:latin typeface="Times New Roman" panose="02020603050405020304" pitchFamily="18" charset="0"/>
              <a:ea typeface="微软雅黑"/>
              <a:cs typeface="Times New Roman" panose="02020603050405020304" pitchFamily="18" charset="0"/>
            </a:endParaRPr>
          </a:p>
        </p:txBody>
      </p:sp>
      <p:sp>
        <p:nvSpPr>
          <p:cNvPr id="8" name="思想气泡: 云 7">
            <a:extLst>
              <a:ext uri="{FF2B5EF4-FFF2-40B4-BE49-F238E27FC236}">
                <a16:creationId xmlns:a16="http://schemas.microsoft.com/office/drawing/2014/main" id="{D142AE7D-73B5-4950-286C-DF2EAF1EC505}"/>
              </a:ext>
            </a:extLst>
          </p:cNvPr>
          <p:cNvSpPr/>
          <p:nvPr/>
        </p:nvSpPr>
        <p:spPr>
          <a:xfrm>
            <a:off x="5783179" y="2176479"/>
            <a:ext cx="3225045" cy="1870723"/>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Times New Roman" panose="02020603050405020304" pitchFamily="18" charset="0"/>
                <a:ea typeface="微软雅黑"/>
                <a:cs typeface="Times New Roman" panose="02020603050405020304" pitchFamily="18" charset="0"/>
              </a:rPr>
              <a:t>“GB is an ensemble method that trains a series of “weak” predictors in an additive form to build a more accurate model”</a:t>
            </a:r>
            <a:endParaRPr lang="zh-CN" altLang="en-US" sz="1400" dirty="0">
              <a:solidFill>
                <a:schemeClr val="bg1"/>
              </a:solidFill>
            </a:endParaRPr>
          </a:p>
        </p:txBody>
      </p:sp>
    </p:spTree>
    <p:extLst>
      <p:ext uri="{BB962C8B-B14F-4D97-AF65-F5344CB8AC3E}">
        <p14:creationId xmlns:p14="http://schemas.microsoft.com/office/powerpoint/2010/main" val="154250140"/>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A903B-D00D-1E00-5321-1098F161BEB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E061C32-F520-B82C-25A8-79E6DD0677FB}"/>
              </a:ext>
            </a:extLst>
          </p:cNvPr>
          <p:cNvSpPr>
            <a:spLocks noGrp="1"/>
          </p:cNvSpPr>
          <p:nvPr>
            <p:ph type="title"/>
          </p:nvPr>
        </p:nvSpPr>
        <p:spPr>
          <a:xfrm>
            <a:off x="2145029" y="254000"/>
            <a:ext cx="6584824" cy="517850"/>
          </a:xfrm>
        </p:spPr>
        <p:txBody>
          <a:bodyPr>
            <a:normAutofit fontScale="90000"/>
          </a:bodyPr>
          <a:lstStyle/>
          <a:p>
            <a:r>
              <a:rPr lang="en-US" altLang="zh-CN" dirty="0"/>
              <a:t>What is a Gadient Boosting Decision Tree? </a:t>
            </a:r>
            <a:endParaRPr lang="zh-CN" altLang="en-US" dirty="0"/>
          </a:p>
        </p:txBody>
      </p:sp>
      <p:sp>
        <p:nvSpPr>
          <p:cNvPr id="16" name="文本框 15">
            <a:extLst>
              <a:ext uri="{FF2B5EF4-FFF2-40B4-BE49-F238E27FC236}">
                <a16:creationId xmlns:a16="http://schemas.microsoft.com/office/drawing/2014/main" id="{3240667D-7A53-D374-D970-C01D37AA9416}"/>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TreeLUT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10562910-6A71-2428-E3EA-6CFF97353E3C}"/>
              </a:ext>
            </a:extLst>
          </p:cNvPr>
          <p:cNvSpPr txBox="1"/>
          <p:nvPr/>
        </p:nvSpPr>
        <p:spPr>
          <a:xfrm>
            <a:off x="414146" y="916375"/>
            <a:ext cx="8315707" cy="2862322"/>
          </a:xfrm>
          <a:prstGeom prst="rect">
            <a:avLst/>
          </a:prstGeom>
          <a:noFill/>
        </p:spPr>
        <p:txBody>
          <a:bodyPr wrap="square" rtlCol="0">
            <a:spAutoFit/>
          </a:bodyPr>
          <a:lstStyle/>
          <a:p>
            <a:pPr marL="285750" indent="-285750">
              <a:buFont typeface="Wingdings" panose="05000000000000000000" pitchFamily="2" charset="2"/>
              <a:buChar char="ü"/>
            </a:pPr>
            <a:r>
              <a:rPr lang="en-US" altLang="zh-CN" b="1" dirty="0">
                <a:solidFill>
                  <a:srgbClr val="FF0000"/>
                </a:solidFill>
                <a:latin typeface="Times New Roman" panose="02020603050405020304" pitchFamily="18" charset="0"/>
                <a:ea typeface="微软雅黑"/>
                <a:cs typeface="Times New Roman" panose="02020603050405020304" pitchFamily="18" charset="0"/>
              </a:rPr>
              <a:t>Gradient Boosting Decision Tree</a:t>
            </a:r>
          </a:p>
          <a:p>
            <a:pPr marL="742950" lvl="1" indent="-285750">
              <a:buFont typeface="Arial" panose="020B0604020202020204" pitchFamily="34" charset="0"/>
              <a:buChar char="•"/>
            </a:pPr>
            <a:r>
              <a:rPr lang="en-US" altLang="zh-CN" dirty="0">
                <a:latin typeface="Times New Roman" panose="02020603050405020304" pitchFamily="18" charset="0"/>
                <a:ea typeface="微软雅黑"/>
                <a:cs typeface="Times New Roman" panose="02020603050405020304" pitchFamily="18" charset="0"/>
              </a:rPr>
              <a:t>There are various GBDT implementations</a:t>
            </a:r>
          </a:p>
          <a:p>
            <a:pPr marL="1200150" lvl="2" indent="-285750">
              <a:buFont typeface="Arial" panose="020B0604020202020204" pitchFamily="34" charset="0"/>
              <a:buChar char="•"/>
            </a:pPr>
            <a:r>
              <a:rPr lang="en-US" altLang="zh-CN" dirty="0" err="1">
                <a:latin typeface="Times New Roman" panose="02020603050405020304" pitchFamily="18" charset="0"/>
                <a:ea typeface="微软雅黑"/>
                <a:cs typeface="Times New Roman" panose="02020603050405020304" pitchFamily="18" charset="0"/>
              </a:rPr>
              <a:t>CatBoost</a:t>
            </a:r>
            <a:r>
              <a:rPr lang="en-US" altLang="zh-CN" dirty="0">
                <a:latin typeface="Times New Roman" panose="02020603050405020304" pitchFamily="18" charset="0"/>
                <a:ea typeface="微软雅黑"/>
                <a:cs typeface="Times New Roman" panose="02020603050405020304" pitchFamily="18" charset="0"/>
              </a:rPr>
              <a:t>, </a:t>
            </a:r>
            <a:r>
              <a:rPr lang="en-US" altLang="zh-CN" dirty="0" err="1">
                <a:latin typeface="Times New Roman" panose="02020603050405020304" pitchFamily="18" charset="0"/>
                <a:ea typeface="微软雅黑"/>
                <a:cs typeface="Times New Roman" panose="02020603050405020304" pitchFamily="18" charset="0"/>
              </a:rPr>
              <a:t>LightGBM</a:t>
            </a:r>
            <a:r>
              <a:rPr lang="en-US" altLang="zh-CN" dirty="0">
                <a:latin typeface="Times New Roman" panose="02020603050405020304" pitchFamily="18" charset="0"/>
                <a:ea typeface="微软雅黑"/>
                <a:cs typeface="Times New Roman" panose="02020603050405020304" pitchFamily="18" charset="0"/>
              </a:rPr>
              <a:t> and </a:t>
            </a:r>
            <a:r>
              <a:rPr lang="en-US" altLang="zh-CN" b="1" dirty="0" err="1">
                <a:latin typeface="Times New Roman" panose="02020603050405020304" pitchFamily="18" charset="0"/>
                <a:ea typeface="微软雅黑"/>
                <a:cs typeface="Times New Roman" panose="02020603050405020304" pitchFamily="18" charset="0"/>
              </a:rPr>
              <a:t>XGBoost</a:t>
            </a:r>
            <a:r>
              <a:rPr lang="en-US" altLang="zh-CN" dirty="0">
                <a:latin typeface="Times New Roman" panose="02020603050405020304" pitchFamily="18" charset="0"/>
                <a:ea typeface="微软雅黑"/>
                <a:cs typeface="Times New Roman" panose="02020603050405020304" pitchFamily="18" charset="0"/>
              </a:rPr>
              <a:t> (this paper)…</a:t>
            </a:r>
          </a:p>
          <a:p>
            <a:pPr marL="1200150" lvl="2" indent="-285750">
              <a:buFont typeface="Arial" panose="020B0604020202020204" pitchFamily="34" charset="0"/>
              <a:buChar char="•"/>
            </a:pPr>
            <a:r>
              <a:rPr lang="en-US" altLang="zh-CN" dirty="0">
                <a:latin typeface="Times New Roman" panose="02020603050405020304" pitchFamily="18" charset="0"/>
                <a:ea typeface="微软雅黑"/>
                <a:cs typeface="Times New Roman" panose="02020603050405020304" pitchFamily="18" charset="0"/>
              </a:rPr>
              <a:t>They provide different benefits respectively. (efficiency, scalability…)</a:t>
            </a:r>
          </a:p>
          <a:p>
            <a:pPr marL="742950" lvl="1" indent="-285750">
              <a:buFont typeface="Arial" panose="020B0604020202020204" pitchFamily="34" charset="0"/>
              <a:buChar char="•"/>
            </a:pPr>
            <a:r>
              <a:rPr lang="en-US" altLang="zh-CN" b="1" dirty="0">
                <a:latin typeface="Times New Roman" panose="02020603050405020304" pitchFamily="18" charset="0"/>
                <a:ea typeface="微软雅黑"/>
                <a:cs typeface="Times New Roman" panose="02020603050405020304" pitchFamily="18" charset="0"/>
              </a:rPr>
              <a:t>Iterative</a:t>
            </a:r>
            <a:r>
              <a:rPr lang="en-US" altLang="zh-CN" dirty="0">
                <a:latin typeface="Times New Roman" panose="02020603050405020304" pitchFamily="18" charset="0"/>
                <a:ea typeface="微软雅黑"/>
                <a:cs typeface="Times New Roman" panose="02020603050405020304" pitchFamily="18" charset="0"/>
              </a:rPr>
              <a:t> training process</a:t>
            </a:r>
          </a:p>
          <a:p>
            <a:pPr marL="1200150" lvl="2" indent="-285750">
              <a:buFont typeface="Arial" panose="020B0604020202020204" pitchFamily="34" charset="0"/>
              <a:buChar char="•"/>
            </a:pPr>
            <a:r>
              <a:rPr lang="en-US" altLang="zh-CN" dirty="0">
                <a:latin typeface="Times New Roman" panose="02020603050405020304" pitchFamily="18" charset="0"/>
                <a:ea typeface="微软雅黑"/>
                <a:cs typeface="Times New Roman" panose="02020603050405020304" pitchFamily="18" charset="0"/>
              </a:rPr>
              <a:t>Each of which is fitted to the </a:t>
            </a:r>
            <a:r>
              <a:rPr lang="en-US" altLang="zh-CN" b="1" dirty="0">
                <a:latin typeface="Times New Roman" panose="02020603050405020304" pitchFamily="18" charset="0"/>
                <a:ea typeface="微软雅黑"/>
                <a:cs typeface="Times New Roman" panose="02020603050405020304" pitchFamily="18" charset="0"/>
              </a:rPr>
              <a:t>residuals</a:t>
            </a:r>
            <a:r>
              <a:rPr lang="en-US" altLang="zh-CN" dirty="0">
                <a:latin typeface="Times New Roman" panose="02020603050405020304" pitchFamily="18" charset="0"/>
                <a:ea typeface="微软雅黑"/>
                <a:cs typeface="Times New Roman" panose="02020603050405020304" pitchFamily="18" charset="0"/>
              </a:rPr>
              <a:t> of the previous one.</a:t>
            </a:r>
          </a:p>
          <a:p>
            <a:pPr marL="742950" lvl="1" indent="-285750">
              <a:buFont typeface="Arial" panose="020B0604020202020204" pitchFamily="34" charset="0"/>
              <a:buChar char="•"/>
            </a:pPr>
            <a:r>
              <a:rPr lang="en-US" altLang="zh-CN" dirty="0">
                <a:latin typeface="Times New Roman" panose="02020603050405020304" pitchFamily="18" charset="0"/>
                <a:ea typeface="微软雅黑"/>
                <a:cs typeface="Times New Roman" panose="02020603050405020304" pitchFamily="18" charset="0"/>
              </a:rPr>
              <a:t>Capable tasks</a:t>
            </a:r>
          </a:p>
          <a:p>
            <a:pPr marL="1200150" lvl="2" indent="-285750">
              <a:buFont typeface="Arial" panose="020B0604020202020204" pitchFamily="34" charset="0"/>
              <a:buChar char="•"/>
            </a:pPr>
            <a:r>
              <a:rPr lang="en-US" altLang="zh-CN" dirty="0">
                <a:latin typeface="Times New Roman" panose="02020603050405020304" pitchFamily="18" charset="0"/>
                <a:ea typeface="微软雅黑"/>
                <a:cs typeface="Times New Roman" panose="02020603050405020304" pitchFamily="18" charset="0"/>
              </a:rPr>
              <a:t>Regression</a:t>
            </a:r>
          </a:p>
          <a:p>
            <a:pPr marL="1200150" lvl="2" indent="-285750">
              <a:buFont typeface="Arial" panose="020B0604020202020204" pitchFamily="34" charset="0"/>
              <a:buChar char="•"/>
            </a:pPr>
            <a:r>
              <a:rPr lang="en-US" altLang="zh-CN" dirty="0">
                <a:latin typeface="Times New Roman" panose="02020603050405020304" pitchFamily="18" charset="0"/>
                <a:ea typeface="微软雅黑"/>
                <a:cs typeface="Times New Roman" panose="02020603050405020304" pitchFamily="18" charset="0"/>
              </a:rPr>
              <a:t>Binary classification = Regression + Sigmoid</a:t>
            </a:r>
          </a:p>
          <a:p>
            <a:pPr marL="1200150" lvl="2" indent="-285750">
              <a:buFont typeface="Arial" panose="020B0604020202020204" pitchFamily="34" charset="0"/>
              <a:buChar char="•"/>
            </a:pPr>
            <a:r>
              <a:rPr lang="en-US" altLang="zh-CN" dirty="0">
                <a:latin typeface="Times New Roman" panose="02020603050405020304" pitchFamily="18" charset="0"/>
                <a:ea typeface="微软雅黑"/>
                <a:cs typeface="Times New Roman" panose="02020603050405020304" pitchFamily="18" charset="0"/>
              </a:rPr>
              <a:t>Multi-class classification = one-vs-all + </a:t>
            </a:r>
            <a:r>
              <a:rPr lang="en-US" altLang="zh-CN" dirty="0" err="1">
                <a:latin typeface="Times New Roman" panose="02020603050405020304" pitchFamily="18" charset="0"/>
                <a:ea typeface="微软雅黑"/>
                <a:cs typeface="Times New Roman" panose="02020603050405020304" pitchFamily="18" charset="0"/>
              </a:rPr>
              <a:t>softmax</a:t>
            </a:r>
            <a:endParaRPr lang="en-US" altLang="zh-CN" dirty="0">
              <a:latin typeface="Times New Roman" panose="02020603050405020304" pitchFamily="18" charset="0"/>
              <a:ea typeface="微软雅黑"/>
              <a:cs typeface="Times New Roman" panose="02020603050405020304" pitchFamily="18" charset="0"/>
            </a:endParaRPr>
          </a:p>
        </p:txBody>
      </p:sp>
      <p:pic>
        <p:nvPicPr>
          <p:cNvPr id="1026" name="Picture 2" descr="The architecture of Gradient Boosting Decision Tree | Download Scientific  Diagram">
            <a:extLst>
              <a:ext uri="{FF2B5EF4-FFF2-40B4-BE49-F238E27FC236}">
                <a16:creationId xmlns:a16="http://schemas.microsoft.com/office/drawing/2014/main" id="{2612B20C-72EA-596D-CCCD-BE178D1365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8211" y="3862334"/>
            <a:ext cx="4507575" cy="2741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6538769"/>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3C9B6-40CE-D474-D2B4-B8CC42A7FC9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486800-28ED-5986-B1D4-F7727B967C26}"/>
              </a:ext>
            </a:extLst>
          </p:cNvPr>
          <p:cNvSpPr>
            <a:spLocks noGrp="1"/>
          </p:cNvSpPr>
          <p:nvPr>
            <p:ph type="title"/>
          </p:nvPr>
        </p:nvSpPr>
        <p:spPr>
          <a:xfrm>
            <a:off x="2145029" y="254000"/>
            <a:ext cx="6584824" cy="517850"/>
          </a:xfrm>
        </p:spPr>
        <p:txBody>
          <a:bodyPr>
            <a:normAutofit/>
          </a:bodyPr>
          <a:lstStyle/>
          <a:p>
            <a:r>
              <a:rPr lang="en-US" altLang="zh-CN" dirty="0"/>
              <a:t>We need better quantization method </a:t>
            </a:r>
            <a:endParaRPr lang="zh-CN" altLang="en-US" dirty="0"/>
          </a:p>
        </p:txBody>
      </p:sp>
      <p:sp>
        <p:nvSpPr>
          <p:cNvPr id="16" name="文本框 15">
            <a:extLst>
              <a:ext uri="{FF2B5EF4-FFF2-40B4-BE49-F238E27FC236}">
                <a16:creationId xmlns:a16="http://schemas.microsoft.com/office/drawing/2014/main" id="{9301B993-8933-824D-3566-E1D9F5BF6C5D}"/>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Challenge 1:</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B1E0BA2F-4C4B-4AD5-5AF8-BC389D715658}"/>
              </a:ext>
            </a:extLst>
          </p:cNvPr>
          <p:cNvSpPr txBox="1"/>
          <p:nvPr/>
        </p:nvSpPr>
        <p:spPr>
          <a:xfrm>
            <a:off x="414146" y="916375"/>
            <a:ext cx="8315707" cy="3970318"/>
          </a:xfrm>
          <a:prstGeom prst="rect">
            <a:avLst/>
          </a:prstGeom>
          <a:noFill/>
        </p:spPr>
        <p:txBody>
          <a:bodyPr wrap="square" rtlCol="0">
            <a:spAutoFit/>
          </a:bodyPr>
          <a:lstStyle/>
          <a:p>
            <a:pPr marL="285750" indent="-285750">
              <a:buFont typeface="Wingdings" panose="05000000000000000000" pitchFamily="2" charset="2"/>
              <a:buChar char="ü"/>
            </a:pPr>
            <a:r>
              <a:rPr lang="en-US" altLang="zh-CN" b="1" dirty="0">
                <a:solidFill>
                  <a:srgbClr val="FF0000"/>
                </a:solidFill>
                <a:latin typeface="Times New Roman" panose="02020603050405020304" pitchFamily="18" charset="0"/>
                <a:ea typeface="微软雅黑"/>
                <a:cs typeface="Times New Roman" panose="02020603050405020304" pitchFamily="18" charset="0"/>
              </a:rPr>
              <a:t>Threshold Quantization</a:t>
            </a:r>
          </a:p>
          <a:p>
            <a:pPr marL="742950" lvl="1" indent="-28575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Boosting algorithm gives quantized threshold if the training data is quantized.</a:t>
            </a:r>
          </a:p>
          <a:p>
            <a:pPr marL="1200150" lvl="2" indent="-285750">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Quantization before training</a:t>
            </a:r>
          </a:p>
          <a:p>
            <a:pPr marL="1200150" lvl="2" indent="-28575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min-max normalization + </a:t>
            </a:r>
            <a:r>
              <a:rPr lang="en-US" altLang="zh-CN" dirty="0" err="1">
                <a:solidFill>
                  <a:srgbClr val="FF0000"/>
                </a:solidFill>
                <a:latin typeface="Times New Roman" panose="02020603050405020304" pitchFamily="18" charset="0"/>
                <a:cs typeface="Times New Roman" panose="02020603050405020304" pitchFamily="18" charset="0"/>
              </a:rPr>
              <a:t>w_feature</a:t>
            </a:r>
            <a:r>
              <a:rPr lang="en-US" altLang="zh-CN" dirty="0">
                <a:solidFill>
                  <a:srgbClr val="FF0000"/>
                </a:solidFill>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quantization:</a:t>
            </a:r>
          </a:p>
          <a:p>
            <a:pPr marL="742950" lvl="1"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742950" lvl="1"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742950" lvl="1"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lvl="1"/>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285750" indent="-285750">
              <a:buFont typeface="Wingdings" panose="05000000000000000000" pitchFamily="2" charset="2"/>
              <a:buChar char="ü"/>
            </a:pPr>
            <a:r>
              <a:rPr lang="en-US" altLang="zh-CN" b="1" dirty="0">
                <a:solidFill>
                  <a:srgbClr val="FF0000"/>
                </a:solidFill>
                <a:latin typeface="Times New Roman" panose="02020603050405020304" pitchFamily="18" charset="0"/>
                <a:ea typeface="微软雅黑"/>
                <a:cs typeface="Times New Roman" panose="02020603050405020304" pitchFamily="18" charset="0"/>
              </a:rPr>
              <a:t>Binary Classification Leaf Quantization</a:t>
            </a:r>
          </a:p>
          <a:p>
            <a:pPr marL="742950" lvl="1"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742950" lvl="1"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lvl="2"/>
            <a:endParaRPr lang="en-US" altLang="zh-CN"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endParaRPr lang="en-US" altLang="zh-CN"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endParaRPr lang="en-US" altLang="zh-CN" dirty="0">
              <a:latin typeface="Times New Roman" panose="02020603050405020304" pitchFamily="18" charset="0"/>
              <a:ea typeface="微软雅黑"/>
              <a:cs typeface="Times New Roman" panose="02020603050405020304" pitchFamily="18" charset="0"/>
            </a:endParaRPr>
          </a:p>
        </p:txBody>
      </p:sp>
      <p:pic>
        <p:nvPicPr>
          <p:cNvPr id="5" name="图片 4">
            <a:extLst>
              <a:ext uri="{FF2B5EF4-FFF2-40B4-BE49-F238E27FC236}">
                <a16:creationId xmlns:a16="http://schemas.microsoft.com/office/drawing/2014/main" id="{18AFC73C-D723-206A-5D77-D4744AE5C70E}"/>
              </a:ext>
            </a:extLst>
          </p:cNvPr>
          <p:cNvPicPr>
            <a:picLocks noChangeAspect="1"/>
          </p:cNvPicPr>
          <p:nvPr/>
        </p:nvPicPr>
        <p:blipFill>
          <a:blip r:embed="rId3"/>
          <a:stretch>
            <a:fillRect/>
          </a:stretch>
        </p:blipFill>
        <p:spPr>
          <a:xfrm>
            <a:off x="2174885" y="2128000"/>
            <a:ext cx="4794229" cy="1040484"/>
          </a:xfrm>
          <a:prstGeom prst="rect">
            <a:avLst/>
          </a:prstGeom>
        </p:spPr>
      </p:pic>
      <p:pic>
        <p:nvPicPr>
          <p:cNvPr id="10" name="图片 9">
            <a:extLst>
              <a:ext uri="{FF2B5EF4-FFF2-40B4-BE49-F238E27FC236}">
                <a16:creationId xmlns:a16="http://schemas.microsoft.com/office/drawing/2014/main" id="{A574202A-C84A-0E42-FCD8-AA45E2816ACF}"/>
              </a:ext>
            </a:extLst>
          </p:cNvPr>
          <p:cNvPicPr>
            <a:picLocks noChangeAspect="1"/>
          </p:cNvPicPr>
          <p:nvPr/>
        </p:nvPicPr>
        <p:blipFill>
          <a:blip r:embed="rId4"/>
          <a:stretch>
            <a:fillRect/>
          </a:stretch>
        </p:blipFill>
        <p:spPr>
          <a:xfrm>
            <a:off x="789034" y="3787991"/>
            <a:ext cx="3894539" cy="2225451"/>
          </a:xfrm>
          <a:prstGeom prst="rect">
            <a:avLst/>
          </a:prstGeom>
        </p:spPr>
      </p:pic>
      <p:pic>
        <p:nvPicPr>
          <p:cNvPr id="12" name="图片 11">
            <a:extLst>
              <a:ext uri="{FF2B5EF4-FFF2-40B4-BE49-F238E27FC236}">
                <a16:creationId xmlns:a16="http://schemas.microsoft.com/office/drawing/2014/main" id="{CD0030E5-8144-466C-6E2E-D17C3AF5E8BF}"/>
              </a:ext>
            </a:extLst>
          </p:cNvPr>
          <p:cNvPicPr>
            <a:picLocks noChangeAspect="1"/>
          </p:cNvPicPr>
          <p:nvPr/>
        </p:nvPicPr>
        <p:blipFill>
          <a:blip r:embed="rId5"/>
          <a:stretch>
            <a:fillRect/>
          </a:stretch>
        </p:blipFill>
        <p:spPr>
          <a:xfrm>
            <a:off x="4860035" y="3743900"/>
            <a:ext cx="3494931" cy="2313632"/>
          </a:xfrm>
          <a:prstGeom prst="rect">
            <a:avLst/>
          </a:prstGeom>
        </p:spPr>
      </p:pic>
    </p:spTree>
    <p:extLst>
      <p:ext uri="{BB962C8B-B14F-4D97-AF65-F5344CB8AC3E}">
        <p14:creationId xmlns:p14="http://schemas.microsoft.com/office/powerpoint/2010/main" val="359901118"/>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3AD28-87D0-07B6-CA8E-F6B38D8E1FB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E8EA98A-4387-90D1-9CAD-00B55CD30E1A}"/>
              </a:ext>
            </a:extLst>
          </p:cNvPr>
          <p:cNvSpPr>
            <a:spLocks noGrp="1"/>
          </p:cNvSpPr>
          <p:nvPr>
            <p:ph type="title"/>
          </p:nvPr>
        </p:nvSpPr>
        <p:spPr>
          <a:xfrm>
            <a:off x="2145029" y="254000"/>
            <a:ext cx="6584824" cy="517850"/>
          </a:xfrm>
        </p:spPr>
        <p:txBody>
          <a:bodyPr>
            <a:normAutofit/>
          </a:bodyPr>
          <a:lstStyle/>
          <a:p>
            <a:r>
              <a:rPr lang="en-US" altLang="zh-CN" dirty="0"/>
              <a:t>We need better quantization method </a:t>
            </a:r>
            <a:endParaRPr lang="zh-CN" altLang="en-US" dirty="0"/>
          </a:p>
        </p:txBody>
      </p:sp>
      <p:sp>
        <p:nvSpPr>
          <p:cNvPr id="16" name="文本框 15">
            <a:extLst>
              <a:ext uri="{FF2B5EF4-FFF2-40B4-BE49-F238E27FC236}">
                <a16:creationId xmlns:a16="http://schemas.microsoft.com/office/drawing/2014/main" id="{7C04E30A-469C-5AA6-474E-3DDE493851EC}"/>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Challenge 1:</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46166FA7-6DFB-07B3-3DF0-8CDE63CF0A46}"/>
              </a:ext>
            </a:extLst>
          </p:cNvPr>
          <p:cNvSpPr txBox="1"/>
          <p:nvPr/>
        </p:nvSpPr>
        <p:spPr>
          <a:xfrm>
            <a:off x="414146" y="916375"/>
            <a:ext cx="8315707" cy="4524315"/>
          </a:xfrm>
          <a:prstGeom prst="rect">
            <a:avLst/>
          </a:prstGeom>
          <a:noFill/>
        </p:spPr>
        <p:txBody>
          <a:bodyPr wrap="square" rtlCol="0">
            <a:spAutoFit/>
          </a:bodyPr>
          <a:lstStyle/>
          <a:p>
            <a:pPr marL="285750" indent="-285750">
              <a:buFont typeface="Wingdings" panose="05000000000000000000" pitchFamily="2" charset="2"/>
              <a:buChar char="ü"/>
            </a:pPr>
            <a:r>
              <a:rPr lang="en-US" altLang="zh-CN" b="1" dirty="0">
                <a:solidFill>
                  <a:srgbClr val="FF0000"/>
                </a:solidFill>
                <a:latin typeface="Times New Roman" panose="02020603050405020304" pitchFamily="18" charset="0"/>
                <a:ea typeface="微软雅黑"/>
                <a:cs typeface="Times New Roman" panose="02020603050405020304" pitchFamily="18" charset="0"/>
              </a:rPr>
              <a:t>Binary Classification Leaf Quantization</a:t>
            </a:r>
          </a:p>
          <a:p>
            <a:pPr marL="742950" lvl="1"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742950" lvl="1"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742950" lvl="1"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lvl="1"/>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285750"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285750"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285750"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285750" indent="-285750">
              <a:buFont typeface="Wingdings" panose="05000000000000000000" pitchFamily="2" charset="2"/>
              <a:buChar char="ü"/>
            </a:pPr>
            <a:r>
              <a:rPr lang="en-US" altLang="zh-CN" b="1" dirty="0">
                <a:solidFill>
                  <a:srgbClr val="FF0000"/>
                </a:solidFill>
                <a:latin typeface="Times New Roman" panose="02020603050405020304" pitchFamily="18" charset="0"/>
                <a:ea typeface="微软雅黑"/>
                <a:cs typeface="Times New Roman" panose="02020603050405020304" pitchFamily="18" charset="0"/>
              </a:rPr>
              <a:t>Multi-class Classification Leaf Quantization</a:t>
            </a:r>
          </a:p>
          <a:p>
            <a:pPr marL="742950" lvl="1"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742950" lvl="1"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lvl="2"/>
            <a:endParaRPr lang="en-US" altLang="zh-CN"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endParaRPr lang="en-US" altLang="zh-CN"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endParaRPr lang="en-US" altLang="zh-CN" dirty="0">
              <a:latin typeface="Times New Roman" panose="02020603050405020304" pitchFamily="18" charset="0"/>
              <a:ea typeface="微软雅黑"/>
              <a:cs typeface="Times New Roman" panose="02020603050405020304" pitchFamily="18" charset="0"/>
            </a:endParaRPr>
          </a:p>
        </p:txBody>
      </p:sp>
      <p:pic>
        <p:nvPicPr>
          <p:cNvPr id="8" name="图片 7">
            <a:extLst>
              <a:ext uri="{FF2B5EF4-FFF2-40B4-BE49-F238E27FC236}">
                <a16:creationId xmlns:a16="http://schemas.microsoft.com/office/drawing/2014/main" id="{A727AFE5-B5C6-E17A-E85B-7B572FCA04BB}"/>
              </a:ext>
            </a:extLst>
          </p:cNvPr>
          <p:cNvPicPr>
            <a:picLocks noChangeAspect="1"/>
          </p:cNvPicPr>
          <p:nvPr/>
        </p:nvPicPr>
        <p:blipFill>
          <a:blip r:embed="rId3"/>
          <a:stretch>
            <a:fillRect/>
          </a:stretch>
        </p:blipFill>
        <p:spPr>
          <a:xfrm>
            <a:off x="2531697" y="1342550"/>
            <a:ext cx="4080603" cy="2315089"/>
          </a:xfrm>
          <a:prstGeom prst="rect">
            <a:avLst/>
          </a:prstGeom>
        </p:spPr>
      </p:pic>
      <p:pic>
        <p:nvPicPr>
          <p:cNvPr id="11" name="图片 10">
            <a:extLst>
              <a:ext uri="{FF2B5EF4-FFF2-40B4-BE49-F238E27FC236}">
                <a16:creationId xmlns:a16="http://schemas.microsoft.com/office/drawing/2014/main" id="{D001897D-5F90-BA1F-6876-65FDF45E8453}"/>
              </a:ext>
            </a:extLst>
          </p:cNvPr>
          <p:cNvPicPr>
            <a:picLocks noChangeAspect="1"/>
          </p:cNvPicPr>
          <p:nvPr/>
        </p:nvPicPr>
        <p:blipFill>
          <a:blip r:embed="rId4"/>
          <a:stretch>
            <a:fillRect/>
          </a:stretch>
        </p:blipFill>
        <p:spPr>
          <a:xfrm>
            <a:off x="778748" y="3994802"/>
            <a:ext cx="4143556" cy="1839459"/>
          </a:xfrm>
          <a:prstGeom prst="rect">
            <a:avLst/>
          </a:prstGeom>
        </p:spPr>
      </p:pic>
      <p:pic>
        <p:nvPicPr>
          <p:cNvPr id="14" name="图片 13">
            <a:extLst>
              <a:ext uri="{FF2B5EF4-FFF2-40B4-BE49-F238E27FC236}">
                <a16:creationId xmlns:a16="http://schemas.microsoft.com/office/drawing/2014/main" id="{ADD91155-1044-A8B2-5A4F-095C01540F74}"/>
              </a:ext>
            </a:extLst>
          </p:cNvPr>
          <p:cNvPicPr>
            <a:picLocks noChangeAspect="1"/>
          </p:cNvPicPr>
          <p:nvPr/>
        </p:nvPicPr>
        <p:blipFill>
          <a:blip r:embed="rId5"/>
          <a:stretch>
            <a:fillRect/>
          </a:stretch>
        </p:blipFill>
        <p:spPr>
          <a:xfrm>
            <a:off x="5286905" y="3994802"/>
            <a:ext cx="3442948" cy="1697228"/>
          </a:xfrm>
          <a:prstGeom prst="rect">
            <a:avLst/>
          </a:prstGeom>
        </p:spPr>
      </p:pic>
      <p:pic>
        <p:nvPicPr>
          <p:cNvPr id="17" name="图片 16">
            <a:extLst>
              <a:ext uri="{FF2B5EF4-FFF2-40B4-BE49-F238E27FC236}">
                <a16:creationId xmlns:a16="http://schemas.microsoft.com/office/drawing/2014/main" id="{BC8612E0-E336-8DCF-33C5-AF420A4D729C}"/>
              </a:ext>
            </a:extLst>
          </p:cNvPr>
          <p:cNvPicPr>
            <a:picLocks noChangeAspect="1"/>
          </p:cNvPicPr>
          <p:nvPr/>
        </p:nvPicPr>
        <p:blipFill>
          <a:blip r:embed="rId6"/>
          <a:stretch>
            <a:fillRect/>
          </a:stretch>
        </p:blipFill>
        <p:spPr>
          <a:xfrm>
            <a:off x="2631620" y="5661086"/>
            <a:ext cx="3880759" cy="1140650"/>
          </a:xfrm>
          <a:prstGeom prst="rect">
            <a:avLst/>
          </a:prstGeom>
        </p:spPr>
      </p:pic>
    </p:spTree>
    <p:extLst>
      <p:ext uri="{BB962C8B-B14F-4D97-AF65-F5344CB8AC3E}">
        <p14:creationId xmlns:p14="http://schemas.microsoft.com/office/powerpoint/2010/main" val="644969751"/>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033C-C888-6CBF-BFF8-FB46B684218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5AAB2CE-01A5-1193-C3A8-1E5706E0268E}"/>
              </a:ext>
            </a:extLst>
          </p:cNvPr>
          <p:cNvSpPr>
            <a:spLocks noGrp="1"/>
          </p:cNvSpPr>
          <p:nvPr>
            <p:ph type="title"/>
          </p:nvPr>
        </p:nvSpPr>
        <p:spPr>
          <a:xfrm>
            <a:off x="2145029" y="254000"/>
            <a:ext cx="6584824" cy="517850"/>
          </a:xfrm>
        </p:spPr>
        <p:txBody>
          <a:bodyPr>
            <a:normAutofit/>
          </a:bodyPr>
          <a:lstStyle/>
          <a:p>
            <a:r>
              <a:rPr lang="en-US" altLang="zh-CN" dirty="0"/>
              <a:t>Hardware Architecture</a:t>
            </a:r>
            <a:endParaRPr lang="zh-CN" altLang="en-US" dirty="0"/>
          </a:p>
        </p:txBody>
      </p:sp>
      <p:sp>
        <p:nvSpPr>
          <p:cNvPr id="16" name="文本框 15">
            <a:extLst>
              <a:ext uri="{FF2B5EF4-FFF2-40B4-BE49-F238E27FC236}">
                <a16:creationId xmlns:a16="http://schemas.microsoft.com/office/drawing/2014/main" id="{9B098961-5EC6-4F6D-E3D0-894A1B1E3149}"/>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Challenge 2:</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pic>
        <p:nvPicPr>
          <p:cNvPr id="5" name="图片 4">
            <a:extLst>
              <a:ext uri="{FF2B5EF4-FFF2-40B4-BE49-F238E27FC236}">
                <a16:creationId xmlns:a16="http://schemas.microsoft.com/office/drawing/2014/main" id="{F9DB077C-8767-83D7-38CB-B278D0C582CB}"/>
              </a:ext>
            </a:extLst>
          </p:cNvPr>
          <p:cNvPicPr>
            <a:picLocks noChangeAspect="1"/>
          </p:cNvPicPr>
          <p:nvPr/>
        </p:nvPicPr>
        <p:blipFill>
          <a:blip r:embed="rId3"/>
          <a:stretch>
            <a:fillRect/>
          </a:stretch>
        </p:blipFill>
        <p:spPr>
          <a:xfrm>
            <a:off x="308459" y="3256447"/>
            <a:ext cx="4428438" cy="2821881"/>
          </a:xfrm>
          <a:prstGeom prst="rect">
            <a:avLst/>
          </a:prstGeom>
        </p:spPr>
      </p:pic>
      <p:pic>
        <p:nvPicPr>
          <p:cNvPr id="7" name="图片 6">
            <a:extLst>
              <a:ext uri="{FF2B5EF4-FFF2-40B4-BE49-F238E27FC236}">
                <a16:creationId xmlns:a16="http://schemas.microsoft.com/office/drawing/2014/main" id="{D52F2B3F-D047-0C96-EF68-0DEFC198566E}"/>
              </a:ext>
            </a:extLst>
          </p:cNvPr>
          <p:cNvPicPr>
            <a:picLocks noChangeAspect="1"/>
          </p:cNvPicPr>
          <p:nvPr/>
        </p:nvPicPr>
        <p:blipFill>
          <a:blip r:embed="rId4"/>
          <a:stretch>
            <a:fillRect/>
          </a:stretch>
        </p:blipFill>
        <p:spPr>
          <a:xfrm>
            <a:off x="4802060" y="818962"/>
            <a:ext cx="4273179" cy="5220075"/>
          </a:xfrm>
          <a:prstGeom prst="rect">
            <a:avLst/>
          </a:prstGeom>
        </p:spPr>
      </p:pic>
      <p:sp>
        <p:nvSpPr>
          <p:cNvPr id="10" name="思想气泡: 云 9">
            <a:extLst>
              <a:ext uri="{FF2B5EF4-FFF2-40B4-BE49-F238E27FC236}">
                <a16:creationId xmlns:a16="http://schemas.microsoft.com/office/drawing/2014/main" id="{AA42E6D0-697E-4946-D640-89AF4515FAAB}"/>
              </a:ext>
            </a:extLst>
          </p:cNvPr>
          <p:cNvSpPr/>
          <p:nvPr/>
        </p:nvSpPr>
        <p:spPr>
          <a:xfrm flipH="1">
            <a:off x="801502" y="1320163"/>
            <a:ext cx="2687054" cy="1463842"/>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Times New Roman" panose="02020603050405020304" pitchFamily="18" charset="0"/>
                <a:ea typeface="微软雅黑"/>
                <a:cs typeface="Times New Roman" panose="02020603050405020304" pitchFamily="18" charset="0"/>
              </a:rPr>
              <a:t>“</a:t>
            </a:r>
            <a:r>
              <a:rPr lang="en-US" altLang="zh-CN" sz="1400" i="1" dirty="0"/>
              <a:t>Tree model implementation on FPGA -- a piece of cake!</a:t>
            </a:r>
            <a:r>
              <a:rPr lang="en-US" altLang="zh-CN" sz="1400" dirty="0">
                <a:solidFill>
                  <a:schemeClr val="bg1"/>
                </a:solidFill>
                <a:latin typeface="Times New Roman" panose="02020603050405020304" pitchFamily="18" charset="0"/>
                <a:ea typeface="微软雅黑"/>
                <a:cs typeface="Times New Roman" panose="02020603050405020304" pitchFamily="18" charset="0"/>
              </a:rPr>
              <a:t>”</a:t>
            </a:r>
            <a:endParaRPr lang="zh-CN" altLang="en-US" sz="1400" dirty="0">
              <a:solidFill>
                <a:schemeClr val="bg1"/>
              </a:solidFill>
            </a:endParaRPr>
          </a:p>
        </p:txBody>
      </p:sp>
    </p:spTree>
    <p:extLst>
      <p:ext uri="{BB962C8B-B14F-4D97-AF65-F5344CB8AC3E}">
        <p14:creationId xmlns:p14="http://schemas.microsoft.com/office/powerpoint/2010/main" val="1956022866"/>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408D3-FA98-DB50-C09B-E0562D3059E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93A86D9-A66E-5465-AF4B-0214EC8CFA22}"/>
              </a:ext>
            </a:extLst>
          </p:cNvPr>
          <p:cNvSpPr>
            <a:spLocks noGrp="1"/>
          </p:cNvSpPr>
          <p:nvPr>
            <p:ph type="title"/>
          </p:nvPr>
        </p:nvSpPr>
        <p:spPr>
          <a:xfrm>
            <a:off x="2145029" y="254000"/>
            <a:ext cx="6584824" cy="517850"/>
          </a:xfrm>
        </p:spPr>
        <p:txBody>
          <a:bodyPr>
            <a:normAutofit/>
          </a:bodyPr>
          <a:lstStyle/>
          <a:p>
            <a:r>
              <a:rPr lang="en-US" altLang="zh-CN" dirty="0"/>
              <a:t>Hardware Architecture</a:t>
            </a:r>
            <a:endParaRPr lang="zh-CN" altLang="en-US" dirty="0"/>
          </a:p>
        </p:txBody>
      </p:sp>
      <p:sp>
        <p:nvSpPr>
          <p:cNvPr id="16" name="文本框 15">
            <a:extLst>
              <a:ext uri="{FF2B5EF4-FFF2-40B4-BE49-F238E27FC236}">
                <a16:creationId xmlns:a16="http://schemas.microsoft.com/office/drawing/2014/main" id="{1B38C202-F0CF-80C0-6F80-3956516087D0}"/>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Challenge 2:</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C038DF10-4810-4748-1CC1-7AFAF0CC7E90}"/>
              </a:ext>
            </a:extLst>
          </p:cNvPr>
          <p:cNvSpPr txBox="1"/>
          <p:nvPr/>
        </p:nvSpPr>
        <p:spPr>
          <a:xfrm>
            <a:off x="414146" y="916375"/>
            <a:ext cx="8315707" cy="5632311"/>
          </a:xfrm>
          <a:prstGeom prst="rect">
            <a:avLst/>
          </a:prstGeom>
          <a:noFill/>
        </p:spPr>
        <p:txBody>
          <a:bodyPr wrap="square" rtlCol="0">
            <a:spAutoFit/>
          </a:bodyPr>
          <a:lstStyle/>
          <a:p>
            <a:pPr marL="285750" indent="-285750">
              <a:buFont typeface="Wingdings" panose="05000000000000000000" pitchFamily="2" charset="2"/>
              <a:buChar char="ü"/>
            </a:pPr>
            <a:r>
              <a:rPr lang="en-US" altLang="zh-CN" b="1" dirty="0">
                <a:solidFill>
                  <a:srgbClr val="FF0000"/>
                </a:solidFill>
                <a:latin typeface="Times New Roman" panose="02020603050405020304" pitchFamily="18" charset="0"/>
                <a:ea typeface="微软雅黑"/>
                <a:cs typeface="Times New Roman" panose="02020603050405020304" pitchFamily="18" charset="0"/>
              </a:rPr>
              <a:t>Key Generator</a:t>
            </a:r>
          </a:p>
          <a:p>
            <a:pPr marL="285750"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742950" lvl="1"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742950" lvl="1"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742950" lvl="1"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lvl="1"/>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285750" indent="-285750">
              <a:buFont typeface="Wingdings" panose="05000000000000000000" pitchFamily="2" charset="2"/>
              <a:buChar char="ü"/>
            </a:pPr>
            <a:r>
              <a:rPr lang="en-US" altLang="zh-CN" b="1" dirty="0">
                <a:solidFill>
                  <a:srgbClr val="FF0000"/>
                </a:solidFill>
                <a:latin typeface="Times New Roman" panose="02020603050405020304" pitchFamily="18" charset="0"/>
                <a:ea typeface="微软雅黑"/>
                <a:cs typeface="Times New Roman" panose="02020603050405020304" pitchFamily="18" charset="0"/>
              </a:rPr>
              <a:t>Decision Tree Architecture</a:t>
            </a:r>
          </a:p>
          <a:p>
            <a:pPr marL="285750"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285750"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285750"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285750"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285750"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285750"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285750" indent="-285750">
              <a:buFont typeface="Wingdings" panose="05000000000000000000" pitchFamily="2" charset="2"/>
              <a:buChar char="ü"/>
            </a:pP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285750" indent="-285750">
              <a:buFont typeface="Wingdings" panose="05000000000000000000" pitchFamily="2" charset="2"/>
              <a:buChar char="ü"/>
            </a:pPr>
            <a:r>
              <a:rPr lang="en-US" altLang="zh-CN" b="1" dirty="0">
                <a:solidFill>
                  <a:srgbClr val="FF0000"/>
                </a:solidFill>
                <a:latin typeface="Times New Roman" panose="02020603050405020304" pitchFamily="18" charset="0"/>
                <a:ea typeface="微软雅黑"/>
                <a:cs typeface="Times New Roman" panose="02020603050405020304" pitchFamily="18" charset="0"/>
              </a:rPr>
              <a:t>Adder Tree</a:t>
            </a:r>
          </a:p>
          <a:p>
            <a:pPr marL="742950" lvl="1" indent="-285750">
              <a:buFont typeface="Arial" panose="020B0604020202020204" pitchFamily="34" charset="0"/>
              <a:buChar char="•"/>
            </a:pPr>
            <a:r>
              <a:rPr lang="en-US" altLang="zh-CN" dirty="0">
                <a:latin typeface="Times New Roman" panose="02020603050405020304" pitchFamily="18" charset="0"/>
                <a:ea typeface="微软雅黑"/>
                <a:cs typeface="Times New Roman" panose="02020603050405020304" pitchFamily="18" charset="0"/>
              </a:rPr>
              <a:t>In binary classification, we can compare bias with accumulated trees’ output instead of adding up bias.</a:t>
            </a:r>
          </a:p>
        </p:txBody>
      </p:sp>
      <p:pic>
        <p:nvPicPr>
          <p:cNvPr id="6" name="图片 5">
            <a:extLst>
              <a:ext uri="{FF2B5EF4-FFF2-40B4-BE49-F238E27FC236}">
                <a16:creationId xmlns:a16="http://schemas.microsoft.com/office/drawing/2014/main" id="{CE106F54-10B3-63A4-FD6D-A10441DABF8D}"/>
              </a:ext>
            </a:extLst>
          </p:cNvPr>
          <p:cNvPicPr>
            <a:picLocks noChangeAspect="1"/>
          </p:cNvPicPr>
          <p:nvPr/>
        </p:nvPicPr>
        <p:blipFill>
          <a:blip r:embed="rId3"/>
          <a:stretch>
            <a:fillRect/>
          </a:stretch>
        </p:blipFill>
        <p:spPr>
          <a:xfrm>
            <a:off x="2347006" y="1137639"/>
            <a:ext cx="4273525" cy="1869168"/>
          </a:xfrm>
          <a:prstGeom prst="rect">
            <a:avLst/>
          </a:prstGeom>
        </p:spPr>
      </p:pic>
      <p:pic>
        <p:nvPicPr>
          <p:cNvPr id="9" name="图片 8">
            <a:extLst>
              <a:ext uri="{FF2B5EF4-FFF2-40B4-BE49-F238E27FC236}">
                <a16:creationId xmlns:a16="http://schemas.microsoft.com/office/drawing/2014/main" id="{48FF4186-62FF-D081-73FE-E3BEB79F3632}"/>
              </a:ext>
            </a:extLst>
          </p:cNvPr>
          <p:cNvPicPr>
            <a:picLocks noChangeAspect="1"/>
          </p:cNvPicPr>
          <p:nvPr/>
        </p:nvPicPr>
        <p:blipFill>
          <a:blip r:embed="rId4"/>
          <a:stretch>
            <a:fillRect/>
          </a:stretch>
        </p:blipFill>
        <p:spPr>
          <a:xfrm>
            <a:off x="2569781" y="3429000"/>
            <a:ext cx="4004437" cy="2262730"/>
          </a:xfrm>
          <a:prstGeom prst="rect">
            <a:avLst/>
          </a:prstGeom>
        </p:spPr>
      </p:pic>
    </p:spTree>
    <p:extLst>
      <p:ext uri="{BB962C8B-B14F-4D97-AF65-F5344CB8AC3E}">
        <p14:creationId xmlns:p14="http://schemas.microsoft.com/office/powerpoint/2010/main" val="4184322759"/>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B59A9-D86D-8CBD-E607-7281F4A69D5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B80E869-1437-0D9E-8EA6-3C82A56C6D70}"/>
              </a:ext>
            </a:extLst>
          </p:cNvPr>
          <p:cNvSpPr>
            <a:spLocks noGrp="1"/>
          </p:cNvSpPr>
          <p:nvPr>
            <p:ph type="title"/>
          </p:nvPr>
        </p:nvSpPr>
        <p:spPr>
          <a:xfrm>
            <a:off x="2145029" y="254000"/>
            <a:ext cx="6584824" cy="517850"/>
          </a:xfrm>
        </p:spPr>
        <p:txBody>
          <a:bodyPr>
            <a:normAutofit/>
          </a:bodyPr>
          <a:lstStyle/>
          <a:p>
            <a:r>
              <a:rPr lang="en-US" altLang="zh-CN" dirty="0"/>
              <a:t>Hardware Architecture</a:t>
            </a:r>
            <a:endParaRPr lang="zh-CN" altLang="en-US" dirty="0"/>
          </a:p>
        </p:txBody>
      </p:sp>
      <p:sp>
        <p:nvSpPr>
          <p:cNvPr id="16" name="文本框 15">
            <a:extLst>
              <a:ext uri="{FF2B5EF4-FFF2-40B4-BE49-F238E27FC236}">
                <a16:creationId xmlns:a16="http://schemas.microsoft.com/office/drawing/2014/main" id="{F343FCE7-0DD9-9B5F-3A0E-5B7F2D8B80D7}"/>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Challenge 2:</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A29109A4-DCDC-94E9-EFF7-31CD62F52CE9}"/>
              </a:ext>
            </a:extLst>
          </p:cNvPr>
          <p:cNvSpPr txBox="1"/>
          <p:nvPr/>
        </p:nvSpPr>
        <p:spPr>
          <a:xfrm>
            <a:off x="414146" y="916375"/>
            <a:ext cx="8315707" cy="3416320"/>
          </a:xfrm>
          <a:prstGeom prst="rect">
            <a:avLst/>
          </a:prstGeom>
          <a:noFill/>
        </p:spPr>
        <p:txBody>
          <a:bodyPr wrap="square" rtlCol="0">
            <a:spAutoFit/>
          </a:bodyPr>
          <a:lstStyle/>
          <a:p>
            <a:pPr marL="285750" indent="-285750">
              <a:buFont typeface="Wingdings" panose="05000000000000000000" pitchFamily="2" charset="2"/>
              <a:buChar char="ü"/>
            </a:pPr>
            <a:r>
              <a:rPr lang="en-US" altLang="zh-CN" b="1" dirty="0" err="1">
                <a:solidFill>
                  <a:srgbClr val="FF0000"/>
                </a:solidFill>
                <a:latin typeface="Times New Roman" panose="02020603050405020304" pitchFamily="18" charset="0"/>
                <a:ea typeface="微软雅黑"/>
                <a:cs typeface="Times New Roman" panose="02020603050405020304" pitchFamily="18" charset="0"/>
              </a:rPr>
              <a:t>Pipeling</a:t>
            </a:r>
            <a:endParaRPr lang="en-US" altLang="zh-CN" b="1" dirty="0">
              <a:solidFill>
                <a:srgbClr val="FF0000"/>
              </a:solidFill>
              <a:latin typeface="Times New Roman" panose="02020603050405020304" pitchFamily="18" charset="0"/>
              <a:ea typeface="微软雅黑"/>
              <a:cs typeface="Times New Roman" panose="02020603050405020304" pitchFamily="18" charset="0"/>
            </a:endParaRPr>
          </a:p>
          <a:p>
            <a:pPr marL="742950" lvl="1" indent="-285750">
              <a:buFont typeface="Arial" panose="020B0604020202020204" pitchFamily="34" charset="0"/>
              <a:buChar char="•"/>
            </a:pPr>
            <a:r>
              <a:rPr lang="en-US" altLang="zh-CN" b="1" dirty="0">
                <a:latin typeface="Times New Roman" panose="02020603050405020304" pitchFamily="18" charset="0"/>
                <a:ea typeface="微软雅黑"/>
                <a:cs typeface="Times New Roman" panose="02020603050405020304" pitchFamily="18" charset="0"/>
              </a:rPr>
              <a:t>[p0, p1 ,p2] </a:t>
            </a:r>
            <a:r>
              <a:rPr lang="en-US" altLang="zh-CN" dirty="0">
                <a:latin typeface="Times New Roman" panose="02020603050405020304" pitchFamily="18" charset="0"/>
                <a:ea typeface="微软雅黑"/>
                <a:cs typeface="Times New Roman" panose="02020603050405020304" pitchFamily="18" charset="0"/>
              </a:rPr>
              <a:t>are hyper-parameters</a:t>
            </a:r>
          </a:p>
          <a:p>
            <a:pPr marL="742950" lvl="1" indent="-285750">
              <a:buFont typeface="Arial" panose="020B0604020202020204" pitchFamily="34" charset="0"/>
              <a:buChar char="•"/>
            </a:pPr>
            <a:endParaRPr lang="en-US" altLang="zh-CN" dirty="0">
              <a:latin typeface="Times New Roman" panose="02020603050405020304" pitchFamily="18" charset="0"/>
              <a:ea typeface="微软雅黑"/>
              <a:cs typeface="Times New Roman" panose="02020603050405020304" pitchFamily="18" charset="0"/>
            </a:endParaRPr>
          </a:p>
          <a:p>
            <a:pPr marL="742950" lvl="1" indent="-285750">
              <a:buFont typeface="Arial" panose="020B0604020202020204" pitchFamily="34" charset="0"/>
              <a:buChar char="•"/>
            </a:pPr>
            <a:r>
              <a:rPr lang="en-US" altLang="zh-CN" dirty="0">
                <a:latin typeface="Times New Roman" panose="02020603050405020304" pitchFamily="18" charset="0"/>
                <a:ea typeface="微软雅黑"/>
                <a:cs typeface="Times New Roman" panose="02020603050405020304" pitchFamily="18" charset="0"/>
              </a:rPr>
              <a:t>p0 and p1 show </a:t>
            </a:r>
            <a:r>
              <a:rPr lang="en-US" altLang="zh-CN" b="1" dirty="0">
                <a:latin typeface="Times New Roman" panose="02020603050405020304" pitchFamily="18" charset="0"/>
                <a:ea typeface="微软雅黑"/>
                <a:cs typeface="Times New Roman" panose="02020603050405020304" pitchFamily="18" charset="0"/>
              </a:rPr>
              <a:t>if there are any pipelining stages after the key generator and decision tree modules</a:t>
            </a:r>
            <a:r>
              <a:rPr lang="en-US" altLang="zh-CN" dirty="0">
                <a:latin typeface="Times New Roman" panose="02020603050405020304" pitchFamily="18" charset="0"/>
                <a:ea typeface="微软雅黑"/>
                <a:cs typeface="Times New Roman" panose="02020603050405020304" pitchFamily="18" charset="0"/>
              </a:rPr>
              <a:t>, respectively.</a:t>
            </a:r>
          </a:p>
          <a:p>
            <a:pPr marL="742950" lvl="1" indent="-285750">
              <a:buFont typeface="Arial" panose="020B0604020202020204" pitchFamily="34" charset="0"/>
              <a:buChar char="•"/>
            </a:pPr>
            <a:endParaRPr lang="en-US" altLang="zh-CN" dirty="0">
              <a:latin typeface="Times New Roman" panose="02020603050405020304" pitchFamily="18" charset="0"/>
              <a:ea typeface="微软雅黑"/>
              <a:cs typeface="Times New Roman" panose="02020603050405020304" pitchFamily="18" charset="0"/>
            </a:endParaRPr>
          </a:p>
          <a:p>
            <a:pPr marL="742950" lvl="1" indent="-285750">
              <a:buFont typeface="Arial" panose="020B0604020202020204" pitchFamily="34" charset="0"/>
              <a:buChar char="•"/>
            </a:pPr>
            <a:r>
              <a:rPr lang="en-US" altLang="zh-CN" dirty="0">
                <a:latin typeface="Times New Roman" panose="02020603050405020304" pitchFamily="18" charset="0"/>
                <a:ea typeface="微软雅黑"/>
                <a:cs typeface="Times New Roman" panose="02020603050405020304" pitchFamily="18" charset="0"/>
              </a:rPr>
              <a:t>The parameter p2 controls </a:t>
            </a:r>
            <a:r>
              <a:rPr lang="en-US" altLang="zh-CN" b="1" dirty="0">
                <a:latin typeface="Times New Roman" panose="02020603050405020304" pitchFamily="18" charset="0"/>
                <a:ea typeface="微软雅黑"/>
                <a:cs typeface="Times New Roman" panose="02020603050405020304" pitchFamily="18" charset="0"/>
              </a:rPr>
              <a:t>the number of pipelining stages in adder tree modules</a:t>
            </a:r>
            <a:r>
              <a:rPr lang="en-US" altLang="zh-CN" dirty="0">
                <a:latin typeface="Times New Roman" panose="02020603050405020304" pitchFamily="18" charset="0"/>
                <a:ea typeface="微软雅黑"/>
                <a:cs typeface="Times New Roman" panose="02020603050405020304" pitchFamily="18" charset="0"/>
              </a:rPr>
              <a:t>. Rather than inserting registers at every level, they are </a:t>
            </a:r>
            <a:r>
              <a:rPr lang="en-US" altLang="zh-CN" b="1" dirty="0">
                <a:latin typeface="Times New Roman" panose="02020603050405020304" pitchFamily="18" charset="0"/>
                <a:ea typeface="微软雅黑"/>
                <a:cs typeface="Times New Roman" panose="02020603050405020304" pitchFamily="18" charset="0"/>
              </a:rPr>
              <a:t>uniformly distributed</a:t>
            </a:r>
            <a:r>
              <a:rPr lang="en-US" altLang="zh-CN" dirty="0">
                <a:latin typeface="Times New Roman" panose="02020603050405020304" pitchFamily="18" charset="0"/>
                <a:ea typeface="微软雅黑"/>
                <a:cs typeface="Times New Roman" panose="02020603050405020304" pitchFamily="18" charset="0"/>
              </a:rPr>
              <a:t> across select levels according to the adder tree depth. </a:t>
            </a:r>
          </a:p>
          <a:p>
            <a:pPr marL="1200150" lvl="2" indent="-285750">
              <a:buFont typeface="Arial" panose="020B0604020202020204" pitchFamily="34" charset="0"/>
              <a:buChar char="•"/>
            </a:pPr>
            <a:r>
              <a:rPr lang="en-US" altLang="zh-CN" i="1" dirty="0">
                <a:latin typeface="Times New Roman" panose="02020603050405020304" pitchFamily="18" charset="0"/>
                <a:ea typeface="微软雅黑"/>
                <a:cs typeface="Times New Roman" panose="02020603050405020304" pitchFamily="18" charset="0"/>
              </a:rPr>
              <a:t>For instance, when the adder tree depth is 6 and p2=1, only the third level contains a pipelining stage after the adders</a:t>
            </a:r>
            <a:r>
              <a:rPr lang="en-US" altLang="zh-CN" dirty="0">
                <a:latin typeface="Times New Roman" panose="02020603050405020304" pitchFamily="18" charset="0"/>
                <a:ea typeface="微软雅黑"/>
                <a:cs typeface="Times New Roman" panose="02020603050405020304" pitchFamily="18" charset="0"/>
              </a:rPr>
              <a:t>.</a:t>
            </a:r>
          </a:p>
          <a:p>
            <a:pPr marL="742950" lvl="1" indent="-285750">
              <a:buFont typeface="Arial" panose="020B0604020202020204" pitchFamily="34" charset="0"/>
              <a:buChar char="•"/>
            </a:pPr>
            <a:endParaRPr lang="en-US" altLang="zh-CN" b="1" dirty="0">
              <a:latin typeface="Times New Roman" panose="02020603050405020304" pitchFamily="18" charset="0"/>
              <a:ea typeface="微软雅黑"/>
              <a:cs typeface="Times New Roman" panose="02020603050405020304" pitchFamily="18" charset="0"/>
            </a:endParaRPr>
          </a:p>
        </p:txBody>
      </p:sp>
    </p:spTree>
    <p:extLst>
      <p:ext uri="{BB962C8B-B14F-4D97-AF65-F5344CB8AC3E}">
        <p14:creationId xmlns:p14="http://schemas.microsoft.com/office/powerpoint/2010/main" val="3961274723"/>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32042-D45C-91C0-DC5A-8835B9D0110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D571F32-F94E-F64E-272D-BC1EA3AF5B7E}"/>
              </a:ext>
            </a:extLst>
          </p:cNvPr>
          <p:cNvSpPr>
            <a:spLocks noGrp="1"/>
          </p:cNvSpPr>
          <p:nvPr>
            <p:ph type="title"/>
          </p:nvPr>
        </p:nvSpPr>
        <p:spPr>
          <a:xfrm>
            <a:off x="2145029" y="254000"/>
            <a:ext cx="6584824" cy="517850"/>
          </a:xfrm>
        </p:spPr>
        <p:txBody>
          <a:bodyPr>
            <a:normAutofit/>
          </a:bodyPr>
          <a:lstStyle/>
          <a:p>
            <a:r>
              <a:rPr lang="en-US" altLang="zh-CN" dirty="0"/>
              <a:t>Tool Flow</a:t>
            </a:r>
            <a:endParaRPr lang="zh-CN" altLang="en-US" dirty="0"/>
          </a:p>
        </p:txBody>
      </p:sp>
      <p:sp>
        <p:nvSpPr>
          <p:cNvPr id="16" name="文本框 15">
            <a:extLst>
              <a:ext uri="{FF2B5EF4-FFF2-40B4-BE49-F238E27FC236}">
                <a16:creationId xmlns:a16="http://schemas.microsoft.com/office/drawing/2014/main" id="{B7FF7564-415A-8E33-E434-3D189EB7CAE0}"/>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Challenge 3:</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pic>
        <p:nvPicPr>
          <p:cNvPr id="5" name="图片 4">
            <a:extLst>
              <a:ext uri="{FF2B5EF4-FFF2-40B4-BE49-F238E27FC236}">
                <a16:creationId xmlns:a16="http://schemas.microsoft.com/office/drawing/2014/main" id="{00942495-59AA-6C28-9B3A-9EEF7EA9FE49}"/>
              </a:ext>
            </a:extLst>
          </p:cNvPr>
          <p:cNvPicPr>
            <a:picLocks noChangeAspect="1"/>
          </p:cNvPicPr>
          <p:nvPr/>
        </p:nvPicPr>
        <p:blipFill>
          <a:blip r:embed="rId3"/>
          <a:stretch>
            <a:fillRect/>
          </a:stretch>
        </p:blipFill>
        <p:spPr>
          <a:xfrm>
            <a:off x="2506658" y="1519435"/>
            <a:ext cx="4412688" cy="4412688"/>
          </a:xfrm>
          <a:prstGeom prst="rect">
            <a:avLst/>
          </a:prstGeom>
        </p:spPr>
      </p:pic>
      <p:sp>
        <p:nvSpPr>
          <p:cNvPr id="9" name="文本框 8">
            <a:extLst>
              <a:ext uri="{FF2B5EF4-FFF2-40B4-BE49-F238E27FC236}">
                <a16:creationId xmlns:a16="http://schemas.microsoft.com/office/drawing/2014/main" id="{D11D91F4-5B00-D135-FC93-B1356F10C1D0}"/>
              </a:ext>
            </a:extLst>
          </p:cNvPr>
          <p:cNvSpPr txBox="1"/>
          <p:nvPr/>
        </p:nvSpPr>
        <p:spPr>
          <a:xfrm>
            <a:off x="0" y="1328759"/>
            <a:ext cx="2619507" cy="1477328"/>
          </a:xfrm>
          <a:prstGeom prst="rect">
            <a:avLst/>
          </a:prstGeom>
          <a:noFill/>
        </p:spPr>
        <p:txBody>
          <a:bodyPr wrap="square" rtlCol="0">
            <a:spAutoFit/>
          </a:bodyPr>
          <a:lstStyle/>
          <a:p>
            <a:pPr marL="285750" indent="-285750">
              <a:buFont typeface="Wingdings" panose="05000000000000000000" pitchFamily="2" charset="2"/>
              <a:buChar char="ü"/>
            </a:pPr>
            <a:r>
              <a:rPr lang="en-US" altLang="zh-CN" dirty="0">
                <a:solidFill>
                  <a:srgbClr val="FF0000"/>
                </a:solidFill>
                <a:latin typeface="Times New Roman" panose="02020603050405020304" pitchFamily="18" charset="0"/>
                <a:cs typeface="Times New Roman" panose="02020603050405020304" pitchFamily="18" charset="0"/>
              </a:rPr>
              <a:t>Boosting parameters</a:t>
            </a:r>
          </a:p>
          <a:p>
            <a:pPr marL="742950" lvl="1" indent="-285750">
              <a:buFont typeface="Arial" panose="020B0604020202020204" pitchFamily="34" charset="0"/>
              <a:buChar char="•"/>
            </a:pPr>
            <a:r>
              <a:rPr lang="en-US" altLang="zh-CN" dirty="0" err="1">
                <a:latin typeface="Times New Roman" panose="02020603050405020304" pitchFamily="18" charset="0"/>
                <a:cs typeface="Times New Roman" panose="02020603050405020304" pitchFamily="18" charset="0"/>
              </a:rPr>
              <a:t>n_estimators</a:t>
            </a:r>
            <a:endParaRPr lang="en-US" altLang="zh-CN"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altLang="zh-CN" dirty="0" err="1">
                <a:latin typeface="Times New Roman" panose="02020603050405020304" pitchFamily="18" charset="0"/>
                <a:cs typeface="Times New Roman" panose="02020603050405020304" pitchFamily="18" charset="0"/>
              </a:rPr>
              <a:t>max_depth</a:t>
            </a:r>
            <a:endParaRPr lang="en-US" altLang="zh-CN"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eta</a:t>
            </a:r>
          </a:p>
          <a:p>
            <a:pPr marL="742950" lvl="1" indent="-285750">
              <a:buFont typeface="Arial" panose="020B0604020202020204" pitchFamily="34" charset="0"/>
              <a:buChar char="•"/>
            </a:pPr>
            <a:r>
              <a:rPr lang="en-US" altLang="zh-CN" dirty="0" err="1">
                <a:latin typeface="Times New Roman" panose="02020603050405020304" pitchFamily="18" charset="0"/>
                <a:cs typeface="Times New Roman" panose="02020603050405020304" pitchFamily="18" charset="0"/>
              </a:rPr>
              <a:t>scale_pos_weight</a:t>
            </a:r>
            <a:endParaRPr lang="zh-CN" altLang="en-US"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83C8B31C-F9B7-E091-3BBB-4F477AFD2F47}"/>
              </a:ext>
            </a:extLst>
          </p:cNvPr>
          <p:cNvSpPr txBox="1"/>
          <p:nvPr/>
        </p:nvSpPr>
        <p:spPr>
          <a:xfrm>
            <a:off x="6196897" y="1605758"/>
            <a:ext cx="2783305" cy="923330"/>
          </a:xfrm>
          <a:prstGeom prst="rect">
            <a:avLst/>
          </a:prstGeom>
          <a:noFill/>
        </p:spPr>
        <p:txBody>
          <a:bodyPr wrap="square" rtlCol="0">
            <a:spAutoFit/>
          </a:bodyPr>
          <a:lstStyle/>
          <a:p>
            <a:pPr marL="285750" indent="-285750">
              <a:buFont typeface="Wingdings" panose="05000000000000000000" pitchFamily="2" charset="2"/>
              <a:buChar char="ü"/>
            </a:pPr>
            <a:r>
              <a:rPr lang="en-US" altLang="zh-CN" dirty="0">
                <a:solidFill>
                  <a:srgbClr val="FF0000"/>
                </a:solidFill>
                <a:latin typeface="Times New Roman" panose="02020603050405020304" pitchFamily="18" charset="0"/>
                <a:cs typeface="Times New Roman" panose="02020603050405020304" pitchFamily="18" charset="0"/>
              </a:rPr>
              <a:t>Quantization parameters</a:t>
            </a:r>
          </a:p>
          <a:p>
            <a:pPr marL="742950" lvl="1" indent="-285750">
              <a:buFont typeface="Arial" panose="020B0604020202020204" pitchFamily="34" charset="0"/>
              <a:buChar char="•"/>
            </a:pPr>
            <a:r>
              <a:rPr lang="en-US" altLang="zh-CN" dirty="0" err="1">
                <a:latin typeface="Times New Roman" panose="02020603050405020304" pitchFamily="18" charset="0"/>
                <a:cs typeface="Times New Roman" panose="02020603050405020304" pitchFamily="18" charset="0"/>
              </a:rPr>
              <a:t>w_feature</a:t>
            </a:r>
            <a:endParaRPr lang="en-US" altLang="zh-CN"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altLang="zh-CN" dirty="0" err="1">
                <a:latin typeface="Times New Roman" panose="02020603050405020304" pitchFamily="18" charset="0"/>
                <a:cs typeface="Times New Roman" panose="02020603050405020304" pitchFamily="18" charset="0"/>
              </a:rPr>
              <a:t>w_tree</a:t>
            </a:r>
            <a:endParaRPr lang="zh-CN" altLang="en-US"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3A265355-6E94-5A5A-7139-95C394F79939}"/>
              </a:ext>
            </a:extLst>
          </p:cNvPr>
          <p:cNvSpPr txBox="1"/>
          <p:nvPr/>
        </p:nvSpPr>
        <p:spPr>
          <a:xfrm>
            <a:off x="6357319" y="5006964"/>
            <a:ext cx="2783305" cy="646331"/>
          </a:xfrm>
          <a:prstGeom prst="rect">
            <a:avLst/>
          </a:prstGeom>
          <a:noFill/>
        </p:spPr>
        <p:txBody>
          <a:bodyPr wrap="square" rtlCol="0">
            <a:spAutoFit/>
          </a:bodyPr>
          <a:lstStyle/>
          <a:p>
            <a:pPr marL="285750" indent="-285750">
              <a:buFont typeface="Wingdings" panose="05000000000000000000" pitchFamily="2" charset="2"/>
              <a:buChar char="ü"/>
            </a:pPr>
            <a:r>
              <a:rPr lang="en-US" altLang="zh-CN" dirty="0">
                <a:solidFill>
                  <a:srgbClr val="FF0000"/>
                </a:solidFill>
                <a:latin typeface="Times New Roman" panose="02020603050405020304" pitchFamily="18" charset="0"/>
                <a:cs typeface="Times New Roman" panose="02020603050405020304" pitchFamily="18" charset="0"/>
              </a:rPr>
              <a:t>Pipelining parameters</a:t>
            </a:r>
          </a:p>
          <a:p>
            <a:pPr marL="742950" lvl="1" indent="-28575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[p0, p1, p2]</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3093688"/>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C489B-9F41-6C5E-2061-588918CC806E}"/>
            </a:ext>
          </a:extLst>
        </p:cNvPr>
        <p:cNvGrpSpPr/>
        <p:nvPr/>
      </p:nvGrpSpPr>
      <p:grpSpPr>
        <a:xfrm>
          <a:off x="0" y="0"/>
          <a:ext cx="0" cy="0"/>
          <a:chOff x="0" y="0"/>
          <a:chExt cx="0" cy="0"/>
        </a:xfrm>
      </p:grpSpPr>
      <p:sp>
        <p:nvSpPr>
          <p:cNvPr id="44" name="任意多边形: 形状 43">
            <a:extLst>
              <a:ext uri="{FF2B5EF4-FFF2-40B4-BE49-F238E27FC236}">
                <a16:creationId xmlns:a16="http://schemas.microsoft.com/office/drawing/2014/main" id="{241169FB-D443-397C-1D53-4903A60086E6}"/>
              </a:ext>
            </a:extLst>
          </p:cNvPr>
          <p:cNvSpPr/>
          <p:nvPr/>
        </p:nvSpPr>
        <p:spPr>
          <a:xfrm>
            <a:off x="0" y="255832"/>
            <a:ext cx="9144000" cy="1464728"/>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2" name="组合 1">
            <a:extLst>
              <a:ext uri="{FF2B5EF4-FFF2-40B4-BE49-F238E27FC236}">
                <a16:creationId xmlns:a16="http://schemas.microsoft.com/office/drawing/2014/main" id="{25592104-1217-283F-017E-287A190CFCB9}"/>
              </a:ext>
            </a:extLst>
          </p:cNvPr>
          <p:cNvGrpSpPr/>
          <p:nvPr/>
        </p:nvGrpSpPr>
        <p:grpSpPr>
          <a:xfrm>
            <a:off x="2166095" y="3622876"/>
            <a:ext cx="4811810" cy="712614"/>
            <a:chOff x="2254250" y="4293307"/>
            <a:chExt cx="4635500" cy="712614"/>
          </a:xfrm>
        </p:grpSpPr>
        <p:sp>
          <p:nvSpPr>
            <p:cNvPr id="30" name="矩形: 圆角 29">
              <a:extLst>
                <a:ext uri="{FF2B5EF4-FFF2-40B4-BE49-F238E27FC236}">
                  <a16:creationId xmlns:a16="http://schemas.microsoft.com/office/drawing/2014/main" id="{706C839D-4AAD-F4CB-DC3A-0FCE4497DFA1}"/>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 name="文本框 28">
              <a:extLst>
                <a:ext uri="{FF2B5EF4-FFF2-40B4-BE49-F238E27FC236}">
                  <a16:creationId xmlns:a16="http://schemas.microsoft.com/office/drawing/2014/main" id="{84362BAF-6EEE-E4EB-5FBC-5EFAFC63ADEB}"/>
                </a:ext>
              </a:extLst>
            </p:cNvPr>
            <p:cNvSpPr txBox="1"/>
            <p:nvPr/>
          </p:nvSpPr>
          <p:spPr>
            <a:xfrm>
              <a:off x="3161383" y="4357227"/>
              <a:ext cx="3728366"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3200" b="1" dirty="0">
                  <a:solidFill>
                    <a:schemeClr val="accent2"/>
                  </a:solidFill>
                  <a:latin typeface="Arial"/>
                  <a:ea typeface="微软雅黑"/>
                </a:rPr>
                <a:t>TreeLUT</a:t>
              </a:r>
              <a:endParaRPr kumimoji="0" lang="zh-CN" altLang="en-US" sz="3200" b="1" i="0" u="none" strike="noStrike" kern="1200" cap="none" spc="0" normalizeH="0" baseline="0" noProof="0" dirty="0">
                <a:ln>
                  <a:noFill/>
                </a:ln>
                <a:solidFill>
                  <a:schemeClr val="accent2"/>
                </a:solidFill>
                <a:effectLst/>
                <a:uLnTx/>
                <a:uFillTx/>
                <a:latin typeface="Arial"/>
                <a:ea typeface="微软雅黑"/>
                <a:cs typeface="+mn-cs"/>
              </a:endParaRPr>
            </a:p>
          </p:txBody>
        </p:sp>
        <p:sp>
          <p:nvSpPr>
            <p:cNvPr id="31" name="矩形: 圆角 30">
              <a:extLst>
                <a:ext uri="{FF2B5EF4-FFF2-40B4-BE49-F238E27FC236}">
                  <a16:creationId xmlns:a16="http://schemas.microsoft.com/office/drawing/2014/main" id="{293D2E90-6951-6690-CEE8-2F4022944448}"/>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solidFill>
                  <a:effectLst/>
                  <a:uLnTx/>
                  <a:uFillTx/>
                  <a:latin typeface="Arial"/>
                  <a:ea typeface="微软雅黑"/>
                  <a:cs typeface="+mn-cs"/>
                </a:rPr>
                <a:t>2</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pic>
        <p:nvPicPr>
          <p:cNvPr id="35" name="图片 34">
            <a:extLst>
              <a:ext uri="{FF2B5EF4-FFF2-40B4-BE49-F238E27FC236}">
                <a16:creationId xmlns:a16="http://schemas.microsoft.com/office/drawing/2014/main" id="{180B13F7-D073-6BA2-B9F4-CE800852BF4A}"/>
              </a:ext>
            </a:extLst>
          </p:cNvPr>
          <p:cNvPicPr>
            <a:picLocks noChangeAspect="1"/>
          </p:cNvPicPr>
          <p:nvPr/>
        </p:nvPicPr>
        <p:blipFill rotWithShape="1">
          <a:blip r:embed="rId3"/>
          <a:srcRect l="12055" t="-13637" r="12055" b="-13637"/>
          <a:stretch/>
        </p:blipFill>
        <p:spPr>
          <a:xfrm>
            <a:off x="0" y="1252486"/>
            <a:ext cx="9144000" cy="600802"/>
          </a:xfrm>
          <a:prstGeom prst="rect">
            <a:avLst/>
          </a:prstGeom>
        </p:spPr>
      </p:pic>
      <p:sp>
        <p:nvSpPr>
          <p:cNvPr id="36" name="文本框 35">
            <a:extLst>
              <a:ext uri="{FF2B5EF4-FFF2-40B4-BE49-F238E27FC236}">
                <a16:creationId xmlns:a16="http://schemas.microsoft.com/office/drawing/2014/main" id="{9C1ABD7F-112B-7044-6201-75647253F414}"/>
              </a:ext>
            </a:extLst>
          </p:cNvPr>
          <p:cNvSpPr txBox="1"/>
          <p:nvPr/>
        </p:nvSpPr>
        <p:spPr>
          <a:xfrm>
            <a:off x="2171123" y="689697"/>
            <a:ext cx="4506430" cy="830997"/>
          </a:xfrm>
          <a:prstGeom prst="rect">
            <a:avLst/>
          </a:prstGeom>
          <a:noFill/>
        </p:spPr>
        <p:txBody>
          <a:bodyPr wrap="square">
            <a:spAutoFit/>
          </a:bodyPr>
          <a:lstStyle/>
          <a:p>
            <a:pPr lvl="1" algn="ctr">
              <a:defRPr/>
            </a:pPr>
            <a:r>
              <a:rPr kumimoji="0" lang="en-US" altLang="zh-CN" sz="4800" b="1" i="0" u="none" strike="noStrike" kern="1200" cap="none" spc="600" normalizeH="0" baseline="0" noProof="0" dirty="0">
                <a:ln>
                  <a:noFill/>
                </a:ln>
                <a:solidFill>
                  <a:srgbClr val="082E72"/>
                </a:solidFill>
                <a:effectLst/>
                <a:uLnTx/>
                <a:uFillTx/>
                <a:latin typeface="+mj-ea"/>
                <a:ea typeface="+mj-ea"/>
              </a:rPr>
              <a:t>Solutions</a:t>
            </a:r>
            <a:endParaRPr kumimoji="0" lang="zh-CN" altLang="en-US" sz="4800" b="1" i="0" u="none" strike="noStrike" kern="1200" cap="none" spc="600" normalizeH="0" baseline="0" noProof="0" dirty="0">
              <a:ln>
                <a:noFill/>
              </a:ln>
              <a:solidFill>
                <a:srgbClr val="082E72"/>
              </a:solidFill>
              <a:effectLst/>
              <a:uLnTx/>
              <a:uFillTx/>
              <a:latin typeface="+mj-ea"/>
              <a:ea typeface="+mj-ea"/>
            </a:endParaRPr>
          </a:p>
        </p:txBody>
      </p:sp>
      <p:grpSp>
        <p:nvGrpSpPr>
          <p:cNvPr id="32" name="组合 31">
            <a:extLst>
              <a:ext uri="{FF2B5EF4-FFF2-40B4-BE49-F238E27FC236}">
                <a16:creationId xmlns:a16="http://schemas.microsoft.com/office/drawing/2014/main" id="{34660F47-37BF-8EE4-638E-385A4D57F508}"/>
              </a:ext>
            </a:extLst>
          </p:cNvPr>
          <p:cNvGrpSpPr/>
          <p:nvPr/>
        </p:nvGrpSpPr>
        <p:grpSpPr>
          <a:xfrm>
            <a:off x="2166095" y="2635431"/>
            <a:ext cx="4811810" cy="712614"/>
            <a:chOff x="2254250" y="3340100"/>
            <a:chExt cx="4811810" cy="712614"/>
          </a:xfrm>
        </p:grpSpPr>
        <p:sp>
          <p:nvSpPr>
            <p:cNvPr id="33" name="矩形: 圆角 26">
              <a:extLst>
                <a:ext uri="{FF2B5EF4-FFF2-40B4-BE49-F238E27FC236}">
                  <a16:creationId xmlns:a16="http://schemas.microsoft.com/office/drawing/2014/main" id="{0A6CC300-F6E4-2C0A-34FD-4563A90F4794}"/>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4" name="文本框 33">
              <a:extLst>
                <a:ext uri="{FF2B5EF4-FFF2-40B4-BE49-F238E27FC236}">
                  <a16:creationId xmlns:a16="http://schemas.microsoft.com/office/drawing/2014/main" id="{FBBABD8C-AEB3-D99E-6551-39B4F3F22DF9}"/>
                </a:ext>
              </a:extLst>
            </p:cNvPr>
            <p:cNvSpPr txBox="1"/>
            <p:nvPr/>
          </p:nvSpPr>
          <p:spPr>
            <a:xfrm>
              <a:off x="3161383" y="3404020"/>
              <a:ext cx="3904677" cy="584775"/>
            </a:xfrm>
            <a:prstGeom prst="rect">
              <a:avLst/>
            </a:prstGeom>
            <a:noFill/>
          </p:spPr>
          <p:txBody>
            <a:bodyPr wrap="square">
              <a:spAutoFit/>
            </a:bodyPr>
            <a:lstStyle/>
            <a:p>
              <a:pPr>
                <a:defRPr/>
              </a:pPr>
              <a:r>
                <a:rPr lang="en-US" altLang="zh-CN" sz="3200" b="1" dirty="0">
                  <a:solidFill>
                    <a:schemeClr val="accent2"/>
                  </a:solidFill>
                </a:rPr>
                <a:t>ReducedLUT</a:t>
              </a:r>
              <a:endParaRPr lang="zh-CN" altLang="en-US" sz="3200" b="1" dirty="0">
                <a:solidFill>
                  <a:schemeClr val="accent2"/>
                </a:solidFill>
              </a:endParaRPr>
            </a:p>
          </p:txBody>
        </p:sp>
        <p:sp>
          <p:nvSpPr>
            <p:cNvPr id="37" name="矩形: 圆角 27">
              <a:extLst>
                <a:ext uri="{FF2B5EF4-FFF2-40B4-BE49-F238E27FC236}">
                  <a16:creationId xmlns:a16="http://schemas.microsoft.com/office/drawing/2014/main" id="{D641DF8E-FA96-1CE7-3F1F-51776727B912}"/>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1</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38" name="组合 37">
            <a:extLst>
              <a:ext uri="{FF2B5EF4-FFF2-40B4-BE49-F238E27FC236}">
                <a16:creationId xmlns:a16="http://schemas.microsoft.com/office/drawing/2014/main" id="{6E0D3995-7010-D961-D7CC-87D52A629157}"/>
              </a:ext>
            </a:extLst>
          </p:cNvPr>
          <p:cNvGrpSpPr/>
          <p:nvPr/>
        </p:nvGrpSpPr>
        <p:grpSpPr>
          <a:xfrm>
            <a:off x="2166095" y="4615985"/>
            <a:ext cx="4886833" cy="712614"/>
            <a:chOff x="2254250" y="2386893"/>
            <a:chExt cx="4707774" cy="712614"/>
          </a:xfrm>
        </p:grpSpPr>
        <p:sp>
          <p:nvSpPr>
            <p:cNvPr id="39" name="矩形: 圆角 40">
              <a:extLst>
                <a:ext uri="{FF2B5EF4-FFF2-40B4-BE49-F238E27FC236}">
                  <a16:creationId xmlns:a16="http://schemas.microsoft.com/office/drawing/2014/main" id="{F8AADC4A-FAD2-2D7F-F145-46CA43B5475F}"/>
                </a:ext>
              </a:extLst>
            </p:cNvPr>
            <p:cNvSpPr/>
            <p:nvPr/>
          </p:nvSpPr>
          <p:spPr>
            <a:xfrm>
              <a:off x="2254250" y="2386893"/>
              <a:ext cx="4635500" cy="712614"/>
            </a:xfrm>
            <a:prstGeom prst="roundRect">
              <a:avLst>
                <a:gd name="adj" fmla="val 9538"/>
              </a:avLst>
            </a:prstGeom>
            <a:solidFill>
              <a:schemeClr val="accent2"/>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45" name="文本框 44">
              <a:extLst>
                <a:ext uri="{FF2B5EF4-FFF2-40B4-BE49-F238E27FC236}">
                  <a16:creationId xmlns:a16="http://schemas.microsoft.com/office/drawing/2014/main" id="{500CE860-3909-79E7-EAEA-5C99CD07E4BA}"/>
                </a:ext>
              </a:extLst>
            </p:cNvPr>
            <p:cNvSpPr txBox="1"/>
            <p:nvPr/>
          </p:nvSpPr>
          <p:spPr>
            <a:xfrm>
              <a:off x="3161383" y="2450813"/>
              <a:ext cx="3800641" cy="584775"/>
            </a:xfrm>
            <a:prstGeom prst="rect">
              <a:avLst/>
            </a:prstGeom>
            <a:noFill/>
          </p:spPr>
          <p:txBody>
            <a:bodyPr wrap="square">
              <a:spAutoFit/>
            </a:bodyPr>
            <a:lstStyle/>
            <a:p>
              <a:pPr lvl="0">
                <a:defRPr/>
              </a:pPr>
              <a:r>
                <a:rPr lang="en-US" altLang="zh-CN" sz="3200" b="1" dirty="0">
                  <a:solidFill>
                    <a:srgbClr val="FFFFFF"/>
                  </a:solidFill>
                </a:rPr>
                <a:t>AmigoLUT</a:t>
              </a:r>
              <a:endParaRPr lang="zh-CN" altLang="en-US" sz="3200" b="1" dirty="0">
                <a:solidFill>
                  <a:srgbClr val="FFFFFF"/>
                </a:solidFill>
              </a:endParaRPr>
            </a:p>
          </p:txBody>
        </p:sp>
        <p:sp>
          <p:nvSpPr>
            <p:cNvPr id="46" name="矩形: 圆角 42">
              <a:extLst>
                <a:ext uri="{FF2B5EF4-FFF2-40B4-BE49-F238E27FC236}">
                  <a16:creationId xmlns:a16="http://schemas.microsoft.com/office/drawing/2014/main" id="{C565E1CB-7DA5-CC4B-B52E-4E88E1B9D435}"/>
                </a:ext>
              </a:extLst>
            </p:cNvPr>
            <p:cNvSpPr/>
            <p:nvPr/>
          </p:nvSpPr>
          <p:spPr>
            <a:xfrm>
              <a:off x="2326524" y="2457450"/>
              <a:ext cx="571500" cy="571500"/>
            </a:xfrm>
            <a:prstGeom prst="roundRect">
              <a:avLst>
                <a:gd name="adj" fmla="val 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accent2"/>
                  </a:solidFill>
                  <a:effectLst/>
                  <a:uLnTx/>
                  <a:uFillTx/>
                  <a:latin typeface="Arial"/>
                  <a:ea typeface="微软雅黑"/>
                  <a:cs typeface="+mn-cs"/>
                </a:rPr>
                <a:t>3</a:t>
              </a:r>
              <a:endParaRPr kumimoji="0" lang="zh-CN" altLang="en-US" sz="2400" b="1" i="0" u="none" strike="noStrike" kern="1200" cap="none" spc="0" normalizeH="0" baseline="0" noProof="0" dirty="0">
                <a:ln>
                  <a:noFill/>
                </a:ln>
                <a:solidFill>
                  <a:schemeClr val="accent2"/>
                </a:solidFill>
                <a:effectLst/>
                <a:uLnTx/>
                <a:uFillTx/>
                <a:latin typeface="Arial"/>
                <a:ea typeface="微软雅黑"/>
                <a:cs typeface="+mn-cs"/>
              </a:endParaRPr>
            </a:p>
          </p:txBody>
        </p:sp>
      </p:grpSp>
    </p:spTree>
    <p:extLst>
      <p:ext uri="{BB962C8B-B14F-4D97-AF65-F5344CB8AC3E}">
        <p14:creationId xmlns:p14="http://schemas.microsoft.com/office/powerpoint/2010/main" val="2934394050"/>
      </p:ext>
    </p:extLst>
  </p:cSld>
  <p:clrMapOvr>
    <a:masterClrMapping/>
  </p:clrMapOvr>
  <mc:AlternateContent xmlns:mc="http://schemas.openxmlformats.org/markup-compatibility/2006" xmlns:p14="http://schemas.microsoft.com/office/powerpoint/2010/main">
    <mc:Choice Requires="p14">
      <p:transition spd="slow" p14:dur="2000" advTm="3297"/>
    </mc:Choice>
    <mc:Fallback xmlns="">
      <p:transition spd="slow" advTm="3297"/>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82C47-AE5D-8359-1293-1C83A31152F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F87E9D7-03B3-F927-7491-3DB3F6ADE6BC}"/>
              </a:ext>
            </a:extLst>
          </p:cNvPr>
          <p:cNvSpPr>
            <a:spLocks noGrp="1"/>
          </p:cNvSpPr>
          <p:nvPr>
            <p:ph type="title"/>
          </p:nvPr>
        </p:nvSpPr>
        <p:spPr>
          <a:xfrm>
            <a:off x="2145029" y="254000"/>
            <a:ext cx="6488167" cy="517850"/>
          </a:xfrm>
        </p:spPr>
        <p:txBody>
          <a:bodyPr>
            <a:normAutofit fontScale="90000"/>
          </a:bodyPr>
          <a:lstStyle/>
          <a:p>
            <a:r>
              <a:rPr lang="en-US" altLang="zh-CN" dirty="0"/>
              <a:t>Whole is greater than the sum of its parts</a:t>
            </a:r>
            <a:endParaRPr lang="zh-CN" altLang="en-US" dirty="0"/>
          </a:p>
        </p:txBody>
      </p:sp>
      <p:sp>
        <p:nvSpPr>
          <p:cNvPr id="16" name="文本框 15">
            <a:extLst>
              <a:ext uri="{FF2B5EF4-FFF2-40B4-BE49-F238E27FC236}">
                <a16:creationId xmlns:a16="http://schemas.microsoft.com/office/drawing/2014/main" id="{6B7DF551-0926-FC69-C442-0B935E989A6A}"/>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AmigoLUT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1CE7BA0A-0C7D-9541-98CE-4F5B94D459C9}"/>
              </a:ext>
            </a:extLst>
          </p:cNvPr>
          <p:cNvSpPr txBox="1"/>
          <p:nvPr/>
        </p:nvSpPr>
        <p:spPr>
          <a:xfrm>
            <a:off x="254428" y="955639"/>
            <a:ext cx="8889571" cy="2585323"/>
          </a:xfrm>
          <a:prstGeom prst="rect">
            <a:avLst/>
          </a:prstGeom>
          <a:noFill/>
        </p:spPr>
        <p:txBody>
          <a:bodyPr wrap="square" rtlCol="0">
            <a:spAutoFit/>
          </a:bodyPr>
          <a:lstStyle/>
          <a:p>
            <a:pPr lvl="0">
              <a:defRPr/>
            </a:pPr>
            <a:r>
              <a:rPr lang="en-US" altLang="zh-CN" dirty="0">
                <a:latin typeface="Times New Roman" panose="02020603050405020304" pitchFamily="18" charset="0"/>
                <a:cs typeface="Times New Roman" panose="02020603050405020304" pitchFamily="18" charset="0"/>
              </a:rPr>
              <a:t>Ensemble learning makes decisions by having multiple </a:t>
            </a:r>
            <a:r>
              <a:rPr lang="en-US" altLang="zh-CN" b="1" dirty="0">
                <a:latin typeface="Times New Roman" panose="02020603050405020304" pitchFamily="18" charset="0"/>
                <a:cs typeface="Times New Roman" panose="02020603050405020304" pitchFamily="18" charset="0"/>
              </a:rPr>
              <a:t>weak NNs </a:t>
            </a:r>
            <a:r>
              <a:rPr lang="en-US" altLang="zh-CN" dirty="0">
                <a:latin typeface="Times New Roman" panose="02020603050405020304" pitchFamily="18" charset="0"/>
                <a:cs typeface="Times New Roman" panose="02020603050405020304" pitchFamily="18" charset="0"/>
              </a:rPr>
              <a:t>work together, thereby improving</a:t>
            </a:r>
            <a:r>
              <a:rPr lang="en-US" altLang="zh-CN" b="1" dirty="0">
                <a:latin typeface="Times New Roman" panose="02020603050405020304" pitchFamily="18" charset="0"/>
                <a:cs typeface="Times New Roman" panose="02020603050405020304" pitchFamily="18" charset="0"/>
              </a:rPr>
              <a:t> the overall accuracy of the model. </a:t>
            </a:r>
          </a:p>
          <a:p>
            <a:pPr lvl="0">
              <a:defRPr/>
            </a:pP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lvl="0">
              <a:defRPr/>
            </a:pPr>
            <a:r>
              <a:rPr lang="en-US" altLang="zh-CN" b="1" dirty="0">
                <a:solidFill>
                  <a:srgbClr val="FF0000"/>
                </a:solidFill>
                <a:latin typeface="Times New Roman" panose="02020603050405020304" pitchFamily="18" charset="0"/>
                <a:ea typeface="微软雅黑"/>
                <a:cs typeface="Times New Roman" panose="02020603050405020304" pitchFamily="18" charset="0"/>
              </a:rPr>
              <a:t>D</a:t>
            </a:r>
            <a:r>
              <a:rPr kumimoji="0" lang="en-US" altLang="zh-CN" sz="1800" b="1" i="0" u="none" strike="noStrike" kern="1200" cap="none" spc="0" normalizeH="0" baseline="0" noProof="0" dirty="0" err="1">
                <a:ln>
                  <a:noFill/>
                </a:ln>
                <a:solidFill>
                  <a:srgbClr val="FF0000"/>
                </a:solidFill>
                <a:effectLst/>
                <a:uLnTx/>
                <a:uFillTx/>
                <a:latin typeface="Times New Roman" panose="02020603050405020304" pitchFamily="18" charset="0"/>
                <a:ea typeface="微软雅黑"/>
                <a:cs typeface="Times New Roman" panose="02020603050405020304" pitchFamily="18" charset="0"/>
              </a:rPr>
              <a:t>iversity</a:t>
            </a: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 of Thought </a:t>
            </a: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Ensemble models can make better decisions as a group.</a:t>
            </a:r>
          </a:p>
          <a:p>
            <a:pPr lvl="0">
              <a:defRPr/>
            </a:pPr>
            <a:endPar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a:p>
            <a:pPr lvl="0">
              <a:defRPr/>
            </a:pP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Challenge</a:t>
            </a:r>
          </a:p>
          <a:p>
            <a:pPr marL="742950" lvl="1" indent="-285750">
              <a:buFont typeface="Wingdings" panose="05000000000000000000" pitchFamily="2" charset="2"/>
              <a:buChar char="ü"/>
              <a:defRPr/>
            </a:pP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Which ensemble method should we choose for LUT-based NNs?  </a:t>
            </a:r>
          </a:p>
          <a:p>
            <a:pPr marL="742950" lvl="1" indent="-285750">
              <a:buFont typeface="Wingdings" panose="05000000000000000000" pitchFamily="2" charset="2"/>
              <a:buChar char="ü"/>
              <a:defRPr/>
            </a:pP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How can we analyze their ensemble performance?  </a:t>
            </a:r>
          </a:p>
          <a:p>
            <a:pPr marL="742950" lvl="1" indent="-285750">
              <a:buFont typeface="Wingdings" panose="05000000000000000000" pitchFamily="2" charset="2"/>
              <a:buChar char="ü"/>
              <a:defRPr/>
            </a:pP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How can we efficiently implement these ensembles on FPGAs?</a:t>
            </a:r>
            <a:endParaRPr kumimoji="0" lang="zh-CN" altLang="en-US"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pic>
        <p:nvPicPr>
          <p:cNvPr id="4" name="图片 3">
            <a:extLst>
              <a:ext uri="{FF2B5EF4-FFF2-40B4-BE49-F238E27FC236}">
                <a16:creationId xmlns:a16="http://schemas.microsoft.com/office/drawing/2014/main" id="{D9812F9F-55E4-E876-2454-FA523073E69B}"/>
              </a:ext>
            </a:extLst>
          </p:cNvPr>
          <p:cNvPicPr>
            <a:picLocks noChangeAspect="1"/>
          </p:cNvPicPr>
          <p:nvPr/>
        </p:nvPicPr>
        <p:blipFill>
          <a:blip r:embed="rId3"/>
          <a:stretch>
            <a:fillRect/>
          </a:stretch>
        </p:blipFill>
        <p:spPr>
          <a:xfrm>
            <a:off x="2558595" y="3577569"/>
            <a:ext cx="4026810" cy="2902003"/>
          </a:xfrm>
          <a:prstGeom prst="rect">
            <a:avLst/>
          </a:prstGeom>
        </p:spPr>
      </p:pic>
      <p:sp>
        <p:nvSpPr>
          <p:cNvPr id="7" name="文本框 6">
            <a:extLst>
              <a:ext uri="{FF2B5EF4-FFF2-40B4-BE49-F238E27FC236}">
                <a16:creationId xmlns:a16="http://schemas.microsoft.com/office/drawing/2014/main" id="{727C680C-61D1-8E96-7617-0B491121E9FC}"/>
              </a:ext>
            </a:extLst>
          </p:cNvPr>
          <p:cNvSpPr txBox="1"/>
          <p:nvPr/>
        </p:nvSpPr>
        <p:spPr>
          <a:xfrm>
            <a:off x="5915223" y="5946256"/>
            <a:ext cx="2970222" cy="646331"/>
          </a:xfrm>
          <a:prstGeom prst="rect">
            <a:avLst/>
          </a:prstGeom>
          <a:noFill/>
        </p:spPr>
        <p:txBody>
          <a:bodyPr wrap="square" rtlCol="0">
            <a:spAutoFit/>
          </a:bodyPr>
          <a:lstStyle/>
          <a:p>
            <a:r>
              <a:rPr lang="en-US" altLang="zh-CN" dirty="0">
                <a:solidFill>
                  <a:srgbClr val="FF0000"/>
                </a:solidFill>
              </a:rPr>
              <a:t>Achieving Resource Overhead Linear Growth !!!</a:t>
            </a:r>
            <a:endParaRPr lang="zh-CN" altLang="en-US" dirty="0">
              <a:solidFill>
                <a:srgbClr val="FF0000"/>
              </a:solidFill>
            </a:endParaRPr>
          </a:p>
        </p:txBody>
      </p:sp>
    </p:spTree>
    <p:extLst>
      <p:ext uri="{BB962C8B-B14F-4D97-AF65-F5344CB8AC3E}">
        <p14:creationId xmlns:p14="http://schemas.microsoft.com/office/powerpoint/2010/main" val="1607218351"/>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E3791-4EDD-E7A8-F537-FF1005A165E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E3E68AC-6701-7DED-EB16-1515C0079159}"/>
              </a:ext>
            </a:extLst>
          </p:cNvPr>
          <p:cNvSpPr>
            <a:spLocks noGrp="1"/>
          </p:cNvSpPr>
          <p:nvPr>
            <p:ph type="title"/>
          </p:nvPr>
        </p:nvSpPr>
        <p:spPr>
          <a:xfrm>
            <a:off x="2145029" y="254000"/>
            <a:ext cx="6488167" cy="517850"/>
          </a:xfrm>
        </p:spPr>
        <p:txBody>
          <a:bodyPr>
            <a:normAutofit/>
          </a:bodyPr>
          <a:lstStyle/>
          <a:p>
            <a:r>
              <a:rPr lang="en-US" altLang="zh-CN" dirty="0"/>
              <a:t>Challenge 1: </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Which ensemble method?</a:t>
            </a:r>
            <a:endParaRPr lang="zh-CN" altLang="en-US" dirty="0"/>
          </a:p>
        </p:txBody>
      </p:sp>
      <p:sp>
        <p:nvSpPr>
          <p:cNvPr id="16" name="文本框 15">
            <a:extLst>
              <a:ext uri="{FF2B5EF4-FFF2-40B4-BE49-F238E27FC236}">
                <a16:creationId xmlns:a16="http://schemas.microsoft.com/office/drawing/2014/main" id="{BB465129-78FE-228B-DE4C-F884C11331D6}"/>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AmigoLUT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5" name="文本框 4">
            <a:extLst>
              <a:ext uri="{FF2B5EF4-FFF2-40B4-BE49-F238E27FC236}">
                <a16:creationId xmlns:a16="http://schemas.microsoft.com/office/drawing/2014/main" id="{02934978-E314-83B7-7F2D-2F2A3628F0B2}"/>
              </a:ext>
            </a:extLst>
          </p:cNvPr>
          <p:cNvSpPr txBox="1"/>
          <p:nvPr/>
        </p:nvSpPr>
        <p:spPr>
          <a:xfrm>
            <a:off x="285959" y="1012396"/>
            <a:ext cx="8572081" cy="2062103"/>
          </a:xfrm>
          <a:prstGeom prst="rect">
            <a:avLst/>
          </a:prstGeom>
          <a:noFill/>
        </p:spPr>
        <p:txBody>
          <a:bodyPr wrap="square" rtlCol="0">
            <a:spAutoFit/>
          </a:bodyPr>
          <a:lstStyle/>
          <a:p>
            <a:pPr marL="342900" lvl="0" indent="-342900">
              <a:buFont typeface="Wingdings" panose="05000000000000000000" pitchFamily="2" charset="2"/>
              <a:buChar char="ü"/>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The averaging</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method involves </a:t>
            </a:r>
            <a:r>
              <a:rPr kumimoji="0" lang="en-US" altLang="zh-CN"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taking the average of the outputs of all ensemble members</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By </a:t>
            </a:r>
            <a:r>
              <a:rPr kumimoji="0" lang="en-US" altLang="zh-CN"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randomly initializing the weights </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of each ensemble member differently and training them either </a:t>
            </a:r>
            <a:r>
              <a:rPr kumimoji="0" lang="en-US" altLang="zh-CN" i="0" u="none" strike="noStrike" kern="120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independently or dependently</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742950" lvl="1" indent="-285750">
              <a:buFont typeface="Arial" panose="020B0604020202020204" pitchFamily="34" charset="0"/>
              <a:buChar char="•"/>
              <a:defRPr/>
            </a:pP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The averaging method introduces diversity. </a:t>
            </a:r>
          </a:p>
          <a:p>
            <a:pPr marL="742950" lvl="1" indent="-285750">
              <a:buFont typeface="Arial" panose="020B0604020202020204" pitchFamily="34" charset="0"/>
              <a:buChar char="•"/>
              <a:defRPr/>
            </a:pP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In our work, we randomly initialize each model's weights differently and train these models as a whole dependently by </a:t>
            </a:r>
            <a:r>
              <a:rPr kumimoji="0" lang="en-US" altLang="zh-CN"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backpropagating the average of the ensemble output </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through each model.</a:t>
            </a:r>
          </a:p>
        </p:txBody>
      </p:sp>
      <p:pic>
        <p:nvPicPr>
          <p:cNvPr id="8" name="图片 7">
            <a:extLst>
              <a:ext uri="{FF2B5EF4-FFF2-40B4-BE49-F238E27FC236}">
                <a16:creationId xmlns:a16="http://schemas.microsoft.com/office/drawing/2014/main" id="{AE8D15D7-D6C2-0F2E-EAA6-6FA65D44B13E}"/>
              </a:ext>
            </a:extLst>
          </p:cNvPr>
          <p:cNvPicPr>
            <a:picLocks noChangeAspect="1"/>
          </p:cNvPicPr>
          <p:nvPr/>
        </p:nvPicPr>
        <p:blipFill>
          <a:blip r:embed="rId3"/>
          <a:stretch>
            <a:fillRect/>
          </a:stretch>
        </p:blipFill>
        <p:spPr>
          <a:xfrm>
            <a:off x="342791" y="3074499"/>
            <a:ext cx="3839111" cy="3315163"/>
          </a:xfrm>
          <a:prstGeom prst="rect">
            <a:avLst/>
          </a:prstGeom>
        </p:spPr>
      </p:pic>
      <p:pic>
        <p:nvPicPr>
          <p:cNvPr id="12" name="图片 11">
            <a:extLst>
              <a:ext uri="{FF2B5EF4-FFF2-40B4-BE49-F238E27FC236}">
                <a16:creationId xmlns:a16="http://schemas.microsoft.com/office/drawing/2014/main" id="{83D4C041-78BA-B99A-C659-937E812D7973}"/>
              </a:ext>
            </a:extLst>
          </p:cNvPr>
          <p:cNvPicPr>
            <a:picLocks noChangeAspect="1"/>
          </p:cNvPicPr>
          <p:nvPr/>
        </p:nvPicPr>
        <p:blipFill>
          <a:blip r:embed="rId4"/>
          <a:stretch>
            <a:fillRect/>
          </a:stretch>
        </p:blipFill>
        <p:spPr>
          <a:xfrm>
            <a:off x="4524063" y="4041223"/>
            <a:ext cx="4109133" cy="1381713"/>
          </a:xfrm>
          <a:prstGeom prst="rect">
            <a:avLst/>
          </a:prstGeom>
        </p:spPr>
      </p:pic>
    </p:spTree>
    <p:extLst>
      <p:ext uri="{BB962C8B-B14F-4D97-AF65-F5344CB8AC3E}">
        <p14:creationId xmlns:p14="http://schemas.microsoft.com/office/powerpoint/2010/main" val="3882088013"/>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753F3-9D56-E7CB-D024-F8C1577A3CD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7C3C71E-A9F7-879D-AE48-6E8C792732B0}"/>
              </a:ext>
            </a:extLst>
          </p:cNvPr>
          <p:cNvSpPr>
            <a:spLocks noGrp="1"/>
          </p:cNvSpPr>
          <p:nvPr>
            <p:ph type="title"/>
          </p:nvPr>
        </p:nvSpPr>
        <p:spPr>
          <a:xfrm>
            <a:off x="2145029" y="254000"/>
            <a:ext cx="6488167" cy="517850"/>
          </a:xfrm>
        </p:spPr>
        <p:txBody>
          <a:bodyPr>
            <a:normAutofit/>
          </a:bodyPr>
          <a:lstStyle/>
          <a:p>
            <a:r>
              <a:rPr lang="en-US" altLang="zh-CN" dirty="0"/>
              <a:t>Challenge 1: </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Which ensemble method?</a:t>
            </a:r>
            <a:endParaRPr lang="zh-CN" altLang="en-US" dirty="0"/>
          </a:p>
        </p:txBody>
      </p:sp>
      <p:sp>
        <p:nvSpPr>
          <p:cNvPr id="16" name="文本框 15">
            <a:extLst>
              <a:ext uri="{FF2B5EF4-FFF2-40B4-BE49-F238E27FC236}">
                <a16:creationId xmlns:a16="http://schemas.microsoft.com/office/drawing/2014/main" id="{2C12D992-6CC0-CCD0-3146-C7C3245CF272}"/>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AmigoLUT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5" name="文本框 4">
            <a:extLst>
              <a:ext uri="{FF2B5EF4-FFF2-40B4-BE49-F238E27FC236}">
                <a16:creationId xmlns:a16="http://schemas.microsoft.com/office/drawing/2014/main" id="{73909DD2-2AB8-1953-0AEC-4C813994958C}"/>
              </a:ext>
            </a:extLst>
          </p:cNvPr>
          <p:cNvSpPr txBox="1"/>
          <p:nvPr/>
        </p:nvSpPr>
        <p:spPr>
          <a:xfrm>
            <a:off x="285959" y="1012396"/>
            <a:ext cx="8572081" cy="2062103"/>
          </a:xfrm>
          <a:prstGeom prst="rect">
            <a:avLst/>
          </a:prstGeom>
          <a:noFill/>
        </p:spPr>
        <p:txBody>
          <a:bodyPr wrap="square" rtlCol="0">
            <a:spAutoFit/>
          </a:bodyPr>
          <a:lstStyle/>
          <a:p>
            <a:pPr marL="285750" lvl="0" indent="-285750">
              <a:buFont typeface="Wingdings" panose="05000000000000000000" pitchFamily="2" charset="2"/>
              <a:buChar char="ü"/>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Bagging</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an abbreviation for bootstrap aggregation, involves </a:t>
            </a:r>
            <a:r>
              <a:rPr kumimoji="0" lang="en-US" altLang="zh-CN"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randomly sampling the training set with replacement </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to </a:t>
            </a:r>
            <a:r>
              <a:rPr kumimoji="0" lang="en-US" altLang="zh-CN" i="1"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create unique training sets for each ensemble member</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then training each member </a:t>
            </a:r>
            <a:r>
              <a:rPr kumimoji="0" lang="en-US" altLang="zh-CN" i="0" u="none" strike="noStrike" kern="1200" cap="none" spc="0" normalizeH="0" baseline="0" noProof="0" dirty="0">
                <a:ln>
                  <a:noFill/>
                </a:ln>
                <a:solidFill>
                  <a:srgbClr val="00B050"/>
                </a:solidFill>
                <a:effectLst/>
                <a:uLnTx/>
                <a:uFillTx/>
                <a:latin typeface="Times New Roman" panose="02020603050405020304" pitchFamily="18" charset="0"/>
                <a:ea typeface="微软雅黑"/>
                <a:cs typeface="Times New Roman" panose="02020603050405020304" pitchFamily="18" charset="0"/>
              </a:rPr>
              <a:t>independently</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 </a:t>
            </a:r>
          </a:p>
          <a:p>
            <a:pPr marL="742950" lvl="1" indent="-285750">
              <a:buFont typeface="Arial" panose="020B0604020202020204" pitchFamily="34" charset="0"/>
              <a:buChar char="•"/>
              <a:defRPr/>
            </a:pPr>
            <a:r>
              <a:rPr lang="en-US" altLang="zh-CN" dirty="0">
                <a:solidFill>
                  <a:prstClr val="black"/>
                </a:solidFill>
                <a:latin typeface="Times New Roman" panose="02020603050405020304" pitchFamily="18" charset="0"/>
                <a:ea typeface="微软雅黑"/>
                <a:cs typeface="Times New Roman" panose="02020603050405020304" pitchFamily="18" charset="0"/>
              </a:rPr>
              <a:t>These unique training sets introduce diversity into the ensemble, as each member is trained on a different data distribution. </a:t>
            </a:r>
          </a:p>
          <a:p>
            <a:pPr marL="742950" lvl="1" indent="-285750">
              <a:buFont typeface="Arial" panose="020B0604020202020204" pitchFamily="34" charset="0"/>
              <a:buChar char="•"/>
              <a:defRPr/>
            </a:pPr>
            <a:r>
              <a:rPr lang="en-US" altLang="zh-CN" dirty="0">
                <a:solidFill>
                  <a:prstClr val="black"/>
                </a:solidFill>
                <a:latin typeface="Times New Roman" panose="02020603050405020304" pitchFamily="18" charset="0"/>
                <a:ea typeface="微软雅黑"/>
                <a:cs typeface="Times New Roman" panose="02020603050405020304" pitchFamily="18" charset="0"/>
              </a:rPr>
              <a:t>Although the outputs of ensemble members can be combined in various ways, in our work we take the average of the outputs.</a:t>
            </a:r>
            <a:endParaRPr lang="zh-CN" altLang="en-US" dirty="0">
              <a:solidFill>
                <a:prstClr val="black"/>
              </a:solidFill>
              <a:latin typeface="Times New Roman" panose="02020603050405020304" pitchFamily="18" charset="0"/>
              <a:ea typeface="微软雅黑"/>
              <a:cs typeface="Times New Roman" panose="02020603050405020304" pitchFamily="18" charset="0"/>
            </a:endParaRPr>
          </a:p>
        </p:txBody>
      </p:sp>
      <p:pic>
        <p:nvPicPr>
          <p:cNvPr id="3" name="图片 2">
            <a:extLst>
              <a:ext uri="{FF2B5EF4-FFF2-40B4-BE49-F238E27FC236}">
                <a16:creationId xmlns:a16="http://schemas.microsoft.com/office/drawing/2014/main" id="{CA78CD7B-A9B0-0AB8-5C66-F9C3790D7508}"/>
              </a:ext>
            </a:extLst>
          </p:cNvPr>
          <p:cNvPicPr>
            <a:picLocks noChangeAspect="1"/>
          </p:cNvPicPr>
          <p:nvPr/>
        </p:nvPicPr>
        <p:blipFill>
          <a:blip r:embed="rId3"/>
          <a:stretch>
            <a:fillRect/>
          </a:stretch>
        </p:blipFill>
        <p:spPr>
          <a:xfrm>
            <a:off x="1715924" y="3233064"/>
            <a:ext cx="5712149" cy="3213084"/>
          </a:xfrm>
          <a:prstGeom prst="rect">
            <a:avLst/>
          </a:prstGeom>
        </p:spPr>
      </p:pic>
    </p:spTree>
    <p:extLst>
      <p:ext uri="{BB962C8B-B14F-4D97-AF65-F5344CB8AC3E}">
        <p14:creationId xmlns:p14="http://schemas.microsoft.com/office/powerpoint/2010/main" val="1481027530"/>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53C8D-8AE8-F84C-9F44-DB41F66C498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EAC79C1-5F54-1B37-FBCD-00695F895EC5}"/>
              </a:ext>
            </a:extLst>
          </p:cNvPr>
          <p:cNvSpPr>
            <a:spLocks noGrp="1"/>
          </p:cNvSpPr>
          <p:nvPr>
            <p:ph type="title"/>
          </p:nvPr>
        </p:nvSpPr>
        <p:spPr>
          <a:xfrm>
            <a:off x="2145029" y="254000"/>
            <a:ext cx="6488167" cy="517850"/>
          </a:xfrm>
        </p:spPr>
        <p:txBody>
          <a:bodyPr>
            <a:normAutofit/>
          </a:bodyPr>
          <a:lstStyle/>
          <a:p>
            <a:r>
              <a:rPr lang="en-US" altLang="zh-CN" dirty="0"/>
              <a:t>Challenge 1: </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Which ensemble method?</a:t>
            </a:r>
            <a:endParaRPr lang="zh-CN" altLang="en-US" dirty="0"/>
          </a:p>
        </p:txBody>
      </p:sp>
      <p:sp>
        <p:nvSpPr>
          <p:cNvPr id="16" name="文本框 15">
            <a:extLst>
              <a:ext uri="{FF2B5EF4-FFF2-40B4-BE49-F238E27FC236}">
                <a16:creationId xmlns:a16="http://schemas.microsoft.com/office/drawing/2014/main" id="{1D26A533-B93B-AAE7-5892-F8B2EAF5943E}"/>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AmigoLUT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5" name="文本框 4">
            <a:extLst>
              <a:ext uri="{FF2B5EF4-FFF2-40B4-BE49-F238E27FC236}">
                <a16:creationId xmlns:a16="http://schemas.microsoft.com/office/drawing/2014/main" id="{82428774-AB11-7D4B-2770-419C18992702}"/>
              </a:ext>
            </a:extLst>
          </p:cNvPr>
          <p:cNvSpPr txBox="1"/>
          <p:nvPr/>
        </p:nvSpPr>
        <p:spPr>
          <a:xfrm>
            <a:off x="215501" y="943028"/>
            <a:ext cx="8712998" cy="5170646"/>
          </a:xfrm>
          <a:prstGeom prst="rect">
            <a:avLst/>
          </a:prstGeom>
          <a:noFill/>
        </p:spPr>
        <p:txBody>
          <a:bodyPr wrap="square" rtlCol="0">
            <a:spAutoFit/>
          </a:bodyPr>
          <a:lstStyle/>
          <a:p>
            <a:pPr marL="285750" lvl="0" indent="-285750">
              <a:buFont typeface="Wingdings" panose="05000000000000000000" pitchFamily="2" charset="2"/>
              <a:buChar char="ü"/>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AdaBoost </a:t>
            </a:r>
            <a:r>
              <a:rPr kumimoji="0" lang="en-US" altLang="zh-CN" sz="2000" i="0" u="none" strike="noStrike" kern="1200" cap="none" spc="0" normalizeH="0" baseline="0" noProof="0" dirty="0">
                <a:ln>
                  <a:noFill/>
                </a:ln>
                <a:effectLst/>
                <a:uLnTx/>
                <a:uFillTx/>
                <a:latin typeface="Times New Roman" panose="02020603050405020304" pitchFamily="18" charset="0"/>
                <a:ea typeface="微软雅黑"/>
                <a:cs typeface="Times New Roman" panose="02020603050405020304" pitchFamily="18" charset="0"/>
              </a:rPr>
              <a:t>is a boosting method whose core idea is to train multiple models sequentially and have subsequent models focus on the samples </a:t>
            </a:r>
            <a:r>
              <a:rPr kumimoji="0" lang="en-US" altLang="zh-CN" sz="2000" b="1" i="0" u="none" strike="noStrike" kern="1200" cap="none" spc="0" normalizeH="0" baseline="0" noProof="0" dirty="0">
                <a:ln>
                  <a:noFill/>
                </a:ln>
                <a:effectLst/>
                <a:uLnTx/>
                <a:uFillTx/>
                <a:latin typeface="Times New Roman" panose="02020603050405020304" pitchFamily="18" charset="0"/>
                <a:ea typeface="微软雅黑"/>
                <a:cs typeface="Times New Roman" panose="02020603050405020304" pitchFamily="18" charset="0"/>
              </a:rPr>
              <a:t>misclassified by earlier ones</a:t>
            </a:r>
            <a:r>
              <a:rPr kumimoji="0" lang="en-US" altLang="zh-CN" sz="2000" i="0" u="none" strike="noStrike" kern="1200" cap="none" spc="0" normalizeH="0" baseline="0" noProof="0" dirty="0">
                <a:ln>
                  <a:noFill/>
                </a:ln>
                <a:effectLst/>
                <a:uLnTx/>
                <a:uFillTx/>
                <a:latin typeface="Times New Roman" panose="02020603050405020304" pitchFamily="18" charset="0"/>
                <a:ea typeface="微软雅黑"/>
                <a:cs typeface="Times New Roman" panose="02020603050405020304" pitchFamily="18" charset="0"/>
              </a:rPr>
              <a:t>. </a:t>
            </a:r>
          </a:p>
          <a:p>
            <a:pPr marL="800100" lvl="1" indent="-342900">
              <a:buFont typeface="Arial" panose="020B0604020202020204" pitchFamily="34" charset="0"/>
              <a:buChar char="•"/>
              <a:defRPr/>
            </a:pPr>
            <a:r>
              <a:rPr kumimoji="0" lang="en-US" altLang="zh-CN" b="1" i="0" u="none" strike="noStrike" kern="1200" cap="none" spc="0" normalizeH="0" baseline="0" noProof="0" dirty="0">
                <a:ln>
                  <a:noFill/>
                </a:ln>
                <a:effectLst/>
                <a:uLnTx/>
                <a:uFillTx/>
                <a:latin typeface="Times New Roman" panose="02020603050405020304" pitchFamily="18" charset="0"/>
                <a:ea typeface="微软雅黑"/>
                <a:cs typeface="Times New Roman" panose="02020603050405020304" pitchFamily="18" charset="0"/>
              </a:rPr>
              <a:t>Initial Weights</a:t>
            </a:r>
            <a:r>
              <a:rPr kumimoji="0" lang="en-US" altLang="zh-CN" i="0" u="none" strike="noStrike" kern="1200" cap="none" spc="0" normalizeH="0" baseline="0" noProof="0" dirty="0">
                <a:ln>
                  <a:noFill/>
                </a:ln>
                <a:effectLst/>
                <a:uLnTx/>
                <a:uFillTx/>
                <a:latin typeface="Times New Roman" panose="02020603050405020304" pitchFamily="18" charset="0"/>
                <a:ea typeface="微软雅黑"/>
                <a:cs typeface="Times New Roman" panose="02020603050405020304" pitchFamily="18" charset="0"/>
              </a:rPr>
              <a:t>: Initially, all training samples are assigned the same weight, giving each sample an equal chance of being selected.</a:t>
            </a:r>
            <a:endParaRPr lang="en-US" altLang="zh-CN" dirty="0">
              <a:latin typeface="Times New Roman" panose="02020603050405020304" pitchFamily="18" charset="0"/>
              <a:ea typeface="微软雅黑"/>
              <a:cs typeface="Times New Roman" panose="02020603050405020304" pitchFamily="18" charset="0"/>
            </a:endParaRPr>
          </a:p>
          <a:p>
            <a:pPr marL="800100" lvl="1" indent="-342900">
              <a:buFont typeface="Arial" panose="020B0604020202020204" pitchFamily="34" charset="0"/>
              <a:buChar char="•"/>
              <a:defRPr/>
            </a:pPr>
            <a:r>
              <a:rPr kumimoji="0" lang="en-US" altLang="zh-CN" b="1" i="0" u="none" strike="noStrike" kern="1200" cap="none" spc="0" normalizeH="0" baseline="0" noProof="0" dirty="0">
                <a:ln>
                  <a:noFill/>
                </a:ln>
                <a:effectLst/>
                <a:uLnTx/>
                <a:uFillTx/>
                <a:latin typeface="Times New Roman" panose="02020603050405020304" pitchFamily="18" charset="0"/>
                <a:ea typeface="微软雅黑"/>
                <a:cs typeface="Times New Roman" panose="02020603050405020304" pitchFamily="18" charset="0"/>
              </a:rPr>
              <a:t>Sequential Training</a:t>
            </a:r>
            <a:r>
              <a:rPr kumimoji="0" lang="en-US" altLang="zh-CN" i="0" u="none" strike="noStrike" kern="1200" cap="none" spc="0" normalizeH="0" baseline="0" noProof="0" dirty="0">
                <a:ln>
                  <a:noFill/>
                </a:ln>
                <a:effectLst/>
                <a:uLnTx/>
                <a:uFillTx/>
                <a:latin typeface="Times New Roman" panose="02020603050405020304" pitchFamily="18" charset="0"/>
                <a:ea typeface="微软雅黑"/>
                <a:cs typeface="Times New Roman" panose="02020603050405020304" pitchFamily="18" charset="0"/>
              </a:rPr>
              <a:t>: Tains each model in sequence. </a:t>
            </a:r>
            <a:endParaRPr lang="en-US" altLang="zh-CN" dirty="0">
              <a:latin typeface="Times New Roman" panose="02020603050405020304" pitchFamily="18" charset="0"/>
              <a:ea typeface="微软雅黑"/>
              <a:cs typeface="Times New Roman" panose="02020603050405020304" pitchFamily="18" charset="0"/>
            </a:endParaRPr>
          </a:p>
          <a:p>
            <a:pPr marL="1257300" lvl="2" indent="-342900">
              <a:buFont typeface="+mj-lt"/>
              <a:buAutoNum type="alphaLcParenR"/>
              <a:defRPr/>
            </a:pPr>
            <a:r>
              <a:rPr kumimoji="0" lang="en-US" altLang="zh-CN" i="0" u="none" strike="noStrike" kern="1200" cap="none" spc="0" normalizeH="0" baseline="0" noProof="0" dirty="0">
                <a:ln>
                  <a:noFill/>
                </a:ln>
                <a:effectLst/>
                <a:uLnTx/>
                <a:uFillTx/>
                <a:latin typeface="Times New Roman" panose="02020603050405020304" pitchFamily="18" charset="0"/>
                <a:ea typeface="微软雅黑"/>
                <a:cs typeface="Times New Roman" panose="02020603050405020304" pitchFamily="18" charset="0"/>
              </a:rPr>
              <a:t>During the training of each model, the current weights of the samples are used for random sampling. </a:t>
            </a:r>
          </a:p>
          <a:p>
            <a:pPr marL="1257300" lvl="2" indent="-342900">
              <a:buFont typeface="+mj-lt"/>
              <a:buAutoNum type="alphaLcParenR"/>
              <a:defRPr/>
            </a:pPr>
            <a:r>
              <a:rPr kumimoji="0" lang="en-US" altLang="zh-CN" i="0" u="none" strike="noStrike" kern="1200" cap="none" spc="0" normalizeH="0" baseline="0" noProof="0" dirty="0">
                <a:ln>
                  <a:noFill/>
                </a:ln>
                <a:effectLst/>
                <a:uLnTx/>
                <a:uFillTx/>
                <a:latin typeface="Times New Roman" panose="02020603050405020304" pitchFamily="18" charset="0"/>
                <a:ea typeface="微软雅黑"/>
                <a:cs typeface="Times New Roman" panose="02020603050405020304" pitchFamily="18" charset="0"/>
              </a:rPr>
              <a:t>After training, the sample weights are adjusted based on the model's prediction performance: the weights of the misclassified samples are increased, giving them a higher probability of being selected in the next round</a:t>
            </a:r>
          </a:p>
          <a:p>
            <a:pPr marL="1257300" lvl="2" indent="-342900">
              <a:buFont typeface="+mj-lt"/>
              <a:buAutoNum type="alphaLcParenR"/>
              <a:defRPr/>
            </a:pPr>
            <a:r>
              <a:rPr lang="en-US" altLang="zh-CN" dirty="0">
                <a:latin typeface="Times New Roman" panose="02020603050405020304" pitchFamily="18" charset="0"/>
                <a:ea typeface="微软雅黑"/>
                <a:cs typeface="Times New Roman" panose="02020603050405020304" pitchFamily="18" charset="0"/>
              </a:rPr>
              <a:t>C</a:t>
            </a:r>
            <a:r>
              <a:rPr kumimoji="0" lang="en-US" altLang="zh-CN" i="0" u="none" strike="noStrike" kern="1200" cap="none" spc="0" normalizeH="0" baseline="0" noProof="0" dirty="0" err="1">
                <a:ln>
                  <a:noFill/>
                </a:ln>
                <a:effectLst/>
                <a:uLnTx/>
                <a:uFillTx/>
                <a:latin typeface="Times New Roman" panose="02020603050405020304" pitchFamily="18" charset="0"/>
                <a:ea typeface="微软雅黑"/>
                <a:cs typeface="Times New Roman" panose="02020603050405020304" pitchFamily="18" charset="0"/>
              </a:rPr>
              <a:t>ausing</a:t>
            </a:r>
            <a:r>
              <a:rPr kumimoji="0" lang="en-US" altLang="zh-CN" i="0" u="none" strike="noStrike" kern="1200" cap="none" spc="0" normalizeH="0" baseline="0" noProof="0" dirty="0">
                <a:ln>
                  <a:noFill/>
                </a:ln>
                <a:effectLst/>
                <a:uLnTx/>
                <a:uFillTx/>
                <a:latin typeface="Times New Roman" panose="02020603050405020304" pitchFamily="18" charset="0"/>
                <a:ea typeface="微软雅黑"/>
                <a:cs typeface="Times New Roman" panose="02020603050405020304" pitchFamily="18" charset="0"/>
              </a:rPr>
              <a:t> the new model to focus more on these "hard-to-learn" samples.</a:t>
            </a:r>
            <a:endParaRPr lang="en-US" altLang="zh-CN" dirty="0">
              <a:latin typeface="Times New Roman" panose="02020603050405020304" pitchFamily="18" charset="0"/>
              <a:ea typeface="微软雅黑"/>
              <a:cs typeface="Times New Roman" panose="02020603050405020304" pitchFamily="18" charset="0"/>
            </a:endParaRPr>
          </a:p>
          <a:p>
            <a:pPr marL="800100" lvl="1" indent="-342900">
              <a:buFont typeface="Arial" panose="020B0604020202020204" pitchFamily="34" charset="0"/>
              <a:buChar char="•"/>
              <a:defRPr/>
            </a:pPr>
            <a:r>
              <a:rPr kumimoji="0" lang="en-US" altLang="zh-CN" b="1" i="0" u="none" strike="noStrike" kern="1200" cap="none" spc="0" normalizeH="0" baseline="0" noProof="0" dirty="0">
                <a:ln>
                  <a:noFill/>
                </a:ln>
                <a:effectLst/>
                <a:uLnTx/>
                <a:uFillTx/>
                <a:latin typeface="Times New Roman" panose="02020603050405020304" pitchFamily="18" charset="0"/>
                <a:ea typeface="微软雅黑"/>
                <a:cs typeface="Times New Roman" panose="02020603050405020304" pitchFamily="18" charset="0"/>
              </a:rPr>
              <a:t>Weighted Model Fusion</a:t>
            </a:r>
            <a:r>
              <a:rPr kumimoji="0" lang="en-US" altLang="zh-CN" i="0" u="none" strike="noStrike" kern="1200" cap="none" spc="0" normalizeH="0" baseline="0" noProof="0" dirty="0">
                <a:ln>
                  <a:noFill/>
                </a:ln>
                <a:effectLst/>
                <a:uLnTx/>
                <a:uFillTx/>
                <a:latin typeface="Times New Roman" panose="02020603050405020304" pitchFamily="18" charset="0"/>
                <a:ea typeface="微软雅黑"/>
                <a:cs typeface="Times New Roman" panose="02020603050405020304" pitchFamily="18" charset="0"/>
              </a:rPr>
              <a:t>: Finally, after all models have been trained, AdaBoost </a:t>
            </a:r>
            <a:r>
              <a:rPr kumimoji="0" lang="en-US" altLang="zh-CN" b="1" i="0" u="none" strike="noStrike" kern="1200" cap="none" spc="0" normalizeH="0" baseline="0" noProof="0" dirty="0">
                <a:ln>
                  <a:noFill/>
                </a:ln>
                <a:effectLst/>
                <a:uLnTx/>
                <a:uFillTx/>
                <a:latin typeface="Times New Roman" panose="02020603050405020304" pitchFamily="18" charset="0"/>
                <a:ea typeface="微软雅黑"/>
                <a:cs typeface="Times New Roman" panose="02020603050405020304" pitchFamily="18" charset="0"/>
              </a:rPr>
              <a:t>assigns different weights</a:t>
            </a:r>
            <a:r>
              <a:rPr kumimoji="0" lang="en-US" altLang="zh-CN" i="0" u="none" strike="noStrike" kern="1200" cap="none" spc="0" normalizeH="0" baseline="0" noProof="0" dirty="0">
                <a:ln>
                  <a:noFill/>
                </a:ln>
                <a:effectLst/>
                <a:uLnTx/>
                <a:uFillTx/>
                <a:latin typeface="Times New Roman" panose="02020603050405020304" pitchFamily="18" charset="0"/>
                <a:ea typeface="微软雅黑"/>
                <a:cs typeface="Times New Roman" panose="02020603050405020304" pitchFamily="18" charset="0"/>
              </a:rPr>
              <a:t> to each model based on its performance, and the outputs of the models are combined using a weighted average to form the final prediction.</a:t>
            </a:r>
          </a:p>
          <a:p>
            <a:pPr>
              <a:defRPr/>
            </a:pPr>
            <a:endParaRPr lang="en-US" altLang="zh-CN" dirty="0">
              <a:latin typeface="Times New Roman" panose="02020603050405020304" pitchFamily="18" charset="0"/>
              <a:cs typeface="Times New Roman" panose="02020603050405020304" pitchFamily="18" charset="0"/>
            </a:endParaRPr>
          </a:p>
          <a:p>
            <a:pPr>
              <a:defRPr/>
            </a:pPr>
            <a:r>
              <a:rPr lang="en-US" altLang="zh-CN" i="1" dirty="0">
                <a:latin typeface="Times New Roman" panose="02020603050405020304" pitchFamily="18" charset="0"/>
                <a:cs typeface="Times New Roman" panose="02020603050405020304" pitchFamily="18" charset="0"/>
              </a:rPr>
              <a:t>“This method ensures that </a:t>
            </a:r>
            <a:r>
              <a:rPr lang="en-US" altLang="zh-CN" b="1" i="1" dirty="0">
                <a:latin typeface="Times New Roman" panose="02020603050405020304" pitchFamily="18" charset="0"/>
                <a:cs typeface="Times New Roman" panose="02020603050405020304" pitchFamily="18" charset="0"/>
              </a:rPr>
              <a:t>each new model reinforces the shortcomings of the previous one</a:t>
            </a:r>
            <a:r>
              <a:rPr lang="en-US" altLang="zh-CN" i="1" dirty="0">
                <a:latin typeface="Times New Roman" panose="02020603050405020304" pitchFamily="18" charset="0"/>
                <a:cs typeface="Times New Roman" panose="02020603050405020304" pitchFamily="18" charset="0"/>
              </a:rPr>
              <a:t>, thereby enhancing the overall performance of the ensemble system.”</a:t>
            </a:r>
          </a:p>
        </p:txBody>
      </p:sp>
    </p:spTree>
    <p:extLst>
      <p:ext uri="{BB962C8B-B14F-4D97-AF65-F5344CB8AC3E}">
        <p14:creationId xmlns:p14="http://schemas.microsoft.com/office/powerpoint/2010/main" val="2608948303"/>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BC229-D244-3291-4023-2FAB3181657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C8D6383-77CB-E800-4461-98628B6BC446}"/>
              </a:ext>
            </a:extLst>
          </p:cNvPr>
          <p:cNvSpPr>
            <a:spLocks noGrp="1"/>
          </p:cNvSpPr>
          <p:nvPr>
            <p:ph type="title"/>
          </p:nvPr>
        </p:nvSpPr>
        <p:spPr>
          <a:xfrm>
            <a:off x="2145029" y="254000"/>
            <a:ext cx="6488167" cy="517850"/>
          </a:xfrm>
        </p:spPr>
        <p:txBody>
          <a:bodyPr>
            <a:normAutofit/>
          </a:bodyPr>
          <a:lstStyle/>
          <a:p>
            <a:r>
              <a:rPr lang="en-US" altLang="zh-CN" dirty="0"/>
              <a:t>Challenge 1: </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Which ensemble method?</a:t>
            </a:r>
            <a:endParaRPr lang="zh-CN" altLang="en-US" dirty="0"/>
          </a:p>
        </p:txBody>
      </p:sp>
      <p:sp>
        <p:nvSpPr>
          <p:cNvPr id="16" name="文本框 15">
            <a:extLst>
              <a:ext uri="{FF2B5EF4-FFF2-40B4-BE49-F238E27FC236}">
                <a16:creationId xmlns:a16="http://schemas.microsoft.com/office/drawing/2014/main" id="{37BC0457-4B9C-D9C3-E36C-5E4BA05E4AC2}"/>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AmigoLUT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5" name="文本框 4">
            <a:extLst>
              <a:ext uri="{FF2B5EF4-FFF2-40B4-BE49-F238E27FC236}">
                <a16:creationId xmlns:a16="http://schemas.microsoft.com/office/drawing/2014/main" id="{29C4F06F-8B5A-BFA6-1DAF-0C41F03048C8}"/>
              </a:ext>
            </a:extLst>
          </p:cNvPr>
          <p:cNvSpPr txBox="1"/>
          <p:nvPr/>
        </p:nvSpPr>
        <p:spPr>
          <a:xfrm>
            <a:off x="215501" y="943028"/>
            <a:ext cx="8712998" cy="1015663"/>
          </a:xfrm>
          <a:prstGeom prst="rect">
            <a:avLst/>
          </a:prstGeom>
          <a:noFill/>
        </p:spPr>
        <p:txBody>
          <a:bodyPr wrap="square" rtlCol="0">
            <a:spAutoFit/>
          </a:bodyPr>
          <a:lstStyle/>
          <a:p>
            <a:pPr marL="285750" lvl="0" indent="-285750">
              <a:buFont typeface="Wingdings" panose="05000000000000000000" pitchFamily="2" charset="2"/>
              <a:buChar char="ü"/>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AdaBoost </a:t>
            </a:r>
            <a:r>
              <a:rPr kumimoji="0" lang="en-US" altLang="zh-CN" sz="2000" i="0" u="none" strike="noStrike" kern="1200" cap="none" spc="0" normalizeH="0" baseline="0" noProof="0" dirty="0">
                <a:ln>
                  <a:noFill/>
                </a:ln>
                <a:effectLst/>
                <a:uLnTx/>
                <a:uFillTx/>
                <a:latin typeface="Times New Roman" panose="02020603050405020304" pitchFamily="18" charset="0"/>
                <a:ea typeface="微软雅黑"/>
                <a:cs typeface="Times New Roman" panose="02020603050405020304" pitchFamily="18" charset="0"/>
              </a:rPr>
              <a:t>is a boosting method whose core idea is to train multiple models sequentially and have subsequent models focus on the samples </a:t>
            </a:r>
            <a:r>
              <a:rPr kumimoji="0" lang="en-US" altLang="zh-CN" sz="2000" b="1" i="0" u="none" strike="noStrike" kern="1200" cap="none" spc="0" normalizeH="0" baseline="0" noProof="0" dirty="0">
                <a:ln>
                  <a:noFill/>
                </a:ln>
                <a:effectLst/>
                <a:uLnTx/>
                <a:uFillTx/>
                <a:latin typeface="Times New Roman" panose="02020603050405020304" pitchFamily="18" charset="0"/>
                <a:ea typeface="微软雅黑"/>
                <a:cs typeface="Times New Roman" panose="02020603050405020304" pitchFamily="18" charset="0"/>
              </a:rPr>
              <a:t>misclassified by earlier ones</a:t>
            </a:r>
            <a:r>
              <a:rPr kumimoji="0" lang="en-US" altLang="zh-CN" sz="2000" i="0" u="none" strike="noStrike" kern="1200" cap="none" spc="0" normalizeH="0" baseline="0" noProof="0" dirty="0">
                <a:ln>
                  <a:noFill/>
                </a:ln>
                <a:effectLst/>
                <a:uLnTx/>
                <a:uFillTx/>
                <a:latin typeface="Times New Roman" panose="02020603050405020304" pitchFamily="18" charset="0"/>
                <a:ea typeface="微软雅黑"/>
                <a:cs typeface="Times New Roman" panose="02020603050405020304" pitchFamily="18" charset="0"/>
              </a:rPr>
              <a:t>. </a:t>
            </a:r>
          </a:p>
        </p:txBody>
      </p:sp>
      <p:pic>
        <p:nvPicPr>
          <p:cNvPr id="3" name="图片 2">
            <a:extLst>
              <a:ext uri="{FF2B5EF4-FFF2-40B4-BE49-F238E27FC236}">
                <a16:creationId xmlns:a16="http://schemas.microsoft.com/office/drawing/2014/main" id="{1C7BB533-C390-8FEC-0A76-B8F5AC532CC9}"/>
              </a:ext>
            </a:extLst>
          </p:cNvPr>
          <p:cNvPicPr>
            <a:picLocks noChangeAspect="1"/>
          </p:cNvPicPr>
          <p:nvPr/>
        </p:nvPicPr>
        <p:blipFill>
          <a:blip r:embed="rId3"/>
          <a:stretch>
            <a:fillRect/>
          </a:stretch>
        </p:blipFill>
        <p:spPr>
          <a:xfrm>
            <a:off x="1106739" y="2347880"/>
            <a:ext cx="6930521" cy="3898418"/>
          </a:xfrm>
          <a:prstGeom prst="rect">
            <a:avLst/>
          </a:prstGeom>
        </p:spPr>
      </p:pic>
    </p:spTree>
    <p:extLst>
      <p:ext uri="{BB962C8B-B14F-4D97-AF65-F5344CB8AC3E}">
        <p14:creationId xmlns:p14="http://schemas.microsoft.com/office/powerpoint/2010/main" val="1152468786"/>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4B672-B699-5CD4-67EF-761D7E67999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7D45480-26E6-E91E-0A52-975FD6D145A4}"/>
              </a:ext>
            </a:extLst>
          </p:cNvPr>
          <p:cNvSpPr>
            <a:spLocks noGrp="1"/>
          </p:cNvSpPr>
          <p:nvPr>
            <p:ph type="title"/>
          </p:nvPr>
        </p:nvSpPr>
        <p:spPr>
          <a:xfrm>
            <a:off x="2145029" y="254000"/>
            <a:ext cx="6715192" cy="517850"/>
          </a:xfrm>
        </p:spPr>
        <p:txBody>
          <a:bodyPr>
            <a:normAutofit fontScale="90000"/>
          </a:bodyPr>
          <a:lstStyle/>
          <a:p>
            <a:r>
              <a:rPr lang="en-US" altLang="zh-CN" dirty="0"/>
              <a:t>Challenge 2: </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Ensemble Performance Analysis</a:t>
            </a:r>
            <a:endParaRPr lang="zh-CN" altLang="en-US" dirty="0"/>
          </a:p>
        </p:txBody>
      </p:sp>
      <p:sp>
        <p:nvSpPr>
          <p:cNvPr id="16" name="文本框 15">
            <a:extLst>
              <a:ext uri="{FF2B5EF4-FFF2-40B4-BE49-F238E27FC236}">
                <a16:creationId xmlns:a16="http://schemas.microsoft.com/office/drawing/2014/main" id="{F3B55D05-D1DC-676A-B043-79BB6E798961}"/>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AmigoLUT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6" name="文本框 5">
            <a:extLst>
              <a:ext uri="{FF2B5EF4-FFF2-40B4-BE49-F238E27FC236}">
                <a16:creationId xmlns:a16="http://schemas.microsoft.com/office/drawing/2014/main" id="{F989B735-B67D-C06D-B3D0-E84312157CC5}"/>
              </a:ext>
            </a:extLst>
          </p:cNvPr>
          <p:cNvSpPr txBox="1"/>
          <p:nvPr/>
        </p:nvSpPr>
        <p:spPr>
          <a:xfrm>
            <a:off x="343209" y="1202676"/>
            <a:ext cx="7861166" cy="646331"/>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Ensemble Methods Comparison: Evaluating </a:t>
            </a:r>
            <a:r>
              <a:rPr lang="en-US" altLang="zh-CN" dirty="0">
                <a:solidFill>
                  <a:srgbClr val="00B050"/>
                </a:solidFill>
                <a:latin typeface="Times New Roman" panose="02020603050405020304" pitchFamily="18" charset="0"/>
                <a:cs typeface="Times New Roman" panose="02020603050405020304" pitchFamily="18" charset="0"/>
              </a:rPr>
              <a:t>Averaging, Bagging, and AdaBoost</a:t>
            </a:r>
            <a:r>
              <a:rPr lang="en-US" altLang="zh-CN" dirty="0">
                <a:latin typeface="Times New Roman" panose="02020603050405020304" pitchFamily="18" charset="0"/>
                <a:cs typeface="Times New Roman" panose="02020603050405020304" pitchFamily="18" charset="0"/>
              </a:rPr>
              <a:t> on </a:t>
            </a:r>
            <a:r>
              <a:rPr lang="en-US" altLang="zh-CN" dirty="0" err="1">
                <a:solidFill>
                  <a:srgbClr val="0070C0"/>
                </a:solidFill>
                <a:latin typeface="Times New Roman" panose="02020603050405020304" pitchFamily="18" charset="0"/>
                <a:cs typeface="Times New Roman" panose="02020603050405020304" pitchFamily="18" charset="0"/>
              </a:rPr>
              <a:t>LogicNets</a:t>
            </a:r>
            <a:r>
              <a:rPr lang="en-US" altLang="zh-CN" dirty="0">
                <a:latin typeface="Times New Roman" panose="02020603050405020304" pitchFamily="18" charset="0"/>
                <a:cs typeface="Times New Roman" panose="02020603050405020304" pitchFamily="18" charset="0"/>
              </a:rPr>
              <a:t> using </a:t>
            </a:r>
            <a:r>
              <a:rPr lang="en-US" altLang="zh-CN" dirty="0">
                <a:solidFill>
                  <a:srgbClr val="7030A0"/>
                </a:solidFill>
                <a:latin typeface="Times New Roman" panose="02020603050405020304" pitchFamily="18" charset="0"/>
                <a:cs typeface="Times New Roman" panose="02020603050405020304" pitchFamily="18" charset="0"/>
              </a:rPr>
              <a:t>MNIST, </a:t>
            </a:r>
            <a:r>
              <a:rPr lang="en-US" altLang="zh-CN" dirty="0" err="1">
                <a:solidFill>
                  <a:srgbClr val="7030A0"/>
                </a:solidFill>
                <a:latin typeface="Times New Roman" panose="02020603050405020304" pitchFamily="18" charset="0"/>
                <a:cs typeface="Times New Roman" panose="02020603050405020304" pitchFamily="18" charset="0"/>
              </a:rPr>
              <a:t>HGCal</a:t>
            </a:r>
            <a:r>
              <a:rPr lang="en-US" altLang="zh-CN" dirty="0">
                <a:solidFill>
                  <a:srgbClr val="7030A0"/>
                </a:solidFill>
                <a:latin typeface="Times New Roman" panose="02020603050405020304" pitchFamily="18" charset="0"/>
                <a:cs typeface="Times New Roman" panose="02020603050405020304" pitchFamily="18" charset="0"/>
              </a:rPr>
              <a:t> Compression, and JSC datasets</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D028315F-84AA-5E75-8072-5F0D3D3623F9}"/>
              </a:ext>
            </a:extLst>
          </p:cNvPr>
          <p:cNvPicPr>
            <a:picLocks noChangeAspect="1"/>
          </p:cNvPicPr>
          <p:nvPr/>
        </p:nvPicPr>
        <p:blipFill>
          <a:blip r:embed="rId3"/>
          <a:stretch>
            <a:fillRect/>
          </a:stretch>
        </p:blipFill>
        <p:spPr>
          <a:xfrm>
            <a:off x="343209" y="2634719"/>
            <a:ext cx="8318037" cy="2721116"/>
          </a:xfrm>
          <a:prstGeom prst="rect">
            <a:avLst/>
          </a:prstGeom>
        </p:spPr>
      </p:pic>
    </p:spTree>
    <p:extLst>
      <p:ext uri="{BB962C8B-B14F-4D97-AF65-F5344CB8AC3E}">
        <p14:creationId xmlns:p14="http://schemas.microsoft.com/office/powerpoint/2010/main" val="1769175312"/>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A16B4-0026-4A6D-29E1-1FA5582C147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29F5A5D-C302-509C-B36A-3DD50D17BFB3}"/>
              </a:ext>
            </a:extLst>
          </p:cNvPr>
          <p:cNvSpPr>
            <a:spLocks noGrp="1"/>
          </p:cNvSpPr>
          <p:nvPr>
            <p:ph type="title"/>
          </p:nvPr>
        </p:nvSpPr>
        <p:spPr>
          <a:xfrm>
            <a:off x="2145029" y="254000"/>
            <a:ext cx="6715192" cy="517850"/>
          </a:xfrm>
        </p:spPr>
        <p:txBody>
          <a:bodyPr>
            <a:normAutofit fontScale="90000"/>
          </a:bodyPr>
          <a:lstStyle/>
          <a:p>
            <a:r>
              <a:rPr lang="en-US" altLang="zh-CN" dirty="0"/>
              <a:t>Challenge 2: </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Ensemble Performance Analysis</a:t>
            </a:r>
            <a:endParaRPr lang="zh-CN" altLang="en-US" dirty="0"/>
          </a:p>
        </p:txBody>
      </p:sp>
      <p:sp>
        <p:nvSpPr>
          <p:cNvPr id="16" name="文本框 15">
            <a:extLst>
              <a:ext uri="{FF2B5EF4-FFF2-40B4-BE49-F238E27FC236}">
                <a16:creationId xmlns:a16="http://schemas.microsoft.com/office/drawing/2014/main" id="{CE1CAA34-8D01-CE1F-DE5A-16F61D5A6B68}"/>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AmigoLUT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pic>
        <p:nvPicPr>
          <p:cNvPr id="3" name="图片 2">
            <a:extLst>
              <a:ext uri="{FF2B5EF4-FFF2-40B4-BE49-F238E27FC236}">
                <a16:creationId xmlns:a16="http://schemas.microsoft.com/office/drawing/2014/main" id="{3219CD08-B6E0-2F9B-6A17-F9C912CD9C35}"/>
              </a:ext>
            </a:extLst>
          </p:cNvPr>
          <p:cNvPicPr>
            <a:picLocks noChangeAspect="1"/>
          </p:cNvPicPr>
          <p:nvPr/>
        </p:nvPicPr>
        <p:blipFill>
          <a:blip r:embed="rId3"/>
          <a:stretch>
            <a:fillRect/>
          </a:stretch>
        </p:blipFill>
        <p:spPr>
          <a:xfrm>
            <a:off x="298830" y="1229768"/>
            <a:ext cx="4244338" cy="2671525"/>
          </a:xfrm>
          <a:prstGeom prst="rect">
            <a:avLst/>
          </a:prstGeom>
        </p:spPr>
      </p:pic>
      <p:pic>
        <p:nvPicPr>
          <p:cNvPr id="4" name="图片 3">
            <a:extLst>
              <a:ext uri="{FF2B5EF4-FFF2-40B4-BE49-F238E27FC236}">
                <a16:creationId xmlns:a16="http://schemas.microsoft.com/office/drawing/2014/main" id="{FBDDC6A9-C450-BB53-2073-DC913AA580BA}"/>
              </a:ext>
            </a:extLst>
          </p:cNvPr>
          <p:cNvPicPr>
            <a:picLocks noChangeAspect="1"/>
          </p:cNvPicPr>
          <p:nvPr/>
        </p:nvPicPr>
        <p:blipFill>
          <a:blip r:embed="rId4"/>
          <a:stretch>
            <a:fillRect/>
          </a:stretch>
        </p:blipFill>
        <p:spPr>
          <a:xfrm>
            <a:off x="4600832" y="1070103"/>
            <a:ext cx="4259389" cy="2889762"/>
          </a:xfrm>
          <a:prstGeom prst="rect">
            <a:avLst/>
          </a:prstGeom>
        </p:spPr>
      </p:pic>
      <p:sp>
        <p:nvSpPr>
          <p:cNvPr id="5" name="Rectangle 1">
            <a:extLst>
              <a:ext uri="{FF2B5EF4-FFF2-40B4-BE49-F238E27FC236}">
                <a16:creationId xmlns:a16="http://schemas.microsoft.com/office/drawing/2014/main" id="{3A6E851B-DCF0-8066-3686-F8FE79D6D67E}"/>
              </a:ext>
            </a:extLst>
          </p:cNvPr>
          <p:cNvSpPr>
            <a:spLocks noChangeArrowheads="1"/>
          </p:cNvSpPr>
          <p:nvPr/>
        </p:nvSpPr>
        <p:spPr bwMode="auto">
          <a:xfrm>
            <a:off x="461537" y="4436898"/>
            <a:ext cx="8374027"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integrating multiple small models (when hardware resources permit), one can often reduce EMD and enhance performance.</a:t>
            </a:r>
            <a:endParaRPr kumimoji="0" lang="en-US" altLang="zh-CN"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Smaller models benefit the most from </a:t>
            </a:r>
            <a:r>
              <a:rPr kumimoji="0" lang="en-US" altLang="zh-CN" sz="2000" b="1"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ensembling</a:t>
            </a:r>
            <a:r>
              <a:rPr kumimoji="0" lang="en-US" altLang="zh-CN"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achieving significant performance improvements.</a:t>
            </a:r>
            <a:endParaRPr kumimoji="0" lang="zh-CN" altLang="zh-CN"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9240393"/>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97FA3-F0FF-68EC-EF30-5F5D7D2E02C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F07F1F4-E9FC-9314-30A0-30B873387C1F}"/>
              </a:ext>
            </a:extLst>
          </p:cNvPr>
          <p:cNvSpPr>
            <a:spLocks noGrp="1"/>
          </p:cNvSpPr>
          <p:nvPr>
            <p:ph type="title"/>
          </p:nvPr>
        </p:nvSpPr>
        <p:spPr>
          <a:xfrm>
            <a:off x="2145029" y="254000"/>
            <a:ext cx="6715192" cy="517850"/>
          </a:xfrm>
        </p:spPr>
        <p:txBody>
          <a:bodyPr>
            <a:normAutofit fontScale="90000"/>
          </a:bodyPr>
          <a:lstStyle/>
          <a:p>
            <a:r>
              <a:rPr lang="en-US" altLang="zh-CN" dirty="0"/>
              <a:t>Challenge 2: </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Ensemble Performance Analysis</a:t>
            </a:r>
            <a:endParaRPr lang="zh-CN" altLang="en-US" dirty="0"/>
          </a:p>
        </p:txBody>
      </p:sp>
      <p:sp>
        <p:nvSpPr>
          <p:cNvPr id="16" name="文本框 15">
            <a:extLst>
              <a:ext uri="{FF2B5EF4-FFF2-40B4-BE49-F238E27FC236}">
                <a16:creationId xmlns:a16="http://schemas.microsoft.com/office/drawing/2014/main" id="{F3FD08F3-1AE2-7C1F-1012-BD2BFF88E8FB}"/>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AmigoLUT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6" name="Rectangle 1">
            <a:extLst>
              <a:ext uri="{FF2B5EF4-FFF2-40B4-BE49-F238E27FC236}">
                <a16:creationId xmlns:a16="http://schemas.microsoft.com/office/drawing/2014/main" id="{ECE2F4D5-A8F1-7523-21DA-6211E34B4EFF}"/>
              </a:ext>
            </a:extLst>
          </p:cNvPr>
          <p:cNvSpPr>
            <a:spLocks noChangeArrowheads="1"/>
          </p:cNvSpPr>
          <p:nvPr/>
        </p:nvSpPr>
        <p:spPr bwMode="auto">
          <a:xfrm>
            <a:off x="285940" y="930297"/>
            <a:ext cx="857428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zh-CN"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Diversity Plot: </a:t>
            </a: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found that </a:t>
            </a:r>
            <a:r>
              <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averaging performs the best</a:t>
            </a: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understand why it excels while bagging and AdaBoost perform poorly by </a:t>
            </a:r>
            <a:r>
              <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diversity analysis</a:t>
            </a: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zh-CN" altLang="zh-CN"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13C5F711-EDDD-4168-E919-AA19C29A537B}"/>
              </a:ext>
            </a:extLst>
          </p:cNvPr>
          <p:cNvPicPr>
            <a:picLocks noChangeAspect="1"/>
          </p:cNvPicPr>
          <p:nvPr/>
        </p:nvPicPr>
        <p:blipFill>
          <a:blip r:embed="rId3"/>
          <a:stretch>
            <a:fillRect/>
          </a:stretch>
        </p:blipFill>
        <p:spPr>
          <a:xfrm>
            <a:off x="410400" y="1661777"/>
            <a:ext cx="3825416" cy="2791161"/>
          </a:xfrm>
          <a:prstGeom prst="rect">
            <a:avLst/>
          </a:prstGeom>
        </p:spPr>
      </p:pic>
      <p:pic>
        <p:nvPicPr>
          <p:cNvPr id="8" name="图片 7">
            <a:extLst>
              <a:ext uri="{FF2B5EF4-FFF2-40B4-BE49-F238E27FC236}">
                <a16:creationId xmlns:a16="http://schemas.microsoft.com/office/drawing/2014/main" id="{65D9D658-7358-5C36-8428-ACC7281A0B29}"/>
              </a:ext>
            </a:extLst>
          </p:cNvPr>
          <p:cNvPicPr>
            <a:picLocks noChangeAspect="1"/>
          </p:cNvPicPr>
          <p:nvPr/>
        </p:nvPicPr>
        <p:blipFill>
          <a:blip r:embed="rId4"/>
          <a:stretch>
            <a:fillRect/>
          </a:stretch>
        </p:blipFill>
        <p:spPr>
          <a:xfrm>
            <a:off x="4548504" y="1685697"/>
            <a:ext cx="4311717" cy="2619405"/>
          </a:xfrm>
          <a:prstGeom prst="rect">
            <a:avLst/>
          </a:prstGeom>
        </p:spPr>
      </p:pic>
      <p:pic>
        <p:nvPicPr>
          <p:cNvPr id="9" name="图片 8">
            <a:extLst>
              <a:ext uri="{FF2B5EF4-FFF2-40B4-BE49-F238E27FC236}">
                <a16:creationId xmlns:a16="http://schemas.microsoft.com/office/drawing/2014/main" id="{448BF8EF-82C0-98F0-86A7-621FD4C08832}"/>
              </a:ext>
            </a:extLst>
          </p:cNvPr>
          <p:cNvPicPr>
            <a:picLocks noChangeAspect="1"/>
          </p:cNvPicPr>
          <p:nvPr/>
        </p:nvPicPr>
        <p:blipFill>
          <a:blip r:embed="rId5"/>
          <a:stretch>
            <a:fillRect/>
          </a:stretch>
        </p:blipFill>
        <p:spPr>
          <a:xfrm>
            <a:off x="2356566" y="4452938"/>
            <a:ext cx="4019009" cy="2362478"/>
          </a:xfrm>
          <a:prstGeom prst="rect">
            <a:avLst/>
          </a:prstGeom>
        </p:spPr>
      </p:pic>
    </p:spTree>
    <p:extLst>
      <p:ext uri="{BB962C8B-B14F-4D97-AF65-F5344CB8AC3E}">
        <p14:creationId xmlns:p14="http://schemas.microsoft.com/office/powerpoint/2010/main" val="3775350159"/>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36226-8097-074A-87AC-C924419A7E1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EEE984C-1DBE-1D53-4DBD-04A061636A87}"/>
              </a:ext>
            </a:extLst>
          </p:cNvPr>
          <p:cNvSpPr>
            <a:spLocks noGrp="1"/>
          </p:cNvSpPr>
          <p:nvPr>
            <p:ph type="title"/>
          </p:nvPr>
        </p:nvSpPr>
        <p:spPr>
          <a:xfrm>
            <a:off x="2145029" y="254000"/>
            <a:ext cx="6715192" cy="517850"/>
          </a:xfrm>
        </p:spPr>
        <p:txBody>
          <a:bodyPr>
            <a:normAutofit fontScale="90000"/>
          </a:bodyPr>
          <a:lstStyle/>
          <a:p>
            <a:r>
              <a:rPr lang="en-US" altLang="zh-CN" dirty="0"/>
              <a:t>Challenge 2: </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Ensemble Performance Analysis</a:t>
            </a:r>
            <a:endParaRPr lang="zh-CN" altLang="en-US" dirty="0"/>
          </a:p>
        </p:txBody>
      </p:sp>
      <p:sp>
        <p:nvSpPr>
          <p:cNvPr id="16" name="文本框 15">
            <a:extLst>
              <a:ext uri="{FF2B5EF4-FFF2-40B4-BE49-F238E27FC236}">
                <a16:creationId xmlns:a16="http://schemas.microsoft.com/office/drawing/2014/main" id="{F74809C0-1658-094E-3680-502BE8169C40}"/>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AmigoLUT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6" name="Rectangle 1">
            <a:extLst>
              <a:ext uri="{FF2B5EF4-FFF2-40B4-BE49-F238E27FC236}">
                <a16:creationId xmlns:a16="http://schemas.microsoft.com/office/drawing/2014/main" id="{52F710C8-BBA8-8BCA-56AD-F76DB5E7D956}"/>
              </a:ext>
            </a:extLst>
          </p:cNvPr>
          <p:cNvSpPr>
            <a:spLocks noChangeArrowheads="1"/>
          </p:cNvSpPr>
          <p:nvPr/>
        </p:nvSpPr>
        <p:spPr bwMode="auto">
          <a:xfrm>
            <a:off x="283779" y="1163271"/>
            <a:ext cx="857428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zh-CN"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DER: </a:t>
            </a: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found that </a:t>
            </a:r>
            <a:r>
              <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averaging performs the best</a:t>
            </a: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understand why it excels while bagging and AdaBoost perform poorly by </a:t>
            </a:r>
            <a:r>
              <a:rPr kumimoji="0" lang="en-US" altLang="zh-CN"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diversity analysis</a:t>
            </a:r>
            <a:r>
              <a:rPr kumimoji="0" lang="en-US" altLang="zh-CN"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zh-CN" altLang="zh-CN"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F8C3C05D-BD19-DCE3-C6A7-B41E9771A0B1}"/>
              </a:ext>
            </a:extLst>
          </p:cNvPr>
          <p:cNvPicPr>
            <a:picLocks noChangeAspect="1"/>
          </p:cNvPicPr>
          <p:nvPr/>
        </p:nvPicPr>
        <p:blipFill>
          <a:blip r:embed="rId3"/>
          <a:stretch>
            <a:fillRect/>
          </a:stretch>
        </p:blipFill>
        <p:spPr>
          <a:xfrm>
            <a:off x="285940" y="2985319"/>
            <a:ext cx="5395953" cy="714848"/>
          </a:xfrm>
          <a:prstGeom prst="rect">
            <a:avLst/>
          </a:prstGeom>
        </p:spPr>
      </p:pic>
      <p:pic>
        <p:nvPicPr>
          <p:cNvPr id="4" name="图片 3">
            <a:extLst>
              <a:ext uri="{FF2B5EF4-FFF2-40B4-BE49-F238E27FC236}">
                <a16:creationId xmlns:a16="http://schemas.microsoft.com/office/drawing/2014/main" id="{D5C03413-48D9-CCDF-E69A-2F7FBAA386E6}"/>
              </a:ext>
            </a:extLst>
          </p:cNvPr>
          <p:cNvPicPr>
            <a:picLocks noChangeAspect="1"/>
          </p:cNvPicPr>
          <p:nvPr/>
        </p:nvPicPr>
        <p:blipFill>
          <a:blip r:embed="rId4"/>
          <a:stretch>
            <a:fillRect/>
          </a:stretch>
        </p:blipFill>
        <p:spPr>
          <a:xfrm>
            <a:off x="423766" y="3896144"/>
            <a:ext cx="4119276" cy="1216236"/>
          </a:xfrm>
          <a:prstGeom prst="rect">
            <a:avLst/>
          </a:prstGeom>
        </p:spPr>
      </p:pic>
      <p:pic>
        <p:nvPicPr>
          <p:cNvPr id="5" name="图片 4">
            <a:extLst>
              <a:ext uri="{FF2B5EF4-FFF2-40B4-BE49-F238E27FC236}">
                <a16:creationId xmlns:a16="http://schemas.microsoft.com/office/drawing/2014/main" id="{336C47FB-1E49-6375-84BC-D9FF4C896793}"/>
              </a:ext>
            </a:extLst>
          </p:cNvPr>
          <p:cNvPicPr>
            <a:picLocks noChangeAspect="1"/>
          </p:cNvPicPr>
          <p:nvPr/>
        </p:nvPicPr>
        <p:blipFill>
          <a:blip r:embed="rId5"/>
          <a:stretch>
            <a:fillRect/>
          </a:stretch>
        </p:blipFill>
        <p:spPr>
          <a:xfrm>
            <a:off x="4680868" y="2194861"/>
            <a:ext cx="4177192" cy="3402565"/>
          </a:xfrm>
          <a:prstGeom prst="rect">
            <a:avLst/>
          </a:prstGeom>
        </p:spPr>
      </p:pic>
    </p:spTree>
    <p:extLst>
      <p:ext uri="{BB962C8B-B14F-4D97-AF65-F5344CB8AC3E}">
        <p14:creationId xmlns:p14="http://schemas.microsoft.com/office/powerpoint/2010/main" val="4081841223"/>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001BA-32A6-02AA-AC29-76B29013203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0ED864F-9CC8-84A6-FA47-9CCD3A14F109}"/>
              </a:ext>
            </a:extLst>
          </p:cNvPr>
          <p:cNvSpPr>
            <a:spLocks noGrp="1"/>
          </p:cNvSpPr>
          <p:nvPr>
            <p:ph type="title"/>
          </p:nvPr>
        </p:nvSpPr>
        <p:spPr>
          <a:xfrm>
            <a:off x="2145029" y="254000"/>
            <a:ext cx="6715192" cy="517850"/>
          </a:xfrm>
        </p:spPr>
        <p:txBody>
          <a:bodyPr>
            <a:normAutofit/>
          </a:bodyPr>
          <a:lstStyle/>
          <a:p>
            <a:r>
              <a:rPr lang="en-US" altLang="zh-CN" dirty="0"/>
              <a:t>Challenge 3: </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How to implement?</a:t>
            </a:r>
            <a:endParaRPr lang="zh-CN" altLang="en-US" dirty="0"/>
          </a:p>
        </p:txBody>
      </p:sp>
      <p:sp>
        <p:nvSpPr>
          <p:cNvPr id="16" name="文本框 15">
            <a:extLst>
              <a:ext uri="{FF2B5EF4-FFF2-40B4-BE49-F238E27FC236}">
                <a16:creationId xmlns:a16="http://schemas.microsoft.com/office/drawing/2014/main" id="{7A5F4E23-B664-4CFD-5F46-D792DA32E2F5}"/>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AmigoLUT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7" name="文本框 6">
            <a:extLst>
              <a:ext uri="{FF2B5EF4-FFF2-40B4-BE49-F238E27FC236}">
                <a16:creationId xmlns:a16="http://schemas.microsoft.com/office/drawing/2014/main" id="{FADFE5C7-36C5-EBBA-E9B7-0B3720CFCDA6}"/>
              </a:ext>
            </a:extLst>
          </p:cNvPr>
          <p:cNvSpPr txBox="1"/>
          <p:nvPr/>
        </p:nvSpPr>
        <p:spPr>
          <a:xfrm>
            <a:off x="317472" y="882045"/>
            <a:ext cx="76851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zh-CN"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Minimize resource overhead vs. </a:t>
            </a:r>
            <a:r>
              <a:rPr lang="fr-FR" altLang="zh-CN" b="1" dirty="0">
                <a:solidFill>
                  <a:prstClr val="black"/>
                </a:solidFill>
                <a:latin typeface="Times New Roman" panose="02020603050405020304" pitchFamily="18" charset="0"/>
                <a:ea typeface="微软雅黑"/>
                <a:cs typeface="Times New Roman" panose="02020603050405020304" pitchFamily="18" charset="0"/>
              </a:rPr>
              <a:t>M</a:t>
            </a:r>
            <a:r>
              <a:rPr kumimoji="0" lang="fr-FR" altLang="zh-CN"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aintain ensemble performance</a:t>
            </a:r>
            <a:endParaRPr kumimoji="0" lang="zh-CN" altLang="en-US" b="1"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pic>
        <p:nvPicPr>
          <p:cNvPr id="8" name="图片 7">
            <a:extLst>
              <a:ext uri="{FF2B5EF4-FFF2-40B4-BE49-F238E27FC236}">
                <a16:creationId xmlns:a16="http://schemas.microsoft.com/office/drawing/2014/main" id="{E23B2CF8-5A15-465A-11F2-2D54199D0804}"/>
              </a:ext>
            </a:extLst>
          </p:cNvPr>
          <p:cNvPicPr>
            <a:picLocks noChangeAspect="1"/>
          </p:cNvPicPr>
          <p:nvPr/>
        </p:nvPicPr>
        <p:blipFill>
          <a:blip r:embed="rId3"/>
          <a:stretch>
            <a:fillRect/>
          </a:stretch>
        </p:blipFill>
        <p:spPr>
          <a:xfrm>
            <a:off x="1241679" y="1437443"/>
            <a:ext cx="6660642" cy="5035959"/>
          </a:xfrm>
          <a:prstGeom prst="rect">
            <a:avLst/>
          </a:prstGeom>
        </p:spPr>
      </p:pic>
    </p:spTree>
    <p:extLst>
      <p:ext uri="{BB962C8B-B14F-4D97-AF65-F5344CB8AC3E}">
        <p14:creationId xmlns:p14="http://schemas.microsoft.com/office/powerpoint/2010/main" val="3266196242"/>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ACA1C-5377-0F04-2E50-B16B8BEEF3D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D343C3A-BF3E-B343-2EF6-3E92DAB8023D}"/>
              </a:ext>
            </a:extLst>
          </p:cNvPr>
          <p:cNvSpPr>
            <a:spLocks noGrp="1"/>
          </p:cNvSpPr>
          <p:nvPr>
            <p:ph type="title"/>
          </p:nvPr>
        </p:nvSpPr>
        <p:spPr>
          <a:xfrm>
            <a:off x="2145029" y="254000"/>
            <a:ext cx="6715192" cy="517850"/>
          </a:xfrm>
        </p:spPr>
        <p:txBody>
          <a:bodyPr>
            <a:normAutofit/>
          </a:bodyPr>
          <a:lstStyle/>
          <a:p>
            <a:r>
              <a:rPr lang="en-US" altLang="zh-CN" dirty="0"/>
              <a:t>Challenge 3: </a:t>
            </a: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微软雅黑"/>
                <a:cs typeface="Times New Roman" panose="02020603050405020304" pitchFamily="18" charset="0"/>
              </a:rPr>
              <a:t>How to implement?</a:t>
            </a:r>
            <a:endParaRPr lang="zh-CN" altLang="en-US" dirty="0"/>
          </a:p>
        </p:txBody>
      </p:sp>
      <p:sp>
        <p:nvSpPr>
          <p:cNvPr id="16" name="文本框 15">
            <a:extLst>
              <a:ext uri="{FF2B5EF4-FFF2-40B4-BE49-F238E27FC236}">
                <a16:creationId xmlns:a16="http://schemas.microsoft.com/office/drawing/2014/main" id="{01FD8445-8B57-D4C1-0859-46C598775821}"/>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AmigoLUT</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pic>
        <p:nvPicPr>
          <p:cNvPr id="3" name="图片 2">
            <a:extLst>
              <a:ext uri="{FF2B5EF4-FFF2-40B4-BE49-F238E27FC236}">
                <a16:creationId xmlns:a16="http://schemas.microsoft.com/office/drawing/2014/main" id="{4CF661E0-1935-FD15-4295-3137A85E8310}"/>
              </a:ext>
            </a:extLst>
          </p:cNvPr>
          <p:cNvPicPr>
            <a:picLocks noChangeAspect="1"/>
          </p:cNvPicPr>
          <p:nvPr/>
        </p:nvPicPr>
        <p:blipFill>
          <a:blip r:embed="rId3"/>
          <a:stretch>
            <a:fillRect/>
          </a:stretch>
        </p:blipFill>
        <p:spPr>
          <a:xfrm>
            <a:off x="432531" y="810184"/>
            <a:ext cx="8278936" cy="2963720"/>
          </a:xfrm>
          <a:prstGeom prst="rect">
            <a:avLst/>
          </a:prstGeom>
        </p:spPr>
      </p:pic>
      <p:pic>
        <p:nvPicPr>
          <p:cNvPr id="5" name="图片 4">
            <a:extLst>
              <a:ext uri="{FF2B5EF4-FFF2-40B4-BE49-F238E27FC236}">
                <a16:creationId xmlns:a16="http://schemas.microsoft.com/office/drawing/2014/main" id="{6EF32CA0-7695-695B-ACC6-1F0E1B4B0C3C}"/>
              </a:ext>
            </a:extLst>
          </p:cNvPr>
          <p:cNvPicPr>
            <a:picLocks noChangeAspect="1"/>
          </p:cNvPicPr>
          <p:nvPr/>
        </p:nvPicPr>
        <p:blipFill>
          <a:blip r:embed="rId4"/>
          <a:stretch>
            <a:fillRect/>
          </a:stretch>
        </p:blipFill>
        <p:spPr>
          <a:xfrm>
            <a:off x="1743664" y="3812238"/>
            <a:ext cx="5656669" cy="2871777"/>
          </a:xfrm>
          <a:prstGeom prst="rect">
            <a:avLst/>
          </a:prstGeom>
        </p:spPr>
      </p:pic>
    </p:spTree>
    <p:extLst>
      <p:ext uri="{BB962C8B-B14F-4D97-AF65-F5344CB8AC3E}">
        <p14:creationId xmlns:p14="http://schemas.microsoft.com/office/powerpoint/2010/main" val="3988971654"/>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任意多边形: 形状 43">
            <a:extLst>
              <a:ext uri="{FF2B5EF4-FFF2-40B4-BE49-F238E27FC236}">
                <a16:creationId xmlns:a16="http://schemas.microsoft.com/office/drawing/2014/main" id="{F903EF8C-13D3-422C-9C3F-5EECC23210A7}"/>
              </a:ext>
            </a:extLst>
          </p:cNvPr>
          <p:cNvSpPr/>
          <p:nvPr/>
        </p:nvSpPr>
        <p:spPr>
          <a:xfrm>
            <a:off x="0" y="255832"/>
            <a:ext cx="9144000" cy="1464728"/>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5" name="组合 4">
            <a:extLst>
              <a:ext uri="{FF2B5EF4-FFF2-40B4-BE49-F238E27FC236}">
                <a16:creationId xmlns:a16="http://schemas.microsoft.com/office/drawing/2014/main" id="{66D773D4-1EAF-4F9F-8F72-7F1400FEED3D}"/>
              </a:ext>
            </a:extLst>
          </p:cNvPr>
          <p:cNvGrpSpPr/>
          <p:nvPr/>
        </p:nvGrpSpPr>
        <p:grpSpPr>
          <a:xfrm>
            <a:off x="2171123" y="3172065"/>
            <a:ext cx="4811810" cy="712614"/>
            <a:chOff x="2254250" y="3340100"/>
            <a:chExt cx="4811810" cy="712614"/>
          </a:xfrm>
        </p:grpSpPr>
        <p:sp>
          <p:nvSpPr>
            <p:cNvPr id="27"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6" name="文本框 25">
              <a:extLst>
                <a:ext uri="{FF2B5EF4-FFF2-40B4-BE49-F238E27FC236}">
                  <a16:creationId xmlns:a16="http://schemas.microsoft.com/office/drawing/2014/main" id="{1215BA3E-7692-4205-997B-ABC7094D720C}"/>
                </a:ext>
              </a:extLst>
            </p:cNvPr>
            <p:cNvSpPr txBox="1"/>
            <p:nvPr/>
          </p:nvSpPr>
          <p:spPr>
            <a:xfrm>
              <a:off x="3161383" y="3404020"/>
              <a:ext cx="3904677"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3200" b="1" dirty="0">
                  <a:solidFill>
                    <a:schemeClr val="accent2"/>
                  </a:solidFill>
                  <a:latin typeface="Arial"/>
                  <a:ea typeface="微软雅黑"/>
                </a:rPr>
                <a:t>Solutions</a:t>
              </a:r>
              <a:endParaRPr kumimoji="0" lang="zh-CN" altLang="en-US" sz="3200" b="1" i="0" u="none" strike="noStrike" kern="1200" cap="none" spc="0" normalizeH="0" baseline="0" noProof="0" dirty="0">
                <a:ln>
                  <a:noFill/>
                </a:ln>
                <a:solidFill>
                  <a:schemeClr val="accent2"/>
                </a:solidFill>
                <a:effectLst/>
                <a:uLnTx/>
                <a:uFillTx/>
                <a:latin typeface="Arial"/>
                <a:ea typeface="微软雅黑"/>
                <a:cs typeface="+mn-cs"/>
              </a:endParaRPr>
            </a:p>
          </p:txBody>
        </p:sp>
        <p:sp>
          <p:nvSpPr>
            <p:cNvPr id="28"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2</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pic>
        <p:nvPicPr>
          <p:cNvPr id="35" name="图片 34">
            <a:extLst>
              <a:ext uri="{FF2B5EF4-FFF2-40B4-BE49-F238E27FC236}">
                <a16:creationId xmlns:a16="http://schemas.microsoft.com/office/drawing/2014/main" id="{B3D4F314-124A-40B2-A730-A29E4C6616E5}"/>
              </a:ext>
            </a:extLst>
          </p:cNvPr>
          <p:cNvPicPr>
            <a:picLocks noChangeAspect="1"/>
          </p:cNvPicPr>
          <p:nvPr/>
        </p:nvPicPr>
        <p:blipFill rotWithShape="1">
          <a:blip r:embed="rId3"/>
          <a:srcRect l="12055" t="-13637" r="12055" b="-13637"/>
          <a:stretch/>
        </p:blipFill>
        <p:spPr>
          <a:xfrm>
            <a:off x="0" y="1252486"/>
            <a:ext cx="9144000" cy="600802"/>
          </a:xfrm>
          <a:prstGeom prst="rect">
            <a:avLst/>
          </a:prstGeom>
        </p:spPr>
      </p:pic>
      <p:sp>
        <p:nvSpPr>
          <p:cNvPr id="36" name="文本框 35">
            <a:extLst>
              <a:ext uri="{FF2B5EF4-FFF2-40B4-BE49-F238E27FC236}">
                <a16:creationId xmlns:a16="http://schemas.microsoft.com/office/drawing/2014/main" id="{F02B1E6C-1DF5-4B5B-8154-6A921C91B413}"/>
              </a:ext>
            </a:extLst>
          </p:cNvPr>
          <p:cNvSpPr txBox="1"/>
          <p:nvPr/>
        </p:nvSpPr>
        <p:spPr>
          <a:xfrm>
            <a:off x="2476502" y="684783"/>
            <a:ext cx="4190998"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800" b="1" i="0" u="none" strike="noStrike" kern="1200" cap="none" spc="600" normalizeH="0" baseline="0" noProof="0" dirty="0">
                <a:ln>
                  <a:noFill/>
                </a:ln>
                <a:solidFill>
                  <a:srgbClr val="082E72"/>
                </a:solidFill>
                <a:effectLst/>
                <a:uLnTx/>
                <a:uFillTx/>
                <a:latin typeface="+mj-ea"/>
                <a:ea typeface="+mj-ea"/>
              </a:rPr>
              <a:t>Content</a:t>
            </a:r>
            <a:endParaRPr kumimoji="0" lang="zh-CN" altLang="en-US" sz="4800" b="1" i="0" u="none" strike="noStrike" kern="1200" cap="none" spc="600" normalizeH="0" baseline="0" noProof="0" dirty="0">
              <a:ln>
                <a:noFill/>
              </a:ln>
              <a:solidFill>
                <a:srgbClr val="082E72"/>
              </a:solidFill>
              <a:effectLst/>
              <a:uLnTx/>
              <a:uFillTx/>
              <a:latin typeface="+mj-ea"/>
              <a:ea typeface="+mj-ea"/>
            </a:endParaRPr>
          </a:p>
        </p:txBody>
      </p:sp>
      <p:grpSp>
        <p:nvGrpSpPr>
          <p:cNvPr id="22" name="组合 21">
            <a:extLst>
              <a:ext uri="{FF2B5EF4-FFF2-40B4-BE49-F238E27FC236}">
                <a16:creationId xmlns:a16="http://schemas.microsoft.com/office/drawing/2014/main" id="{0EF83F33-1AF2-423A-9712-D58D5A7ECEC3}"/>
              </a:ext>
            </a:extLst>
          </p:cNvPr>
          <p:cNvGrpSpPr/>
          <p:nvPr/>
        </p:nvGrpSpPr>
        <p:grpSpPr>
          <a:xfrm>
            <a:off x="2171123" y="5110747"/>
            <a:ext cx="4811810" cy="712614"/>
            <a:chOff x="2254250" y="4293307"/>
            <a:chExt cx="4635500" cy="712614"/>
          </a:xfrm>
        </p:grpSpPr>
        <p:sp>
          <p:nvSpPr>
            <p:cNvPr id="23" name="矩形: 圆角 22">
              <a:extLst>
                <a:ext uri="{FF2B5EF4-FFF2-40B4-BE49-F238E27FC236}">
                  <a16:creationId xmlns:a16="http://schemas.microsoft.com/office/drawing/2014/main" id="{6CBADD52-1F11-4738-A7CE-78FEA7C0501D}"/>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4" name="文本框 23">
              <a:extLst>
                <a:ext uri="{FF2B5EF4-FFF2-40B4-BE49-F238E27FC236}">
                  <a16:creationId xmlns:a16="http://schemas.microsoft.com/office/drawing/2014/main" id="{C996080B-4C42-4A3D-9628-C797DF7467D4}"/>
                </a:ext>
              </a:extLst>
            </p:cNvPr>
            <p:cNvSpPr txBox="1"/>
            <p:nvPr/>
          </p:nvSpPr>
          <p:spPr>
            <a:xfrm>
              <a:off x="3161384" y="4357227"/>
              <a:ext cx="3728365"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accent2"/>
                  </a:solidFill>
                  <a:effectLst/>
                  <a:uLnTx/>
                  <a:uFillTx/>
                  <a:latin typeface="Arial"/>
                  <a:ea typeface="微软雅黑"/>
                  <a:cs typeface="+mn-cs"/>
                </a:rPr>
                <a:t>Future Outlook</a:t>
              </a:r>
              <a:endParaRPr kumimoji="0" lang="zh-CN" altLang="en-US" sz="3200" b="1" i="0" u="none" strike="noStrike" kern="1200" cap="none" spc="0" normalizeH="0" baseline="0" noProof="0" dirty="0">
                <a:ln>
                  <a:noFill/>
                </a:ln>
                <a:solidFill>
                  <a:schemeClr val="accent2"/>
                </a:solidFill>
                <a:effectLst/>
                <a:uLnTx/>
                <a:uFillTx/>
                <a:latin typeface="Arial"/>
                <a:ea typeface="微软雅黑"/>
                <a:cs typeface="+mn-cs"/>
              </a:endParaRPr>
            </a:p>
          </p:txBody>
        </p:sp>
        <p:sp>
          <p:nvSpPr>
            <p:cNvPr id="25" name="矩形: 圆角 24">
              <a:extLst>
                <a:ext uri="{FF2B5EF4-FFF2-40B4-BE49-F238E27FC236}">
                  <a16:creationId xmlns:a16="http://schemas.microsoft.com/office/drawing/2014/main" id="{40ACA169-10F3-4938-89FD-48EB7773B2F6}"/>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4</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32" name="组合 31">
            <a:extLst>
              <a:ext uri="{FF2B5EF4-FFF2-40B4-BE49-F238E27FC236}">
                <a16:creationId xmlns:a16="http://schemas.microsoft.com/office/drawing/2014/main" id="{66D773D4-1EAF-4F9F-8F72-7F1400FEED3D}"/>
              </a:ext>
            </a:extLst>
          </p:cNvPr>
          <p:cNvGrpSpPr/>
          <p:nvPr/>
        </p:nvGrpSpPr>
        <p:grpSpPr>
          <a:xfrm>
            <a:off x="2171123" y="2202724"/>
            <a:ext cx="4811810" cy="712614"/>
            <a:chOff x="2254250" y="3340100"/>
            <a:chExt cx="4811810" cy="712614"/>
          </a:xfrm>
        </p:grpSpPr>
        <p:sp>
          <p:nvSpPr>
            <p:cNvPr id="33"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4" name="文本框 33">
              <a:extLst>
                <a:ext uri="{FF2B5EF4-FFF2-40B4-BE49-F238E27FC236}">
                  <a16:creationId xmlns:a16="http://schemas.microsoft.com/office/drawing/2014/main" id="{1215BA3E-7692-4205-997B-ABC7094D720C}"/>
                </a:ext>
              </a:extLst>
            </p:cNvPr>
            <p:cNvSpPr txBox="1"/>
            <p:nvPr/>
          </p:nvSpPr>
          <p:spPr>
            <a:xfrm>
              <a:off x="3161383" y="3404020"/>
              <a:ext cx="3904677" cy="584775"/>
            </a:xfrm>
            <a:prstGeom prst="rect">
              <a:avLst/>
            </a:prstGeom>
            <a:noFill/>
          </p:spPr>
          <p:txBody>
            <a:bodyPr wrap="square">
              <a:spAutoFit/>
            </a:bodyPr>
            <a:lstStyle/>
            <a:p>
              <a:pPr lvl="0">
                <a:defRPr/>
              </a:pPr>
              <a:r>
                <a:rPr lang="en-US" altLang="zh-CN" sz="3200" b="1" dirty="0">
                  <a:solidFill>
                    <a:schemeClr val="accent2"/>
                  </a:solidFill>
                </a:rPr>
                <a:t>Background</a:t>
              </a:r>
              <a:endParaRPr lang="zh-CN" altLang="en-US" sz="3200" b="1" dirty="0">
                <a:solidFill>
                  <a:schemeClr val="accent2"/>
                </a:solidFill>
              </a:endParaRPr>
            </a:p>
          </p:txBody>
        </p:sp>
        <p:sp>
          <p:nvSpPr>
            <p:cNvPr id="37"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1</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21" name="组合 20">
            <a:extLst>
              <a:ext uri="{FF2B5EF4-FFF2-40B4-BE49-F238E27FC236}">
                <a16:creationId xmlns:a16="http://schemas.microsoft.com/office/drawing/2014/main" id="{F903167E-F437-400B-8A0D-F2E6B88BA5DE}"/>
              </a:ext>
            </a:extLst>
          </p:cNvPr>
          <p:cNvGrpSpPr/>
          <p:nvPr/>
        </p:nvGrpSpPr>
        <p:grpSpPr>
          <a:xfrm>
            <a:off x="2171123" y="4141406"/>
            <a:ext cx="4886833" cy="712614"/>
            <a:chOff x="2254250" y="2386893"/>
            <a:chExt cx="4707774" cy="712614"/>
          </a:xfrm>
        </p:grpSpPr>
        <p:sp>
          <p:nvSpPr>
            <p:cNvPr id="38" name="矩形: 圆角 40">
              <a:extLst>
                <a:ext uri="{FF2B5EF4-FFF2-40B4-BE49-F238E27FC236}">
                  <a16:creationId xmlns:a16="http://schemas.microsoft.com/office/drawing/2014/main" id="{ABF40475-9EC0-4D47-B264-39E638B68E01}"/>
                </a:ext>
              </a:extLst>
            </p:cNvPr>
            <p:cNvSpPr/>
            <p:nvPr/>
          </p:nvSpPr>
          <p:spPr>
            <a:xfrm>
              <a:off x="2254250" y="2386893"/>
              <a:ext cx="4635500" cy="712614"/>
            </a:xfrm>
            <a:prstGeom prst="roundRect">
              <a:avLst>
                <a:gd name="adj" fmla="val 9538"/>
              </a:avLst>
            </a:prstGeom>
            <a:solidFill>
              <a:schemeClr val="accent2"/>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9" name="文本框 38">
              <a:extLst>
                <a:ext uri="{FF2B5EF4-FFF2-40B4-BE49-F238E27FC236}">
                  <a16:creationId xmlns:a16="http://schemas.microsoft.com/office/drawing/2014/main" id="{AF45E508-A19F-4202-BB28-E21D9F4E7C8B}"/>
                </a:ext>
              </a:extLst>
            </p:cNvPr>
            <p:cNvSpPr txBox="1"/>
            <p:nvPr/>
          </p:nvSpPr>
          <p:spPr>
            <a:xfrm>
              <a:off x="3161383" y="2450813"/>
              <a:ext cx="3800641" cy="584775"/>
            </a:xfrm>
            <a:prstGeom prst="rect">
              <a:avLst/>
            </a:prstGeom>
            <a:noFill/>
          </p:spPr>
          <p:txBody>
            <a:bodyPr wrap="square">
              <a:spAutoFit/>
            </a:bodyPr>
            <a:lstStyle/>
            <a:p>
              <a:pPr lvl="0">
                <a:defRPr/>
              </a:pPr>
              <a:r>
                <a:rPr lang="en-US" altLang="zh-CN" sz="3200" b="1" dirty="0">
                  <a:solidFill>
                    <a:srgbClr val="FFFFFF"/>
                  </a:solidFill>
                </a:rPr>
                <a:t>Evaluation</a:t>
              </a:r>
              <a:endParaRPr lang="zh-CN" altLang="en-US" sz="3200" b="1" dirty="0">
                <a:solidFill>
                  <a:srgbClr val="FFFFFF"/>
                </a:solidFill>
              </a:endParaRPr>
            </a:p>
          </p:txBody>
        </p:sp>
        <p:sp>
          <p:nvSpPr>
            <p:cNvPr id="40" name="矩形: 圆角 42">
              <a:extLst>
                <a:ext uri="{FF2B5EF4-FFF2-40B4-BE49-F238E27FC236}">
                  <a16:creationId xmlns:a16="http://schemas.microsoft.com/office/drawing/2014/main" id="{ED033169-BE0B-4F71-9E1E-894B8CF2C89A}"/>
                </a:ext>
              </a:extLst>
            </p:cNvPr>
            <p:cNvSpPr/>
            <p:nvPr/>
          </p:nvSpPr>
          <p:spPr>
            <a:xfrm>
              <a:off x="2326524" y="2457450"/>
              <a:ext cx="571500" cy="571500"/>
            </a:xfrm>
            <a:prstGeom prst="roundRect">
              <a:avLst>
                <a:gd name="adj" fmla="val 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3</a:t>
              </a:r>
              <a:endParaRPr kumimoji="0" lang="zh-CN" altLang="en-US" sz="2400" b="1" i="0" u="none" strike="noStrike" kern="1200" cap="none" spc="0" normalizeH="0" baseline="0" noProof="0" dirty="0">
                <a:ln>
                  <a:noFill/>
                </a:ln>
                <a:solidFill>
                  <a:schemeClr val="accent2"/>
                </a:solidFill>
                <a:effectLst/>
                <a:uLnTx/>
                <a:uFillTx/>
                <a:latin typeface="Arial"/>
                <a:ea typeface="微软雅黑"/>
                <a:cs typeface="+mn-cs"/>
              </a:endParaRPr>
            </a:p>
          </p:txBody>
        </p:sp>
      </p:grpSp>
    </p:spTree>
    <p:extLst>
      <p:ext uri="{BB962C8B-B14F-4D97-AF65-F5344CB8AC3E}">
        <p14:creationId xmlns:p14="http://schemas.microsoft.com/office/powerpoint/2010/main" val="678229620"/>
      </p:ext>
    </p:extLst>
  </p:cSld>
  <p:clrMapOvr>
    <a:masterClrMapping/>
  </p:clrMapOvr>
  <mc:AlternateContent xmlns:mc="http://schemas.openxmlformats.org/markup-compatibility/2006" xmlns:p14="http://schemas.microsoft.com/office/powerpoint/2010/main">
    <mc:Choice Requires="p14">
      <p:transition spd="slow" p14:dur="2000" advTm="3297"/>
    </mc:Choice>
    <mc:Fallback xmlns="">
      <p:transition spd="slow" advTm="3297"/>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D47D6-05F0-9B79-3831-91B2CE3DDC5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0B46342-FD4E-61FC-67BB-615F7A064293}"/>
              </a:ext>
            </a:extLst>
          </p:cNvPr>
          <p:cNvSpPr>
            <a:spLocks noGrp="1"/>
          </p:cNvSpPr>
          <p:nvPr>
            <p:ph type="title"/>
          </p:nvPr>
        </p:nvSpPr>
        <p:spPr>
          <a:xfrm>
            <a:off x="2145030" y="254000"/>
            <a:ext cx="5857548" cy="517850"/>
          </a:xfrm>
        </p:spPr>
        <p:txBody>
          <a:bodyPr>
            <a:normAutofit/>
          </a:bodyPr>
          <a:lstStyle/>
          <a:p>
            <a:r>
              <a:rPr lang="en-US" altLang="zh-CN" dirty="0"/>
              <a:t>ReducedLUT</a:t>
            </a:r>
            <a:endParaRPr lang="zh-CN" altLang="en-US" dirty="0"/>
          </a:p>
        </p:txBody>
      </p:sp>
      <p:sp>
        <p:nvSpPr>
          <p:cNvPr id="16" name="文本框 15">
            <a:extLst>
              <a:ext uri="{FF2B5EF4-FFF2-40B4-BE49-F238E27FC236}">
                <a16:creationId xmlns:a16="http://schemas.microsoft.com/office/drawing/2014/main" id="{007235F0-3272-F6C3-FF08-F1B1F0CC2499}"/>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Evaluation</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对话气泡: 椭圆形 2">
            <a:extLst>
              <a:ext uri="{FF2B5EF4-FFF2-40B4-BE49-F238E27FC236}">
                <a16:creationId xmlns:a16="http://schemas.microsoft.com/office/drawing/2014/main" id="{C4D428FF-FFB9-32BD-B7AC-44272F97B54C}"/>
              </a:ext>
            </a:extLst>
          </p:cNvPr>
          <p:cNvSpPr/>
          <p:nvPr/>
        </p:nvSpPr>
        <p:spPr>
          <a:xfrm>
            <a:off x="5785657" y="1136148"/>
            <a:ext cx="3233651" cy="1579419"/>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t>“The final 6-input P-LUT utilization is obtained through</a:t>
            </a:r>
            <a:r>
              <a:rPr lang="en-US" altLang="zh-CN" sz="1100" b="1" dirty="0"/>
              <a:t> </a:t>
            </a:r>
            <a:r>
              <a:rPr lang="en-US" altLang="zh-CN" sz="1100" b="1" dirty="0" err="1"/>
              <a:t>Vivado</a:t>
            </a:r>
            <a:r>
              <a:rPr lang="en-US" altLang="zh-CN" sz="1100" b="1" dirty="0"/>
              <a:t> 2020.1 </a:t>
            </a:r>
            <a:r>
              <a:rPr lang="en-US" altLang="zh-CN" sz="1100" dirty="0"/>
              <a:t>synthesis, selecting the </a:t>
            </a:r>
            <a:r>
              <a:rPr lang="en-US" altLang="zh-CN" sz="1100" b="1" dirty="0"/>
              <a:t>xcvu9p-flgb2104-2-i FPGA part</a:t>
            </a:r>
            <a:r>
              <a:rPr lang="en-US" altLang="zh-CN" sz="1100" dirty="0"/>
              <a:t>, to allow direct comparison to </a:t>
            </a:r>
            <a:r>
              <a:rPr lang="en-US" altLang="zh-CN" sz="1100" dirty="0" err="1"/>
              <a:t>NeuraLUT</a:t>
            </a:r>
            <a:r>
              <a:rPr lang="en-US" altLang="zh-CN" sz="1100" dirty="0"/>
              <a:t> [2].”</a:t>
            </a:r>
            <a:endParaRPr lang="zh-CN" altLang="en-US" sz="1100" dirty="0"/>
          </a:p>
        </p:txBody>
      </p:sp>
      <p:pic>
        <p:nvPicPr>
          <p:cNvPr id="5" name="图片 4">
            <a:extLst>
              <a:ext uri="{FF2B5EF4-FFF2-40B4-BE49-F238E27FC236}">
                <a16:creationId xmlns:a16="http://schemas.microsoft.com/office/drawing/2014/main" id="{0F8E23E1-2C9C-529A-2B0D-C4095EACF4B3}"/>
              </a:ext>
            </a:extLst>
          </p:cNvPr>
          <p:cNvPicPr>
            <a:picLocks noChangeAspect="1"/>
          </p:cNvPicPr>
          <p:nvPr/>
        </p:nvPicPr>
        <p:blipFill>
          <a:blip r:embed="rId3"/>
          <a:stretch>
            <a:fillRect/>
          </a:stretch>
        </p:blipFill>
        <p:spPr>
          <a:xfrm>
            <a:off x="963791" y="2973985"/>
            <a:ext cx="7506393" cy="1330877"/>
          </a:xfrm>
          <a:prstGeom prst="rect">
            <a:avLst/>
          </a:prstGeom>
        </p:spPr>
      </p:pic>
      <p:pic>
        <p:nvPicPr>
          <p:cNvPr id="7" name="图片 6">
            <a:extLst>
              <a:ext uri="{FF2B5EF4-FFF2-40B4-BE49-F238E27FC236}">
                <a16:creationId xmlns:a16="http://schemas.microsoft.com/office/drawing/2014/main" id="{098C8EC9-9900-DB88-5951-CA8F402EB468}"/>
              </a:ext>
            </a:extLst>
          </p:cNvPr>
          <p:cNvPicPr>
            <a:picLocks noChangeAspect="1"/>
          </p:cNvPicPr>
          <p:nvPr/>
        </p:nvPicPr>
        <p:blipFill>
          <a:blip r:embed="rId4"/>
          <a:stretch>
            <a:fillRect/>
          </a:stretch>
        </p:blipFill>
        <p:spPr>
          <a:xfrm>
            <a:off x="985821" y="4304862"/>
            <a:ext cx="3731167" cy="1979559"/>
          </a:xfrm>
          <a:prstGeom prst="rect">
            <a:avLst/>
          </a:prstGeom>
        </p:spPr>
      </p:pic>
      <p:pic>
        <p:nvPicPr>
          <p:cNvPr id="9" name="图片 8">
            <a:extLst>
              <a:ext uri="{FF2B5EF4-FFF2-40B4-BE49-F238E27FC236}">
                <a16:creationId xmlns:a16="http://schemas.microsoft.com/office/drawing/2014/main" id="{D8F47439-E9F3-7821-94AD-E0472391208C}"/>
              </a:ext>
            </a:extLst>
          </p:cNvPr>
          <p:cNvPicPr>
            <a:picLocks noChangeAspect="1"/>
          </p:cNvPicPr>
          <p:nvPr/>
        </p:nvPicPr>
        <p:blipFill>
          <a:blip r:embed="rId5"/>
          <a:stretch>
            <a:fillRect/>
          </a:stretch>
        </p:blipFill>
        <p:spPr>
          <a:xfrm>
            <a:off x="4755253" y="4364119"/>
            <a:ext cx="3247325" cy="2308016"/>
          </a:xfrm>
          <a:prstGeom prst="rect">
            <a:avLst/>
          </a:prstGeom>
        </p:spPr>
      </p:pic>
      <p:sp>
        <p:nvSpPr>
          <p:cNvPr id="11" name="Rectangle 1">
            <a:extLst>
              <a:ext uri="{FF2B5EF4-FFF2-40B4-BE49-F238E27FC236}">
                <a16:creationId xmlns:a16="http://schemas.microsoft.com/office/drawing/2014/main" id="{9585D735-E316-0675-E519-566CF931654C}"/>
              </a:ext>
            </a:extLst>
          </p:cNvPr>
          <p:cNvSpPr>
            <a:spLocks noChangeArrowheads="1"/>
          </p:cNvSpPr>
          <p:nvPr/>
        </p:nvSpPr>
        <p:spPr bwMode="auto">
          <a:xfrm rot="10800000" flipV="1">
            <a:off x="121477" y="872693"/>
            <a:ext cx="566418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lang="en-US" altLang="zh-CN" dirty="0">
                <a:solidFill>
                  <a:srgbClr val="FF0000"/>
                </a:solidFill>
                <a:latin typeface="Times New Roman" panose="02020603050405020304" pitchFamily="18" charset="0"/>
                <a:cs typeface="Times New Roman" panose="02020603050405020304" pitchFamily="18" charset="0"/>
              </a:rPr>
              <a:t>Benchmarks</a:t>
            </a:r>
          </a:p>
          <a:p>
            <a:pPr marL="285750" indent="-285750" defTabSz="914400" eaLnBrk="0" fontAlgn="base" hangingPunct="0">
              <a:spcBef>
                <a:spcPct val="0"/>
              </a:spcBef>
              <a:spcAft>
                <a:spcPct val="0"/>
              </a:spcAft>
              <a:buFont typeface="Arial" panose="020B0604020202020204" pitchFamily="34" charset="0"/>
              <a:buChar char="•"/>
            </a:pPr>
            <a:r>
              <a:rPr lang="en-US" altLang="zh-CN" b="1" dirty="0" err="1">
                <a:latin typeface="Times New Roman" panose="02020603050405020304" pitchFamily="18" charset="0"/>
                <a:cs typeface="Times New Roman" panose="02020603050405020304" pitchFamily="18" charset="0"/>
              </a:rPr>
              <a:t>NeuraLUT</a:t>
            </a:r>
            <a:r>
              <a:rPr lang="en-US" altLang="zh-CN" dirty="0">
                <a:latin typeface="Times New Roman" panose="02020603050405020304" pitchFamily="18" charset="0"/>
                <a:cs typeface="Times New Roman" panose="02020603050405020304" pitchFamily="18" charset="0"/>
              </a:rPr>
              <a:t>(baseline) + </a:t>
            </a:r>
            <a:r>
              <a:rPr lang="en-US" altLang="zh-CN" b="1" dirty="0">
                <a:latin typeface="Times New Roman" panose="02020603050405020304" pitchFamily="18" charset="0"/>
                <a:cs typeface="Times New Roman" panose="02020603050405020304" pitchFamily="18" charset="0"/>
              </a:rPr>
              <a:t>CompressedLUT/ReducedLUT/</a:t>
            </a:r>
            <a:r>
              <a:rPr lang="en-US" altLang="zh-CN" b="1" dirty="0" err="1">
                <a:latin typeface="Times New Roman" panose="02020603050405020304" pitchFamily="18" charset="0"/>
                <a:cs typeface="Times New Roman" panose="02020603050405020304" pitchFamily="18" charset="0"/>
              </a:rPr>
              <a:t>Random_Insertion</a:t>
            </a:r>
            <a:endParaRPr lang="zh-CN" altLang="zh-CN" b="1" dirty="0">
              <a:solidFill>
                <a:srgbClr val="FF0000"/>
              </a:solidFill>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zh-CN" dirty="0">
                <a:latin typeface="Times New Roman" panose="02020603050405020304" pitchFamily="18" charset="0"/>
                <a:cs typeface="Times New Roman" panose="02020603050405020304" pitchFamily="18" charset="0"/>
              </a:rPr>
              <a:t>Proposed ReducedLUT, a</a:t>
            </a:r>
            <a:r>
              <a:rPr lang="en-US" altLang="zh-CN" dirty="0">
                <a:latin typeface="Times New Roman" panose="02020603050405020304" pitchFamily="18" charset="0"/>
                <a:cs typeface="Times New Roman" panose="02020603050405020304" pitchFamily="18" charset="0"/>
              </a:rPr>
              <a:t>n</a:t>
            </a:r>
            <a:r>
              <a:rPr lang="zh-CN" altLang="zh-CN"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edge to edge  </a:t>
            </a:r>
            <a:r>
              <a:rPr lang="zh-CN" altLang="zh-CN" dirty="0">
                <a:latin typeface="Times New Roman" panose="02020603050405020304" pitchFamily="18" charset="0"/>
                <a:cs typeface="Times New Roman" panose="02020603050405020304" pitchFamily="18" charset="0"/>
              </a:rPr>
              <a:t>compression framework.</a:t>
            </a:r>
            <a:endParaRPr lang="en-US" altLang="zh-CN" dirty="0">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zh-CN" dirty="0">
                <a:latin typeface="Times New Roman" panose="02020603050405020304" pitchFamily="18" charset="0"/>
                <a:cs typeface="Times New Roman" panose="02020603050405020304" pitchFamily="18" charset="0"/>
              </a:rPr>
              <a:t>three benchmarks:</a:t>
            </a:r>
            <a:br>
              <a:rPr lang="zh-CN" altLang="zh-CN" dirty="0">
                <a:latin typeface="Times New Roman" panose="02020603050405020304" pitchFamily="18" charset="0"/>
                <a:cs typeface="Times New Roman" panose="02020603050405020304" pitchFamily="18" charset="0"/>
              </a:rPr>
            </a:br>
            <a:r>
              <a:rPr lang="zh-CN" altLang="zh-CN" b="1" dirty="0">
                <a:latin typeface="Times New Roman" panose="02020603050405020304" pitchFamily="18" charset="0"/>
                <a:cs typeface="Times New Roman" panose="02020603050405020304" pitchFamily="18" charset="0"/>
              </a:rPr>
              <a:t>JSC_2L, JSC_5L, and MNIST</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31740453"/>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03CA8-CB69-CC7D-BACC-B68EB2BA907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CA25D91-1A4B-D690-6B1B-CC06AA720E25}"/>
              </a:ext>
            </a:extLst>
          </p:cNvPr>
          <p:cNvSpPr>
            <a:spLocks noGrp="1"/>
          </p:cNvSpPr>
          <p:nvPr>
            <p:ph type="title"/>
          </p:nvPr>
        </p:nvSpPr>
        <p:spPr>
          <a:xfrm>
            <a:off x="2145030" y="254000"/>
            <a:ext cx="5857548" cy="517850"/>
          </a:xfrm>
        </p:spPr>
        <p:txBody>
          <a:bodyPr>
            <a:normAutofit/>
          </a:bodyPr>
          <a:lstStyle/>
          <a:p>
            <a:r>
              <a:rPr lang="en-US" altLang="zh-CN" dirty="0"/>
              <a:t>ReducedLUT</a:t>
            </a:r>
            <a:endParaRPr lang="zh-CN" altLang="en-US" dirty="0"/>
          </a:p>
        </p:txBody>
      </p:sp>
      <p:sp>
        <p:nvSpPr>
          <p:cNvPr id="16" name="文本框 15">
            <a:extLst>
              <a:ext uri="{FF2B5EF4-FFF2-40B4-BE49-F238E27FC236}">
                <a16:creationId xmlns:a16="http://schemas.microsoft.com/office/drawing/2014/main" id="{71E009D8-A446-C276-D7F4-6162469EA032}"/>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Evaluation</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11" name="Rectangle 1">
            <a:extLst>
              <a:ext uri="{FF2B5EF4-FFF2-40B4-BE49-F238E27FC236}">
                <a16:creationId xmlns:a16="http://schemas.microsoft.com/office/drawing/2014/main" id="{436EE491-283E-49B8-95B4-CD73106E2F57}"/>
              </a:ext>
            </a:extLst>
          </p:cNvPr>
          <p:cNvSpPr>
            <a:spLocks noChangeArrowheads="1"/>
          </p:cNvSpPr>
          <p:nvPr/>
        </p:nvSpPr>
        <p:spPr bwMode="auto">
          <a:xfrm rot="10800000" flipV="1">
            <a:off x="115672" y="875611"/>
            <a:ext cx="566418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lang="en-US" altLang="zh-CN" dirty="0">
                <a:solidFill>
                  <a:srgbClr val="FF0000"/>
                </a:solidFill>
                <a:latin typeface="Times New Roman" panose="02020603050405020304" pitchFamily="18" charset="0"/>
                <a:cs typeface="Times New Roman" panose="02020603050405020304" pitchFamily="18" charset="0"/>
              </a:rPr>
              <a:t>Optimization Result</a:t>
            </a:r>
          </a:p>
        </p:txBody>
      </p:sp>
      <p:pic>
        <p:nvPicPr>
          <p:cNvPr id="6" name="图片 5">
            <a:extLst>
              <a:ext uri="{FF2B5EF4-FFF2-40B4-BE49-F238E27FC236}">
                <a16:creationId xmlns:a16="http://schemas.microsoft.com/office/drawing/2014/main" id="{5741CB41-B919-C33F-E8F1-302A282DEB69}"/>
              </a:ext>
            </a:extLst>
          </p:cNvPr>
          <p:cNvPicPr>
            <a:picLocks noChangeAspect="1"/>
          </p:cNvPicPr>
          <p:nvPr/>
        </p:nvPicPr>
        <p:blipFill>
          <a:blip r:embed="rId3"/>
          <a:stretch>
            <a:fillRect/>
          </a:stretch>
        </p:blipFill>
        <p:spPr>
          <a:xfrm>
            <a:off x="652350" y="2168157"/>
            <a:ext cx="3919650" cy="2883499"/>
          </a:xfrm>
          <a:prstGeom prst="rect">
            <a:avLst/>
          </a:prstGeom>
        </p:spPr>
      </p:pic>
      <p:pic>
        <p:nvPicPr>
          <p:cNvPr id="10" name="图片 9">
            <a:extLst>
              <a:ext uri="{FF2B5EF4-FFF2-40B4-BE49-F238E27FC236}">
                <a16:creationId xmlns:a16="http://schemas.microsoft.com/office/drawing/2014/main" id="{E5214BAE-301D-A49E-AFB8-AEAB6BACF8BA}"/>
              </a:ext>
            </a:extLst>
          </p:cNvPr>
          <p:cNvPicPr>
            <a:picLocks noChangeAspect="1"/>
          </p:cNvPicPr>
          <p:nvPr/>
        </p:nvPicPr>
        <p:blipFill>
          <a:blip r:embed="rId4"/>
          <a:stretch>
            <a:fillRect/>
          </a:stretch>
        </p:blipFill>
        <p:spPr>
          <a:xfrm>
            <a:off x="5171971" y="1036864"/>
            <a:ext cx="3457527" cy="5146086"/>
          </a:xfrm>
          <a:prstGeom prst="rect">
            <a:avLst/>
          </a:prstGeom>
        </p:spPr>
      </p:pic>
      <p:pic>
        <p:nvPicPr>
          <p:cNvPr id="15" name="图片 14">
            <a:extLst>
              <a:ext uri="{FF2B5EF4-FFF2-40B4-BE49-F238E27FC236}">
                <a16:creationId xmlns:a16="http://schemas.microsoft.com/office/drawing/2014/main" id="{9E5F98BC-098B-087D-BA3B-93AB680F76FC}"/>
              </a:ext>
            </a:extLst>
          </p:cNvPr>
          <p:cNvPicPr>
            <a:picLocks noChangeAspect="1"/>
          </p:cNvPicPr>
          <p:nvPr/>
        </p:nvPicPr>
        <p:blipFill>
          <a:blip r:embed="rId5"/>
          <a:stretch>
            <a:fillRect/>
          </a:stretch>
        </p:blipFill>
        <p:spPr>
          <a:xfrm>
            <a:off x="727314" y="5733729"/>
            <a:ext cx="4119006" cy="449220"/>
          </a:xfrm>
          <a:prstGeom prst="rect">
            <a:avLst/>
          </a:prstGeom>
        </p:spPr>
      </p:pic>
    </p:spTree>
    <p:extLst>
      <p:ext uri="{BB962C8B-B14F-4D97-AF65-F5344CB8AC3E}">
        <p14:creationId xmlns:p14="http://schemas.microsoft.com/office/powerpoint/2010/main" val="1900208726"/>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6F1C6-E073-1E2D-FB6C-22FA8258B68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FA13785-19A6-A9D7-C729-BF0526ED2980}"/>
              </a:ext>
            </a:extLst>
          </p:cNvPr>
          <p:cNvSpPr>
            <a:spLocks noGrp="1"/>
          </p:cNvSpPr>
          <p:nvPr>
            <p:ph type="title"/>
          </p:nvPr>
        </p:nvSpPr>
        <p:spPr>
          <a:xfrm>
            <a:off x="2145030" y="254000"/>
            <a:ext cx="5857548" cy="517850"/>
          </a:xfrm>
        </p:spPr>
        <p:txBody>
          <a:bodyPr>
            <a:normAutofit/>
          </a:bodyPr>
          <a:lstStyle/>
          <a:p>
            <a:r>
              <a:rPr lang="en-US" altLang="zh-CN" dirty="0"/>
              <a:t>TreeLUT</a:t>
            </a:r>
            <a:endParaRPr lang="zh-CN" altLang="en-US" dirty="0"/>
          </a:p>
        </p:txBody>
      </p:sp>
      <p:sp>
        <p:nvSpPr>
          <p:cNvPr id="16" name="文本框 15">
            <a:extLst>
              <a:ext uri="{FF2B5EF4-FFF2-40B4-BE49-F238E27FC236}">
                <a16:creationId xmlns:a16="http://schemas.microsoft.com/office/drawing/2014/main" id="{8F15FBE1-FE5E-3489-1F9F-1B0A8503615D}"/>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Evaluation</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pic>
        <p:nvPicPr>
          <p:cNvPr id="4" name="图片 3">
            <a:extLst>
              <a:ext uri="{FF2B5EF4-FFF2-40B4-BE49-F238E27FC236}">
                <a16:creationId xmlns:a16="http://schemas.microsoft.com/office/drawing/2014/main" id="{CAA036D6-93CB-3537-F42A-27CD00D6FF97}"/>
              </a:ext>
            </a:extLst>
          </p:cNvPr>
          <p:cNvPicPr>
            <a:picLocks noChangeAspect="1"/>
          </p:cNvPicPr>
          <p:nvPr/>
        </p:nvPicPr>
        <p:blipFill>
          <a:blip r:embed="rId3"/>
          <a:stretch>
            <a:fillRect/>
          </a:stretch>
        </p:blipFill>
        <p:spPr>
          <a:xfrm>
            <a:off x="0" y="802268"/>
            <a:ext cx="9144000" cy="2626732"/>
          </a:xfrm>
          <a:prstGeom prst="rect">
            <a:avLst/>
          </a:prstGeom>
        </p:spPr>
      </p:pic>
      <p:pic>
        <p:nvPicPr>
          <p:cNvPr id="8" name="图片 7">
            <a:extLst>
              <a:ext uri="{FF2B5EF4-FFF2-40B4-BE49-F238E27FC236}">
                <a16:creationId xmlns:a16="http://schemas.microsoft.com/office/drawing/2014/main" id="{8003E9AB-F789-BE21-DEFF-1E96556FBAD1}"/>
              </a:ext>
            </a:extLst>
          </p:cNvPr>
          <p:cNvPicPr>
            <a:picLocks noChangeAspect="1"/>
          </p:cNvPicPr>
          <p:nvPr/>
        </p:nvPicPr>
        <p:blipFill>
          <a:blip r:embed="rId4"/>
          <a:stretch>
            <a:fillRect/>
          </a:stretch>
        </p:blipFill>
        <p:spPr>
          <a:xfrm>
            <a:off x="0" y="3429000"/>
            <a:ext cx="4454927" cy="2851484"/>
          </a:xfrm>
          <a:prstGeom prst="rect">
            <a:avLst/>
          </a:prstGeom>
        </p:spPr>
      </p:pic>
      <p:pic>
        <p:nvPicPr>
          <p:cNvPr id="10" name="图片 9">
            <a:extLst>
              <a:ext uri="{FF2B5EF4-FFF2-40B4-BE49-F238E27FC236}">
                <a16:creationId xmlns:a16="http://schemas.microsoft.com/office/drawing/2014/main" id="{CE6F3CAA-FBF4-C6A7-40B1-872CF00B46CA}"/>
              </a:ext>
            </a:extLst>
          </p:cNvPr>
          <p:cNvPicPr>
            <a:picLocks noChangeAspect="1"/>
          </p:cNvPicPr>
          <p:nvPr/>
        </p:nvPicPr>
        <p:blipFill>
          <a:blip r:embed="rId5"/>
          <a:stretch>
            <a:fillRect/>
          </a:stretch>
        </p:blipFill>
        <p:spPr>
          <a:xfrm>
            <a:off x="4689075" y="3439026"/>
            <a:ext cx="4414010" cy="1542048"/>
          </a:xfrm>
          <a:prstGeom prst="rect">
            <a:avLst/>
          </a:prstGeom>
        </p:spPr>
      </p:pic>
      <p:sp>
        <p:nvSpPr>
          <p:cNvPr id="11" name="文本框 10">
            <a:extLst>
              <a:ext uri="{FF2B5EF4-FFF2-40B4-BE49-F238E27FC236}">
                <a16:creationId xmlns:a16="http://schemas.microsoft.com/office/drawing/2014/main" id="{1663F8D8-197B-D0C6-C34F-1C8B44868F70}"/>
              </a:ext>
            </a:extLst>
          </p:cNvPr>
          <p:cNvSpPr txBox="1"/>
          <p:nvPr/>
        </p:nvSpPr>
        <p:spPr>
          <a:xfrm>
            <a:off x="2900380" y="6290510"/>
            <a:ext cx="3577390" cy="369332"/>
          </a:xfrm>
          <a:prstGeom prst="rect">
            <a:avLst/>
          </a:prstGeom>
          <a:noFill/>
        </p:spPr>
        <p:txBody>
          <a:bodyPr wrap="square" rtlCol="0">
            <a:spAutoFit/>
          </a:bodyPr>
          <a:lstStyle/>
          <a:p>
            <a:r>
              <a:rPr lang="en-US" altLang="zh-CN" b="1" i="1" dirty="0">
                <a:solidFill>
                  <a:srgbClr val="FF0000"/>
                </a:solidFill>
              </a:rPr>
              <a:t>RTL generation within seconds!</a:t>
            </a:r>
          </a:p>
        </p:txBody>
      </p:sp>
      <p:sp>
        <p:nvSpPr>
          <p:cNvPr id="12" name="文本框 11">
            <a:extLst>
              <a:ext uri="{FF2B5EF4-FFF2-40B4-BE49-F238E27FC236}">
                <a16:creationId xmlns:a16="http://schemas.microsoft.com/office/drawing/2014/main" id="{A02CFC65-C4E3-CD84-1F1F-685057E1BBB1}"/>
              </a:ext>
            </a:extLst>
          </p:cNvPr>
          <p:cNvSpPr txBox="1"/>
          <p:nvPr/>
        </p:nvSpPr>
        <p:spPr>
          <a:xfrm>
            <a:off x="5239328" y="5110933"/>
            <a:ext cx="3313503" cy="1169551"/>
          </a:xfrm>
          <a:prstGeom prst="rect">
            <a:avLst/>
          </a:prstGeom>
          <a:noFill/>
        </p:spPr>
        <p:txBody>
          <a:bodyPr wrap="square" rtlCol="0">
            <a:spAutoFit/>
          </a:bodyPr>
          <a:lstStyle/>
          <a:p>
            <a:r>
              <a:rPr lang="en-US" altLang="zh-CN" sz="1400" dirty="0"/>
              <a:t>FPGA: xcvu9p-flgb2104-2-I</a:t>
            </a:r>
          </a:p>
          <a:p>
            <a:r>
              <a:rPr lang="en-US" altLang="zh-CN" sz="1400" dirty="0"/>
              <a:t>Mode: Out-of-Context (OOC) synthesis</a:t>
            </a:r>
          </a:p>
          <a:p>
            <a:r>
              <a:rPr lang="en-US" altLang="zh-CN" sz="1400" dirty="0"/>
              <a:t>Setting: </a:t>
            </a:r>
            <a:r>
              <a:rPr lang="en-US" altLang="zh-CN" sz="1400" dirty="0" err="1"/>
              <a:t>PerfOptimized_high</a:t>
            </a:r>
            <a:endParaRPr lang="en-US" altLang="zh-CN" sz="1400" dirty="0"/>
          </a:p>
          <a:p>
            <a:r>
              <a:rPr lang="en-US" altLang="zh-CN" sz="1400" dirty="0"/>
              <a:t>Cycle: 1~1.5ns</a:t>
            </a:r>
          </a:p>
          <a:p>
            <a:r>
              <a:rPr lang="en-US" altLang="zh-CN" sz="1400" dirty="0"/>
              <a:t>I/O delay: 0.05~0.1ns</a:t>
            </a:r>
            <a:endParaRPr lang="zh-CN" altLang="en-US" sz="1400" dirty="0"/>
          </a:p>
        </p:txBody>
      </p:sp>
    </p:spTree>
    <p:extLst>
      <p:ext uri="{BB962C8B-B14F-4D97-AF65-F5344CB8AC3E}">
        <p14:creationId xmlns:p14="http://schemas.microsoft.com/office/powerpoint/2010/main" val="3506089554"/>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6A8FD-3893-B2D2-9526-72254BE316E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E10C7DE-3723-12CF-6A27-14CE56B7B578}"/>
              </a:ext>
            </a:extLst>
          </p:cNvPr>
          <p:cNvSpPr>
            <a:spLocks noGrp="1"/>
          </p:cNvSpPr>
          <p:nvPr>
            <p:ph type="title"/>
          </p:nvPr>
        </p:nvSpPr>
        <p:spPr>
          <a:xfrm>
            <a:off x="2145030" y="254000"/>
            <a:ext cx="5857548" cy="517850"/>
          </a:xfrm>
        </p:spPr>
        <p:txBody>
          <a:bodyPr>
            <a:normAutofit/>
          </a:bodyPr>
          <a:lstStyle/>
          <a:p>
            <a:r>
              <a:rPr lang="en-US" altLang="zh-CN" dirty="0"/>
              <a:t>TreeLUT</a:t>
            </a:r>
            <a:endParaRPr lang="zh-CN" altLang="en-US" dirty="0"/>
          </a:p>
        </p:txBody>
      </p:sp>
      <p:sp>
        <p:nvSpPr>
          <p:cNvPr id="16" name="文本框 15">
            <a:extLst>
              <a:ext uri="{FF2B5EF4-FFF2-40B4-BE49-F238E27FC236}">
                <a16:creationId xmlns:a16="http://schemas.microsoft.com/office/drawing/2014/main" id="{6ED45477-1918-CE59-4E7A-7D930CF529E1}"/>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Evaluation</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pic>
        <p:nvPicPr>
          <p:cNvPr id="5" name="图片 4">
            <a:extLst>
              <a:ext uri="{FF2B5EF4-FFF2-40B4-BE49-F238E27FC236}">
                <a16:creationId xmlns:a16="http://schemas.microsoft.com/office/drawing/2014/main" id="{5A2A1E85-138B-E479-D810-543A9FDCDC26}"/>
              </a:ext>
            </a:extLst>
          </p:cNvPr>
          <p:cNvPicPr>
            <a:picLocks noChangeAspect="1"/>
          </p:cNvPicPr>
          <p:nvPr/>
        </p:nvPicPr>
        <p:blipFill>
          <a:blip r:embed="rId3"/>
          <a:stretch>
            <a:fillRect/>
          </a:stretch>
        </p:blipFill>
        <p:spPr>
          <a:xfrm>
            <a:off x="0" y="771850"/>
            <a:ext cx="5507053" cy="6073883"/>
          </a:xfrm>
          <a:prstGeom prst="rect">
            <a:avLst/>
          </a:prstGeom>
        </p:spPr>
      </p:pic>
      <p:pic>
        <p:nvPicPr>
          <p:cNvPr id="7" name="图片 6">
            <a:extLst>
              <a:ext uri="{FF2B5EF4-FFF2-40B4-BE49-F238E27FC236}">
                <a16:creationId xmlns:a16="http://schemas.microsoft.com/office/drawing/2014/main" id="{0B8B9511-DE0A-5406-DBBC-0ED30F9AE998}"/>
              </a:ext>
            </a:extLst>
          </p:cNvPr>
          <p:cNvPicPr>
            <a:picLocks noChangeAspect="1"/>
          </p:cNvPicPr>
          <p:nvPr/>
        </p:nvPicPr>
        <p:blipFill>
          <a:blip r:embed="rId4"/>
          <a:stretch>
            <a:fillRect/>
          </a:stretch>
        </p:blipFill>
        <p:spPr>
          <a:xfrm>
            <a:off x="5775733" y="1071326"/>
            <a:ext cx="2787374" cy="5532674"/>
          </a:xfrm>
          <a:prstGeom prst="rect">
            <a:avLst/>
          </a:prstGeom>
        </p:spPr>
      </p:pic>
    </p:spTree>
    <p:extLst>
      <p:ext uri="{BB962C8B-B14F-4D97-AF65-F5344CB8AC3E}">
        <p14:creationId xmlns:p14="http://schemas.microsoft.com/office/powerpoint/2010/main" val="3417301132"/>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1A8FD-D6A3-FDA5-C2A5-F0595174E32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CE72E15-1E24-7FB6-6121-0C2E0DAAEFF5}"/>
              </a:ext>
            </a:extLst>
          </p:cNvPr>
          <p:cNvSpPr>
            <a:spLocks noGrp="1"/>
          </p:cNvSpPr>
          <p:nvPr>
            <p:ph type="title"/>
          </p:nvPr>
        </p:nvSpPr>
        <p:spPr>
          <a:xfrm>
            <a:off x="2145030" y="254000"/>
            <a:ext cx="5857548" cy="517850"/>
          </a:xfrm>
        </p:spPr>
        <p:txBody>
          <a:bodyPr>
            <a:normAutofit/>
          </a:bodyPr>
          <a:lstStyle/>
          <a:p>
            <a:r>
              <a:rPr lang="en-US" altLang="zh-CN" dirty="0"/>
              <a:t>AmigoLUT</a:t>
            </a:r>
            <a:endParaRPr lang="zh-CN" altLang="en-US" dirty="0"/>
          </a:p>
        </p:txBody>
      </p:sp>
      <p:sp>
        <p:nvSpPr>
          <p:cNvPr id="16" name="文本框 15">
            <a:extLst>
              <a:ext uri="{FF2B5EF4-FFF2-40B4-BE49-F238E27FC236}">
                <a16:creationId xmlns:a16="http://schemas.microsoft.com/office/drawing/2014/main" id="{73BFFF27-9044-BA34-FB89-A5B4C816600D}"/>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Evaluation</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934BCC31-A138-44E0-0C24-558FB90E3109}"/>
              </a:ext>
            </a:extLst>
          </p:cNvPr>
          <p:cNvSpPr txBox="1"/>
          <p:nvPr/>
        </p:nvSpPr>
        <p:spPr>
          <a:xfrm>
            <a:off x="372064" y="1005863"/>
            <a:ext cx="6898991" cy="646331"/>
          </a:xfrm>
          <a:prstGeom prst="rect">
            <a:avLst/>
          </a:prstGeom>
          <a:noFill/>
        </p:spPr>
        <p:txBody>
          <a:bodyPr wrap="square" rtlCol="0">
            <a:spAutoFit/>
          </a:bodyPr>
          <a:lstStyle/>
          <a:p>
            <a:r>
              <a:rPr lang="en-US" altLang="zh-CN" dirty="0"/>
              <a:t>Successfully </a:t>
            </a:r>
            <a:r>
              <a:rPr lang="en-US" altLang="zh-CN" b="1" dirty="0"/>
              <a:t>reducing Area*Delay </a:t>
            </a:r>
            <a:r>
              <a:rPr lang="en-US" altLang="zh-CN" dirty="0"/>
              <a:t>with </a:t>
            </a:r>
            <a:r>
              <a:rPr lang="en-US" altLang="zh-CN" b="1" dirty="0"/>
              <a:t>minor accuracy loss.</a:t>
            </a:r>
          </a:p>
          <a:p>
            <a:r>
              <a:rPr lang="en-US" altLang="zh-CN" b="1" dirty="0">
                <a:solidFill>
                  <a:srgbClr val="FF0000"/>
                </a:solidFill>
              </a:rPr>
              <a:t>Unable</a:t>
            </a:r>
            <a:r>
              <a:rPr lang="en-US" altLang="zh-CN" b="1" dirty="0"/>
              <a:t> </a:t>
            </a:r>
            <a:r>
              <a:rPr lang="en-US" altLang="zh-CN" b="1" dirty="0">
                <a:solidFill>
                  <a:srgbClr val="FF0000"/>
                </a:solidFill>
              </a:rPr>
              <a:t>to outperform </a:t>
            </a:r>
            <a:r>
              <a:rPr lang="en-US" altLang="zh-CN" b="1" dirty="0"/>
              <a:t>SOTA </a:t>
            </a:r>
            <a:r>
              <a:rPr lang="en-US" altLang="zh-CN" dirty="0"/>
              <a:t>(State-of-the-Art)</a:t>
            </a:r>
            <a:endParaRPr lang="zh-CN" altLang="en-US" dirty="0"/>
          </a:p>
        </p:txBody>
      </p:sp>
      <p:pic>
        <p:nvPicPr>
          <p:cNvPr id="4" name="图片 3">
            <a:extLst>
              <a:ext uri="{FF2B5EF4-FFF2-40B4-BE49-F238E27FC236}">
                <a16:creationId xmlns:a16="http://schemas.microsoft.com/office/drawing/2014/main" id="{F2737AB2-58E6-DC93-D2C4-B3032ACA2597}"/>
              </a:ext>
            </a:extLst>
          </p:cNvPr>
          <p:cNvPicPr>
            <a:picLocks noChangeAspect="1"/>
          </p:cNvPicPr>
          <p:nvPr/>
        </p:nvPicPr>
        <p:blipFill>
          <a:blip r:embed="rId3"/>
          <a:stretch>
            <a:fillRect/>
          </a:stretch>
        </p:blipFill>
        <p:spPr>
          <a:xfrm>
            <a:off x="540217" y="1886207"/>
            <a:ext cx="8063565" cy="4136024"/>
          </a:xfrm>
          <a:prstGeom prst="rect">
            <a:avLst/>
          </a:prstGeom>
        </p:spPr>
      </p:pic>
    </p:spTree>
    <p:extLst>
      <p:ext uri="{BB962C8B-B14F-4D97-AF65-F5344CB8AC3E}">
        <p14:creationId xmlns:p14="http://schemas.microsoft.com/office/powerpoint/2010/main" val="3151009514"/>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A1E39-F4C3-F87B-FEB4-CCD93CE14CB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1669C60-67EE-E75F-D0E9-9500EAFC67DF}"/>
              </a:ext>
            </a:extLst>
          </p:cNvPr>
          <p:cNvSpPr>
            <a:spLocks noGrp="1"/>
          </p:cNvSpPr>
          <p:nvPr>
            <p:ph type="title"/>
          </p:nvPr>
        </p:nvSpPr>
        <p:spPr>
          <a:xfrm>
            <a:off x="2145030" y="254000"/>
            <a:ext cx="5857548" cy="517850"/>
          </a:xfrm>
        </p:spPr>
        <p:txBody>
          <a:bodyPr>
            <a:normAutofit/>
          </a:bodyPr>
          <a:lstStyle/>
          <a:p>
            <a:r>
              <a:rPr lang="en-US" altLang="zh-CN" dirty="0"/>
              <a:t>AmigoLUT</a:t>
            </a:r>
            <a:endParaRPr lang="zh-CN" altLang="en-US" dirty="0"/>
          </a:p>
        </p:txBody>
      </p:sp>
      <p:sp>
        <p:nvSpPr>
          <p:cNvPr id="16" name="文本框 15">
            <a:extLst>
              <a:ext uri="{FF2B5EF4-FFF2-40B4-BE49-F238E27FC236}">
                <a16:creationId xmlns:a16="http://schemas.microsoft.com/office/drawing/2014/main" id="{FEF1D0DE-0398-00F9-CB41-BA6F9FE33CDE}"/>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Evaluation</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BC59AC68-B1FA-26AD-0401-B012FAA70711}"/>
              </a:ext>
            </a:extLst>
          </p:cNvPr>
          <p:cNvSpPr txBox="1"/>
          <p:nvPr/>
        </p:nvSpPr>
        <p:spPr>
          <a:xfrm>
            <a:off x="340533" y="950750"/>
            <a:ext cx="6898991" cy="369332"/>
          </a:xfrm>
          <a:prstGeom prst="rect">
            <a:avLst/>
          </a:prstGeom>
          <a:noFill/>
        </p:spPr>
        <p:txBody>
          <a:bodyPr wrap="square" rtlCol="0">
            <a:spAutoFit/>
          </a:bodyPr>
          <a:lstStyle/>
          <a:p>
            <a:r>
              <a:rPr lang="en-US" altLang="zh-CN" dirty="0"/>
              <a:t>Validate design wisdom, though…</a:t>
            </a:r>
            <a:endParaRPr lang="zh-CN" altLang="en-US" dirty="0"/>
          </a:p>
        </p:txBody>
      </p:sp>
      <p:pic>
        <p:nvPicPr>
          <p:cNvPr id="5" name="图片 4">
            <a:extLst>
              <a:ext uri="{FF2B5EF4-FFF2-40B4-BE49-F238E27FC236}">
                <a16:creationId xmlns:a16="http://schemas.microsoft.com/office/drawing/2014/main" id="{02E47747-7395-1E05-EEEC-0FDD98ABBB5F}"/>
              </a:ext>
            </a:extLst>
          </p:cNvPr>
          <p:cNvPicPr>
            <a:picLocks noChangeAspect="1"/>
          </p:cNvPicPr>
          <p:nvPr/>
        </p:nvPicPr>
        <p:blipFill>
          <a:blip r:embed="rId3"/>
          <a:stretch>
            <a:fillRect/>
          </a:stretch>
        </p:blipFill>
        <p:spPr>
          <a:xfrm>
            <a:off x="1236016" y="1375195"/>
            <a:ext cx="6671968" cy="2384042"/>
          </a:xfrm>
          <a:prstGeom prst="rect">
            <a:avLst/>
          </a:prstGeom>
        </p:spPr>
      </p:pic>
      <p:pic>
        <p:nvPicPr>
          <p:cNvPr id="7" name="图片 6">
            <a:extLst>
              <a:ext uri="{FF2B5EF4-FFF2-40B4-BE49-F238E27FC236}">
                <a16:creationId xmlns:a16="http://schemas.microsoft.com/office/drawing/2014/main" id="{712A1107-A3EA-73CD-CFD5-4A6F856B2DC5}"/>
              </a:ext>
            </a:extLst>
          </p:cNvPr>
          <p:cNvPicPr>
            <a:picLocks noChangeAspect="1"/>
          </p:cNvPicPr>
          <p:nvPr/>
        </p:nvPicPr>
        <p:blipFill>
          <a:blip r:embed="rId4"/>
          <a:srcRect b="54381"/>
          <a:stretch/>
        </p:blipFill>
        <p:spPr>
          <a:xfrm>
            <a:off x="807245" y="4023444"/>
            <a:ext cx="3764755" cy="2066911"/>
          </a:xfrm>
          <a:prstGeom prst="rect">
            <a:avLst/>
          </a:prstGeom>
        </p:spPr>
      </p:pic>
      <p:pic>
        <p:nvPicPr>
          <p:cNvPr id="8" name="图片 7">
            <a:extLst>
              <a:ext uri="{FF2B5EF4-FFF2-40B4-BE49-F238E27FC236}">
                <a16:creationId xmlns:a16="http://schemas.microsoft.com/office/drawing/2014/main" id="{6D7A73F2-731D-FD66-5870-DBBADC549630}"/>
              </a:ext>
            </a:extLst>
          </p:cNvPr>
          <p:cNvPicPr>
            <a:picLocks noChangeAspect="1"/>
          </p:cNvPicPr>
          <p:nvPr/>
        </p:nvPicPr>
        <p:blipFill>
          <a:blip r:embed="rId4"/>
          <a:srcRect t="52921"/>
          <a:stretch/>
        </p:blipFill>
        <p:spPr>
          <a:xfrm>
            <a:off x="4724563" y="3913137"/>
            <a:ext cx="3764755" cy="2133074"/>
          </a:xfrm>
          <a:prstGeom prst="rect">
            <a:avLst/>
          </a:prstGeom>
        </p:spPr>
      </p:pic>
    </p:spTree>
    <p:extLst>
      <p:ext uri="{BB962C8B-B14F-4D97-AF65-F5344CB8AC3E}">
        <p14:creationId xmlns:p14="http://schemas.microsoft.com/office/powerpoint/2010/main" val="310889592"/>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35967-D6AF-2A04-5773-5206EE74E54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4E9981C-7FDC-2F0D-0E21-4C6924BFF50F}"/>
              </a:ext>
            </a:extLst>
          </p:cNvPr>
          <p:cNvSpPr>
            <a:spLocks noGrp="1"/>
          </p:cNvSpPr>
          <p:nvPr>
            <p:ph type="title"/>
          </p:nvPr>
        </p:nvSpPr>
        <p:spPr>
          <a:xfrm>
            <a:off x="2145030" y="254000"/>
            <a:ext cx="5857548" cy="517850"/>
          </a:xfrm>
        </p:spPr>
        <p:txBody>
          <a:bodyPr>
            <a:normAutofit/>
          </a:bodyPr>
          <a:lstStyle/>
          <a:p>
            <a:r>
              <a:rPr lang="en-US" altLang="zh-CN" dirty="0"/>
              <a:t>AmigoLUT</a:t>
            </a:r>
            <a:endParaRPr lang="zh-CN" altLang="en-US" dirty="0"/>
          </a:p>
        </p:txBody>
      </p:sp>
      <p:sp>
        <p:nvSpPr>
          <p:cNvPr id="16" name="文本框 15">
            <a:extLst>
              <a:ext uri="{FF2B5EF4-FFF2-40B4-BE49-F238E27FC236}">
                <a16:creationId xmlns:a16="http://schemas.microsoft.com/office/drawing/2014/main" id="{136C803A-2522-87FB-9C2D-A125367039B6}"/>
              </a:ext>
            </a:extLst>
          </p:cNvPr>
          <p:cNvSpPr txBox="1"/>
          <p:nvPr/>
        </p:nvSpPr>
        <p:spPr>
          <a:xfrm>
            <a:off x="115672" y="295869"/>
            <a:ext cx="1740299" cy="400110"/>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lang="en-US" altLang="zh-CN" sz="2000" b="1" dirty="0">
                <a:solidFill>
                  <a:srgbClr val="FFFFFF"/>
                </a:solidFill>
                <a:latin typeface="Arial"/>
                <a:ea typeface="微软雅黑"/>
              </a:rPr>
              <a:t>Evaluation</a:t>
            </a:r>
            <a:endParaRPr kumimoji="0" lang="zh-CN" altLang="en-US" sz="20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CE99AC58-89CD-1315-2083-636ADFD3FC30}"/>
              </a:ext>
            </a:extLst>
          </p:cNvPr>
          <p:cNvSpPr txBox="1"/>
          <p:nvPr/>
        </p:nvSpPr>
        <p:spPr>
          <a:xfrm>
            <a:off x="340533" y="950750"/>
            <a:ext cx="6898991" cy="369332"/>
          </a:xfrm>
          <a:prstGeom prst="rect">
            <a:avLst/>
          </a:prstGeom>
          <a:noFill/>
        </p:spPr>
        <p:txBody>
          <a:bodyPr wrap="square" rtlCol="0">
            <a:spAutoFit/>
          </a:bodyPr>
          <a:lstStyle/>
          <a:p>
            <a:r>
              <a:rPr lang="en-US" altLang="zh-CN" dirty="0"/>
              <a:t>Validate design wisdom, though…</a:t>
            </a:r>
            <a:endParaRPr lang="zh-CN" altLang="en-US" dirty="0"/>
          </a:p>
        </p:txBody>
      </p:sp>
      <p:pic>
        <p:nvPicPr>
          <p:cNvPr id="4" name="图片 3">
            <a:extLst>
              <a:ext uri="{FF2B5EF4-FFF2-40B4-BE49-F238E27FC236}">
                <a16:creationId xmlns:a16="http://schemas.microsoft.com/office/drawing/2014/main" id="{6762EA7E-1A52-E08E-FBF8-F6AFB7756038}"/>
              </a:ext>
            </a:extLst>
          </p:cNvPr>
          <p:cNvPicPr>
            <a:picLocks noChangeAspect="1"/>
          </p:cNvPicPr>
          <p:nvPr/>
        </p:nvPicPr>
        <p:blipFill>
          <a:blip r:embed="rId3"/>
          <a:stretch>
            <a:fillRect/>
          </a:stretch>
        </p:blipFill>
        <p:spPr>
          <a:xfrm>
            <a:off x="797734" y="1320082"/>
            <a:ext cx="7548531" cy="2214989"/>
          </a:xfrm>
          <a:prstGeom prst="rect">
            <a:avLst/>
          </a:prstGeom>
        </p:spPr>
      </p:pic>
      <p:pic>
        <p:nvPicPr>
          <p:cNvPr id="6" name="图片 5">
            <a:extLst>
              <a:ext uri="{FF2B5EF4-FFF2-40B4-BE49-F238E27FC236}">
                <a16:creationId xmlns:a16="http://schemas.microsoft.com/office/drawing/2014/main" id="{4D859006-6196-37F2-8D58-6AD677234D4B}"/>
              </a:ext>
            </a:extLst>
          </p:cNvPr>
          <p:cNvPicPr>
            <a:picLocks noChangeAspect="1"/>
          </p:cNvPicPr>
          <p:nvPr/>
        </p:nvPicPr>
        <p:blipFill>
          <a:blip r:embed="rId4"/>
          <a:stretch>
            <a:fillRect/>
          </a:stretch>
        </p:blipFill>
        <p:spPr>
          <a:xfrm>
            <a:off x="1154244" y="3628989"/>
            <a:ext cx="3674446" cy="3049412"/>
          </a:xfrm>
          <a:prstGeom prst="rect">
            <a:avLst/>
          </a:prstGeom>
        </p:spPr>
      </p:pic>
      <p:pic>
        <p:nvPicPr>
          <p:cNvPr id="9" name="图片 8">
            <a:extLst>
              <a:ext uri="{FF2B5EF4-FFF2-40B4-BE49-F238E27FC236}">
                <a16:creationId xmlns:a16="http://schemas.microsoft.com/office/drawing/2014/main" id="{589FCD3B-CDC0-AF0E-2AF5-A91A1C457517}"/>
              </a:ext>
            </a:extLst>
          </p:cNvPr>
          <p:cNvPicPr>
            <a:picLocks noChangeAspect="1"/>
          </p:cNvPicPr>
          <p:nvPr/>
        </p:nvPicPr>
        <p:blipFill>
          <a:blip r:embed="rId5"/>
          <a:stretch>
            <a:fillRect/>
          </a:stretch>
        </p:blipFill>
        <p:spPr>
          <a:xfrm>
            <a:off x="5322438" y="3628989"/>
            <a:ext cx="2333295" cy="3020499"/>
          </a:xfrm>
          <a:prstGeom prst="rect">
            <a:avLst/>
          </a:prstGeom>
        </p:spPr>
      </p:pic>
    </p:spTree>
    <p:extLst>
      <p:ext uri="{BB962C8B-B14F-4D97-AF65-F5344CB8AC3E}">
        <p14:creationId xmlns:p14="http://schemas.microsoft.com/office/powerpoint/2010/main" val="420433646"/>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任意多边形: 形状 43">
            <a:extLst>
              <a:ext uri="{FF2B5EF4-FFF2-40B4-BE49-F238E27FC236}">
                <a16:creationId xmlns:a16="http://schemas.microsoft.com/office/drawing/2014/main" id="{F903EF8C-13D3-422C-9C3F-5EECC23210A7}"/>
              </a:ext>
            </a:extLst>
          </p:cNvPr>
          <p:cNvSpPr/>
          <p:nvPr/>
        </p:nvSpPr>
        <p:spPr>
          <a:xfrm>
            <a:off x="0" y="255832"/>
            <a:ext cx="9144000" cy="1464728"/>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5" name="组合 4">
            <a:extLst>
              <a:ext uri="{FF2B5EF4-FFF2-40B4-BE49-F238E27FC236}">
                <a16:creationId xmlns:a16="http://schemas.microsoft.com/office/drawing/2014/main" id="{66D773D4-1EAF-4F9F-8F72-7F1400FEED3D}"/>
              </a:ext>
            </a:extLst>
          </p:cNvPr>
          <p:cNvGrpSpPr/>
          <p:nvPr/>
        </p:nvGrpSpPr>
        <p:grpSpPr>
          <a:xfrm>
            <a:off x="2171123" y="3172065"/>
            <a:ext cx="4811810" cy="712614"/>
            <a:chOff x="2254250" y="3340100"/>
            <a:chExt cx="4811810" cy="712614"/>
          </a:xfrm>
        </p:grpSpPr>
        <p:sp>
          <p:nvSpPr>
            <p:cNvPr id="27"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6" name="文本框 25">
              <a:extLst>
                <a:ext uri="{FF2B5EF4-FFF2-40B4-BE49-F238E27FC236}">
                  <a16:creationId xmlns:a16="http://schemas.microsoft.com/office/drawing/2014/main" id="{1215BA3E-7692-4205-997B-ABC7094D720C}"/>
                </a:ext>
              </a:extLst>
            </p:cNvPr>
            <p:cNvSpPr txBox="1"/>
            <p:nvPr/>
          </p:nvSpPr>
          <p:spPr>
            <a:xfrm>
              <a:off x="3161383" y="3404020"/>
              <a:ext cx="3904677"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3200" b="1" dirty="0">
                  <a:solidFill>
                    <a:schemeClr val="accent2"/>
                  </a:solidFill>
                  <a:latin typeface="Arial"/>
                  <a:ea typeface="微软雅黑"/>
                </a:rPr>
                <a:t>Solutions</a:t>
              </a:r>
              <a:endParaRPr kumimoji="0" lang="zh-CN" altLang="en-US" sz="3200" b="1" i="0" u="none" strike="noStrike" kern="1200" cap="none" spc="0" normalizeH="0" baseline="0" noProof="0" dirty="0">
                <a:ln>
                  <a:noFill/>
                </a:ln>
                <a:solidFill>
                  <a:schemeClr val="accent2"/>
                </a:solidFill>
                <a:effectLst/>
                <a:uLnTx/>
                <a:uFillTx/>
                <a:latin typeface="Arial"/>
                <a:ea typeface="微软雅黑"/>
                <a:cs typeface="+mn-cs"/>
              </a:endParaRPr>
            </a:p>
          </p:txBody>
        </p:sp>
        <p:sp>
          <p:nvSpPr>
            <p:cNvPr id="28"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2</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2" name="组合 1">
            <a:extLst>
              <a:ext uri="{FF2B5EF4-FFF2-40B4-BE49-F238E27FC236}">
                <a16:creationId xmlns:a16="http://schemas.microsoft.com/office/drawing/2014/main" id="{37694966-2907-4426-A062-130A961177FE}"/>
              </a:ext>
            </a:extLst>
          </p:cNvPr>
          <p:cNvGrpSpPr/>
          <p:nvPr/>
        </p:nvGrpSpPr>
        <p:grpSpPr>
          <a:xfrm>
            <a:off x="2171123" y="4141406"/>
            <a:ext cx="4811810" cy="712614"/>
            <a:chOff x="2254250" y="4293307"/>
            <a:chExt cx="4635500" cy="712614"/>
          </a:xfrm>
        </p:grpSpPr>
        <p:sp>
          <p:nvSpPr>
            <p:cNvPr id="30" name="矩形: 圆角 29">
              <a:extLst>
                <a:ext uri="{FF2B5EF4-FFF2-40B4-BE49-F238E27FC236}">
                  <a16:creationId xmlns:a16="http://schemas.microsoft.com/office/drawing/2014/main" id="{6E6D3661-6F3C-42F9-943D-06B5502C0D49}"/>
                </a:ext>
              </a:extLst>
            </p:cNvPr>
            <p:cNvSpPr/>
            <p:nvPr/>
          </p:nvSpPr>
          <p:spPr>
            <a:xfrm>
              <a:off x="2254250" y="4293307"/>
              <a:ext cx="463550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9" name="文本框 28">
              <a:extLst>
                <a:ext uri="{FF2B5EF4-FFF2-40B4-BE49-F238E27FC236}">
                  <a16:creationId xmlns:a16="http://schemas.microsoft.com/office/drawing/2014/main" id="{89370DE9-AA64-4B9B-B0D7-52179A05A705}"/>
                </a:ext>
              </a:extLst>
            </p:cNvPr>
            <p:cNvSpPr txBox="1"/>
            <p:nvPr/>
          </p:nvSpPr>
          <p:spPr>
            <a:xfrm>
              <a:off x="3161383" y="4357227"/>
              <a:ext cx="3728366"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accent2"/>
                  </a:solidFill>
                  <a:effectLst/>
                  <a:uLnTx/>
                  <a:uFillTx/>
                  <a:latin typeface="Arial"/>
                  <a:ea typeface="微软雅黑"/>
                  <a:cs typeface="+mn-cs"/>
                </a:rPr>
                <a:t>Evaluation</a:t>
              </a:r>
              <a:endParaRPr kumimoji="0" lang="zh-CN" altLang="en-US" sz="3200" b="1" i="0" u="none" strike="noStrike" kern="1200" cap="none" spc="0" normalizeH="0" baseline="0" noProof="0" dirty="0">
                <a:ln>
                  <a:noFill/>
                </a:ln>
                <a:solidFill>
                  <a:schemeClr val="accent2"/>
                </a:solidFill>
                <a:effectLst/>
                <a:uLnTx/>
                <a:uFillTx/>
                <a:latin typeface="Arial"/>
                <a:ea typeface="微软雅黑"/>
                <a:cs typeface="+mn-cs"/>
              </a:endParaRPr>
            </a:p>
          </p:txBody>
        </p:sp>
        <p:sp>
          <p:nvSpPr>
            <p:cNvPr id="31" name="矩形: 圆角 30">
              <a:extLst>
                <a:ext uri="{FF2B5EF4-FFF2-40B4-BE49-F238E27FC236}">
                  <a16:creationId xmlns:a16="http://schemas.microsoft.com/office/drawing/2014/main" id="{6853312C-FE7E-43A1-8259-2E8524987954}"/>
                </a:ext>
              </a:extLst>
            </p:cNvPr>
            <p:cNvSpPr/>
            <p:nvPr/>
          </p:nvSpPr>
          <p:spPr>
            <a:xfrm>
              <a:off x="2326524" y="4363864"/>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3</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pic>
        <p:nvPicPr>
          <p:cNvPr id="35" name="图片 34">
            <a:extLst>
              <a:ext uri="{FF2B5EF4-FFF2-40B4-BE49-F238E27FC236}">
                <a16:creationId xmlns:a16="http://schemas.microsoft.com/office/drawing/2014/main" id="{B3D4F314-124A-40B2-A730-A29E4C6616E5}"/>
              </a:ext>
            </a:extLst>
          </p:cNvPr>
          <p:cNvPicPr>
            <a:picLocks noChangeAspect="1"/>
          </p:cNvPicPr>
          <p:nvPr/>
        </p:nvPicPr>
        <p:blipFill rotWithShape="1">
          <a:blip r:embed="rId3"/>
          <a:srcRect l="12055" t="-13637" r="12055" b="-13637"/>
          <a:stretch/>
        </p:blipFill>
        <p:spPr>
          <a:xfrm>
            <a:off x="0" y="1252486"/>
            <a:ext cx="9144000" cy="600802"/>
          </a:xfrm>
          <a:prstGeom prst="rect">
            <a:avLst/>
          </a:prstGeom>
        </p:spPr>
      </p:pic>
      <p:sp>
        <p:nvSpPr>
          <p:cNvPr id="36" name="文本框 35">
            <a:extLst>
              <a:ext uri="{FF2B5EF4-FFF2-40B4-BE49-F238E27FC236}">
                <a16:creationId xmlns:a16="http://schemas.microsoft.com/office/drawing/2014/main" id="{F02B1E6C-1DF5-4B5B-8154-6A921C91B413}"/>
              </a:ext>
            </a:extLst>
          </p:cNvPr>
          <p:cNvSpPr txBox="1"/>
          <p:nvPr/>
        </p:nvSpPr>
        <p:spPr>
          <a:xfrm>
            <a:off x="2476502" y="684783"/>
            <a:ext cx="4190998" cy="83099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800" b="1" i="0" u="none" strike="noStrike" kern="1200" cap="none" spc="600" normalizeH="0" baseline="0" noProof="0" dirty="0">
                <a:ln>
                  <a:noFill/>
                </a:ln>
                <a:solidFill>
                  <a:srgbClr val="082E72"/>
                </a:solidFill>
                <a:effectLst/>
                <a:uLnTx/>
                <a:uFillTx/>
                <a:latin typeface="+mj-ea"/>
                <a:ea typeface="+mj-ea"/>
              </a:rPr>
              <a:t>Content</a:t>
            </a:r>
            <a:endParaRPr kumimoji="0" lang="zh-CN" altLang="en-US" sz="4800" b="1" i="0" u="none" strike="noStrike" kern="1200" cap="none" spc="600" normalizeH="0" baseline="0" noProof="0" dirty="0">
              <a:ln>
                <a:noFill/>
              </a:ln>
              <a:solidFill>
                <a:srgbClr val="082E72"/>
              </a:solidFill>
              <a:effectLst/>
              <a:uLnTx/>
              <a:uFillTx/>
              <a:latin typeface="+mj-ea"/>
              <a:ea typeface="+mj-ea"/>
            </a:endParaRPr>
          </a:p>
        </p:txBody>
      </p:sp>
      <p:grpSp>
        <p:nvGrpSpPr>
          <p:cNvPr id="32" name="组合 31">
            <a:extLst>
              <a:ext uri="{FF2B5EF4-FFF2-40B4-BE49-F238E27FC236}">
                <a16:creationId xmlns:a16="http://schemas.microsoft.com/office/drawing/2014/main" id="{66D773D4-1EAF-4F9F-8F72-7F1400FEED3D}"/>
              </a:ext>
            </a:extLst>
          </p:cNvPr>
          <p:cNvGrpSpPr/>
          <p:nvPr/>
        </p:nvGrpSpPr>
        <p:grpSpPr>
          <a:xfrm>
            <a:off x="2171123" y="2202724"/>
            <a:ext cx="4811810" cy="712614"/>
            <a:chOff x="2254250" y="3340100"/>
            <a:chExt cx="4811810" cy="712614"/>
          </a:xfrm>
        </p:grpSpPr>
        <p:sp>
          <p:nvSpPr>
            <p:cNvPr id="33" name="矩形: 圆角 26">
              <a:extLst>
                <a:ext uri="{FF2B5EF4-FFF2-40B4-BE49-F238E27FC236}">
                  <a16:creationId xmlns:a16="http://schemas.microsoft.com/office/drawing/2014/main" id="{81CEA070-9FCE-4440-A1FF-E8FEBADFAE6D}"/>
                </a:ext>
              </a:extLst>
            </p:cNvPr>
            <p:cNvSpPr/>
            <p:nvPr/>
          </p:nvSpPr>
          <p:spPr>
            <a:xfrm>
              <a:off x="2254250" y="3340100"/>
              <a:ext cx="4811810" cy="712614"/>
            </a:xfrm>
            <a:prstGeom prst="roundRect">
              <a:avLst>
                <a:gd name="adj" fmla="val 9538"/>
              </a:avLst>
            </a:prstGeom>
            <a:solidFill>
              <a:schemeClr val="accent3"/>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4" name="文本框 33">
              <a:extLst>
                <a:ext uri="{FF2B5EF4-FFF2-40B4-BE49-F238E27FC236}">
                  <a16:creationId xmlns:a16="http://schemas.microsoft.com/office/drawing/2014/main" id="{1215BA3E-7692-4205-997B-ABC7094D720C}"/>
                </a:ext>
              </a:extLst>
            </p:cNvPr>
            <p:cNvSpPr txBox="1"/>
            <p:nvPr/>
          </p:nvSpPr>
          <p:spPr>
            <a:xfrm>
              <a:off x="3161383" y="3404020"/>
              <a:ext cx="3904677" cy="584775"/>
            </a:xfrm>
            <a:prstGeom prst="rect">
              <a:avLst/>
            </a:prstGeom>
            <a:noFill/>
          </p:spPr>
          <p:txBody>
            <a:bodyPr wrap="square">
              <a:spAutoFit/>
            </a:bodyPr>
            <a:lstStyle/>
            <a:p>
              <a:pPr lvl="0">
                <a:defRPr/>
              </a:pPr>
              <a:r>
                <a:rPr lang="en-US" altLang="zh-CN" sz="3200" b="1" dirty="0">
                  <a:solidFill>
                    <a:schemeClr val="accent2"/>
                  </a:solidFill>
                </a:rPr>
                <a:t>Background</a:t>
              </a:r>
              <a:endParaRPr lang="zh-CN" altLang="en-US" sz="3200" b="1" dirty="0">
                <a:solidFill>
                  <a:schemeClr val="accent2"/>
                </a:solidFill>
              </a:endParaRPr>
            </a:p>
          </p:txBody>
        </p:sp>
        <p:sp>
          <p:nvSpPr>
            <p:cNvPr id="37" name="矩形: 圆角 27">
              <a:extLst>
                <a:ext uri="{FF2B5EF4-FFF2-40B4-BE49-F238E27FC236}">
                  <a16:creationId xmlns:a16="http://schemas.microsoft.com/office/drawing/2014/main" id="{EC048712-3086-489F-9DD2-6A43C39F13C3}"/>
                </a:ext>
              </a:extLst>
            </p:cNvPr>
            <p:cNvSpPr/>
            <p:nvPr/>
          </p:nvSpPr>
          <p:spPr>
            <a:xfrm>
              <a:off x="2326524" y="3410657"/>
              <a:ext cx="571500" cy="571500"/>
            </a:xfrm>
            <a:prstGeom prst="roundRect">
              <a:avLst>
                <a:gd name="adj" fmla="val 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rgbClr val="FFFFFF"/>
                  </a:solidFill>
                  <a:latin typeface="Arial"/>
                  <a:ea typeface="微软雅黑"/>
                </a:rPr>
                <a:t>1</a:t>
              </a:r>
              <a:endParaRPr kumimoji="0" lang="zh-CN" altLang="en-US" sz="2400" b="1"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21" name="组合 20">
            <a:extLst>
              <a:ext uri="{FF2B5EF4-FFF2-40B4-BE49-F238E27FC236}">
                <a16:creationId xmlns:a16="http://schemas.microsoft.com/office/drawing/2014/main" id="{F903167E-F437-400B-8A0D-F2E6B88BA5DE}"/>
              </a:ext>
            </a:extLst>
          </p:cNvPr>
          <p:cNvGrpSpPr/>
          <p:nvPr/>
        </p:nvGrpSpPr>
        <p:grpSpPr>
          <a:xfrm>
            <a:off x="2171123" y="5110747"/>
            <a:ext cx="4886833" cy="712614"/>
            <a:chOff x="2254250" y="2386893"/>
            <a:chExt cx="4707774" cy="712614"/>
          </a:xfrm>
        </p:grpSpPr>
        <p:sp>
          <p:nvSpPr>
            <p:cNvPr id="38" name="矩形: 圆角 40">
              <a:extLst>
                <a:ext uri="{FF2B5EF4-FFF2-40B4-BE49-F238E27FC236}">
                  <a16:creationId xmlns:a16="http://schemas.microsoft.com/office/drawing/2014/main" id="{ABF40475-9EC0-4D47-B264-39E638B68E01}"/>
                </a:ext>
              </a:extLst>
            </p:cNvPr>
            <p:cNvSpPr/>
            <p:nvPr/>
          </p:nvSpPr>
          <p:spPr>
            <a:xfrm>
              <a:off x="2254250" y="2386893"/>
              <a:ext cx="4635500" cy="712614"/>
            </a:xfrm>
            <a:prstGeom prst="roundRect">
              <a:avLst>
                <a:gd name="adj" fmla="val 9538"/>
              </a:avLst>
            </a:prstGeom>
            <a:solidFill>
              <a:schemeClr val="accent2"/>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9" name="文本框 38">
              <a:extLst>
                <a:ext uri="{FF2B5EF4-FFF2-40B4-BE49-F238E27FC236}">
                  <a16:creationId xmlns:a16="http://schemas.microsoft.com/office/drawing/2014/main" id="{AF45E508-A19F-4202-BB28-E21D9F4E7C8B}"/>
                </a:ext>
              </a:extLst>
            </p:cNvPr>
            <p:cNvSpPr txBox="1"/>
            <p:nvPr/>
          </p:nvSpPr>
          <p:spPr>
            <a:xfrm>
              <a:off x="3161383" y="2450813"/>
              <a:ext cx="3800641" cy="584775"/>
            </a:xfrm>
            <a:prstGeom prst="rect">
              <a:avLst/>
            </a:prstGeom>
            <a:noFill/>
          </p:spPr>
          <p:txBody>
            <a:bodyPr wrap="square">
              <a:spAutoFit/>
            </a:bodyPr>
            <a:lstStyle/>
            <a:p>
              <a:pPr lvl="0">
                <a:defRPr/>
              </a:pPr>
              <a:r>
                <a:rPr lang="en-US" altLang="zh-CN" sz="3200" b="1" dirty="0">
                  <a:solidFill>
                    <a:srgbClr val="FFFFFF"/>
                  </a:solidFill>
                </a:rPr>
                <a:t>Future Outlook</a:t>
              </a:r>
            </a:p>
          </p:txBody>
        </p:sp>
        <p:sp>
          <p:nvSpPr>
            <p:cNvPr id="40" name="矩形: 圆角 42">
              <a:extLst>
                <a:ext uri="{FF2B5EF4-FFF2-40B4-BE49-F238E27FC236}">
                  <a16:creationId xmlns:a16="http://schemas.microsoft.com/office/drawing/2014/main" id="{ED033169-BE0B-4F71-9E1E-894B8CF2C89A}"/>
                </a:ext>
              </a:extLst>
            </p:cNvPr>
            <p:cNvSpPr/>
            <p:nvPr/>
          </p:nvSpPr>
          <p:spPr>
            <a:xfrm>
              <a:off x="2326524" y="2457450"/>
              <a:ext cx="571500" cy="571500"/>
            </a:xfrm>
            <a:prstGeom prst="roundRect">
              <a:avLst>
                <a:gd name="adj" fmla="val 666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400" b="1" dirty="0">
                  <a:solidFill>
                    <a:schemeClr val="accent2"/>
                  </a:solidFill>
                  <a:latin typeface="Arial"/>
                  <a:ea typeface="微软雅黑"/>
                </a:rPr>
                <a:t>4</a:t>
              </a:r>
              <a:endParaRPr kumimoji="0" lang="zh-CN" altLang="en-US" sz="2400" b="1" i="0" u="none" strike="noStrike" kern="1200" cap="none" spc="0" normalizeH="0" baseline="0" noProof="0" dirty="0">
                <a:ln>
                  <a:noFill/>
                </a:ln>
                <a:solidFill>
                  <a:schemeClr val="accent2"/>
                </a:solidFill>
                <a:effectLst/>
                <a:uLnTx/>
                <a:uFillTx/>
                <a:latin typeface="Arial"/>
                <a:ea typeface="微软雅黑"/>
                <a:cs typeface="+mn-cs"/>
              </a:endParaRPr>
            </a:p>
          </p:txBody>
        </p:sp>
      </p:grpSp>
    </p:spTree>
    <p:extLst>
      <p:ext uri="{BB962C8B-B14F-4D97-AF65-F5344CB8AC3E}">
        <p14:creationId xmlns:p14="http://schemas.microsoft.com/office/powerpoint/2010/main" val="4019106162"/>
      </p:ext>
    </p:extLst>
  </p:cSld>
  <p:clrMapOvr>
    <a:masterClrMapping/>
  </p:clrMapOvr>
  <mc:AlternateContent xmlns:mc="http://schemas.openxmlformats.org/markup-compatibility/2006" xmlns:p14="http://schemas.microsoft.com/office/powerpoint/2010/main">
    <mc:Choice Requires="p14">
      <p:transition spd="slow" p14:dur="2000" advTm="3297"/>
    </mc:Choice>
    <mc:Fallback xmlns="">
      <p:transition spd="slow" advTm="3297"/>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EC520-B5D9-1C1F-9FD2-B22E9D5CDE9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8A28A4E-D7BC-B7F7-E487-7D7E48A678E8}"/>
              </a:ext>
            </a:extLst>
          </p:cNvPr>
          <p:cNvSpPr>
            <a:spLocks noGrp="1"/>
          </p:cNvSpPr>
          <p:nvPr>
            <p:ph type="title"/>
          </p:nvPr>
        </p:nvSpPr>
        <p:spPr>
          <a:xfrm>
            <a:off x="2145030" y="254000"/>
            <a:ext cx="5857548" cy="517850"/>
          </a:xfrm>
        </p:spPr>
        <p:txBody>
          <a:bodyPr>
            <a:normAutofit/>
          </a:bodyPr>
          <a:lstStyle/>
          <a:p>
            <a:r>
              <a:rPr lang="en-US" altLang="zh-CN" dirty="0"/>
              <a:t>Comments</a:t>
            </a:r>
            <a:endParaRPr lang="zh-CN" altLang="en-US" dirty="0"/>
          </a:p>
        </p:txBody>
      </p:sp>
      <p:sp>
        <p:nvSpPr>
          <p:cNvPr id="16" name="文本框 15">
            <a:extLst>
              <a:ext uri="{FF2B5EF4-FFF2-40B4-BE49-F238E27FC236}">
                <a16:creationId xmlns:a16="http://schemas.microsoft.com/office/drawing/2014/main" id="{8A6FF772-C2A4-1DD3-5A5A-5C94A6786125}"/>
              </a:ext>
            </a:extLst>
          </p:cNvPr>
          <p:cNvSpPr txBox="1"/>
          <p:nvPr/>
        </p:nvSpPr>
        <p:spPr>
          <a:xfrm>
            <a:off x="0" y="310756"/>
            <a:ext cx="2081048" cy="369332"/>
          </a:xfrm>
          <a:prstGeom prst="rect">
            <a:avLst/>
          </a:prstGeom>
          <a:noFill/>
        </p:spPr>
        <p:txBody>
          <a:bodyPr wrap="square">
            <a:spAutoFit/>
          </a:bodyPr>
          <a:lstStyle/>
          <a:p>
            <a:pPr marL="0" marR="0" lvl="0" indent="0" algn="l" defTabSz="457177" rtl="0" eaLnBrk="1" fontAlgn="auto" latinLnBrk="0" hangingPunct="1">
              <a:lnSpc>
                <a:spcPct val="100000"/>
              </a:lnSpc>
              <a:spcBef>
                <a:spcPts val="0"/>
              </a:spcBef>
              <a:spcAft>
                <a:spcPts val="0"/>
              </a:spcAft>
              <a:buClrTx/>
              <a:buSzTx/>
              <a:buFontTx/>
              <a:buNone/>
              <a:tabLst/>
              <a:defRPr/>
            </a:pPr>
            <a:r>
              <a:rPr kumimoji="0" lang="en-US" altLang="zh-CN" b="1" i="0" u="none" strike="noStrike" kern="1200" cap="none" spc="0" normalizeH="0" baseline="0" noProof="0" dirty="0">
                <a:ln>
                  <a:noFill/>
                </a:ln>
                <a:solidFill>
                  <a:srgbClr val="FFFFFF"/>
                </a:solidFill>
                <a:effectLst/>
                <a:uLnTx/>
                <a:uFillTx/>
                <a:latin typeface="Arial"/>
                <a:ea typeface="微软雅黑"/>
                <a:cs typeface="+mn-cs"/>
              </a:rPr>
              <a:t>Future Outlook</a:t>
            </a:r>
            <a:endParaRPr kumimoji="0" lang="zh-CN" altLang="en-US"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文本框 2">
            <a:extLst>
              <a:ext uri="{FF2B5EF4-FFF2-40B4-BE49-F238E27FC236}">
                <a16:creationId xmlns:a16="http://schemas.microsoft.com/office/drawing/2014/main" id="{95F41168-2185-D953-C085-5DCC932899CD}"/>
              </a:ext>
            </a:extLst>
          </p:cNvPr>
          <p:cNvSpPr txBox="1"/>
          <p:nvPr/>
        </p:nvSpPr>
        <p:spPr>
          <a:xfrm>
            <a:off x="573578" y="1271847"/>
            <a:ext cx="7996843" cy="3693319"/>
          </a:xfrm>
          <a:prstGeom prst="rect">
            <a:avLst/>
          </a:prstGeom>
          <a:noFill/>
        </p:spPr>
        <p:txBody>
          <a:bodyPr wrap="square" rtlCol="0">
            <a:spAutoFit/>
          </a:bodyPr>
          <a:lstStyle/>
          <a:p>
            <a:pPr marL="285750" indent="-285750">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ReducedLUT</a:t>
            </a:r>
          </a:p>
          <a:p>
            <a:pPr marL="800100" lvl="1" indent="-342900">
              <a:buFont typeface="+mj-lt"/>
              <a:buAutoNum type="arabicPeriod"/>
            </a:pPr>
            <a:r>
              <a:rPr lang="en-US" altLang="zh-CN" b="1" dirty="0">
                <a:latin typeface="Times New Roman" panose="02020603050405020304" pitchFamily="18" charset="0"/>
                <a:cs typeface="Times New Roman" panose="02020603050405020304" pitchFamily="18" charset="0"/>
              </a:rPr>
              <a:t>Expanded Scope: </a:t>
            </a:r>
            <a:r>
              <a:rPr lang="en-US" altLang="zh-CN" dirty="0">
                <a:latin typeface="Times New Roman" panose="02020603050405020304" pitchFamily="18" charset="0"/>
                <a:cs typeface="Times New Roman" panose="02020603050405020304" pitchFamily="18" charset="0"/>
              </a:rPr>
              <a:t>Generalize the “don’t care” set to include infrequent training values for deeper compression (minimal accuracy trade-off).</a:t>
            </a:r>
          </a:p>
          <a:p>
            <a:pPr marL="800100" lvl="1" indent="-342900">
              <a:buFont typeface="+mj-lt"/>
              <a:buAutoNum type="arabicPeriod"/>
            </a:pPr>
            <a:r>
              <a:rPr lang="en-US" altLang="zh-CN" b="1" dirty="0">
                <a:latin typeface="Times New Roman" panose="02020603050405020304" pitchFamily="18" charset="0"/>
                <a:cs typeface="Times New Roman" panose="02020603050405020304" pitchFamily="18" charset="0"/>
              </a:rPr>
              <a:t>Group-Level Optimization: </a:t>
            </a:r>
            <a:r>
              <a:rPr lang="en-US" altLang="zh-CN" dirty="0">
                <a:latin typeface="Times New Roman" panose="02020603050405020304" pitchFamily="18" charset="0"/>
                <a:cs typeface="Times New Roman" panose="02020603050405020304" pitchFamily="18" charset="0"/>
              </a:rPr>
              <a:t>Develop joint compression strategies for L-LUT clusters to enhance resource sharing and hardware efficiency.</a:t>
            </a:r>
            <a:endParaRPr lang="en-US" altLang="zh-CN" b="1" dirty="0"/>
          </a:p>
          <a:p>
            <a:pPr marL="742950" lvl="1" indent="-285750">
              <a:buFont typeface="Wingdings" panose="05000000000000000000" pitchFamily="2" charset="2"/>
              <a:buChar char="ü"/>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TreeLUT</a:t>
            </a:r>
          </a:p>
          <a:p>
            <a:pPr marL="800100" lvl="1" indent="-342900">
              <a:buFont typeface="+mj-lt"/>
              <a:buAutoNum type="arabicPeriod"/>
            </a:pPr>
            <a:r>
              <a:rPr lang="en-US" altLang="zh-CN"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ü"/>
            </a:pP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AmigoLUT</a:t>
            </a:r>
          </a:p>
          <a:p>
            <a:pPr marL="800100" lvl="1" indent="-342900">
              <a:buAutoNum type="arabicPeriod"/>
            </a:pPr>
            <a:r>
              <a:rPr lang="en-US" altLang="zh-CN" dirty="0">
                <a:latin typeface="Times New Roman" panose="02020603050405020304" pitchFamily="18" charset="0"/>
                <a:cs typeface="Times New Roman" panose="02020603050405020304" pitchFamily="18" charset="0"/>
              </a:rPr>
              <a:t>Ensemble NN and GBDT?</a:t>
            </a:r>
          </a:p>
          <a:p>
            <a:pPr marL="800100" lvl="1" indent="-342900">
              <a:buAutoNum type="arabicPeriod"/>
            </a:pPr>
            <a:r>
              <a:rPr lang="en-US" altLang="zh-CN" dirty="0">
                <a:latin typeface="Times New Roman" panose="02020603050405020304" pitchFamily="18" charset="0"/>
                <a:cs typeface="Times New Roman" panose="02020603050405020304" pitchFamily="18" charset="0"/>
              </a:rPr>
              <a:t>Why averaging? </a:t>
            </a:r>
            <a:r>
              <a:rPr lang="en-US" altLang="zh-CN">
                <a:latin typeface="Times New Roman" panose="02020603050405020304" pitchFamily="18" charset="0"/>
                <a:cs typeface="Times New Roman" panose="02020603050405020304" pitchFamily="18" charset="0"/>
              </a:rPr>
              <a:t>Weighted sum?</a:t>
            </a:r>
            <a:endParaRPr lang="en-US" altLang="zh-CN" dirty="0">
              <a:latin typeface="Times New Roman" panose="02020603050405020304" pitchFamily="18" charset="0"/>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4229003259"/>
      </p:ext>
    </p:extLst>
  </p:cSld>
  <p:clrMapOvr>
    <a:masterClrMapping/>
  </p:clrMapOvr>
  <mc:AlternateContent xmlns:mc="http://schemas.openxmlformats.org/markup-compatibility/2006" xmlns:p14="http://schemas.microsoft.com/office/powerpoint/2010/main">
    <mc:Choice Requires="p14">
      <p:transition spd="slow" p14:dur="2000" advTm="45237"/>
    </mc:Choice>
    <mc:Fallback xmlns="">
      <p:transition spd="slow" advTm="45237"/>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C4997693-0404-4E02-A731-A03D5EE9B0CD}"/>
              </a:ext>
            </a:extLst>
          </p:cNvPr>
          <p:cNvGrpSpPr/>
          <p:nvPr/>
        </p:nvGrpSpPr>
        <p:grpSpPr>
          <a:xfrm>
            <a:off x="0" y="1809280"/>
            <a:ext cx="9144000" cy="3655907"/>
            <a:chOff x="0" y="1854055"/>
            <a:chExt cx="9144000" cy="3149891"/>
          </a:xfrm>
        </p:grpSpPr>
        <p:sp>
          <p:nvSpPr>
            <p:cNvPr id="7" name="任意多边形: 形状 6">
              <a:extLst>
                <a:ext uri="{FF2B5EF4-FFF2-40B4-BE49-F238E27FC236}">
                  <a16:creationId xmlns:a16="http://schemas.microsoft.com/office/drawing/2014/main" id="{48F55F44-093B-4A22-BCCD-8A1284DE467A}"/>
                </a:ext>
              </a:extLst>
            </p:cNvPr>
            <p:cNvSpPr/>
            <p:nvPr/>
          </p:nvSpPr>
          <p:spPr>
            <a:xfrm flipV="1">
              <a:off x="0" y="1854055"/>
              <a:ext cx="9144000" cy="3149891"/>
            </a:xfrm>
            <a:custGeom>
              <a:avLst/>
              <a:gdLst>
                <a:gd name="connsiteX0" fmla="*/ 0 w 9144000"/>
                <a:gd name="connsiteY0" fmla="*/ 3022396 h 3022396"/>
                <a:gd name="connsiteX1" fmla="*/ 182855 w 9144000"/>
                <a:gd name="connsiteY1" fmla="*/ 2991446 h 3022396"/>
                <a:gd name="connsiteX2" fmla="*/ 4572000 w 9144000"/>
                <a:gd name="connsiteY2" fmla="*/ 2690394 h 3022396"/>
                <a:gd name="connsiteX3" fmla="*/ 8961145 w 9144000"/>
                <a:gd name="connsiteY3" fmla="*/ 2991446 h 3022396"/>
                <a:gd name="connsiteX4" fmla="*/ 9144000 w 9144000"/>
                <a:gd name="connsiteY4" fmla="*/ 3022396 h 3022396"/>
                <a:gd name="connsiteX5" fmla="*/ 9144000 w 9144000"/>
                <a:gd name="connsiteY5" fmla="*/ 2113213 h 3022396"/>
                <a:gd name="connsiteX6" fmla="*/ 9144000 w 9144000"/>
                <a:gd name="connsiteY6" fmla="*/ 909183 h 3022396"/>
                <a:gd name="connsiteX7" fmla="*/ 9144000 w 9144000"/>
                <a:gd name="connsiteY7" fmla="*/ 0 h 3022396"/>
                <a:gd name="connsiteX8" fmla="*/ 8961145 w 9144000"/>
                <a:gd name="connsiteY8" fmla="*/ 30950 h 3022396"/>
                <a:gd name="connsiteX9" fmla="*/ 4572000 w 9144000"/>
                <a:gd name="connsiteY9" fmla="*/ 332003 h 3022396"/>
                <a:gd name="connsiteX10" fmla="*/ 182855 w 9144000"/>
                <a:gd name="connsiteY10" fmla="*/ 30950 h 3022396"/>
                <a:gd name="connsiteX11" fmla="*/ 0 w 9144000"/>
                <a:gd name="connsiteY11" fmla="*/ 0 h 3022396"/>
                <a:gd name="connsiteX12" fmla="*/ 0 w 9144000"/>
                <a:gd name="connsiteY12" fmla="*/ 909183 h 3022396"/>
                <a:gd name="connsiteX13" fmla="*/ 0 w 9144000"/>
                <a:gd name="connsiteY13" fmla="*/ 2113213 h 3022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000" h="3022396">
                  <a:moveTo>
                    <a:pt x="0" y="3022396"/>
                  </a:moveTo>
                  <a:lnTo>
                    <a:pt x="182855" y="2991446"/>
                  </a:lnTo>
                  <a:cubicBezTo>
                    <a:pt x="1342108" y="2804396"/>
                    <a:pt x="2882061" y="2690394"/>
                    <a:pt x="4572000" y="2690394"/>
                  </a:cubicBezTo>
                  <a:cubicBezTo>
                    <a:pt x="6261940" y="2690394"/>
                    <a:pt x="7801892" y="2804396"/>
                    <a:pt x="8961145" y="2991446"/>
                  </a:cubicBezTo>
                  <a:lnTo>
                    <a:pt x="9144000" y="3022396"/>
                  </a:lnTo>
                  <a:lnTo>
                    <a:pt x="9144000" y="2113213"/>
                  </a:lnTo>
                  <a:lnTo>
                    <a:pt x="9144000" y="909183"/>
                  </a:lnTo>
                  <a:lnTo>
                    <a:pt x="9144000" y="0"/>
                  </a:lnTo>
                  <a:lnTo>
                    <a:pt x="8961145" y="30950"/>
                  </a:lnTo>
                  <a:cubicBezTo>
                    <a:pt x="7801892" y="218000"/>
                    <a:pt x="6261940" y="332003"/>
                    <a:pt x="4572000" y="332003"/>
                  </a:cubicBezTo>
                  <a:cubicBezTo>
                    <a:pt x="2882061" y="332003"/>
                    <a:pt x="1342108" y="218000"/>
                    <a:pt x="182855" y="30950"/>
                  </a:cubicBezTo>
                  <a:lnTo>
                    <a:pt x="0" y="0"/>
                  </a:lnTo>
                  <a:lnTo>
                    <a:pt x="0" y="909183"/>
                  </a:lnTo>
                  <a:lnTo>
                    <a:pt x="0" y="2113213"/>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8" name="任意多边形: 形状 7">
              <a:extLst>
                <a:ext uri="{FF2B5EF4-FFF2-40B4-BE49-F238E27FC236}">
                  <a16:creationId xmlns:a16="http://schemas.microsoft.com/office/drawing/2014/main" id="{C4736510-80CE-4E5E-9CF7-FA3CC063264E}"/>
                </a:ext>
              </a:extLst>
            </p:cNvPr>
            <p:cNvSpPr/>
            <p:nvPr/>
          </p:nvSpPr>
          <p:spPr>
            <a:xfrm flipV="1">
              <a:off x="0" y="2051052"/>
              <a:ext cx="9144000" cy="2755896"/>
            </a:xfrm>
            <a:custGeom>
              <a:avLst/>
              <a:gdLst>
                <a:gd name="connsiteX0" fmla="*/ 0 w 9144000"/>
                <a:gd name="connsiteY0" fmla="*/ 2617516 h 2617516"/>
                <a:gd name="connsiteX1" fmla="*/ 182855 w 9144000"/>
                <a:gd name="connsiteY1" fmla="*/ 2600232 h 2617516"/>
                <a:gd name="connsiteX2" fmla="*/ 4572000 w 9144000"/>
                <a:gd name="connsiteY2" fmla="*/ 2432109 h 2617516"/>
                <a:gd name="connsiteX3" fmla="*/ 8961145 w 9144000"/>
                <a:gd name="connsiteY3" fmla="*/ 2600232 h 2617516"/>
                <a:gd name="connsiteX4" fmla="*/ 9144000 w 9144000"/>
                <a:gd name="connsiteY4" fmla="*/ 2617516 h 2617516"/>
                <a:gd name="connsiteX5" fmla="*/ 9144000 w 9144000"/>
                <a:gd name="connsiteY5" fmla="*/ 2109782 h 2617516"/>
                <a:gd name="connsiteX6" fmla="*/ 9144000 w 9144000"/>
                <a:gd name="connsiteY6" fmla="*/ 507734 h 2617516"/>
                <a:gd name="connsiteX7" fmla="*/ 9144000 w 9144000"/>
                <a:gd name="connsiteY7" fmla="*/ 0 h 2617516"/>
                <a:gd name="connsiteX8" fmla="*/ 8961145 w 9144000"/>
                <a:gd name="connsiteY8" fmla="*/ 17284 h 2617516"/>
                <a:gd name="connsiteX9" fmla="*/ 4572000 w 9144000"/>
                <a:gd name="connsiteY9" fmla="*/ 185407 h 2617516"/>
                <a:gd name="connsiteX10" fmla="*/ 182855 w 9144000"/>
                <a:gd name="connsiteY10" fmla="*/ 17284 h 2617516"/>
                <a:gd name="connsiteX11" fmla="*/ 0 w 9144000"/>
                <a:gd name="connsiteY11" fmla="*/ 0 h 2617516"/>
                <a:gd name="connsiteX12" fmla="*/ 0 w 9144000"/>
                <a:gd name="connsiteY12" fmla="*/ 507734 h 2617516"/>
                <a:gd name="connsiteX13" fmla="*/ 0 w 9144000"/>
                <a:gd name="connsiteY13" fmla="*/ 2109782 h 2617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000" h="2617516">
                  <a:moveTo>
                    <a:pt x="0" y="2617516"/>
                  </a:moveTo>
                  <a:lnTo>
                    <a:pt x="182855" y="2600232"/>
                  </a:lnTo>
                  <a:cubicBezTo>
                    <a:pt x="1342108" y="2495774"/>
                    <a:pt x="2882061" y="2432109"/>
                    <a:pt x="4572000" y="2432109"/>
                  </a:cubicBezTo>
                  <a:cubicBezTo>
                    <a:pt x="6261940" y="2432109"/>
                    <a:pt x="7801892" y="2495774"/>
                    <a:pt x="8961145" y="2600232"/>
                  </a:cubicBezTo>
                  <a:lnTo>
                    <a:pt x="9144000" y="2617516"/>
                  </a:lnTo>
                  <a:lnTo>
                    <a:pt x="9144000" y="2109782"/>
                  </a:lnTo>
                  <a:lnTo>
                    <a:pt x="9144000" y="507734"/>
                  </a:lnTo>
                  <a:lnTo>
                    <a:pt x="9144000" y="0"/>
                  </a:lnTo>
                  <a:lnTo>
                    <a:pt x="8961145" y="17284"/>
                  </a:lnTo>
                  <a:cubicBezTo>
                    <a:pt x="7801892" y="121742"/>
                    <a:pt x="6261940" y="185407"/>
                    <a:pt x="4572000" y="185407"/>
                  </a:cubicBezTo>
                  <a:cubicBezTo>
                    <a:pt x="2882061" y="185407"/>
                    <a:pt x="1342108" y="121742"/>
                    <a:pt x="182855" y="17284"/>
                  </a:cubicBezTo>
                  <a:lnTo>
                    <a:pt x="0" y="0"/>
                  </a:lnTo>
                  <a:lnTo>
                    <a:pt x="0" y="507734"/>
                  </a:lnTo>
                  <a:lnTo>
                    <a:pt x="0" y="21097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pic>
          <p:nvPicPr>
            <p:cNvPr id="9" name="图片 8" descr="图片包含 游戏机, 电子, 电路&#10;&#10;描述已自动生成">
              <a:extLst>
                <a:ext uri="{FF2B5EF4-FFF2-40B4-BE49-F238E27FC236}">
                  <a16:creationId xmlns:a16="http://schemas.microsoft.com/office/drawing/2014/main" id="{A267D6E2-4DEE-421B-8C3F-D18FBFE890DB}"/>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t="21235" b="33550"/>
            <a:stretch>
              <a:fillRect/>
            </a:stretch>
          </p:blipFill>
          <p:spPr>
            <a:xfrm>
              <a:off x="0" y="2051052"/>
              <a:ext cx="9144000" cy="2755896"/>
            </a:xfrm>
            <a:custGeom>
              <a:avLst/>
              <a:gdLst>
                <a:gd name="connsiteX0" fmla="*/ 0 w 9144000"/>
                <a:gd name="connsiteY0" fmla="*/ 0 h 2755896"/>
                <a:gd name="connsiteX1" fmla="*/ 182855 w 9144000"/>
                <a:gd name="connsiteY1" fmla="*/ 18198 h 2755896"/>
                <a:gd name="connsiteX2" fmla="*/ 4572000 w 9144000"/>
                <a:gd name="connsiteY2" fmla="*/ 195209 h 2755896"/>
                <a:gd name="connsiteX3" fmla="*/ 8961145 w 9144000"/>
                <a:gd name="connsiteY3" fmla="*/ 18198 h 2755896"/>
                <a:gd name="connsiteX4" fmla="*/ 9144000 w 9144000"/>
                <a:gd name="connsiteY4" fmla="*/ 0 h 2755896"/>
                <a:gd name="connsiteX5" fmla="*/ 9144000 w 9144000"/>
                <a:gd name="connsiteY5" fmla="*/ 534576 h 2755896"/>
                <a:gd name="connsiteX6" fmla="*/ 9144000 w 9144000"/>
                <a:gd name="connsiteY6" fmla="*/ 2221320 h 2755896"/>
                <a:gd name="connsiteX7" fmla="*/ 9144000 w 9144000"/>
                <a:gd name="connsiteY7" fmla="*/ 2755896 h 2755896"/>
                <a:gd name="connsiteX8" fmla="*/ 8961145 w 9144000"/>
                <a:gd name="connsiteY8" fmla="*/ 2737698 h 2755896"/>
                <a:gd name="connsiteX9" fmla="*/ 4572000 w 9144000"/>
                <a:gd name="connsiteY9" fmla="*/ 2560687 h 2755896"/>
                <a:gd name="connsiteX10" fmla="*/ 182855 w 9144000"/>
                <a:gd name="connsiteY10" fmla="*/ 2737698 h 2755896"/>
                <a:gd name="connsiteX11" fmla="*/ 0 w 9144000"/>
                <a:gd name="connsiteY11" fmla="*/ 2755896 h 2755896"/>
                <a:gd name="connsiteX12" fmla="*/ 0 w 9144000"/>
                <a:gd name="connsiteY12" fmla="*/ 2221320 h 2755896"/>
                <a:gd name="connsiteX13" fmla="*/ 0 w 9144000"/>
                <a:gd name="connsiteY13" fmla="*/ 534576 h 275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44000" h="2755896">
                  <a:moveTo>
                    <a:pt x="0" y="0"/>
                  </a:moveTo>
                  <a:lnTo>
                    <a:pt x="182855" y="18198"/>
                  </a:lnTo>
                  <a:cubicBezTo>
                    <a:pt x="1342108" y="128178"/>
                    <a:pt x="2882061" y="195209"/>
                    <a:pt x="4572000" y="195209"/>
                  </a:cubicBezTo>
                  <a:cubicBezTo>
                    <a:pt x="6261940" y="195209"/>
                    <a:pt x="7801892" y="128178"/>
                    <a:pt x="8961145" y="18198"/>
                  </a:cubicBezTo>
                  <a:lnTo>
                    <a:pt x="9144000" y="0"/>
                  </a:lnTo>
                  <a:lnTo>
                    <a:pt x="9144000" y="534576"/>
                  </a:lnTo>
                  <a:lnTo>
                    <a:pt x="9144000" y="2221320"/>
                  </a:lnTo>
                  <a:lnTo>
                    <a:pt x="9144000" y="2755896"/>
                  </a:lnTo>
                  <a:lnTo>
                    <a:pt x="8961145" y="2737698"/>
                  </a:lnTo>
                  <a:cubicBezTo>
                    <a:pt x="7801892" y="2627718"/>
                    <a:pt x="6261940" y="2560687"/>
                    <a:pt x="4572000" y="2560687"/>
                  </a:cubicBezTo>
                  <a:cubicBezTo>
                    <a:pt x="2882061" y="2560687"/>
                    <a:pt x="1342108" y="2627718"/>
                    <a:pt x="182855" y="2737698"/>
                  </a:cubicBezTo>
                  <a:lnTo>
                    <a:pt x="0" y="2755896"/>
                  </a:lnTo>
                  <a:lnTo>
                    <a:pt x="0" y="2221320"/>
                  </a:lnTo>
                  <a:lnTo>
                    <a:pt x="0" y="534576"/>
                  </a:lnTo>
                  <a:close/>
                </a:path>
              </a:pathLst>
            </a:custGeom>
          </p:spPr>
        </p:pic>
      </p:grpSp>
      <p:sp>
        <p:nvSpPr>
          <p:cNvPr id="10" name="文本框 9">
            <a:extLst>
              <a:ext uri="{FF2B5EF4-FFF2-40B4-BE49-F238E27FC236}">
                <a16:creationId xmlns:a16="http://schemas.microsoft.com/office/drawing/2014/main" id="{41B38898-C56C-4BE6-B481-6558D753729A}"/>
              </a:ext>
            </a:extLst>
          </p:cNvPr>
          <p:cNvSpPr txBox="1"/>
          <p:nvPr/>
        </p:nvSpPr>
        <p:spPr>
          <a:xfrm>
            <a:off x="1321131" y="2930049"/>
            <a:ext cx="6367814" cy="997902"/>
          </a:xfrm>
          <a:prstGeom prst="rect">
            <a:avLst/>
          </a:prstGeom>
          <a:noFill/>
        </p:spPr>
        <p:txBody>
          <a:bodyPr wrap="square">
            <a:spAutoFit/>
          </a:bodyPr>
          <a:lstStyle/>
          <a:p>
            <a:pPr marL="0" marR="0" lvl="0" indent="0" algn="ctr" defTabSz="457200" rtl="0" eaLnBrk="1" fontAlgn="auto" latinLnBrk="0" hangingPunct="1">
              <a:lnSpc>
                <a:spcPct val="120000"/>
              </a:lnSpc>
              <a:spcBef>
                <a:spcPts val="0"/>
              </a:spcBef>
              <a:spcAft>
                <a:spcPts val="0"/>
              </a:spcAft>
              <a:buClrTx/>
              <a:buSzTx/>
              <a:buFontTx/>
              <a:buNone/>
              <a:tabLst/>
              <a:defRPr/>
            </a:pPr>
            <a:r>
              <a:rPr lang="en-US" altLang="zh-CN" sz="5400" b="1" dirty="0">
                <a:solidFill>
                  <a:srgbClr val="FFFFFF"/>
                </a:solidFill>
                <a:latin typeface="Arial"/>
                <a:ea typeface="微软雅黑"/>
              </a:rPr>
              <a:t>Thanks!</a:t>
            </a:r>
            <a:endParaRPr kumimoji="0" lang="en-US" altLang="zh-CN" sz="5400" b="1"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12" name="任意多边形: 形状 43">
            <a:extLst>
              <a:ext uri="{FF2B5EF4-FFF2-40B4-BE49-F238E27FC236}">
                <a16:creationId xmlns:a16="http://schemas.microsoft.com/office/drawing/2014/main" id="{F903EF8C-13D3-422C-9C3F-5EECC23210A7}"/>
              </a:ext>
            </a:extLst>
          </p:cNvPr>
          <p:cNvSpPr/>
          <p:nvPr/>
        </p:nvSpPr>
        <p:spPr>
          <a:xfrm>
            <a:off x="-3002" y="70339"/>
            <a:ext cx="9144000" cy="1972884"/>
          </a:xfrm>
          <a:custGeom>
            <a:avLst/>
            <a:gdLst>
              <a:gd name="connsiteX0" fmla="*/ 0 w 9144000"/>
              <a:gd name="connsiteY0" fmla="*/ 0 h 1572678"/>
              <a:gd name="connsiteX1" fmla="*/ 9144000 w 9144000"/>
              <a:gd name="connsiteY1" fmla="*/ 0 h 1572678"/>
              <a:gd name="connsiteX2" fmla="*/ 9144000 w 9144000"/>
              <a:gd name="connsiteY2" fmla="*/ 1351369 h 1572678"/>
              <a:gd name="connsiteX3" fmla="*/ 9108010 w 9144000"/>
              <a:gd name="connsiteY3" fmla="*/ 1355727 h 1572678"/>
              <a:gd name="connsiteX4" fmla="*/ 4572000 w 9144000"/>
              <a:gd name="connsiteY4" fmla="*/ 1572678 h 1572678"/>
              <a:gd name="connsiteX5" fmla="*/ 35990 w 9144000"/>
              <a:gd name="connsiteY5" fmla="*/ 1355727 h 1572678"/>
              <a:gd name="connsiteX6" fmla="*/ 0 w 9144000"/>
              <a:gd name="connsiteY6" fmla="*/ 1351369 h 15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572678">
                <a:moveTo>
                  <a:pt x="0" y="0"/>
                </a:moveTo>
                <a:lnTo>
                  <a:pt x="9144000" y="0"/>
                </a:lnTo>
                <a:lnTo>
                  <a:pt x="9144000" y="1351369"/>
                </a:lnTo>
                <a:lnTo>
                  <a:pt x="9108010" y="1355727"/>
                </a:lnTo>
                <a:cubicBezTo>
                  <a:pt x="7875344" y="1491261"/>
                  <a:pt x="6295037" y="1572678"/>
                  <a:pt x="4572000" y="1572678"/>
                </a:cubicBezTo>
                <a:cubicBezTo>
                  <a:pt x="2848963" y="1572678"/>
                  <a:pt x="1268656" y="1491261"/>
                  <a:pt x="35990" y="1355727"/>
                </a:cubicBezTo>
                <a:lnTo>
                  <a:pt x="0" y="1351369"/>
                </a:lnTo>
                <a:close/>
              </a:path>
            </a:pathLst>
          </a:custGeom>
          <a:gradFill>
            <a:gsLst>
              <a:gs pos="0">
                <a:schemeClr val="accent3">
                  <a:alpha val="0"/>
                </a:schemeClr>
              </a:gs>
              <a:gs pos="100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pic>
        <p:nvPicPr>
          <p:cNvPr id="15" name="图片 14">
            <a:extLst>
              <a:ext uri="{FF2B5EF4-FFF2-40B4-BE49-F238E27FC236}">
                <a16:creationId xmlns:a16="http://schemas.microsoft.com/office/drawing/2014/main" id="{1231364E-8AAF-49F2-8815-7E0B216382A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481853" y="5693831"/>
            <a:ext cx="3039847" cy="815686"/>
          </a:xfrm>
          <a:prstGeom prst="rect">
            <a:avLst/>
          </a:prstGeom>
        </p:spPr>
      </p:pic>
      <p:sp>
        <p:nvSpPr>
          <p:cNvPr id="2" name="矩形 1">
            <a:extLst>
              <a:ext uri="{FF2B5EF4-FFF2-40B4-BE49-F238E27FC236}">
                <a16:creationId xmlns:a16="http://schemas.microsoft.com/office/drawing/2014/main" id="{7BBC7A1D-8781-757D-7766-DBE9BC1D3A07}"/>
              </a:ext>
            </a:extLst>
          </p:cNvPr>
          <p:cNvSpPr/>
          <p:nvPr/>
        </p:nvSpPr>
        <p:spPr>
          <a:xfrm>
            <a:off x="1822219" y="5870841"/>
            <a:ext cx="1653017" cy="461665"/>
          </a:xfrm>
          <a:prstGeom prst="rect">
            <a:avLst/>
          </a:prstGeom>
        </p:spPr>
        <p:txBody>
          <a:bodyPr wrap="none">
            <a:spAutoFit/>
          </a:bodyPr>
          <a:lstStyle/>
          <a:p>
            <a:r>
              <a:rPr lang="en-US" altLang="zh-CN" sz="2400" b="1" dirty="0">
                <a:solidFill>
                  <a:srgbClr val="082E72"/>
                </a:solidFill>
              </a:rPr>
              <a:t>Liu Kaixin</a:t>
            </a:r>
            <a:endParaRPr lang="zh-CN" altLang="en-US" sz="2400" b="1" dirty="0"/>
          </a:p>
        </p:txBody>
      </p:sp>
    </p:spTree>
    <p:extLst>
      <p:ext uri="{BB962C8B-B14F-4D97-AF65-F5344CB8AC3E}">
        <p14:creationId xmlns:p14="http://schemas.microsoft.com/office/powerpoint/2010/main" val="4267402064"/>
      </p:ext>
    </p:extLst>
  </p:cSld>
  <p:clrMapOvr>
    <a:masterClrMapping/>
  </p:clrMapOvr>
  <mc:AlternateContent xmlns:mc="http://schemas.openxmlformats.org/markup-compatibility/2006" xmlns:p14="http://schemas.microsoft.com/office/powerpoint/2010/main">
    <mc:Choice Requires="p14">
      <p:transition spd="slow" p14:dur="2000" advTm="2523"/>
    </mc:Choice>
    <mc:Fallback xmlns="">
      <p:transition spd="slow" advTm="2523"/>
    </mc:Fallback>
  </mc:AlternateContent>
</p:sld>
</file>

<file path=ppt/theme/theme1.xml><?xml version="1.0" encoding="utf-8"?>
<a:theme xmlns:a="http://schemas.openxmlformats.org/drawingml/2006/main" name="Office 主题​​">
  <a:themeElements>
    <a:clrScheme name="自定义 27">
      <a:dk1>
        <a:srgbClr val="000000"/>
      </a:dk1>
      <a:lt1>
        <a:srgbClr val="FFFFFF"/>
      </a:lt1>
      <a:dk2>
        <a:srgbClr val="768394"/>
      </a:dk2>
      <a:lt2>
        <a:srgbClr val="F0F0F0"/>
      </a:lt2>
      <a:accent1>
        <a:srgbClr val="0070C0"/>
      </a:accent1>
      <a:accent2>
        <a:srgbClr val="082E72"/>
      </a:accent2>
      <a:accent3>
        <a:srgbClr val="D6ECFA"/>
      </a:accent3>
      <a:accent4>
        <a:srgbClr val="C8000B"/>
      </a:accent4>
      <a:accent5>
        <a:srgbClr val="FFC000"/>
      </a:accent5>
      <a:accent6>
        <a:srgbClr val="008080"/>
      </a:accent6>
      <a:hlink>
        <a:srgbClr val="00FFFF"/>
      </a:hlink>
      <a:folHlink>
        <a:srgbClr val="BFBFBF"/>
      </a:folHlink>
    </a:clrScheme>
    <a:fontScheme name="雅黑+arial">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22793</TotalTime>
  <Words>8589</Words>
  <Application>Microsoft Office PowerPoint</Application>
  <PresentationFormat>全屏显示(4:3)</PresentationFormat>
  <Paragraphs>553</Paragraphs>
  <Slides>47</Slides>
  <Notes>47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47</vt:i4>
      </vt:variant>
    </vt:vector>
  </HeadingPairs>
  <TitlesOfParts>
    <vt:vector size="52" baseType="lpstr">
      <vt:lpstr>等线</vt:lpstr>
      <vt:lpstr>Arial</vt:lpstr>
      <vt:lpstr>Times New Roman</vt:lpstr>
      <vt:lpstr>Wingdings</vt:lpstr>
      <vt:lpstr>Office 主题​​</vt:lpstr>
      <vt:lpstr>PowerPoint 演示文稿</vt:lpstr>
      <vt:lpstr>PowerPoint 演示文稿</vt:lpstr>
      <vt:lpstr>How to REDUCE resource overhead?</vt:lpstr>
      <vt:lpstr>How to REDUCE resource overhead?</vt:lpstr>
      <vt:lpstr>PowerPoint 演示文稿</vt:lpstr>
      <vt:lpstr>Overview</vt:lpstr>
      <vt:lpstr>PowerPoint 演示文稿</vt:lpstr>
      <vt:lpstr>Don’t care about the non-existing input</vt:lpstr>
      <vt:lpstr>Preliminaries</vt:lpstr>
      <vt:lpstr>Preliminaries</vt:lpstr>
      <vt:lpstr>Preliminaries</vt:lpstr>
      <vt:lpstr>Methodology</vt:lpstr>
      <vt:lpstr>Methodology</vt:lpstr>
      <vt:lpstr>Methodology</vt:lpstr>
      <vt:lpstr>PowerPoint 演示文稿</vt:lpstr>
      <vt:lpstr>GBDT fits better on FPGA</vt:lpstr>
      <vt:lpstr>What is a Gadient Boosting Decision Tree? </vt:lpstr>
      <vt:lpstr>What is a Gadient Boosting Decision Tree? </vt:lpstr>
      <vt:lpstr>We need better quantization method </vt:lpstr>
      <vt:lpstr>We need better quantization method </vt:lpstr>
      <vt:lpstr>Hardware Architecture</vt:lpstr>
      <vt:lpstr>Hardware Architecture</vt:lpstr>
      <vt:lpstr>Hardware Architecture</vt:lpstr>
      <vt:lpstr>Tool Flow</vt:lpstr>
      <vt:lpstr>PowerPoint 演示文稿</vt:lpstr>
      <vt:lpstr>Whole is greater than the sum of its parts</vt:lpstr>
      <vt:lpstr>Challenge 1: Which ensemble method?</vt:lpstr>
      <vt:lpstr>Challenge 1: Which ensemble method?</vt:lpstr>
      <vt:lpstr>Challenge 1: Which ensemble method?</vt:lpstr>
      <vt:lpstr>Challenge 1: Which ensemble method?</vt:lpstr>
      <vt:lpstr>Challenge 2: Ensemble Performance Analysis</vt:lpstr>
      <vt:lpstr>Challenge 2: Ensemble Performance Analysis</vt:lpstr>
      <vt:lpstr>Challenge 2: Ensemble Performance Analysis</vt:lpstr>
      <vt:lpstr>Challenge 2: Ensemble Performance Analysis</vt:lpstr>
      <vt:lpstr>Challenge 3: How to implement?</vt:lpstr>
      <vt:lpstr>Challenge 3: How to implement?</vt:lpstr>
      <vt:lpstr>PowerPoint 演示文稿</vt:lpstr>
      <vt:lpstr>ReducedLUT</vt:lpstr>
      <vt:lpstr>ReducedLUT</vt:lpstr>
      <vt:lpstr>TreeLUT</vt:lpstr>
      <vt:lpstr>TreeLUT</vt:lpstr>
      <vt:lpstr>AmigoLUT</vt:lpstr>
      <vt:lpstr>AmigoLUT</vt:lpstr>
      <vt:lpstr>AmigoLUT</vt:lpstr>
      <vt:lpstr>PowerPoint 演示文稿</vt:lpstr>
      <vt:lpstr>Comments</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楷鑫 刘</cp:lastModifiedBy>
  <cp:revision>1612</cp:revision>
  <cp:lastPrinted>2021-11-03T08:01:40Z</cp:lastPrinted>
  <dcterms:created xsi:type="dcterms:W3CDTF">2021-05-30T09:40:00Z</dcterms:created>
  <dcterms:modified xsi:type="dcterms:W3CDTF">2025-04-07T03:36:33Z</dcterms:modified>
</cp:coreProperties>
</file>